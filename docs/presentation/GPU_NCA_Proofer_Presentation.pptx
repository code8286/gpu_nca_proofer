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a1441ed-95d7-ab33-1e0e-d51ed14e994c}">
          <p14:sldIdLst>
            <p14:sldId id="256"/>
            <p14:sldId id="257"/>
            <p14:sldId id="258"/>
          </p14:sldIdLst>
        </p14:section>
        <p14:section name="Pilot 1" id="{52f3df29-7450-2609-107e-fa71e4d43980}">
          <p14:sldIdLst>
            <p14:sldId id="259"/>
            <p14:sldId id="260"/>
          </p14:sldIdLst>
        </p14:section>
        <p14:section name="Theory" id="{2bb6c743-a241-72db-4afb-6e523a1f8d69}">
          <p14:sldIdLst>
            <p14:sldId id="261"/>
            <p14:sldId id="262"/>
            <p14:sldId id="263"/>
            <p14:sldId id="264"/>
          </p14:sldIdLst>
        </p14:section>
        <p14:section name="Lean 4" id="{2121b93c-b3ea-30d2-476a-30dede8eaf95}">
          <p14:sldIdLst>
            <p14:sldId id="265"/>
          </p14:sldIdLst>
        </p14:section>
        <p14:section name="Transfer V2" id="{e331e61e-dc7e-ff50-c91e-f0fcd4ce3b95}">
          <p14:sldIdLst>
            <p14:sldId id="266"/>
            <p14:sldId id="267"/>
            <p14:sldId id="268"/>
            <p14:sldId id="269"/>
            <p14:sldId id="270"/>
          </p14:sldIdLst>
        </p14:section>
        <p14:section name="Verification and limits" id="{c1643aee-e112-14ff-a39f-fc598fc9b9e8}">
          <p14:sldIdLst>
            <p14:sldId id="271"/>
          </p14:sldIdLst>
        </p14:section>
        <p14:section name="Conclusions" id="{1cfddef7-e109-f936-4f34-5a9baa781d05}">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9"/>
                </a:solidFill>
                <a:latin typeface="+mn-lt"/>
              </a:defRPr>
            </a:pPr>
            <a:r>
              <a:rPr sz="1400" b="0" i="0" u="none" strike="noStrike">
                <a:solidFill>
                  <a:srgbClr val="F1F5F9"/>
                </a:solidFill>
                <a:latin typeface="+mn-lt"/>
              </a:rPr>
              <a:t>Total training tokens at the scratch endpoint (millions)</a:t>
            </a:r>
          </a:p>
        </c:rich>
      </c:tx>
      <c:layout/>
      <c:overlay val="0"/>
    </c:title>
    <c:autoTitleDeleted val="0"/>
    <c:plotArea>
      <c:layout/>
      <c:barChart>
        <c:barDir val="col"/>
        <c:grouping val="clustered"/>
        <c:varyColors val="0"/>
        <c:ser>
          <c:idx val="0"/>
          <c:order val="0"/>
          <c:tx>
            <c:strRef>
              <c:f>Sheet1!$B$1</c:f>
              <c:strCache>
                <c:ptCount val="1"/>
                <c:pt idx="0">
                  <c:v>Scratch (8.192M)</c:v>
                </c:pt>
              </c:strCache>
            </c:strRef>
          </c:tx>
          <c:spPr>
            <a:solidFill>
              <a:srgbClr val="9FB0C8"/>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17</c:v>
                  </c:pt>
                  <c:pt idx="1">
                    <c:v>Seed 29</c:v>
                  </c:pt>
                  <c:pt idx="2">
                    <c:v>Seed 43</c:v>
                  </c:pt>
                </c:lvl>
              </c:multiLvlStrCache>
            </c:multiLvlStrRef>
          </c:cat>
          <c:val>
            <c:numRef>
              <c:f>Sheet1!$B$2:$B$4</c:f>
              <c:numCache>
                <c:formatCode>General</c:formatCode>
                <c:ptCount val="3"/>
                <c:pt idx="0">
                  <c:v>8.192</c:v>
                </c:pt>
                <c:pt idx="1">
                  <c:v>8.192</c:v>
                </c:pt>
                <c:pt idx="2">
                  <c:v>8.192</c:v>
                </c:pt>
              </c:numCache>
            </c:numRef>
          </c:val>
        </c:ser>
        <c:ser>
          <c:idx val="1"/>
          <c:order val="1"/>
          <c:tx>
            <c:strRef>
              <c:f>Sheet1!$C$1</c:f>
              <c:strCache>
                <c:ptCount val="1"/>
                <c:pt idx="0">
                  <c:v>Grid NCA: PPT + language to crossing</c:v>
                </c:pt>
              </c:strCache>
            </c:strRef>
          </c:tx>
          <c:spPr>
            <a:solidFill>
              <a:srgbClr val="F87171"/>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17</c:v>
                  </c:pt>
                  <c:pt idx="1">
                    <c:v>Seed 29</c:v>
                  </c:pt>
                  <c:pt idx="2">
                    <c:v>Seed 43</c:v>
                  </c:pt>
                </c:lvl>
              </c:multiLvlStrCache>
            </c:multiLvlStrRef>
          </c:cat>
          <c:val>
            <c:numRef>
              <c:f>Sheet1!$C$2:$C$4</c:f>
              <c:numCache>
                <c:formatCode>General</c:formatCode>
                <c:ptCount val="3"/>
                <c:pt idx="0">
                  <c:v>11.4688</c:v>
                </c:pt>
                <c:pt idx="1">
                  <c:v>10.6496</c:v>
                </c:pt>
                <c:pt idx="2">
                  <c:v>11.0592</c:v>
                </c:pt>
              </c:numCache>
            </c:numRef>
          </c:val>
        </c:ser>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1F5F9"/>
                </a:solidFill>
                <a:latin typeface="+mn-lt"/>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6350" cap="flat">
              <a:solidFill>
                <a:srgbClr val="2A3B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0C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1F5F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walks through GPU_NCA_proofer, a repository that audits a recent claim: that training a transformer on synthetic neural cellular automata first, before text, helps it learn language faster. The repository combines a LaTeX mathematical note, partial Lean 4 formalization, and GPU experiments. Everything here follows the repository's own results ledger, updated 17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from Lee et al., 2026: simulate a neural cellular automaton, flatten its states into tokens, pre-pre-train a transformer on them, then swap the token embeddings for a language tokenizer and continue on text. The repository treats the NCA as a frozen random-rule data generator, not a component of the language model. Its five audit questions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First, the matched language-stage run shows grid NCA reaching the scratch endpoint 1.178 times faster in language tokens. Second, shuffled NCA, which destroys the spatial dynamics, gets the same speedup, so the contribution of the dynamics is unresolved. Third, once the synthetic stage is counted, grid needs about 12.8 percent more recorded time. All of this is a development experiment: three seeds, one shared synthetic cache, one small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GPU pilot used a fixed total budget of 1,000 updates, 4,096,000 tokens per arm. Scratch saw 1,000 text updates; the NCA arms saw 100 synthetic plus 900 text. So language exposure was unequal and the scheduler positions differed, and the repository says this does not cleanly isolate transfer. The numbers are valid as a negative pilot. Graph NCA took 1.432 times as long to reach the target of 2.5 validation nats per byte, with 5.47 percent higher geometric-mean byte perplexity, and all three seeds favored text-only. Fifteen runs, 61.44 million tokens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Aligned by language tokens, the three NCA arms track each other and trail the text arms. Graph and grid crossed the target at the same recorded update in every seed. Graph versus shuffled graph differ by only 0.000215 nats per byte in mean test loss. And although graph saved some target-text tokens, total-token speedups were only 0.667, 0.667 and 0.800 once the synthetic exposure is counted. These results apply to this small pilot and do not disprove NCA transfer at other scales or with other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and 2 separate the frozen NCA rule, the communication graph and the transformer predictor. The transformer never backpropagates into the generator. A periodic 2D grid NCA with 3 by 3 convolutions is an 8-regular typed directed graph, and degree-preserving rewiring is a real change of diffusion spectrum. In Lean, the repository checks relabeling equivariance and that endpoint swaps preserve a typed permutation; the grid-to-convolution equivalence at kernel level and the spectral argument stay informal.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rollout is deterministic given the initial state and the rule, the trajectory entropy is bounded. For the binary pilot grid, a known rule leaves only 64 bits of uncertainty. With an unknown rule, there are at most q to the power q^(d+1) local update functions, so rule entropy is at most 512 bits and the total is at most 576 bits. Shuffling preserves each trajectory's token histogram and marker positions but destroys patch ordering. The repository stresses that the retained frequency and format structure could itself help initialization. These entropy arguments are mathematical notes, not formalized in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2 by 2 binary patch becomes one token: base 2 digits give 16 possible patches, offset by 256. One frame is 16 patch tokens plus 2 markers, 18 tokens, and 16 frames give 288 tokens. Predicting a cell at the next step requires attending to its neighbours in the previous frame; the full-window parent-lag bound is 33, and the mean lag is exactly 18 for every typed-permutation topology, so rewiring cannot change it. That invariance is proved in Lean. The lag variance of 19.125, which is 153/8, is a LaTeX computation. The repository does not measure whether these lags harm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keeps the backbone and resets the embeddings and head, a projection that zeroes the head displacement. A sufficient condition for the backbone displacement to help is that its gradient alignment beats the second-order remainder. The Taylor bound itself is a hypothesis, not derived. The worked example is a toy two-dimensional quadratic with Hessian diag(1,10) and learning rate 0.05: contraction 0.95 and 0.5, scratch reaches the target at step 39 and transferred at step 25, a 1.56 times language speedup. With a synthetic cost of K updates the total speedup is 39 over K plus 25, so break-even needs K below 14. The pilot's 100 synthetic updates equal 409,600 tokens. These are analytic toy losses, not measured hitting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Lean folder contains 44 named statements, including supporting lemmas and exact arithmetic, checked in Lean 4.35.0 with Mathlib in the official web editor using BrowserBundle.lean. The sources avoid sorry, admit, project-defined axioms and native_decide, and only propext, Classical.choice and Quot.sound appear. The repository states plainly that formalization is partial: entropy, the spectral argument and the calculus behind Taylor estimates are informal, a local lake build is not claimed, and nothing in Lean proves real language-model acceleration. The screenshot shows axiom reports in the web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 fixes the Pilot 1 exposure problem. Every arm gets an identical 2,000-update language stage, 8,192,000 tokens, with fresh text embeddings and head, the same data order, schedule and optimizer. Grid and shuffled arms first receive 1,000 synthetic updates, 4,096,000 tokens; scratch receives none. Rules are screened for complexity: 4,096 training rules retained from 8,832 candidates, 128 held-out. It ran on a Kaggle Tesla T4 with three paired seeds. Graph rewiring was not part of V2, and the official test split was not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grid seeds passed the declared held-out-rule gate. Patch NLL improved by 10.24 to 10.35 percent from initialization and ended between 8.2866 and 8.2976, versus 8.8264 for the fitted copy-mixture control. All three shuffled seeds also passed, ending at 8.2818 to 8.2873 on their own validation orderings. The gate shows prediction beyond simple controls; it does not show the model learned local update physics, and native losses use different orderings, so they are not a direct dynamics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is each seed's own scratch final validation NLL. Grid first reached it at 1800, 1600 and 1700 language updates, shuffled at 1700, 1600 and 1800; checked every 100 updates without interpolation. The geometric language-token speedup is 1.178 times for both, and the language-time speedup for grid is 1.180 times, about 15.2 percent less language time. At the common final budget, grid improves NLL by 0.03277 nats per token, about 3.2 percent lower perplexity. This measures convergence, not faster transformer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Shuffling keeps every trajectory's token histogram and marker positions but destroys the original patch ordering, and with it the 2D adjacency. Shuffled NCA ends at 5.2315 versus 5.2333 for grid, slightly better. Grid minus shuffled final NLL is plus 0.0156, plus 0.0006 and minus 0.0108 across the seeds. So there is no consistent grid advantage. That means the modest gain is not shown to come from cellular-automata dynamics, but the repository does not conclude that it comes from token frequency alone either: frequency and format structure survive the shuffle, and which retained property explains the transfer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the synthetic stage changes the picture. Grid's geometric cumulative-time speedup at the paired reference is 0.886, about 12.8 percent more recorded time. Cumulative tokens at the crossings are 11.4688, 10.6496 and 11.0592 million, versus 8.192 million for scratch, because 1,000 synthetic updates, 4.096 million tokens, come first. The archive sums about 85.9 minutes across all measured stages. The language-stage result is positive; cost recovery at this horizon is negative. Timing is from the GPU logs and excludes queueing and package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retains its evidence. All 15 V2 development checkpoints reloaded and reproduced validation metrics on CPU within tolerance, with a maximum discrepancy of 1.9563e-7; the pilot's CPU replay differed by at most 8.2e-8. Selected checkpoints, gate decisions, crossings and token accounting were recomputed, and hashes match within each seed. A local Windows/PyTorch 2.14.1 attempt to regenerate every initialization and schedule hash failed against Kaggle's Linux/PyTorch 2.11.0, so bitwise cross-runtime reproduction of those bytes is not established. The limits listed at right are why the repository calls V2 a development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Established: a modest language-stage convergence signal in a matched development setting, synthetic prediction beyond simple controls, exact toy-model and combinatorial facts checked in Lean, and the pilot's negative result with its protocol flaw acknowledged. Not established: that the gain comes from NCA dynamics, since shuffled data matches it; that graph topology helps, since graph was only in Pilot 1; that the cost is recovered, since cumulative time is 0.886 times; or any general acceleration. This is evidence for caution, not a proof that NCA pre-training cannot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experiment, V3, enters graph NCA as another pre-pre-training initialization before the same language stage, alongside grid, shuffled controls for both, and a no-PPT control. All five arms get the same 2,000-update language stage after 1,000 synthetic updates, with common frozen grid and graph rules chosen by the same complexity filter. Language training starts only if every grid and graph seed passes the synthetic gate. It is prepared and has local software checks, but no GPU outcome has been measured. Independent synthetic caches and a frozen confirmation protocol are still needed to separate dynamics from general initialization effects.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chemeClr val="tx2"/>
                </a:solidFill>
              </a:rPr>
              <a:t>GPU_NCA_proofer · audit of NCA pre-pre-training · repository snapshot 17 Oct 2026</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005840"/>
            <a:ext cx="10515600" cy="36576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alibri" pitchFamily="34" charset="0"/>
                <a:ea typeface="Calibri" pitchFamily="34" charset="-122"/>
                <a:cs typeface="Calibri" pitchFamily="34" charset="-120"/>
              </a:rPr>
              <a:t>AUDIT · THEORY · LEAN 4 · REPRODUCIBLE EVIDENCE</a:t>
            </a:r>
            <a:endParaRPr lang="en-US" sz="1600" dirty="0"/>
          </a:p>
        </p:txBody>
      </p:sp>
      <p:sp>
        <p:nvSpPr>
          <p:cNvPr id="3" name="Text 1"/>
          <p:cNvSpPr txBox="1"/>
          <p:nvPr/>
        </p:nvSpPr>
        <p:spPr>
          <a:xfrm>
            <a:off x="822960" y="1554480"/>
            <a:ext cx="10515600" cy="1097280"/>
          </a:xfrm>
          <a:prstGeom prst="rect">
            <a:avLst/>
          </a:prstGeom>
          <a:noFill/>
          <a:ln/>
        </p:spPr>
        <p:txBody>
          <a:bodyPr wrap="square" lIns="0" tIns="0" rIns="0" bIns="0" rtlCol="0" anchor="t"/>
          <a:lstStyle/>
          <a:p>
            <a:pPr indent="0" marL="0">
              <a:buNone/>
            </a:pPr>
            <a:r>
              <a:rPr lang="en-US" sz="6000" b="1" dirty="0">
                <a:solidFill>
                  <a:schemeClr val="tx1"/>
                </a:solidFill>
                <a:latin typeface="Calibri" pitchFamily="34" charset="0"/>
                <a:ea typeface="Calibri" pitchFamily="34" charset="-122"/>
                <a:cs typeface="Calibri" pitchFamily="34" charset="-120"/>
              </a:rPr>
              <a:t>GPU_NCA_proofer</a:t>
            </a:r>
            <a:endParaRPr lang="en-US" sz="6000" dirty="0"/>
          </a:p>
        </p:txBody>
      </p:sp>
      <p:sp>
        <p:nvSpPr>
          <p:cNvPr id="4" name="Text 2"/>
          <p:cNvSpPr txBox="1"/>
          <p:nvPr/>
        </p:nvSpPr>
        <p:spPr>
          <a:xfrm>
            <a:off x="822960" y="2743200"/>
            <a:ext cx="9601200" cy="1005840"/>
          </a:xfrm>
          <a:prstGeom prst="rect">
            <a:avLst/>
          </a:prstGeom>
          <a:noFill/>
          <a:ln/>
        </p:spPr>
        <p:txBody>
          <a:bodyPr wrap="square" lIns="0" tIns="0" rIns="0" bIns="0" rtlCol="0" anchor="t"/>
          <a:lstStyle/>
          <a:p>
            <a:pPr indent="0" marL="0">
              <a:buNone/>
            </a:pPr>
            <a:r>
              <a:rPr lang="en-US" sz="2200" dirty="0">
                <a:solidFill>
                  <a:schemeClr val="tx2"/>
                </a:solidFill>
                <a:latin typeface="Calibri" pitchFamily="34" charset="0"/>
                <a:ea typeface="Calibri" pitchFamily="34" charset="-122"/>
                <a:cs typeface="Calibri" pitchFamily="34" charset="-120"/>
              </a:rPr>
              <a:t>Does pre-pre-training a transformer on neural cellular automata help it learn language? Theory, formal checks and GPU measurements from the repository.</a:t>
            </a:r>
            <a:endParaRPr lang="en-US" sz="2200" dirty="0"/>
          </a:p>
        </p:txBody>
      </p:sp>
      <p:sp>
        <p:nvSpPr>
          <p:cNvPr id="5" name="Highlights card"/>
          <p:cNvSpPr/>
          <p:nvPr/>
        </p:nvSpPr>
        <p:spPr>
          <a:xfrm>
            <a:off x="822960" y="4114800"/>
            <a:ext cx="10515600" cy="1463040"/>
          </a:xfrm>
          <a:prstGeom prst="roundRect">
            <a:avLst>
              <a:gd name="adj" fmla="val 7500"/>
            </a:avLst>
          </a:prstGeom>
          <a:solidFill>
            <a:srgbClr val="15233B"/>
          </a:solidFill>
          <a:ln w="12700">
            <a:solidFill>
              <a:srgbClr val="15233B"/>
            </a:solidFill>
            <a:prstDash val="solid"/>
          </a:ln>
        </p:spPr>
      </p:sp>
      <p:sp>
        <p:nvSpPr>
          <p:cNvPr id="6" name="Text 4"/>
          <p:cNvSpPr txBox="1"/>
          <p:nvPr/>
        </p:nvSpPr>
        <p:spPr>
          <a:xfrm>
            <a:off x="1097280" y="4251960"/>
            <a:ext cx="10058400" cy="118872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tx1"/>
                </a:solidFill>
                <a:latin typeface="Calibri" pitchFamily="34" charset="0"/>
                <a:ea typeface="Calibri" pitchFamily="34" charset="-122"/>
                <a:cs typeface="Calibri" pitchFamily="34" charset="-120"/>
              </a:rPr>
              <a:t>7 LaTeX theory sections, plus 44 named Lean 4 statements (partial coverage)</a:t>
            </a:r>
            <a:endParaRPr lang="en-US" sz="1600" dirty="0"/>
          </a:p>
          <a:p>
            <a:pPr marL="342900" indent="-342900">
              <a:spcAft>
                <a:spcPts val="700"/>
              </a:spcAft>
              <a:buSzPct val="100000"/>
              <a:buChar char="•"/>
            </a:pPr>
            <a:r>
              <a:rPr lang="en-US" sz="1600" dirty="0">
                <a:solidFill>
                  <a:schemeClr val="tx1"/>
                </a:solidFill>
                <a:latin typeface="Calibri" pitchFamily="34" charset="0"/>
                <a:ea typeface="Calibri" pitchFamily="34" charset="-122"/>
                <a:cs typeface="Calibri" pitchFamily="34" charset="-120"/>
              </a:rPr>
              <a:t>Pilot 1: 15 runs, graph NCA did not help, protocol confounded</a:t>
            </a:r>
            <a:endParaRPr lang="en-US" sz="1600" dirty="0"/>
          </a:p>
          <a:p>
            <a:pPr marL="342900" indent="-342900">
              <a:spcAft>
                <a:spcPts val="700"/>
              </a:spcAft>
              <a:buSzPct val="100000"/>
              <a:buChar char="•"/>
            </a:pPr>
            <a:r>
              <a:rPr lang="en-US" sz="1600" dirty="0">
                <a:solidFill>
                  <a:schemeClr val="tx1"/>
                </a:solidFill>
                <a:latin typeface="Calibri" pitchFamily="34" charset="0"/>
                <a:ea typeface="Calibri" pitchFamily="34" charset="-122"/>
                <a:cs typeface="Calibri" pitchFamily="34" charset="-120"/>
              </a:rPr>
              <a:t>Transfer V2: matched 2,000-update language stage, 9 runs, modest gain that shuffled data matches</a:t>
            </a:r>
            <a:endParaRPr lang="en-US" sz="1600" dirty="0"/>
          </a:p>
        </p:txBody>
      </p:sp>
      <p:sp>
        <p:nvSpPr>
          <p:cNvPr id="7" name="Text 5"/>
          <p:cNvSpPr txBox="1"/>
          <p:nvPr/>
        </p:nvSpPr>
        <p:spPr>
          <a:xfrm>
            <a:off x="822960" y="5943600"/>
            <a:ext cx="7315200" cy="32004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github.com/code8286/GPU_NCA_proofer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The claim under audit and how the repo tests it</a:t>
            </a:r>
            <a:endParaRPr lang="en-US" sz="3000" dirty="0"/>
          </a:p>
        </p:txBody>
      </p:sp>
      <p:sp>
        <p:nvSpPr>
          <p:cNvPr id="4" name="Claim card"/>
          <p:cNvSpPr/>
          <p:nvPr/>
        </p:nvSpPr>
        <p:spPr>
          <a:xfrm>
            <a:off x="548640" y="1371600"/>
            <a:ext cx="5394960" cy="4754880"/>
          </a:xfrm>
          <a:prstGeom prst="roundRect">
            <a:avLst>
              <a:gd name="adj" fmla="val 2308"/>
            </a:avLst>
          </a:prstGeom>
          <a:solidFill>
            <a:srgbClr val="15233B"/>
          </a:solidFill>
          <a:ln w="12700">
            <a:solidFill>
              <a:srgbClr val="15233B"/>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The proposed idea (Lee et al., 2026)</a:t>
            </a:r>
            <a:endParaRPr lang="en-US" sz="1800" dirty="0"/>
          </a:p>
        </p:txBody>
      </p:sp>
      <p:sp>
        <p:nvSpPr>
          <p:cNvPr id="6" name="Text 3"/>
          <p:cNvSpPr txBox="1"/>
          <p:nvPr/>
        </p:nvSpPr>
        <p:spPr>
          <a:xfrm>
            <a:off x="822960" y="2103120"/>
            <a:ext cx="4846320" cy="384048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Simulate a neural cellular automaton (NCA) on a 2D grid or graph</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Serialize 2D cell states into 1D token sequences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Pre-pre-train an autoregressive transformer on them</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Discard synthetic embeddings, attach a language tokenizer, train on text</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Claimed benefit: relational priors that speed up language learning</a:t>
            </a:r>
            <a:endParaRPr lang="en-US" sz="1800" dirty="0"/>
          </a:p>
        </p:txBody>
      </p:sp>
      <p:sp>
        <p:nvSpPr>
          <p:cNvPr id="7" name="Questions card"/>
          <p:cNvSpPr/>
          <p:nvPr/>
        </p:nvSpPr>
        <p:spPr>
          <a:xfrm>
            <a:off x="6217920" y="1371600"/>
            <a:ext cx="5394960" cy="4754880"/>
          </a:xfrm>
          <a:prstGeom prst="roundRect">
            <a:avLst>
              <a:gd name="adj" fmla="val 2308"/>
            </a:avLst>
          </a:prstGeom>
          <a:solidFill>
            <a:srgbClr val="15233B"/>
          </a:solidFill>
          <a:ln w="12700">
            <a:solidFill>
              <a:srgbClr val="15233B"/>
            </a:solidFill>
            <a:prstDash val="solid"/>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What the repository asks</a:t>
            </a:r>
            <a:endParaRPr lang="en-US" sz="1800" dirty="0"/>
          </a:p>
        </p:txBody>
      </p:sp>
      <p:sp>
        <p:nvSpPr>
          <p:cNvPr id="9" name="Text 6"/>
          <p:cNvSpPr txBox="1"/>
          <p:nvPr/>
        </p:nvSpPr>
        <p:spPr>
          <a:xfrm>
            <a:off x="6492240" y="2103120"/>
            <a:ext cx="4846320" cy="384048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Dynamics: what is the message-passing system computing?</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Information: how much entropy do deterministic trajectories carry?</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Serialization: what artifacts does a 2D to 1D flattening create?</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Optimization: what survives the embedding reset?</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Economics: does any language gain repay the synthetic stage?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Where the evidence stands</a:t>
            </a:r>
            <a:endParaRPr lang="en-US" sz="3000" dirty="0"/>
          </a:p>
        </p:txBody>
      </p:sp>
      <p:sp>
        <p:nvSpPr>
          <p:cNvPr id="4" name="Speedup card"/>
          <p:cNvSpPr/>
          <p:nvPr/>
        </p:nvSpPr>
        <p:spPr>
          <a:xfrm>
            <a:off x="548640" y="1371600"/>
            <a:ext cx="3566160" cy="3017520"/>
          </a:xfrm>
          <a:prstGeom prst="roundRect">
            <a:avLst>
              <a:gd name="adj" fmla="val 3636"/>
            </a:avLst>
          </a:prstGeom>
          <a:solidFill>
            <a:srgbClr val="15233B"/>
          </a:solidFill>
          <a:ln w="12700">
            <a:solidFill>
              <a:srgbClr val="15233B"/>
            </a:solidFill>
            <a:prstDash val="solid"/>
          </a:ln>
        </p:spPr>
      </p:sp>
      <p:sp>
        <p:nvSpPr>
          <p:cNvPr id="5" name="Speedup number"/>
          <p:cNvSpPr txBox="1"/>
          <p:nvPr/>
        </p:nvSpPr>
        <p:spPr>
          <a:xfrm>
            <a:off x="822960" y="1554480"/>
            <a:ext cx="3017520" cy="86868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1.178×</a:t>
            </a:r>
            <a:endParaRPr lang="en-US" sz="4800" dirty="0"/>
          </a:p>
        </p:txBody>
      </p:sp>
      <p:sp>
        <p:nvSpPr>
          <p:cNvPr id="6" name="Speedup label"/>
          <p:cNvSpPr txBox="1"/>
          <p:nvPr/>
        </p:nvSpPr>
        <p:spPr>
          <a:xfrm>
            <a:off x="82296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Language-token speedup</a:t>
            </a:r>
            <a:endParaRPr lang="en-US" sz="1800" dirty="0"/>
          </a:p>
        </p:txBody>
      </p:sp>
      <p:sp>
        <p:nvSpPr>
          <p:cNvPr id="7" name="Speedup detail"/>
          <p:cNvSpPr txBox="1"/>
          <p:nvPr/>
        </p:nvSpPr>
        <p:spPr>
          <a:xfrm>
            <a:off x="822960" y="2880360"/>
            <a:ext cx="3017520"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Grid NCA reaches each seed's scratch endpoint in 1600–1800 language updates instead of 2000.</a:t>
            </a:r>
            <a:endParaRPr lang="en-US" sz="1400" dirty="0"/>
          </a:p>
        </p:txBody>
      </p:sp>
      <p:sp>
        <p:nvSpPr>
          <p:cNvPr id="8" name="Shuffled card"/>
          <p:cNvSpPr/>
          <p:nvPr/>
        </p:nvSpPr>
        <p:spPr>
          <a:xfrm>
            <a:off x="4297680" y="1371600"/>
            <a:ext cx="3566160" cy="3017520"/>
          </a:xfrm>
          <a:prstGeom prst="roundRect">
            <a:avLst>
              <a:gd name="adj" fmla="val 3636"/>
            </a:avLst>
          </a:prstGeom>
          <a:solidFill>
            <a:srgbClr val="15233B"/>
          </a:solidFill>
          <a:ln w="12700">
            <a:solidFill>
              <a:srgbClr val="15233B"/>
            </a:solidFill>
            <a:prstDash val="solid"/>
          </a:ln>
        </p:spPr>
      </p:sp>
      <p:sp>
        <p:nvSpPr>
          <p:cNvPr id="9" name="Shuffled number"/>
          <p:cNvSpPr txBox="1"/>
          <p:nvPr/>
        </p:nvSpPr>
        <p:spPr>
          <a:xfrm>
            <a:off x="4572000" y="1554480"/>
            <a:ext cx="3017520" cy="868680"/>
          </a:xfrm>
          <a:prstGeom prst="rect">
            <a:avLst/>
          </a:prstGeom>
          <a:noFill/>
          <a:ln/>
        </p:spPr>
        <p:txBody>
          <a:bodyPr wrap="square" lIns="0" tIns="0" rIns="0" bIns="0" rtlCol="0" anchor="ctr"/>
          <a:lstStyle/>
          <a:p>
            <a:pPr indent="0" marL="0">
              <a:buNone/>
            </a:pPr>
            <a:r>
              <a:rPr lang="en-US" sz="4800" b="1" dirty="0">
                <a:solidFill>
                  <a:srgbClr val="FBBF24"/>
                </a:solidFill>
                <a:latin typeface="Calibri" pitchFamily="34" charset="0"/>
                <a:ea typeface="Calibri" pitchFamily="34" charset="-122"/>
                <a:cs typeface="Calibri" pitchFamily="34" charset="-120"/>
              </a:rPr>
              <a:t>1.178×</a:t>
            </a:r>
            <a:endParaRPr lang="en-US" sz="4800" dirty="0"/>
          </a:p>
        </p:txBody>
      </p:sp>
      <p:sp>
        <p:nvSpPr>
          <p:cNvPr id="10" name="Shuffled label"/>
          <p:cNvSpPr txBox="1"/>
          <p:nvPr/>
        </p:nvSpPr>
        <p:spPr>
          <a:xfrm>
            <a:off x="457200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Same for shuffled NCA</a:t>
            </a:r>
            <a:endParaRPr lang="en-US" sz="1800" dirty="0"/>
          </a:p>
        </p:txBody>
      </p:sp>
      <p:sp>
        <p:nvSpPr>
          <p:cNvPr id="11" name="Shuffled detail"/>
          <p:cNvSpPr txBox="1"/>
          <p:nvPr/>
        </p:nvSpPr>
        <p:spPr>
          <a:xfrm>
            <a:off x="4572000" y="2880360"/>
            <a:ext cx="3017520"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Shuffled trajectories give the identical speedup, so the NCA dynamics are not isolated as the cause.</a:t>
            </a:r>
            <a:endParaRPr lang="en-US" sz="1400" dirty="0"/>
          </a:p>
        </p:txBody>
      </p:sp>
      <p:sp>
        <p:nvSpPr>
          <p:cNvPr id="12" name="Cumulative card"/>
          <p:cNvSpPr/>
          <p:nvPr/>
        </p:nvSpPr>
        <p:spPr>
          <a:xfrm>
            <a:off x="8046720" y="1371600"/>
            <a:ext cx="3566160" cy="3017520"/>
          </a:xfrm>
          <a:prstGeom prst="roundRect">
            <a:avLst>
              <a:gd name="adj" fmla="val 3636"/>
            </a:avLst>
          </a:prstGeom>
          <a:solidFill>
            <a:srgbClr val="15233B"/>
          </a:solidFill>
          <a:ln w="12700">
            <a:solidFill>
              <a:srgbClr val="15233B"/>
            </a:solidFill>
            <a:prstDash val="solid"/>
          </a:ln>
        </p:spPr>
      </p:sp>
      <p:sp>
        <p:nvSpPr>
          <p:cNvPr id="13" name="Cumulative number"/>
          <p:cNvSpPr txBox="1"/>
          <p:nvPr/>
        </p:nvSpPr>
        <p:spPr>
          <a:xfrm>
            <a:off x="8321040" y="1554480"/>
            <a:ext cx="3017520" cy="868680"/>
          </a:xfrm>
          <a:prstGeom prst="rect">
            <a:avLst/>
          </a:prstGeom>
          <a:noFill/>
          <a:ln/>
        </p:spPr>
        <p:txBody>
          <a:bodyPr wrap="square" lIns="0" tIns="0" rIns="0" bIns="0" rtlCol="0" anchor="ctr"/>
          <a:lstStyle/>
          <a:p>
            <a:pPr indent="0" marL="0">
              <a:buNone/>
            </a:pPr>
            <a:r>
              <a:rPr lang="en-US" sz="4800" b="1" dirty="0">
                <a:solidFill>
                  <a:srgbClr val="F87171"/>
                </a:solidFill>
                <a:latin typeface="Calibri" pitchFamily="34" charset="0"/>
                <a:ea typeface="Calibri" pitchFamily="34" charset="-122"/>
                <a:cs typeface="Calibri" pitchFamily="34" charset="-120"/>
              </a:rPr>
              <a:t>0.886×</a:t>
            </a:r>
            <a:endParaRPr lang="en-US" sz="4800" dirty="0"/>
          </a:p>
        </p:txBody>
      </p:sp>
      <p:sp>
        <p:nvSpPr>
          <p:cNvPr id="14" name="Cumulative label"/>
          <p:cNvSpPr txBox="1"/>
          <p:nvPr/>
        </p:nvSpPr>
        <p:spPr>
          <a:xfrm>
            <a:off x="832104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Cumulative-time speedup</a:t>
            </a:r>
            <a:endParaRPr lang="en-US" sz="1800" dirty="0"/>
          </a:p>
        </p:txBody>
      </p:sp>
      <p:sp>
        <p:nvSpPr>
          <p:cNvPr id="15" name="Cumulative detail"/>
          <p:cNvSpPr txBox="1"/>
          <p:nvPr/>
        </p:nvSpPr>
        <p:spPr>
          <a:xfrm>
            <a:off x="8321040" y="2880360"/>
            <a:ext cx="3017520"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Counting the 1,000 synthetic updates, grid needs about 12.8% more recorded time at the reference.</a:t>
            </a:r>
            <a:endParaRPr lang="en-US" sz="1400" dirty="0"/>
          </a:p>
        </p:txBody>
      </p:sp>
      <p:sp>
        <p:nvSpPr>
          <p:cNvPr id="16" name="Caveat card"/>
          <p:cNvSpPr/>
          <p:nvPr/>
        </p:nvSpPr>
        <p:spPr>
          <a:xfrm>
            <a:off x="548640" y="4617720"/>
            <a:ext cx="11064240" cy="1508760"/>
          </a:xfrm>
          <a:prstGeom prst="roundRect">
            <a:avLst>
              <a:gd name="adj" fmla="val 7273"/>
            </a:avLst>
          </a:prstGeom>
          <a:solidFill>
            <a:srgbClr val="15233B"/>
          </a:solidFill>
          <a:ln w="12700">
            <a:solidFill>
              <a:srgbClr val="15233B"/>
            </a:solidFill>
            <a:prstDash val="solid"/>
          </a:ln>
        </p:spPr>
      </p:sp>
      <p:sp>
        <p:nvSpPr>
          <p:cNvPr id="17" name="Text 14"/>
          <p:cNvSpPr txBox="1"/>
          <p:nvPr/>
        </p:nvSpPr>
        <p:spPr>
          <a:xfrm>
            <a:off x="822960" y="4754880"/>
            <a:ext cx="105156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Scope of the claims</a:t>
            </a:r>
            <a:endParaRPr lang="en-US" sz="1800" dirty="0"/>
          </a:p>
        </p:txBody>
      </p:sp>
      <p:sp>
        <p:nvSpPr>
          <p:cNvPr id="18" name="Text 15"/>
          <p:cNvSpPr txBox="1"/>
          <p:nvPr/>
        </p:nvSpPr>
        <p:spPr>
          <a:xfrm>
            <a:off x="822960" y="5166360"/>
            <a:ext cx="10515600" cy="8229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Development setting: 3 paired seeds, one shared synthetic cache, a small corpus. The repository does not claim general acceleration, reasoning gains, or a reproduction of the paper. Graph rewiring was not tested in V2.</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Pilot 1: no graph benefit, but the protocol is confounded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2286000"/>
                <a:gridCol w="2103120"/>
                <a:gridCol w="2103120"/>
                <a:gridCol w="2286000"/>
              </a:tblGrid>
              <a:tr h="411480">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Arm</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Test NLL (nats/byte)</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Byte perplexity</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Seconds to target</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Total tokens to target</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r>
              <a:tr h="411480">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scratch</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1.8828</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6.572</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6.117</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819,200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r>
              <a:tr h="411480">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reserve_text</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1.8790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6.547</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6.117</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819,200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r>
              <a:tr h="411480">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grid_nca</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1.9289</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6.882</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8.818</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1,160,533</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r>
              <a:tr h="411480">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graph_nca</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1.9361</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6.931</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8.775</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1,160,533</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r>
              <a:tr h="411480">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shuffled_graph</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1.9363</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6.933</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9.276</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1,228,800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r>
            </a:tbl>
          </a:graphicData>
        </a:graphic>
      </p:graphicFrame>
      <p:sp>
        <p:nvSpPr>
          <p:cNvPr id="5" name="Protocol flaw card"/>
          <p:cNvSpPr/>
          <p:nvPr/>
        </p:nvSpPr>
        <p:spPr>
          <a:xfrm>
            <a:off x="548640" y="4114800"/>
            <a:ext cx="5394960" cy="2057400"/>
          </a:xfrm>
          <a:prstGeom prst="roundRect">
            <a:avLst>
              <a:gd name="adj" fmla="val 5333"/>
            </a:avLst>
          </a:prstGeom>
          <a:solidFill>
            <a:srgbClr val="15233B"/>
          </a:solidFill>
          <a:ln w="12700">
            <a:solidFill>
              <a:srgbClr val="15233B"/>
            </a:solidFill>
            <a:prstDash val="solid"/>
          </a:ln>
        </p:spPr>
      </p:sp>
      <p:sp>
        <p:nvSpPr>
          <p:cNvPr id="6" name="Text 2"/>
          <p:cNvSpPr txBox="1"/>
          <p:nvPr/>
        </p:nvSpPr>
        <p:spPr>
          <a:xfrm>
            <a:off x="822960" y="425196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The protocol flaw</a:t>
            </a:r>
            <a:endParaRPr lang="en-US" sz="1800" dirty="0"/>
          </a:p>
        </p:txBody>
      </p:sp>
      <p:sp>
        <p:nvSpPr>
          <p:cNvPr id="7" name="Text 3"/>
          <p:cNvSpPr txBox="1"/>
          <p:nvPr/>
        </p:nvSpPr>
        <p:spPr>
          <a:xfrm>
            <a:off x="822960" y="4663440"/>
            <a:ext cx="4846320" cy="14630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Scratch: 1,000 text updates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NCA arms: 100 synthetic + 900 text updates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Unequal language exposure and scheduler positions</a:t>
            </a:r>
            <a:endParaRPr lang="en-US" sz="1500" dirty="0"/>
          </a:p>
        </p:txBody>
      </p:sp>
      <p:sp>
        <p:nvSpPr>
          <p:cNvPr id="8" name="Pilot finding card"/>
          <p:cNvSpPr/>
          <p:nvPr/>
        </p:nvSpPr>
        <p:spPr>
          <a:xfrm>
            <a:off x="6217920" y="4114800"/>
            <a:ext cx="5394960" cy="2057400"/>
          </a:xfrm>
          <a:prstGeom prst="roundRect">
            <a:avLst>
              <a:gd name="adj" fmla="val 5333"/>
            </a:avLst>
          </a:prstGeom>
          <a:solidFill>
            <a:srgbClr val="15233B"/>
          </a:solidFill>
          <a:ln w="12700">
            <a:solidFill>
              <a:srgbClr val="15233B"/>
            </a:solidFill>
            <a:prstDash val="solid"/>
          </a:ln>
        </p:spPr>
      </p:sp>
      <p:sp>
        <p:nvSpPr>
          <p:cNvPr id="9" name="Text 5"/>
          <p:cNvSpPr txBox="1"/>
          <p:nvPr/>
        </p:nvSpPr>
        <p:spPr>
          <a:xfrm>
            <a:off x="6492240" y="425196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What the pilot still shows</a:t>
            </a:r>
            <a:endParaRPr lang="en-US" sz="1800" dirty="0"/>
          </a:p>
        </p:txBody>
      </p:sp>
      <p:sp>
        <p:nvSpPr>
          <p:cNvPr id="10" name="Text 6"/>
          <p:cNvSpPr txBox="1"/>
          <p:nvPr/>
        </p:nvSpPr>
        <p:spPr>
          <a:xfrm>
            <a:off x="6492240" y="4663440"/>
            <a:ext cx="4846320" cy="14630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Graph NCA: 1.432× longer to target, +5.47% perplexity</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All 3 seeds favored text-only training</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Means over 3 seeds; 15 runs, 61.44M tokens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Pilot 1: graph, grid and shuffled arms are indistinguishable</a:t>
            </a:r>
            <a:endParaRPr lang="en-US" sz="3000" dirty="0"/>
          </a:p>
        </p:txBody>
      </p:sp>
      <p:sp>
        <p:nvSpPr>
          <p:cNvPr id="4" name="Pilot point 1"/>
          <p:cNvSpPr/>
          <p:nvPr/>
        </p:nvSpPr>
        <p:spPr>
          <a:xfrm>
            <a:off x="548640" y="1280160"/>
            <a:ext cx="3566160" cy="1143000"/>
          </a:xfrm>
          <a:prstGeom prst="roundRect">
            <a:avLst>
              <a:gd name="adj" fmla="val 9600"/>
            </a:avLst>
          </a:prstGeom>
          <a:solidFill>
            <a:srgbClr val="15233B"/>
          </a:solidFill>
          <a:ln w="12700">
            <a:solidFill>
              <a:srgbClr val="15233B"/>
            </a:solidFill>
            <a:prstDash val="solid"/>
          </a:ln>
        </p:spPr>
      </p:sp>
      <p:sp>
        <p:nvSpPr>
          <p:cNvPr id="5" name="Text 2"/>
          <p:cNvSpPr txBox="1"/>
          <p:nvPr/>
        </p:nvSpPr>
        <p:spPr>
          <a:xfrm>
            <a:off x="777240" y="1389888"/>
            <a:ext cx="310896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Graph vs grid</a:t>
            </a:r>
            <a:endParaRPr lang="en-US" sz="1800" dirty="0"/>
          </a:p>
        </p:txBody>
      </p:sp>
      <p:sp>
        <p:nvSpPr>
          <p:cNvPr id="6" name="Text 3"/>
          <p:cNvSpPr txBox="1"/>
          <p:nvPr/>
        </p:nvSpPr>
        <p:spPr>
          <a:xfrm>
            <a:off x="777240" y="1783080"/>
            <a:ext cx="3108960" cy="5486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Same target crossing in every seed</a:t>
            </a:r>
            <a:endParaRPr lang="en-US" sz="1500" dirty="0"/>
          </a:p>
        </p:txBody>
      </p:sp>
      <p:sp>
        <p:nvSpPr>
          <p:cNvPr id="7" name="Pilot point 2"/>
          <p:cNvSpPr/>
          <p:nvPr/>
        </p:nvSpPr>
        <p:spPr>
          <a:xfrm>
            <a:off x="4297680" y="1280160"/>
            <a:ext cx="3566160" cy="1143000"/>
          </a:xfrm>
          <a:prstGeom prst="roundRect">
            <a:avLst>
              <a:gd name="adj" fmla="val 9600"/>
            </a:avLst>
          </a:prstGeom>
          <a:solidFill>
            <a:srgbClr val="15233B"/>
          </a:solidFill>
          <a:ln w="12700">
            <a:solidFill>
              <a:srgbClr val="15233B"/>
            </a:solidFill>
            <a:prstDash val="solid"/>
          </a:ln>
        </p:spPr>
      </p:sp>
      <p:sp>
        <p:nvSpPr>
          <p:cNvPr id="8" name="Text 5"/>
          <p:cNvSpPr txBox="1"/>
          <p:nvPr/>
        </p:nvSpPr>
        <p:spPr>
          <a:xfrm>
            <a:off x="4526280" y="1389888"/>
            <a:ext cx="310896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Graph vs shuffled graph</a:t>
            </a:r>
            <a:endParaRPr lang="en-US" sz="1800" dirty="0"/>
          </a:p>
        </p:txBody>
      </p:sp>
      <p:sp>
        <p:nvSpPr>
          <p:cNvPr id="9" name="Text 6"/>
          <p:cNvSpPr txBox="1"/>
          <p:nvPr/>
        </p:nvSpPr>
        <p:spPr>
          <a:xfrm>
            <a:off x="4526280" y="1783080"/>
            <a:ext cx="3108960" cy="5486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Mean test-loss gap 0.000215 nats/byte</a:t>
            </a:r>
            <a:endParaRPr lang="en-US" sz="1500" dirty="0"/>
          </a:p>
        </p:txBody>
      </p:sp>
      <p:sp>
        <p:nvSpPr>
          <p:cNvPr id="10" name="Pilot point 3"/>
          <p:cNvSpPr/>
          <p:nvPr/>
        </p:nvSpPr>
        <p:spPr>
          <a:xfrm>
            <a:off x="8046720" y="1280160"/>
            <a:ext cx="3566160" cy="1143000"/>
          </a:xfrm>
          <a:prstGeom prst="roundRect">
            <a:avLst>
              <a:gd name="adj" fmla="val 9600"/>
            </a:avLst>
          </a:prstGeom>
          <a:solidFill>
            <a:srgbClr val="15233B"/>
          </a:solidFill>
          <a:ln w="12700">
            <a:solidFill>
              <a:srgbClr val="15233B"/>
            </a:solidFill>
            <a:prstDash val="solid"/>
          </a:ln>
        </p:spPr>
      </p:sp>
      <p:sp>
        <p:nvSpPr>
          <p:cNvPr id="11" name="Text 8"/>
          <p:cNvSpPr txBox="1"/>
          <p:nvPr/>
        </p:nvSpPr>
        <p:spPr>
          <a:xfrm>
            <a:off x="8275320" y="1389888"/>
            <a:ext cx="310896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Total-token speedup</a:t>
            </a:r>
            <a:endParaRPr lang="en-US" sz="1800" dirty="0"/>
          </a:p>
        </p:txBody>
      </p:sp>
      <p:sp>
        <p:nvSpPr>
          <p:cNvPr id="12" name="Text 9"/>
          <p:cNvSpPr txBox="1"/>
          <p:nvPr/>
        </p:nvSpPr>
        <p:spPr>
          <a:xfrm>
            <a:off x="8275320" y="1783080"/>
            <a:ext cx="3108960" cy="5486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0.667×, 0.667×, 0.800× vs scratch</a:t>
            </a:r>
            <a:endParaRPr lang="en-US" sz="1500" dirty="0"/>
          </a:p>
        </p:txBody>
      </p:sp>
      <p:sp>
        <p:nvSpPr>
          <p:cNvPr id="13" name="Chart backing"/>
          <p:cNvSpPr/>
          <p:nvPr/>
        </p:nvSpPr>
        <p:spPr>
          <a:xfrm>
            <a:off x="1068705" y="2560320"/>
            <a:ext cx="10024110" cy="3703320"/>
          </a:xfrm>
          <a:prstGeom prst="rect">
            <a:avLst/>
          </a:prstGeom>
          <a:solidFill>
            <a:srgbClr val="FFFFFF"/>
          </a:solidFill>
          <a:ln w="12700">
            <a:solidFill>
              <a:srgbClr val="FFFFFF"/>
            </a:solidFill>
            <a:prstDash val="solid"/>
          </a:ln>
        </p:spPr>
      </p:sp>
      <p:pic>
        <p:nvPicPr>
          <p:cNvPr id="14" name="Image 0" descr="Pilot 1 validation NLL by arm, aligned by language tokens">    </p:cNvPr>
          <p:cNvPicPr>
            <a:picLocks noChangeAspect="1"/>
          </p:cNvPicPr>
          <p:nvPr/>
        </p:nvPicPr>
        <p:blipFill>
          <a:blip r:embed="rId1"/>
          <a:stretch>
            <a:fillRect/>
          </a:stretch>
        </p:blipFill>
        <p:spPr>
          <a:xfrm>
            <a:off x="1114425" y="2606040"/>
            <a:ext cx="9932670" cy="3611880"/>
          </a:xfrm>
          <a:prstGeom prst="rect">
            <a:avLst/>
          </a:prstGeom>
        </p:spPr>
      </p:pic>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Theory §1–2: three separate objects, one exact equivalence</a:t>
            </a:r>
            <a:endParaRPr lang="en-US" sz="3000" dirty="0"/>
          </a:p>
        </p:txBody>
      </p:sp>
      <p:sp>
        <p:nvSpPr>
          <p:cNvPr id="4" name="Objects card"/>
          <p:cNvSpPr/>
          <p:nvPr/>
        </p:nvSpPr>
        <p:spPr>
          <a:xfrm>
            <a:off x="548640" y="1371600"/>
            <a:ext cx="5394960" cy="4754880"/>
          </a:xfrm>
          <a:prstGeom prst="roundRect">
            <a:avLst>
              <a:gd name="adj" fmla="val 2308"/>
            </a:avLst>
          </a:prstGeom>
          <a:solidFill>
            <a:srgbClr val="15233B"/>
          </a:solidFill>
          <a:ln w="12700">
            <a:solidFill>
              <a:srgbClr val="15233B"/>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Three separate objects (§1)</a:t>
            </a:r>
            <a:endParaRPr lang="en-US" sz="1800" dirty="0"/>
          </a:p>
        </p:txBody>
      </p:sp>
      <p:sp>
        <p:nvSpPr>
          <p:cNvPr id="6" name="Text 3"/>
          <p:cNvSpPr txBox="1"/>
          <p:nvPr/>
        </p:nvSpPr>
        <p:spPr>
          <a:xfrm>
            <a:off x="822960" y="2103120"/>
            <a:ext cx="4846320" cy="384048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NCA dynamics: discrete alphabet, X(t+1) = F(X(t)); rule weights sampled once and frozen</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Topology G: typed incoming relation permutations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Transformer predictor: a detached model trained only on serialized traces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It cannot backpropagate into the generator</a:t>
            </a:r>
            <a:endParaRPr lang="en-US" sz="1800" dirty="0"/>
          </a:p>
        </p:txBody>
      </p:sp>
      <p:sp>
        <p:nvSpPr>
          <p:cNvPr id="7" name="Rewiring card"/>
          <p:cNvSpPr/>
          <p:nvPr/>
        </p:nvSpPr>
        <p:spPr>
          <a:xfrm>
            <a:off x="6217920" y="1371600"/>
            <a:ext cx="5394960" cy="4754880"/>
          </a:xfrm>
          <a:prstGeom prst="roundRect">
            <a:avLst>
              <a:gd name="adj" fmla="val 2308"/>
            </a:avLst>
          </a:prstGeom>
          <a:solidFill>
            <a:srgbClr val="15233B"/>
          </a:solidFill>
          <a:ln w="12700">
            <a:solidFill>
              <a:srgbClr val="15233B"/>
            </a:solidFill>
            <a:prstDash val="solid"/>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Grid vs. graph rewiring (§2)</a:t>
            </a:r>
            <a:endParaRPr lang="en-US" sz="1800" dirty="0"/>
          </a:p>
        </p:txBody>
      </p:sp>
      <p:sp>
        <p:nvSpPr>
          <p:cNvPr id="9" name="Text 6"/>
          <p:cNvSpPr txBox="1"/>
          <p:nvPr/>
        </p:nvSpPr>
        <p:spPr>
          <a:xfrm>
            <a:off x="6492240" y="2103120"/>
            <a:ext cx="4846320" cy="384048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Periodic 2D grid with 3×3 convolutions = 8-regular typed directed graph</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Degree-preserving rewiring permutes incoming neighbours and keeps degree 8</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It changes the diffusion spectrum and logit-margin perturbation bounds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It breaks 2D translation equivariance</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Lean covers relabeling equivariance; spectral claims stay informal</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Theory §3: trajectory information is tightly bounded</a:t>
            </a:r>
            <a:endParaRPr lang="en-US" sz="3000" dirty="0"/>
          </a:p>
        </p:txBody>
      </p:sp>
      <p:sp>
        <p:nvSpPr>
          <p:cNvPr id="4" name="Entropy 1 card"/>
          <p:cNvSpPr/>
          <p:nvPr/>
        </p:nvSpPr>
        <p:spPr>
          <a:xfrm>
            <a:off x="548640" y="1371600"/>
            <a:ext cx="3566160" cy="2743200"/>
          </a:xfrm>
          <a:prstGeom prst="roundRect">
            <a:avLst>
              <a:gd name="adj" fmla="val 4000"/>
            </a:avLst>
          </a:prstGeom>
          <a:solidFill>
            <a:srgbClr val="15233B"/>
          </a:solidFill>
          <a:ln w="12700">
            <a:solidFill>
              <a:srgbClr val="15233B"/>
            </a:solidFill>
            <a:prstDash val="solid"/>
          </a:ln>
        </p:spPr>
      </p:sp>
      <p:sp>
        <p:nvSpPr>
          <p:cNvPr id="5" name="Entropy 1 number"/>
          <p:cNvSpPr txBox="1"/>
          <p:nvPr/>
        </p:nvSpPr>
        <p:spPr>
          <a:xfrm>
            <a:off x="822960" y="1554480"/>
            <a:ext cx="3017520" cy="868680"/>
          </a:xfrm>
          <a:prstGeom prst="rect">
            <a:avLst/>
          </a:prstGeom>
          <a:noFill/>
          <a:ln/>
        </p:spPr>
        <p:txBody>
          <a:bodyPr wrap="square" lIns="0" tIns="0" rIns="0" bIns="0" rtlCol="0" anchor="ctr"/>
          <a:lstStyle/>
          <a:p>
            <a:pPr indent="0" marL="0">
              <a:buNone/>
            </a:pPr>
            <a:r>
              <a:rPr lang="en-US" sz="4800" b="1" dirty="0">
                <a:solidFill>
                  <a:srgbClr val="38BDF8"/>
                </a:solidFill>
                <a:latin typeface="Calibri" pitchFamily="34" charset="0"/>
                <a:ea typeface="Calibri" pitchFamily="34" charset="-122"/>
                <a:cs typeface="Calibri" pitchFamily="34" charset="-120"/>
              </a:rPr>
              <a:t>64 bits</a:t>
            </a:r>
            <a:endParaRPr lang="en-US" sz="4800" dirty="0"/>
          </a:p>
        </p:txBody>
      </p:sp>
      <p:sp>
        <p:nvSpPr>
          <p:cNvPr id="6" name="Entropy 1 label"/>
          <p:cNvSpPr txBox="1"/>
          <p:nvPr/>
        </p:nvSpPr>
        <p:spPr>
          <a:xfrm>
            <a:off x="82296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Known rule</a:t>
            </a:r>
            <a:endParaRPr lang="en-US" sz="1800" dirty="0"/>
          </a:p>
        </p:txBody>
      </p:sp>
      <p:sp>
        <p:nvSpPr>
          <p:cNvPr id="7" name="Entropy 1 detail"/>
          <p:cNvSpPr txBox="1"/>
          <p:nvPr/>
        </p:nvSpPr>
        <p:spPr>
          <a:xfrm>
            <a:off x="822960" y="2880360"/>
            <a:ext cx="301752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H(X(0:T−1) | F,G) = H(X(0) | F,G) ≤ n·log₂q = 64 for 64 binary cells</a:t>
            </a:r>
            <a:endParaRPr lang="en-US" sz="1400" dirty="0"/>
          </a:p>
        </p:txBody>
      </p:sp>
      <p:sp>
        <p:nvSpPr>
          <p:cNvPr id="8" name="Entropy 2 card"/>
          <p:cNvSpPr/>
          <p:nvPr/>
        </p:nvSpPr>
        <p:spPr>
          <a:xfrm>
            <a:off x="4297680" y="1371600"/>
            <a:ext cx="3566160" cy="2743200"/>
          </a:xfrm>
          <a:prstGeom prst="roundRect">
            <a:avLst>
              <a:gd name="adj" fmla="val 4000"/>
            </a:avLst>
          </a:prstGeom>
          <a:solidFill>
            <a:srgbClr val="15233B"/>
          </a:solidFill>
          <a:ln w="12700">
            <a:solidFill>
              <a:srgbClr val="15233B"/>
            </a:solidFill>
            <a:prstDash val="solid"/>
          </a:ln>
        </p:spPr>
      </p:sp>
      <p:sp>
        <p:nvSpPr>
          <p:cNvPr id="9" name="Entropy 2 number"/>
          <p:cNvSpPr txBox="1"/>
          <p:nvPr/>
        </p:nvSpPr>
        <p:spPr>
          <a:xfrm>
            <a:off x="4572000" y="1554480"/>
            <a:ext cx="3017520" cy="868680"/>
          </a:xfrm>
          <a:prstGeom prst="rect">
            <a:avLst/>
          </a:prstGeom>
          <a:noFill/>
          <a:ln/>
        </p:spPr>
        <p:txBody>
          <a:bodyPr wrap="square" lIns="0" tIns="0" rIns="0" bIns="0" rtlCol="0" anchor="ctr"/>
          <a:lstStyle/>
          <a:p>
            <a:pPr indent="0" marL="0">
              <a:buNone/>
            </a:pPr>
            <a:r>
              <a:rPr lang="en-US" sz="4800" b="1" dirty="0">
                <a:solidFill>
                  <a:srgbClr val="FBBF24"/>
                </a:solidFill>
                <a:latin typeface="Calibri" pitchFamily="34" charset="0"/>
                <a:ea typeface="Calibri" pitchFamily="34" charset="-122"/>
                <a:cs typeface="Calibri" pitchFamily="34" charset="-120"/>
              </a:rPr>
              <a:t>512 bits</a:t>
            </a:r>
            <a:endParaRPr lang="en-US" sz="4800" dirty="0"/>
          </a:p>
        </p:txBody>
      </p:sp>
      <p:sp>
        <p:nvSpPr>
          <p:cNvPr id="10" name="Entropy 2 label"/>
          <p:cNvSpPr txBox="1"/>
          <p:nvPr/>
        </p:nvSpPr>
        <p:spPr>
          <a:xfrm>
            <a:off x="457200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Unknown rule</a:t>
            </a:r>
            <a:endParaRPr lang="en-US" sz="1800" dirty="0"/>
          </a:p>
        </p:txBody>
      </p:sp>
      <p:sp>
        <p:nvSpPr>
          <p:cNvPr id="11" name="Entropy 2 detail"/>
          <p:cNvSpPr txBox="1"/>
          <p:nvPr/>
        </p:nvSpPr>
        <p:spPr>
          <a:xfrm>
            <a:off x="4572000" y="2880360"/>
            <a:ext cx="301752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H(F | G) ≤ q^(d+1)·log₂q = 2⁹ = 512 (at most 2^512 local rules, d = 8)</a:t>
            </a:r>
            <a:endParaRPr lang="en-US" sz="1400" dirty="0"/>
          </a:p>
        </p:txBody>
      </p:sp>
      <p:sp>
        <p:nvSpPr>
          <p:cNvPr id="12" name="Entropy 3 card"/>
          <p:cNvSpPr/>
          <p:nvPr/>
        </p:nvSpPr>
        <p:spPr>
          <a:xfrm>
            <a:off x="8046720" y="1371600"/>
            <a:ext cx="3566160" cy="2743200"/>
          </a:xfrm>
          <a:prstGeom prst="roundRect">
            <a:avLst>
              <a:gd name="adj" fmla="val 4000"/>
            </a:avLst>
          </a:prstGeom>
          <a:solidFill>
            <a:srgbClr val="15233B"/>
          </a:solidFill>
          <a:ln w="12700">
            <a:solidFill>
              <a:srgbClr val="15233B"/>
            </a:solidFill>
            <a:prstDash val="solid"/>
          </a:ln>
        </p:spPr>
      </p:sp>
      <p:sp>
        <p:nvSpPr>
          <p:cNvPr id="13" name="Entropy 3 number"/>
          <p:cNvSpPr txBox="1"/>
          <p:nvPr/>
        </p:nvSpPr>
        <p:spPr>
          <a:xfrm>
            <a:off x="8321040" y="1554480"/>
            <a:ext cx="3017520" cy="86868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576 bits</a:t>
            </a:r>
            <a:endParaRPr lang="en-US" sz="4800" dirty="0"/>
          </a:p>
        </p:txBody>
      </p:sp>
      <p:sp>
        <p:nvSpPr>
          <p:cNvPr id="14" name="Entropy 3 label"/>
          <p:cNvSpPr txBox="1"/>
          <p:nvPr/>
        </p:nvSpPr>
        <p:spPr>
          <a:xfrm>
            <a:off x="832104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Total bound</a:t>
            </a:r>
            <a:endParaRPr lang="en-US" sz="1800" dirty="0"/>
          </a:p>
        </p:txBody>
      </p:sp>
      <p:sp>
        <p:nvSpPr>
          <p:cNvPr id="15" name="Entropy 3 detail"/>
          <p:cNvSpPr txBox="1"/>
          <p:nvPr/>
        </p:nvSpPr>
        <p:spPr>
          <a:xfrm>
            <a:off x="8321040" y="2880360"/>
            <a:ext cx="301752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H(X(0:T−1) | G) ≤ (n + q^(d+1))·log₂q = 64 + 512</a:t>
            </a:r>
            <a:endParaRPr lang="en-US" sz="1400" dirty="0"/>
          </a:p>
        </p:txBody>
      </p:sp>
      <p:sp>
        <p:nvSpPr>
          <p:cNvPr id="16" name="Shuffle card"/>
          <p:cNvSpPr/>
          <p:nvPr/>
        </p:nvSpPr>
        <p:spPr>
          <a:xfrm>
            <a:off x="548640" y="4343400"/>
            <a:ext cx="11064240" cy="1828800"/>
          </a:xfrm>
          <a:prstGeom prst="roundRect">
            <a:avLst>
              <a:gd name="adj" fmla="val 6000"/>
            </a:avLst>
          </a:prstGeom>
          <a:solidFill>
            <a:srgbClr val="15233B"/>
          </a:solidFill>
          <a:ln w="12700">
            <a:solidFill>
              <a:srgbClr val="15233B"/>
            </a:solidFill>
            <a:prstDash val="solid"/>
          </a:ln>
        </p:spPr>
      </p:sp>
      <p:sp>
        <p:nvSpPr>
          <p:cNvPr id="17" name="Text 14"/>
          <p:cNvSpPr txBox="1"/>
          <p:nvPr/>
        </p:nvSpPr>
        <p:spPr>
          <a:xfrm>
            <a:off x="822960" y="4480560"/>
            <a:ext cx="105156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What this does and does not say</a:t>
            </a:r>
            <a:endParaRPr lang="en-US" sz="1800" dirty="0"/>
          </a:p>
        </p:txBody>
      </p:sp>
      <p:sp>
        <p:nvSpPr>
          <p:cNvPr id="18" name="Text 15"/>
          <p:cNvSpPr txBox="1"/>
          <p:nvPr/>
        </p:nvSpPr>
        <p:spPr>
          <a:xfrm>
            <a:off x="822960" y="4892040"/>
            <a:ext cx="10515600" cy="1234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The synthetic data has a finite, discrete rule space; high marginal entropy alone is not evidence of useful temporal structure</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frequency-preserving shuffle keeps histograms and markers, so frequency and formatting structure could itself help (open question)</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These bounds are LaTeX arguments; they are not formalized in Lean</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Theory §4: serialization fixes lags the model must represent</a:t>
            </a:r>
            <a:endParaRPr lang="en-US" sz="3000" dirty="0"/>
          </a:p>
        </p:txBody>
      </p:sp>
      <p:sp>
        <p:nvSpPr>
          <p:cNvPr id="4" name="Length card"/>
          <p:cNvSpPr/>
          <p:nvPr/>
        </p:nvSpPr>
        <p:spPr>
          <a:xfrm>
            <a:off x="548640" y="1371600"/>
            <a:ext cx="2651760" cy="2377440"/>
          </a:xfrm>
          <a:prstGeom prst="roundRect">
            <a:avLst>
              <a:gd name="adj" fmla="val 4615"/>
            </a:avLst>
          </a:prstGeom>
          <a:solidFill>
            <a:srgbClr val="15233B"/>
          </a:solidFill>
          <a:ln w="12700">
            <a:solidFill>
              <a:srgbClr val="15233B"/>
            </a:solidFill>
            <a:prstDash val="solid"/>
          </a:ln>
        </p:spPr>
      </p:sp>
      <p:sp>
        <p:nvSpPr>
          <p:cNvPr id="5" name="Length number"/>
          <p:cNvSpPr txBox="1"/>
          <p:nvPr/>
        </p:nvSpPr>
        <p:spPr>
          <a:xfrm>
            <a:off x="822960" y="1554480"/>
            <a:ext cx="2103120" cy="868680"/>
          </a:xfrm>
          <a:prstGeom prst="rect">
            <a:avLst/>
          </a:prstGeom>
          <a:noFill/>
          <a:ln/>
        </p:spPr>
        <p:txBody>
          <a:bodyPr wrap="square" lIns="0" tIns="0" rIns="0" bIns="0" rtlCol="0" anchor="ctr"/>
          <a:lstStyle/>
          <a:p>
            <a:pPr indent="0" marL="0">
              <a:buNone/>
            </a:pPr>
            <a:r>
              <a:rPr lang="en-US" sz="4800" b="1" dirty="0">
                <a:solidFill>
                  <a:srgbClr val="38BDF8"/>
                </a:solidFill>
                <a:latin typeface="Calibri" pitchFamily="34" charset="0"/>
                <a:ea typeface="Calibri" pitchFamily="34" charset="-122"/>
                <a:cs typeface="Calibri" pitchFamily="34" charset="-120"/>
              </a:rPr>
              <a:t>288</a:t>
            </a:r>
            <a:endParaRPr lang="en-US" sz="4800" dirty="0"/>
          </a:p>
        </p:txBody>
      </p:sp>
      <p:sp>
        <p:nvSpPr>
          <p:cNvPr id="6" name="Length label"/>
          <p:cNvSpPr txBox="1"/>
          <p:nvPr/>
        </p:nvSpPr>
        <p:spPr>
          <a:xfrm>
            <a:off x="822960" y="246888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Sequence length</a:t>
            </a:r>
            <a:endParaRPr lang="en-US" sz="1800" dirty="0"/>
          </a:p>
        </p:txBody>
      </p:sp>
      <p:sp>
        <p:nvSpPr>
          <p:cNvPr id="7" name="Length detail"/>
          <p:cNvSpPr txBox="1"/>
          <p:nvPr/>
        </p:nvSpPr>
        <p:spPr>
          <a:xfrm>
            <a:off x="822960" y="2880360"/>
            <a:ext cx="210312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16 frames × (16 patch tokens + 2 markers)</a:t>
            </a:r>
            <a:endParaRPr lang="en-US" sz="1400" dirty="0"/>
          </a:p>
        </p:txBody>
      </p:sp>
      <p:sp>
        <p:nvSpPr>
          <p:cNvPr id="8" name="Bound card"/>
          <p:cNvSpPr/>
          <p:nvPr/>
        </p:nvSpPr>
        <p:spPr>
          <a:xfrm>
            <a:off x="3383280" y="1371600"/>
            <a:ext cx="2651760" cy="2377440"/>
          </a:xfrm>
          <a:prstGeom prst="roundRect">
            <a:avLst>
              <a:gd name="adj" fmla="val 4615"/>
            </a:avLst>
          </a:prstGeom>
          <a:solidFill>
            <a:srgbClr val="15233B"/>
          </a:solidFill>
          <a:ln w="12700">
            <a:solidFill>
              <a:srgbClr val="15233B"/>
            </a:solidFill>
            <a:prstDash val="solid"/>
          </a:ln>
        </p:spPr>
      </p:sp>
      <p:sp>
        <p:nvSpPr>
          <p:cNvPr id="9" name="Bound number"/>
          <p:cNvSpPr txBox="1"/>
          <p:nvPr/>
        </p:nvSpPr>
        <p:spPr>
          <a:xfrm>
            <a:off x="3657600" y="1554480"/>
            <a:ext cx="2103120" cy="868680"/>
          </a:xfrm>
          <a:prstGeom prst="rect">
            <a:avLst/>
          </a:prstGeom>
          <a:noFill/>
          <a:ln/>
        </p:spPr>
        <p:txBody>
          <a:bodyPr wrap="square" lIns="0" tIns="0" rIns="0" bIns="0" rtlCol="0" anchor="ctr"/>
          <a:lstStyle/>
          <a:p>
            <a:pPr indent="0" marL="0">
              <a:buNone/>
            </a:pPr>
            <a:r>
              <a:rPr lang="en-US" sz="4800" b="1" dirty="0">
                <a:solidFill>
                  <a:srgbClr val="FBBF24"/>
                </a:solidFill>
                <a:latin typeface="Calibri" pitchFamily="34" charset="0"/>
                <a:ea typeface="Calibri" pitchFamily="34" charset="-122"/>
                <a:cs typeface="Calibri" pitchFamily="34" charset="-120"/>
              </a:rPr>
              <a:t>33</a:t>
            </a:r>
            <a:endParaRPr lang="en-US" sz="4800" dirty="0"/>
          </a:p>
        </p:txBody>
      </p:sp>
      <p:sp>
        <p:nvSpPr>
          <p:cNvPr id="10" name="Bound label"/>
          <p:cNvSpPr txBox="1"/>
          <p:nvPr/>
        </p:nvSpPr>
        <p:spPr>
          <a:xfrm>
            <a:off x="3657600" y="246888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Parent-lag bound</a:t>
            </a:r>
            <a:endParaRPr lang="en-US" sz="1800" dirty="0"/>
          </a:p>
        </p:txBody>
      </p:sp>
      <p:sp>
        <p:nvSpPr>
          <p:cNvPr id="11" name="Bound detail"/>
          <p:cNvSpPr txBox="1"/>
          <p:nvPr/>
        </p:nvSpPr>
        <p:spPr>
          <a:xfrm>
            <a:off x="3657600" y="2880360"/>
            <a:ext cx="210312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Full-window bound 2P+1 on a 128-token window</a:t>
            </a:r>
            <a:endParaRPr lang="en-US" sz="1400" dirty="0"/>
          </a:p>
        </p:txBody>
      </p:sp>
      <p:sp>
        <p:nvSpPr>
          <p:cNvPr id="12" name="Mean card"/>
          <p:cNvSpPr/>
          <p:nvPr/>
        </p:nvSpPr>
        <p:spPr>
          <a:xfrm>
            <a:off x="6217920" y="1371600"/>
            <a:ext cx="2651760" cy="2377440"/>
          </a:xfrm>
          <a:prstGeom prst="roundRect">
            <a:avLst>
              <a:gd name="adj" fmla="val 4615"/>
            </a:avLst>
          </a:prstGeom>
          <a:solidFill>
            <a:srgbClr val="15233B"/>
          </a:solidFill>
          <a:ln w="12700">
            <a:solidFill>
              <a:srgbClr val="15233B"/>
            </a:solidFill>
            <a:prstDash val="solid"/>
          </a:ln>
        </p:spPr>
      </p:sp>
      <p:sp>
        <p:nvSpPr>
          <p:cNvPr id="13" name="Mean number"/>
          <p:cNvSpPr txBox="1"/>
          <p:nvPr/>
        </p:nvSpPr>
        <p:spPr>
          <a:xfrm>
            <a:off x="6492240" y="1554480"/>
            <a:ext cx="2103120" cy="86868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18</a:t>
            </a:r>
            <a:endParaRPr lang="en-US" sz="4800" dirty="0"/>
          </a:p>
        </p:txBody>
      </p:sp>
      <p:sp>
        <p:nvSpPr>
          <p:cNvPr id="14" name="Mean label"/>
          <p:cNvSpPr txBox="1"/>
          <p:nvPr/>
        </p:nvSpPr>
        <p:spPr>
          <a:xfrm>
            <a:off x="6492240" y="246888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Mean lag</a:t>
            </a:r>
            <a:endParaRPr lang="en-US" sz="1800" dirty="0"/>
          </a:p>
        </p:txBody>
      </p:sp>
      <p:sp>
        <p:nvSpPr>
          <p:cNvPr id="15" name="Mean detail"/>
          <p:cNvSpPr txBox="1"/>
          <p:nvPr/>
        </p:nvSpPr>
        <p:spPr>
          <a:xfrm>
            <a:off x="6492240" y="2880360"/>
            <a:ext cx="210312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Identical for every typed-permutation topology</a:t>
            </a:r>
            <a:endParaRPr lang="en-US" sz="1400" dirty="0"/>
          </a:p>
        </p:txBody>
      </p:sp>
      <p:sp>
        <p:nvSpPr>
          <p:cNvPr id="16" name="Variance card"/>
          <p:cNvSpPr/>
          <p:nvPr/>
        </p:nvSpPr>
        <p:spPr>
          <a:xfrm>
            <a:off x="9052560" y="1371600"/>
            <a:ext cx="2560320" cy="2377440"/>
          </a:xfrm>
          <a:prstGeom prst="roundRect">
            <a:avLst>
              <a:gd name="adj" fmla="val 4615"/>
            </a:avLst>
          </a:prstGeom>
          <a:solidFill>
            <a:srgbClr val="15233B"/>
          </a:solidFill>
          <a:ln w="12700">
            <a:solidFill>
              <a:srgbClr val="15233B"/>
            </a:solidFill>
            <a:prstDash val="solid"/>
          </a:ln>
        </p:spPr>
      </p:sp>
      <p:sp>
        <p:nvSpPr>
          <p:cNvPr id="17" name="Variance number"/>
          <p:cNvSpPr txBox="1"/>
          <p:nvPr/>
        </p:nvSpPr>
        <p:spPr>
          <a:xfrm>
            <a:off x="9326880" y="1554480"/>
            <a:ext cx="2011680" cy="868680"/>
          </a:xfrm>
          <a:prstGeom prst="rect">
            <a:avLst/>
          </a:prstGeom>
          <a:noFill/>
          <a:ln/>
        </p:spPr>
        <p:txBody>
          <a:bodyPr wrap="square" lIns="0" tIns="0" rIns="0" bIns="0" rtlCol="0" anchor="ctr"/>
          <a:lstStyle/>
          <a:p>
            <a:pPr indent="0" marL="0">
              <a:buNone/>
            </a:pPr>
            <a:r>
              <a:rPr lang="en-US" sz="4800" b="1" dirty="0">
                <a:solidFill>
                  <a:srgbClr val="A78BFA"/>
                </a:solidFill>
                <a:latin typeface="Calibri" pitchFamily="34" charset="0"/>
                <a:ea typeface="Calibri" pitchFamily="34" charset="-122"/>
                <a:cs typeface="Calibri" pitchFamily="34" charset="-120"/>
              </a:rPr>
              <a:t>19.125</a:t>
            </a:r>
            <a:endParaRPr lang="en-US" sz="4800" dirty="0"/>
          </a:p>
        </p:txBody>
      </p:sp>
      <p:sp>
        <p:nvSpPr>
          <p:cNvPr id="18" name="Variance label"/>
          <p:cNvSpPr txBox="1"/>
          <p:nvPr/>
        </p:nvSpPr>
        <p:spPr>
          <a:xfrm>
            <a:off x="9326880" y="2468880"/>
            <a:ext cx="201168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Lag variance</a:t>
            </a:r>
            <a:endParaRPr lang="en-US" sz="1800" dirty="0"/>
          </a:p>
        </p:txBody>
      </p:sp>
      <p:sp>
        <p:nvSpPr>
          <p:cNvPr id="19" name="Variance detail"/>
          <p:cNvSpPr txBox="1"/>
          <p:nvPr/>
        </p:nvSpPr>
        <p:spPr>
          <a:xfrm>
            <a:off x="9326880" y="2880360"/>
            <a:ext cx="201168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153/8 for the grid (LaTeX only)</a:t>
            </a:r>
            <a:endParaRPr lang="en-US" sz="1400" dirty="0"/>
          </a:p>
        </p:txBody>
      </p:sp>
      <p:sp>
        <p:nvSpPr>
          <p:cNvPr id="20" name="Encoding card"/>
          <p:cNvSpPr/>
          <p:nvPr/>
        </p:nvSpPr>
        <p:spPr>
          <a:xfrm>
            <a:off x="548640" y="3977640"/>
            <a:ext cx="5394960" cy="2194560"/>
          </a:xfrm>
          <a:prstGeom prst="roundRect">
            <a:avLst>
              <a:gd name="adj" fmla="val 5000"/>
            </a:avLst>
          </a:prstGeom>
          <a:solidFill>
            <a:srgbClr val="15233B"/>
          </a:solidFill>
          <a:ln w="12700">
            <a:solidFill>
              <a:srgbClr val="15233B"/>
            </a:solidFill>
            <a:prstDash val="solid"/>
          </a:ln>
        </p:spPr>
      </p:sp>
      <p:sp>
        <p:nvSpPr>
          <p:cNvPr id="21" name="Text 18"/>
          <p:cNvSpPr txBox="1"/>
          <p:nvPr/>
        </p:nvSpPr>
        <p:spPr>
          <a:xfrm>
            <a:off x="822960" y="411480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Patch encoding</a:t>
            </a:r>
            <a:endParaRPr lang="en-US" sz="1800" dirty="0"/>
          </a:p>
        </p:txBody>
      </p:sp>
      <p:sp>
        <p:nvSpPr>
          <p:cNvPr id="22" name="Text 19"/>
          <p:cNvSpPr txBox="1"/>
          <p:nvPr/>
        </p:nvSpPr>
        <p:spPr>
          <a:xfrm>
            <a:off x="822960" y="4526280"/>
            <a:ext cx="4846320" cy="16002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2×2 binary patch → token 256 + 1·X00 + 2·X01 + 4·X10 + 8·X11</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16 patches ↔ tokens 256–271; digits recovered exactly (Lean)</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Disjoint from the 256 byte tokens</a:t>
            </a:r>
            <a:endParaRPr lang="en-US" sz="1500" dirty="0"/>
          </a:p>
        </p:txBody>
      </p:sp>
      <p:sp>
        <p:nvSpPr>
          <p:cNvPr id="23" name="Lag caveat card"/>
          <p:cNvSpPr/>
          <p:nvPr/>
        </p:nvSpPr>
        <p:spPr>
          <a:xfrm>
            <a:off x="6217920" y="3977640"/>
            <a:ext cx="5394960" cy="2194560"/>
          </a:xfrm>
          <a:prstGeom prst="roundRect">
            <a:avLst>
              <a:gd name="adj" fmla="val 5000"/>
            </a:avLst>
          </a:prstGeom>
          <a:solidFill>
            <a:srgbClr val="15233B"/>
          </a:solidFill>
          <a:ln w="12700">
            <a:solidFill>
              <a:srgbClr val="15233B"/>
            </a:solidFill>
            <a:prstDash val="solid"/>
          </a:ln>
        </p:spPr>
      </p:sp>
      <p:sp>
        <p:nvSpPr>
          <p:cNvPr id="24" name="Text 21"/>
          <p:cNvSpPr txBox="1"/>
          <p:nvPr/>
        </p:nvSpPr>
        <p:spPr>
          <a:xfrm>
            <a:off x="6492240" y="411480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What is and isn't shown</a:t>
            </a:r>
            <a:endParaRPr lang="en-US" sz="1800" dirty="0"/>
          </a:p>
        </p:txBody>
      </p:sp>
      <p:sp>
        <p:nvSpPr>
          <p:cNvPr id="25" name="Text 22"/>
          <p:cNvSpPr txBox="1"/>
          <p:nvPr/>
        </p:nvSpPr>
        <p:spPr>
          <a:xfrm>
            <a:off x="6492240" y="4526280"/>
            <a:ext cx="4846320" cy="16002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Mean-lag invariance and window bounds: checked in Lean</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Lag variance: informal</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Effect of lags on learning: not measured</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Theory §5–6: head reset, descent condition, toy convergence</a:t>
            </a:r>
            <a:endParaRPr lang="en-US" sz="3000" dirty="0"/>
          </a:p>
        </p:txBody>
      </p:sp>
      <p:sp>
        <p:nvSpPr>
          <p:cNvPr id="4" name="Reset card"/>
          <p:cNvSpPr/>
          <p:nvPr/>
        </p:nvSpPr>
        <p:spPr>
          <a:xfrm>
            <a:off x="548640" y="1371600"/>
            <a:ext cx="5394960" cy="4754880"/>
          </a:xfrm>
          <a:prstGeom prst="roundRect">
            <a:avLst>
              <a:gd name="adj" fmla="val 2308"/>
            </a:avLst>
          </a:prstGeom>
          <a:solidFill>
            <a:srgbClr val="15233B"/>
          </a:solidFill>
          <a:ln w="12700">
            <a:solidFill>
              <a:srgbClr val="15233B"/>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Head reset and descent (§5)</a:t>
            </a:r>
            <a:endParaRPr lang="en-US" sz="1800" dirty="0"/>
          </a:p>
        </p:txBody>
      </p:sp>
      <p:sp>
        <p:nvSpPr>
          <p:cNvPr id="6" name="Text 3"/>
          <p:cNvSpPr txBox="1"/>
          <p:nvPr/>
        </p:nvSpPr>
        <p:spPr>
          <a:xfrm>
            <a:off x="82296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Only the backbone transfers; embeddings and head are reset</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Reset acts as a projection that keeps δB and zeroes δE (Lean)</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Sufficient descent: g·δ &lt; −R, where R is the Taylor remainder</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The Taylor bound is an assumption, not derived</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A toy Hessian example shows a ranking reversal</a:t>
            </a:r>
            <a:endParaRPr lang="en-US" sz="1800" dirty="0"/>
          </a:p>
        </p:txBody>
      </p:sp>
      <p:sp>
        <p:nvSpPr>
          <p:cNvPr id="7" name="Toy model card"/>
          <p:cNvSpPr/>
          <p:nvPr/>
        </p:nvSpPr>
        <p:spPr>
          <a:xfrm>
            <a:off x="6217920" y="1371600"/>
            <a:ext cx="5394960" cy="4754880"/>
          </a:xfrm>
          <a:prstGeom prst="roundRect">
            <a:avLst>
              <a:gd name="adj" fmla="val 2308"/>
            </a:avLst>
          </a:prstGeom>
          <a:solidFill>
            <a:srgbClr val="15233B"/>
          </a:solidFill>
          <a:ln w="12700">
            <a:solidFill>
              <a:srgbClr val="15233B"/>
            </a:solidFill>
            <a:prstDash val="solid"/>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Toy quadratic, H = diag(1, 10), α = 0.05 (§6)</a:t>
            </a:r>
            <a:endParaRPr lang="en-US" sz="1800" dirty="0"/>
          </a:p>
        </p:txBody>
      </p:sp>
      <p:sp>
        <p:nvSpPr>
          <p:cNvPr id="9" name="Text 6"/>
          <p:cNvSpPr txBox="1"/>
          <p:nvPr/>
        </p:nvSpPr>
        <p:spPr>
          <a:xfrm>
            <a:off x="649224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Contraction: slow 0.95, fast 0.50</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Scratch (1, 1) reaches ε = 0.01 at step 39</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Transferred (½, 1) reaches it at step 25: 39/25 = 1.56×</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Total speedup with K synthetic updates: 39/(K+25)</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K = 100 (409,600 tokens) gives 0.31×; break-even needs K &lt; 14</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Exact first hits at 39 and 25 are checked in Lean</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Lean 4: a partial, machine-checked core</a:t>
            </a:r>
            <a:endParaRPr lang="en-US" sz="3000" dirty="0"/>
          </a:p>
        </p:txBody>
      </p:sp>
      <p:sp>
        <p:nvSpPr>
          <p:cNvPr id="4" name="Lean text card"/>
          <p:cNvSpPr/>
          <p:nvPr/>
        </p:nvSpPr>
        <p:spPr>
          <a:xfrm>
            <a:off x="548640" y="1371600"/>
            <a:ext cx="5852160" cy="4800600"/>
          </a:xfrm>
          <a:prstGeom prst="roundRect">
            <a:avLst>
              <a:gd name="adj" fmla="val 2286"/>
            </a:avLst>
          </a:prstGeom>
          <a:solidFill>
            <a:srgbClr val="15233B"/>
          </a:solidFill>
          <a:ln w="12700">
            <a:solidFill>
              <a:srgbClr val="15233B"/>
            </a:solidFill>
            <a:prstDash val="solid"/>
          </a:ln>
        </p:spPr>
      </p:sp>
      <p:sp>
        <p:nvSpPr>
          <p:cNvPr id="5" name="Text 2"/>
          <p:cNvSpPr txBox="1"/>
          <p:nvPr/>
        </p:nvSpPr>
        <p:spPr>
          <a:xfrm>
            <a:off x="822960" y="1508760"/>
            <a:ext cx="5303520" cy="365760"/>
          </a:xfrm>
          <a:prstGeom prst="rect">
            <a:avLst/>
          </a:prstGeom>
          <a:noFill/>
          <a:ln/>
        </p:spPr>
        <p:txBody>
          <a:bodyPr wrap="square" lIns="0" tIns="0" rIns="0" bIns="0" rtlCol="0" anchor="t"/>
          <a:lstStyle/>
          <a:p>
            <a:pPr indent="0" marL="0">
              <a:buNone/>
            </a:pPr>
            <a:r>
              <a:rPr lang="en-US" sz="1800" b="1" dirty="0">
                <a:solidFill>
                  <a:schemeClr val="accent3"/>
                </a:solidFill>
                <a:latin typeface="Calibri" pitchFamily="34" charset="0"/>
                <a:ea typeface="Calibri" pitchFamily="34" charset="-122"/>
                <a:cs typeface="Calibri" pitchFamily="34" charset="-120"/>
              </a:rPr>
              <a:t>Checked in Lean</a:t>
            </a:r>
            <a:endParaRPr lang="en-US" sz="1800" dirty="0"/>
          </a:p>
        </p:txBody>
      </p:sp>
      <p:sp>
        <p:nvSpPr>
          <p:cNvPr id="6" name="Text 3"/>
          <p:cNvSpPr txBox="1"/>
          <p:nvPr/>
        </p:nvSpPr>
        <p:spPr>
          <a:xfrm>
            <a:off x="822960" y="1920240"/>
            <a:ext cx="5303520" cy="22860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Graph relabeling equivariance; typed permutation preserved by swaps</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Mean and total serialization-lag invariance</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Binary patch range, injectivity, digit recovery</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Head-reset identities; algebra of an assumed Taylor bound</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Scalar and diagonal recurrences; ranking reversal</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Exact first hits at steps 39 and 25</a:t>
            </a:r>
            <a:endParaRPr lang="en-US" sz="1400" dirty="0"/>
          </a:p>
        </p:txBody>
      </p:sp>
      <p:sp>
        <p:nvSpPr>
          <p:cNvPr id="7" name="Text 4"/>
          <p:cNvSpPr txBox="1"/>
          <p:nvPr/>
        </p:nvSpPr>
        <p:spPr>
          <a:xfrm>
            <a:off x="822960" y="4251960"/>
            <a:ext cx="5303520" cy="365760"/>
          </a:xfrm>
          <a:prstGeom prst="rect">
            <a:avLst/>
          </a:prstGeom>
          <a:noFill/>
          <a:ln/>
        </p:spPr>
        <p:txBody>
          <a:bodyPr wrap="square" lIns="0" tIns="0" rIns="0" bIns="0" rtlCol="0" anchor="t"/>
          <a:lstStyle/>
          <a:p>
            <a:pPr indent="0" marL="0">
              <a:buNone/>
            </a:pPr>
            <a:r>
              <a:rPr lang="en-US" sz="1800" b="1" dirty="0">
                <a:solidFill>
                  <a:schemeClr val="accent4"/>
                </a:solidFill>
                <a:latin typeface="Calibri" pitchFamily="34" charset="0"/>
                <a:ea typeface="Calibri" pitchFamily="34" charset="-122"/>
                <a:cs typeface="Calibri" pitchFamily="34" charset="-120"/>
              </a:rPr>
              <a:t>Not formalized</a:t>
            </a:r>
            <a:endParaRPr lang="en-US" sz="1800" dirty="0"/>
          </a:p>
        </p:txBody>
      </p:sp>
      <p:sp>
        <p:nvSpPr>
          <p:cNvPr id="8" name="Text 5"/>
          <p:cNvSpPr txBox="1"/>
          <p:nvPr/>
        </p:nvSpPr>
        <p:spPr>
          <a:xfrm>
            <a:off x="822960" y="4663440"/>
            <a:ext cx="5303520" cy="10972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Entropy bounds and spectral argument</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Taylor remainder estimates from smoothness</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Any empirical transfer effect</a:t>
            </a:r>
            <a:endParaRPr lang="en-US" sz="1400" dirty="0"/>
          </a:p>
        </p:txBody>
      </p:sp>
      <p:sp>
        <p:nvSpPr>
          <p:cNvPr id="9" name="Text 6"/>
          <p:cNvSpPr txBox="1"/>
          <p:nvPr/>
        </p:nvSpPr>
        <p:spPr>
          <a:xfrm>
            <a:off x="822960" y="5715000"/>
            <a:ext cx="5303520" cy="41148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44 named statements incl. lemmas · Lean 4.35.0 + Mathlib · axioms: propext, Classical.choice, Quot.sound · no local lake build claimed</a:t>
            </a:r>
            <a:endParaRPr lang="en-US" sz="1100" dirty="0"/>
          </a:p>
        </p:txBody>
      </p:sp>
      <p:pic>
        <p:nvPicPr>
          <p:cNvPr id="10" name="Image 0" descr="Lean web editor showing axiom reports for the named theorems">    </p:cNvPr>
          <p:cNvPicPr>
            <a:picLocks noChangeAspect="1"/>
          </p:cNvPicPr>
          <p:nvPr/>
        </p:nvPicPr>
        <p:blipFill>
          <a:blip r:embed="rId1"/>
          <a:stretch>
            <a:fillRect/>
          </a:stretch>
        </p:blipFill>
        <p:spPr>
          <a:xfrm>
            <a:off x="6629400" y="1387316"/>
            <a:ext cx="4983480" cy="2803208"/>
          </a:xfrm>
          <a:prstGeom prst="rect">
            <a:avLst/>
          </a:prstGeom>
        </p:spPr>
      </p:pic>
      <p:sp>
        <p:nvSpPr>
          <p:cNvPr id="11" name="Trust card"/>
          <p:cNvSpPr/>
          <p:nvPr/>
        </p:nvSpPr>
        <p:spPr>
          <a:xfrm>
            <a:off x="6629400" y="4434840"/>
            <a:ext cx="4983480" cy="1737360"/>
          </a:xfrm>
          <a:prstGeom prst="roundRect">
            <a:avLst>
              <a:gd name="adj" fmla="val 6316"/>
            </a:avLst>
          </a:prstGeom>
          <a:solidFill>
            <a:srgbClr val="15233B"/>
          </a:solidFill>
          <a:ln w="12700">
            <a:solidFill>
              <a:srgbClr val="15233B"/>
            </a:solidFill>
            <a:prstDash val="solid"/>
          </a:ln>
        </p:spPr>
      </p:sp>
      <p:sp>
        <p:nvSpPr>
          <p:cNvPr id="12" name="Text 8"/>
          <p:cNvSpPr txBox="1"/>
          <p:nvPr/>
        </p:nvSpPr>
        <p:spPr>
          <a:xfrm>
            <a:off x="6858000" y="4572000"/>
            <a:ext cx="45720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Trust boundary</a:t>
            </a:r>
            <a:endParaRPr lang="en-US" sz="1800" dirty="0"/>
          </a:p>
        </p:txBody>
      </p:sp>
      <p:sp>
        <p:nvSpPr>
          <p:cNvPr id="13" name="Text 9"/>
          <p:cNvSpPr txBox="1"/>
          <p:nvPr/>
        </p:nvSpPr>
        <p:spPr>
          <a:xfrm>
            <a:off x="6858000" y="4983480"/>
            <a:ext cx="4526280" cy="1143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supplied inequality is a theorem hypothesis, not proof that the real model satisfies it. The 44 statements are not 44 independent research claims.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Transfer V2: a matched language stage</a:t>
            </a:r>
            <a:endParaRPr lang="en-US" sz="3000" dirty="0"/>
          </a:p>
        </p:txBody>
      </p:sp>
      <p:sp>
        <p:nvSpPr>
          <p:cNvPr id="4" name="PPT stage card"/>
          <p:cNvSpPr/>
          <p:nvPr/>
        </p:nvSpPr>
        <p:spPr>
          <a:xfrm>
            <a:off x="548640" y="1371600"/>
            <a:ext cx="3566160" cy="2331720"/>
          </a:xfrm>
          <a:prstGeom prst="roundRect">
            <a:avLst>
              <a:gd name="adj" fmla="val 4706"/>
            </a:avLst>
          </a:prstGeom>
          <a:solidFill>
            <a:srgbClr val="15233B"/>
          </a:solidFill>
          <a:ln w="12700">
            <a:solidFill>
              <a:srgbClr val="15233B"/>
            </a:solidFill>
            <a:prstDash val="solid"/>
          </a:ln>
        </p:spPr>
      </p:sp>
      <p:sp>
        <p:nvSpPr>
          <p:cNvPr id="5" name="PPT stage number"/>
          <p:cNvSpPr txBox="1"/>
          <p:nvPr/>
        </p:nvSpPr>
        <p:spPr>
          <a:xfrm>
            <a:off x="822960" y="1554480"/>
            <a:ext cx="3017520" cy="868680"/>
          </a:xfrm>
          <a:prstGeom prst="rect">
            <a:avLst/>
          </a:prstGeom>
          <a:noFill/>
          <a:ln/>
        </p:spPr>
        <p:txBody>
          <a:bodyPr wrap="square" lIns="0" tIns="0" rIns="0" bIns="0" rtlCol="0" anchor="ctr"/>
          <a:lstStyle/>
          <a:p>
            <a:pPr indent="0" marL="0">
              <a:buNone/>
            </a:pPr>
            <a:r>
              <a:rPr lang="en-US" sz="4800" b="1" dirty="0">
                <a:solidFill>
                  <a:srgbClr val="38BDF8"/>
                </a:solidFill>
                <a:latin typeface="Calibri" pitchFamily="34" charset="0"/>
                <a:ea typeface="Calibri" pitchFamily="34" charset="-122"/>
                <a:cs typeface="Calibri" pitchFamily="34" charset="-120"/>
              </a:rPr>
              <a:t>1,000</a:t>
            </a:r>
            <a:endParaRPr lang="en-US" sz="4800" dirty="0"/>
          </a:p>
        </p:txBody>
      </p:sp>
      <p:sp>
        <p:nvSpPr>
          <p:cNvPr id="6" name="PPT stage label"/>
          <p:cNvSpPr txBox="1"/>
          <p:nvPr/>
        </p:nvSpPr>
        <p:spPr>
          <a:xfrm>
            <a:off x="82296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Synthetic updates</a:t>
            </a:r>
            <a:endParaRPr lang="en-US" sz="1800" dirty="0"/>
          </a:p>
        </p:txBody>
      </p:sp>
      <p:sp>
        <p:nvSpPr>
          <p:cNvPr id="7" name="PPT stage detail"/>
          <p:cNvSpPr txBox="1"/>
          <p:nvPr/>
        </p:nvSpPr>
        <p:spPr>
          <a:xfrm>
            <a:off x="822960" y="2880360"/>
            <a:ext cx="3017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4,096,000 tokens; zero for the scratch arm.</a:t>
            </a:r>
            <a:endParaRPr lang="en-US" sz="1400" dirty="0"/>
          </a:p>
        </p:txBody>
      </p:sp>
      <p:sp>
        <p:nvSpPr>
          <p:cNvPr id="8" name="Language stage card"/>
          <p:cNvSpPr/>
          <p:nvPr/>
        </p:nvSpPr>
        <p:spPr>
          <a:xfrm>
            <a:off x="4297680" y="1371600"/>
            <a:ext cx="3566160" cy="2331720"/>
          </a:xfrm>
          <a:prstGeom prst="roundRect">
            <a:avLst>
              <a:gd name="adj" fmla="val 4706"/>
            </a:avLst>
          </a:prstGeom>
          <a:solidFill>
            <a:srgbClr val="15233B"/>
          </a:solidFill>
          <a:ln w="12700">
            <a:solidFill>
              <a:srgbClr val="15233B"/>
            </a:solidFill>
            <a:prstDash val="solid"/>
          </a:ln>
        </p:spPr>
      </p:sp>
      <p:sp>
        <p:nvSpPr>
          <p:cNvPr id="9" name="Language stage number"/>
          <p:cNvSpPr txBox="1"/>
          <p:nvPr/>
        </p:nvSpPr>
        <p:spPr>
          <a:xfrm>
            <a:off x="4572000" y="1554480"/>
            <a:ext cx="3017520" cy="86868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2,000</a:t>
            </a:r>
            <a:endParaRPr lang="en-US" sz="4800" dirty="0"/>
          </a:p>
        </p:txBody>
      </p:sp>
      <p:sp>
        <p:nvSpPr>
          <p:cNvPr id="10" name="Language stage label"/>
          <p:cNvSpPr txBox="1"/>
          <p:nvPr/>
        </p:nvSpPr>
        <p:spPr>
          <a:xfrm>
            <a:off x="457200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Language updates</a:t>
            </a:r>
            <a:endParaRPr lang="en-US" sz="1800" dirty="0"/>
          </a:p>
        </p:txBody>
      </p:sp>
      <p:sp>
        <p:nvSpPr>
          <p:cNvPr id="11" name="Language stage detail"/>
          <p:cNvSpPr txBox="1"/>
          <p:nvPr/>
        </p:nvSpPr>
        <p:spPr>
          <a:xfrm>
            <a:off x="4572000" y="2880360"/>
            <a:ext cx="3017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8,192,000 tokens, context 1024, identical for every arm.</a:t>
            </a:r>
            <a:endParaRPr lang="en-US" sz="1400" dirty="0"/>
          </a:p>
        </p:txBody>
      </p:sp>
      <p:sp>
        <p:nvSpPr>
          <p:cNvPr id="12" name="Design card"/>
          <p:cNvSpPr/>
          <p:nvPr/>
        </p:nvSpPr>
        <p:spPr>
          <a:xfrm>
            <a:off x="8046720" y="1371600"/>
            <a:ext cx="3566160" cy="2331720"/>
          </a:xfrm>
          <a:prstGeom prst="roundRect">
            <a:avLst>
              <a:gd name="adj" fmla="val 4706"/>
            </a:avLst>
          </a:prstGeom>
          <a:solidFill>
            <a:srgbClr val="15233B"/>
          </a:solidFill>
          <a:ln w="12700">
            <a:solidFill>
              <a:srgbClr val="15233B"/>
            </a:solidFill>
            <a:prstDash val="solid"/>
          </a:ln>
        </p:spPr>
      </p:sp>
      <p:sp>
        <p:nvSpPr>
          <p:cNvPr id="13" name="Design number"/>
          <p:cNvSpPr txBox="1"/>
          <p:nvPr/>
        </p:nvSpPr>
        <p:spPr>
          <a:xfrm>
            <a:off x="8321040" y="1554480"/>
            <a:ext cx="3017520" cy="868680"/>
          </a:xfrm>
          <a:prstGeom prst="rect">
            <a:avLst/>
          </a:prstGeom>
          <a:noFill/>
          <a:ln/>
        </p:spPr>
        <p:txBody>
          <a:bodyPr wrap="square" lIns="0" tIns="0" rIns="0" bIns="0" rtlCol="0" anchor="ctr"/>
          <a:lstStyle/>
          <a:p>
            <a:pPr indent="0" marL="0">
              <a:buNone/>
            </a:pPr>
            <a:r>
              <a:rPr lang="en-US" sz="4800" b="1" dirty="0">
                <a:solidFill>
                  <a:srgbClr val="FBBF24"/>
                </a:solidFill>
                <a:latin typeface="Calibri" pitchFamily="34" charset="0"/>
                <a:ea typeface="Calibri" pitchFamily="34" charset="-122"/>
                <a:cs typeface="Calibri" pitchFamily="34" charset="-120"/>
              </a:rPr>
              <a:t>3 × 3</a:t>
            </a:r>
            <a:endParaRPr lang="en-US" sz="4800" dirty="0"/>
          </a:p>
        </p:txBody>
      </p:sp>
      <p:sp>
        <p:nvSpPr>
          <p:cNvPr id="14" name="Design label"/>
          <p:cNvSpPr txBox="1"/>
          <p:nvPr/>
        </p:nvSpPr>
        <p:spPr>
          <a:xfrm>
            <a:off x="8321040" y="246888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Seeds × arms</a:t>
            </a:r>
            <a:endParaRPr lang="en-US" sz="1800" dirty="0"/>
          </a:p>
        </p:txBody>
      </p:sp>
      <p:sp>
        <p:nvSpPr>
          <p:cNvPr id="15" name="Design detail"/>
          <p:cNvSpPr txBox="1"/>
          <p:nvPr/>
        </p:nvSpPr>
        <p:spPr>
          <a:xfrm>
            <a:off x="8321040" y="2880360"/>
            <a:ext cx="301752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Seeds 17, 29, 43; scratch, grid NCA, shuffled NCA.</a:t>
            </a:r>
            <a:endParaRPr lang="en-US" sz="1400" dirty="0"/>
          </a:p>
        </p:txBody>
      </p:sp>
      <p:sp>
        <p:nvSpPr>
          <p:cNvPr id="16" name="Setup card"/>
          <p:cNvSpPr/>
          <p:nvPr/>
        </p:nvSpPr>
        <p:spPr>
          <a:xfrm>
            <a:off x="548640" y="3931920"/>
            <a:ext cx="11064240" cy="2240280"/>
          </a:xfrm>
          <a:prstGeom prst="roundRect">
            <a:avLst>
              <a:gd name="adj" fmla="val 4898"/>
            </a:avLst>
          </a:prstGeom>
          <a:solidFill>
            <a:srgbClr val="15233B"/>
          </a:solidFill>
          <a:ln w="12700">
            <a:solidFill>
              <a:srgbClr val="15233B"/>
            </a:solidFill>
            <a:prstDash val="solid"/>
          </a:ln>
        </p:spPr>
      </p:sp>
      <p:sp>
        <p:nvSpPr>
          <p:cNvPr id="17" name="Text 14"/>
          <p:cNvSpPr txBox="1"/>
          <p:nvPr/>
        </p:nvSpPr>
        <p:spPr>
          <a:xfrm>
            <a:off x="822960" y="4069080"/>
            <a:ext cx="10515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Controls and setup</a:t>
            </a:r>
            <a:endParaRPr lang="en-US" sz="1800" dirty="0"/>
          </a:p>
        </p:txBody>
      </p:sp>
      <p:sp>
        <p:nvSpPr>
          <p:cNvPr id="18" name="Text 15"/>
          <p:cNvSpPr txBox="1"/>
          <p:nvPr/>
        </p:nvSpPr>
        <p:spPr>
          <a:xfrm>
            <a:off x="822960" y="4480560"/>
            <a:ext cx="10515600" cy="16459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Same architecture and fresh embeddings/head, optimizer, data order and schedule in every arm (language model 12.31M parameters; synthetic model 4.58M)</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4,096 training rules (from 8,832 screened candidates) and 128 held-out rules, with disjoint rule-weight hashes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Kaggle Tesla T4; the official WikiText test split is untouched, graph rewiring is not tested</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Synthetic stage: the held-out-rule gate passed</a:t>
            </a:r>
            <a:endParaRPr lang="en-US" sz="3000" dirty="0"/>
          </a:p>
        </p:txBody>
      </p:sp>
      <p:sp>
        <p:nvSpPr>
          <p:cNvPr id="4" name="Chart backing"/>
          <p:cNvSpPr/>
          <p:nvPr/>
        </p:nvSpPr>
        <p:spPr>
          <a:xfrm>
            <a:off x="537210" y="1234440"/>
            <a:ext cx="11087100" cy="3474720"/>
          </a:xfrm>
          <a:prstGeom prst="rect">
            <a:avLst/>
          </a:prstGeom>
          <a:solidFill>
            <a:srgbClr val="FFFFFF"/>
          </a:solidFill>
          <a:ln w="12700">
            <a:solidFill>
              <a:srgbClr val="FFFFFF"/>
            </a:solidFill>
            <a:prstDash val="solid"/>
          </a:ln>
        </p:spPr>
      </p:sp>
      <p:pic>
        <p:nvPicPr>
          <p:cNvPr id="5" name="Image 0" descr="Synthetic-stage training objective, unseen-rule patch NLL and accuracy for grid and shuffled NCA">    </p:cNvPr>
          <p:cNvPicPr>
            <a:picLocks noChangeAspect="1"/>
          </p:cNvPicPr>
          <p:nvPr/>
        </p:nvPicPr>
        <p:blipFill>
          <a:blip r:embed="rId1"/>
          <a:stretch>
            <a:fillRect/>
          </a:stretch>
        </p:blipFill>
        <p:spPr>
          <a:xfrm>
            <a:off x="582930" y="1280160"/>
            <a:ext cx="10995660" cy="3383280"/>
          </a:xfrm>
          <a:prstGeom prst="rect">
            <a:avLst/>
          </a:prstGeom>
        </p:spPr>
      </p:pic>
      <p:sp>
        <p:nvSpPr>
          <p:cNvPr id="6" name="Gate numbers card"/>
          <p:cNvSpPr/>
          <p:nvPr/>
        </p:nvSpPr>
        <p:spPr>
          <a:xfrm>
            <a:off x="548640" y="4846320"/>
            <a:ext cx="5394960" cy="1371600"/>
          </a:xfrm>
          <a:prstGeom prst="roundRect">
            <a:avLst>
              <a:gd name="adj" fmla="val 8000"/>
            </a:avLst>
          </a:prstGeom>
          <a:solidFill>
            <a:srgbClr val="15233B"/>
          </a:solidFill>
          <a:ln w="12700">
            <a:solidFill>
              <a:srgbClr val="15233B"/>
            </a:solidFill>
            <a:prstDash val="solid"/>
          </a:ln>
        </p:spPr>
      </p:sp>
      <p:sp>
        <p:nvSpPr>
          <p:cNvPr id="7" name="Text 3"/>
          <p:cNvSpPr txBox="1"/>
          <p:nvPr/>
        </p:nvSpPr>
        <p:spPr>
          <a:xfrm>
            <a:off x="777240" y="4937760"/>
            <a:ext cx="4937760" cy="11887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Grid: 8.2866–8.2976 vs copy control 8.8264 (−10.24% to −10.35%)  ·  Shuffled: 8.2818–8.2873</a:t>
            </a:r>
            <a:endParaRPr lang="en-US" sz="1400" dirty="0"/>
          </a:p>
        </p:txBody>
      </p:sp>
      <p:sp>
        <p:nvSpPr>
          <p:cNvPr id="8" name="Gate caveat card"/>
          <p:cNvSpPr/>
          <p:nvPr/>
        </p:nvSpPr>
        <p:spPr>
          <a:xfrm>
            <a:off x="6217920" y="4846320"/>
            <a:ext cx="5394960" cy="1371600"/>
          </a:xfrm>
          <a:prstGeom prst="roundRect">
            <a:avLst>
              <a:gd name="adj" fmla="val 8000"/>
            </a:avLst>
          </a:prstGeom>
          <a:solidFill>
            <a:srgbClr val="15233B"/>
          </a:solidFill>
          <a:ln w="12700">
            <a:solidFill>
              <a:srgbClr val="15233B"/>
            </a:solidFill>
            <a:prstDash val="solid"/>
          </a:ln>
        </p:spPr>
      </p:sp>
      <p:sp>
        <p:nvSpPr>
          <p:cNvPr id="9" name="Text 5"/>
          <p:cNvSpPr txBox="1"/>
          <p:nvPr/>
        </p:nvSpPr>
        <p:spPr>
          <a:xfrm>
            <a:off x="6446520" y="4937760"/>
            <a:ext cx="4937760" cy="11887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Passing shows prediction beyond simple controls, not that the model learned local update physics.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Language stage: grid NCA reaches scratch loss 10–20% sooner</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60320"/>
                <a:gridCol w="2377440"/>
                <a:gridCol w="4480560"/>
                <a:gridCol w="1645920"/>
              </a:tblGrid>
              <a:tr h="384048">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Initialization</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Mean final val. NLL</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Language updates to scratch endpoint (seeds 17 / 29 / 43)</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c>
                  <a:txBody>
                    <a:bodyPr/>
                    <a:lstStyle/>
                    <a:p>
                      <a:pPr indent="0" marL="0">
                        <a:buNone/>
                      </a:pPr>
                      <a:r>
                        <a:rPr lang="en-US" sz="1400" b="1" dirty="0">
                          <a:solidFill>
                            <a:srgbClr val="F1F5F9"/>
                          </a:solidFill>
                          <a:latin typeface="Calibri" pitchFamily="34" charset="0"/>
                          <a:ea typeface="Calibri" pitchFamily="34" charset="-122"/>
                          <a:cs typeface="Calibri" pitchFamily="34" charset="-120"/>
                        </a:rPr>
                        <a:t>Token speedup</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4406B"/>
                    </a:solidFill>
                  </a:tcPr>
                </a:tc>
              </a:tr>
              <a:tr h="384048">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No PPT / scratch</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5.266091</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2000 / 2000 / 2000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r>
              <a:tr h="384048">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Grid NCA PPT</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5.233321</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1800 / 1600 / 1700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1.178×</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D4A"/>
                    </a:solidFill>
                  </a:tcPr>
                </a:tc>
              </a:tr>
              <a:tr h="384048">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Shuffled NCA PPT</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5.231528</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1700 / 1600 / 1800</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c>
                  <a:txBody>
                    <a:bodyPr/>
                    <a:lstStyle/>
                    <a:p>
                      <a:pPr indent="0" marL="0">
                        <a:buNone/>
                      </a:pPr>
                      <a:r>
                        <a:rPr lang="en-US" sz="1400" dirty="0">
                          <a:solidFill>
                            <a:srgbClr val="F1F5F9"/>
                          </a:solidFill>
                          <a:latin typeface="Calibri" pitchFamily="34" charset="0"/>
                          <a:ea typeface="Calibri" pitchFamily="34" charset="-122"/>
                          <a:cs typeface="Calibri" pitchFamily="34" charset="-120"/>
                        </a:rPr>
                        <a:t>1.178×</a:t>
                      </a:r>
                      <a:endParaRPr lang="en-US" sz="1400" dirty="0">
                        <a:latin typeface="Calibri" charset="0"/>
                        <a:ea typeface="Calibri" charset="0"/>
                        <a:cs typeface="Calibri" charset="0"/>
                      </a:endParaRPr>
                    </a:p>
                  </a:txBody>
                  <a:tcPr marL="109728" marR="109728" marT="54864" marB="54864"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5233B"/>
                    </a:solidFill>
                  </a:tcPr>
                </a:tc>
              </a:tr>
            </a:tbl>
          </a:graphicData>
        </a:graphic>
      </p:graphicFrame>
      <p:sp>
        <p:nvSpPr>
          <p:cNvPr id="5" name="Gain card"/>
          <p:cNvSpPr/>
          <p:nvPr/>
        </p:nvSpPr>
        <p:spPr>
          <a:xfrm>
            <a:off x="548640" y="3337560"/>
            <a:ext cx="4846320" cy="2834640"/>
          </a:xfrm>
          <a:prstGeom prst="roundRect">
            <a:avLst>
              <a:gd name="adj" fmla="val 3871"/>
            </a:avLst>
          </a:prstGeom>
          <a:solidFill>
            <a:srgbClr val="15233B"/>
          </a:solidFill>
          <a:ln w="12700">
            <a:solidFill>
              <a:srgbClr val="15233B"/>
            </a:solidFill>
            <a:prstDash val="solid"/>
          </a:ln>
        </p:spPr>
      </p:sp>
      <p:sp>
        <p:nvSpPr>
          <p:cNvPr id="6" name="Text 2"/>
          <p:cNvSpPr txBox="1"/>
          <p:nvPr/>
        </p:nvSpPr>
        <p:spPr>
          <a:xfrm>
            <a:off x="822960" y="3474720"/>
            <a:ext cx="429768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Reading the result</a:t>
            </a:r>
            <a:endParaRPr lang="en-US" sz="1800" dirty="0"/>
          </a:p>
        </p:txBody>
      </p:sp>
      <p:sp>
        <p:nvSpPr>
          <p:cNvPr id="7" name="Text 3"/>
          <p:cNvSpPr txBox="1"/>
          <p:nvPr/>
        </p:nvSpPr>
        <p:spPr>
          <a:xfrm>
            <a:off x="822960" y="3886200"/>
            <a:ext cx="4297680" cy="22402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Grid needs 10–20% fewer language updates per seed</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Language-time speedup 1.180× (about 15.2% less)</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Final NLL: grid −0.03277 nats/token (≈3.2% lower perplexity)</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Convergence measure, not faster transformer steps</a:t>
            </a:r>
            <a:endParaRPr lang="en-US" sz="1400" dirty="0"/>
          </a:p>
        </p:txBody>
      </p:sp>
      <p:sp>
        <p:nvSpPr>
          <p:cNvPr id="8" name="Chart backing"/>
          <p:cNvSpPr/>
          <p:nvPr/>
        </p:nvSpPr>
        <p:spPr>
          <a:xfrm>
            <a:off x="6360160" y="3291840"/>
            <a:ext cx="4561840" cy="2606040"/>
          </a:xfrm>
          <a:prstGeom prst="rect">
            <a:avLst/>
          </a:prstGeom>
          <a:solidFill>
            <a:srgbClr val="FFFFFF"/>
          </a:solidFill>
          <a:ln w="12700">
            <a:solidFill>
              <a:srgbClr val="FFFFFF"/>
            </a:solidFill>
            <a:prstDash val="solid"/>
          </a:ln>
        </p:spPr>
      </p:sp>
      <p:pic>
        <p:nvPicPr>
          <p:cNvPr id="9" name="Image 0" descr="Paired validation NLL minus the no-PPT control across language updates for grid and shuffled NCA">    </p:cNvPr>
          <p:cNvPicPr>
            <a:picLocks noChangeAspect="1"/>
          </p:cNvPicPr>
          <p:nvPr/>
        </p:nvPicPr>
        <p:blipFill>
          <a:blip r:embed="rId1"/>
          <a:stretch>
            <a:fillRect/>
          </a:stretch>
        </p:blipFill>
        <p:spPr>
          <a:xfrm>
            <a:off x="6405880" y="3337560"/>
            <a:ext cx="4470400" cy="2514600"/>
          </a:xfrm>
          <a:prstGeom prst="rect">
            <a:avLst/>
          </a:prstGeom>
        </p:spPr>
      </p:pic>
      <p:sp>
        <p:nvSpPr>
          <p:cNvPr id="10" name="Text 5"/>
          <p:cNvSpPr txBox="1"/>
          <p:nvPr/>
        </p:nvSpPr>
        <p:spPr>
          <a:xfrm>
            <a:off x="5669280" y="5943600"/>
            <a:ext cx="594360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Lower is better; thin lines are paired seeds, thick lines the mean.</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Shuffled control: the dynamics' contribution is unresolved</a:t>
            </a:r>
            <a:endParaRPr lang="en-US" sz="3000" dirty="0"/>
          </a:p>
        </p:txBody>
      </p:sp>
      <p:sp>
        <p:nvSpPr>
          <p:cNvPr id="4" name="Chart backing"/>
          <p:cNvSpPr/>
          <p:nvPr/>
        </p:nvSpPr>
        <p:spPr>
          <a:xfrm>
            <a:off x="514350" y="1234440"/>
            <a:ext cx="11132820" cy="3246120"/>
          </a:xfrm>
          <a:prstGeom prst="rect">
            <a:avLst/>
          </a:prstGeom>
          <a:solidFill>
            <a:srgbClr val="FFFFFF"/>
          </a:solidFill>
          <a:ln w="12700">
            <a:solidFill>
              <a:srgbClr val="FFFFFF"/>
            </a:solidFill>
            <a:prstDash val="solid"/>
          </a:ln>
        </p:spPr>
      </p:sp>
      <p:pic>
        <p:nvPicPr>
          <p:cNvPr id="5" name="Image 0" descr="Validation NLL versus language exposure, time and cumulative cost for scratch, grid and shuffled NCA">    </p:cNvPr>
          <p:cNvPicPr>
            <a:picLocks noChangeAspect="1"/>
          </p:cNvPicPr>
          <p:nvPr/>
        </p:nvPicPr>
        <p:blipFill>
          <a:blip r:embed="rId1"/>
          <a:stretch>
            <a:fillRect/>
          </a:stretch>
        </p:blipFill>
        <p:spPr>
          <a:xfrm>
            <a:off x="560070" y="1280160"/>
            <a:ext cx="11041380" cy="3154680"/>
          </a:xfrm>
          <a:prstGeom prst="rect">
            <a:avLst/>
          </a:prstGeom>
        </p:spPr>
      </p:pic>
      <p:sp>
        <p:nvSpPr>
          <p:cNvPr id="6" name="Final NLL card"/>
          <p:cNvSpPr/>
          <p:nvPr/>
        </p:nvSpPr>
        <p:spPr>
          <a:xfrm>
            <a:off x="548640" y="4617720"/>
            <a:ext cx="3291840" cy="1554480"/>
          </a:xfrm>
          <a:prstGeom prst="roundRect">
            <a:avLst>
              <a:gd name="adj" fmla="val 7059"/>
            </a:avLst>
          </a:prstGeom>
          <a:solidFill>
            <a:srgbClr val="15233B"/>
          </a:solidFill>
          <a:ln w="12700">
            <a:solidFill>
              <a:srgbClr val="15233B"/>
            </a:solidFill>
            <a:prstDash val="solid"/>
          </a:ln>
        </p:spPr>
      </p:sp>
      <p:sp>
        <p:nvSpPr>
          <p:cNvPr id="7" name="Text 3"/>
          <p:cNvSpPr txBox="1"/>
          <p:nvPr/>
        </p:nvSpPr>
        <p:spPr>
          <a:xfrm>
            <a:off x="777240" y="4709160"/>
            <a:ext cx="2834640" cy="502920"/>
          </a:xfrm>
          <a:prstGeom prst="rect">
            <a:avLst/>
          </a:prstGeom>
          <a:noFill/>
          <a:ln/>
        </p:spPr>
        <p:txBody>
          <a:bodyPr wrap="square" lIns="0" tIns="0" rIns="0" bIns="0" rtlCol="0" anchor="t"/>
          <a:lstStyle/>
          <a:p>
            <a:pPr indent="0" marL="0">
              <a:buNone/>
            </a:pPr>
            <a:r>
              <a:rPr lang="en-US" sz="2400" b="1" dirty="0">
                <a:solidFill>
                  <a:schemeClr val="accent1"/>
                </a:solidFill>
                <a:latin typeface="Calibri" pitchFamily="34" charset="0"/>
                <a:ea typeface="Calibri" pitchFamily="34" charset="-122"/>
                <a:cs typeface="Calibri" pitchFamily="34" charset="-120"/>
              </a:rPr>
              <a:t>5.2333 grid</a:t>
            </a:r>
            <a:endParaRPr lang="en-US" sz="2400" dirty="0"/>
          </a:p>
        </p:txBody>
      </p:sp>
      <p:sp>
        <p:nvSpPr>
          <p:cNvPr id="8" name="Text 4"/>
          <p:cNvSpPr txBox="1"/>
          <p:nvPr/>
        </p:nvSpPr>
        <p:spPr>
          <a:xfrm>
            <a:off x="777240" y="5212080"/>
            <a:ext cx="2834640" cy="502920"/>
          </a:xfrm>
          <a:prstGeom prst="rect">
            <a:avLst/>
          </a:prstGeom>
          <a:noFill/>
          <a:ln/>
        </p:spPr>
        <p:txBody>
          <a:bodyPr wrap="square" lIns="0" tIns="0" rIns="0" bIns="0" rtlCol="0" anchor="t"/>
          <a:lstStyle/>
          <a:p>
            <a:pPr indent="0" marL="0">
              <a:buNone/>
            </a:pPr>
            <a:r>
              <a:rPr lang="en-US" sz="2400" b="1" dirty="0">
                <a:solidFill>
                  <a:schemeClr val="accent2"/>
                </a:solidFill>
                <a:latin typeface="Calibri" pitchFamily="34" charset="0"/>
                <a:ea typeface="Calibri" pitchFamily="34" charset="-122"/>
                <a:cs typeface="Calibri" pitchFamily="34" charset="-120"/>
              </a:rPr>
              <a:t>5.2315 shuffled</a:t>
            </a:r>
            <a:endParaRPr lang="en-US" sz="2400" dirty="0"/>
          </a:p>
        </p:txBody>
      </p:sp>
      <p:sp>
        <p:nvSpPr>
          <p:cNvPr id="9" name="Text 5"/>
          <p:cNvSpPr txBox="1"/>
          <p:nvPr/>
        </p:nvSpPr>
        <p:spPr>
          <a:xfrm>
            <a:off x="777240" y="5760720"/>
            <a:ext cx="2834640" cy="32004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Mean final validation NLL</a:t>
            </a:r>
            <a:endParaRPr lang="en-US" sz="1200" dirty="0"/>
          </a:p>
        </p:txBody>
      </p:sp>
      <p:sp>
        <p:nvSpPr>
          <p:cNvPr id="10" name="Per-seed card"/>
          <p:cNvSpPr/>
          <p:nvPr/>
        </p:nvSpPr>
        <p:spPr>
          <a:xfrm>
            <a:off x="4023360" y="4617720"/>
            <a:ext cx="3840480" cy="1554480"/>
          </a:xfrm>
          <a:prstGeom prst="roundRect">
            <a:avLst>
              <a:gd name="adj" fmla="val 7059"/>
            </a:avLst>
          </a:prstGeom>
          <a:solidFill>
            <a:srgbClr val="15233B"/>
          </a:solidFill>
          <a:ln w="12700">
            <a:solidFill>
              <a:srgbClr val="15233B"/>
            </a:solidFill>
            <a:prstDash val="solid"/>
          </a:ln>
        </p:spPr>
      </p:sp>
      <p:sp>
        <p:nvSpPr>
          <p:cNvPr id="11" name="Text 7"/>
          <p:cNvSpPr txBox="1"/>
          <p:nvPr/>
        </p:nvSpPr>
        <p:spPr>
          <a:xfrm>
            <a:off x="4251960" y="4709160"/>
            <a:ext cx="33832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Grid minus shuffled, final NLL</a:t>
            </a:r>
            <a:endParaRPr lang="en-US" sz="1400" dirty="0"/>
          </a:p>
        </p:txBody>
      </p:sp>
      <p:sp>
        <p:nvSpPr>
          <p:cNvPr id="12" name="Text 8"/>
          <p:cNvSpPr txBox="1"/>
          <p:nvPr/>
        </p:nvSpPr>
        <p:spPr>
          <a:xfrm>
            <a:off x="4251960" y="5029200"/>
            <a:ext cx="3383280" cy="7772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latin typeface="Calibri" pitchFamily="34" charset="0"/>
                <a:ea typeface="Calibri" pitchFamily="34" charset="-122"/>
                <a:cs typeface="Calibri" pitchFamily="34" charset="-120"/>
              </a:rPr>
              <a:t>Seed 17: +0.0156</a:t>
            </a:r>
            <a:endParaRPr lang="en-US" sz="1300" dirty="0"/>
          </a:p>
          <a:p>
            <a:pPr marL="342900" indent="-342900">
              <a:spcAft>
                <a:spcPts val="200"/>
              </a:spcAft>
              <a:buSzPct val="100000"/>
              <a:buChar char="•"/>
            </a:pPr>
            <a:r>
              <a:rPr lang="en-US" sz="1300" dirty="0">
                <a:solidFill>
                  <a:schemeClr val="tx1"/>
                </a:solidFill>
                <a:latin typeface="Calibri" pitchFamily="34" charset="0"/>
                <a:ea typeface="Calibri" pitchFamily="34" charset="-122"/>
                <a:cs typeface="Calibri" pitchFamily="34" charset="-120"/>
              </a:rPr>
              <a:t>Seed 29: +0.0006</a:t>
            </a:r>
            <a:endParaRPr lang="en-US" sz="1300" dirty="0"/>
          </a:p>
          <a:p>
            <a:pPr marL="342900" indent="-342900">
              <a:spcAft>
                <a:spcPts val="200"/>
              </a:spcAft>
              <a:buSzPct val="100000"/>
              <a:buChar char="•"/>
            </a:pPr>
            <a:r>
              <a:rPr lang="en-US" sz="1300" dirty="0">
                <a:solidFill>
                  <a:schemeClr val="tx1"/>
                </a:solidFill>
                <a:latin typeface="Calibri" pitchFamily="34" charset="0"/>
                <a:ea typeface="Calibri" pitchFamily="34" charset="-122"/>
                <a:cs typeface="Calibri" pitchFamily="34" charset="-120"/>
              </a:rPr>
              <a:t>Seed 43: −0.0108</a:t>
            </a:r>
            <a:endParaRPr lang="en-US" sz="1300" dirty="0"/>
          </a:p>
        </p:txBody>
      </p:sp>
      <p:sp>
        <p:nvSpPr>
          <p:cNvPr id="13" name="Text 9"/>
          <p:cNvSpPr txBox="1"/>
          <p:nvPr/>
        </p:nvSpPr>
        <p:spPr>
          <a:xfrm>
            <a:off x="4251960" y="5870448"/>
            <a:ext cx="3383280" cy="27432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No consistent grid advantage</a:t>
            </a:r>
            <a:endParaRPr lang="en-US" sz="1200" dirty="0"/>
          </a:p>
        </p:txBody>
      </p:sp>
      <p:sp>
        <p:nvSpPr>
          <p:cNvPr id="14" name="Interpretation card"/>
          <p:cNvSpPr/>
          <p:nvPr/>
        </p:nvSpPr>
        <p:spPr>
          <a:xfrm>
            <a:off x="8046720" y="4617720"/>
            <a:ext cx="3566160" cy="1554480"/>
          </a:xfrm>
          <a:prstGeom prst="roundRect">
            <a:avLst>
              <a:gd name="adj" fmla="val 7059"/>
            </a:avLst>
          </a:prstGeom>
          <a:solidFill>
            <a:srgbClr val="15233B"/>
          </a:solidFill>
          <a:ln w="12700">
            <a:solidFill>
              <a:srgbClr val="15233B"/>
            </a:solidFill>
            <a:prstDash val="solid"/>
          </a:ln>
        </p:spPr>
      </p:sp>
      <p:sp>
        <p:nvSpPr>
          <p:cNvPr id="15" name="Text 11"/>
          <p:cNvSpPr txBox="1"/>
          <p:nvPr/>
        </p:nvSpPr>
        <p:spPr>
          <a:xfrm>
            <a:off x="8275320" y="4709160"/>
            <a:ext cx="3108960" cy="137160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Shuffling keeps token histograms and markers, so frequency or format structure could itself help. Which property matters is open.</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Cumulative accounting: cost recovery is not demonstrated</a:t>
            </a:r>
            <a:endParaRPr lang="en-US" sz="3000" dirty="0"/>
          </a:p>
        </p:txBody>
      </p:sp>
      <p:graphicFrame>
        <p:nvGraphicFramePr>
          <p:cNvPr id="4" name="Chart 0" descr=""/>
          <p:cNvGraphicFramePr/>
          <p:nvPr/>
        </p:nvGraphicFramePr>
        <p:xfrm>
          <a:off x="548640" y="1325880"/>
          <a:ext cx="6400800" cy="4846320"/>
        </p:xfrm>
        <a:graphic xmlns:a="http://schemas.openxmlformats.org/drawingml/2006/main">
          <a:graphicData uri="http://schemas.openxmlformats.org/drawingml/2006/chart">
            <c:chart xmlns:c="http://schemas.openxmlformats.org/drawingml/2006/chart" r:id="rId1"/>
          </a:graphicData>
        </a:graphic>
      </p:graphicFrame>
      <p:sp>
        <p:nvSpPr>
          <p:cNvPr id="5" name="Cumulative card"/>
          <p:cNvSpPr/>
          <p:nvPr/>
        </p:nvSpPr>
        <p:spPr>
          <a:xfrm>
            <a:off x="7223760" y="1325880"/>
            <a:ext cx="4389120" cy="2286000"/>
          </a:xfrm>
          <a:prstGeom prst="roundRect">
            <a:avLst>
              <a:gd name="adj" fmla="val 4800"/>
            </a:avLst>
          </a:prstGeom>
          <a:solidFill>
            <a:srgbClr val="15233B"/>
          </a:solidFill>
          <a:ln w="12700">
            <a:solidFill>
              <a:srgbClr val="15233B"/>
            </a:solidFill>
            <a:prstDash val="solid"/>
          </a:ln>
        </p:spPr>
      </p:sp>
      <p:sp>
        <p:nvSpPr>
          <p:cNvPr id="6" name="Cumulative number"/>
          <p:cNvSpPr txBox="1"/>
          <p:nvPr/>
        </p:nvSpPr>
        <p:spPr>
          <a:xfrm>
            <a:off x="7498080" y="1508760"/>
            <a:ext cx="3840480" cy="868680"/>
          </a:xfrm>
          <a:prstGeom prst="rect">
            <a:avLst/>
          </a:prstGeom>
          <a:noFill/>
          <a:ln/>
        </p:spPr>
        <p:txBody>
          <a:bodyPr wrap="square" lIns="0" tIns="0" rIns="0" bIns="0" rtlCol="0" anchor="ctr"/>
          <a:lstStyle/>
          <a:p>
            <a:pPr indent="0" marL="0">
              <a:buNone/>
            </a:pPr>
            <a:r>
              <a:rPr lang="en-US" sz="4800" b="1" dirty="0">
                <a:solidFill>
                  <a:srgbClr val="F87171"/>
                </a:solidFill>
                <a:latin typeface="Calibri" pitchFamily="34" charset="0"/>
                <a:ea typeface="Calibri" pitchFamily="34" charset="-122"/>
                <a:cs typeface="Calibri" pitchFamily="34" charset="-120"/>
              </a:rPr>
              <a:t>0.886×</a:t>
            </a:r>
            <a:endParaRPr lang="en-US" sz="4800" dirty="0"/>
          </a:p>
        </p:txBody>
      </p:sp>
      <p:sp>
        <p:nvSpPr>
          <p:cNvPr id="7" name="Cumulative label"/>
          <p:cNvSpPr txBox="1"/>
          <p:nvPr/>
        </p:nvSpPr>
        <p:spPr>
          <a:xfrm>
            <a:off x="7498080" y="2423160"/>
            <a:ext cx="384048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Cumulative-time speedup</a:t>
            </a:r>
            <a:endParaRPr lang="en-US" sz="1800" dirty="0"/>
          </a:p>
        </p:txBody>
      </p:sp>
      <p:sp>
        <p:nvSpPr>
          <p:cNvPr id="8" name="Cumulative detail"/>
          <p:cNvSpPr txBox="1"/>
          <p:nvPr/>
        </p:nvSpPr>
        <p:spPr>
          <a:xfrm>
            <a:off x="7498080" y="2834640"/>
            <a:ext cx="3840480"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About 12.8% more recorded time than scratch at the paired reference.</a:t>
            </a:r>
            <a:endParaRPr lang="en-US" sz="1400" dirty="0"/>
          </a:p>
        </p:txBody>
      </p:sp>
      <p:sp>
        <p:nvSpPr>
          <p:cNvPr id="9" name="Accounting card"/>
          <p:cNvSpPr/>
          <p:nvPr/>
        </p:nvSpPr>
        <p:spPr>
          <a:xfrm>
            <a:off x="7223760" y="3794760"/>
            <a:ext cx="4389120" cy="2377440"/>
          </a:xfrm>
          <a:prstGeom prst="roundRect">
            <a:avLst>
              <a:gd name="adj" fmla="val 4615"/>
            </a:avLst>
          </a:prstGeom>
          <a:solidFill>
            <a:srgbClr val="15233B"/>
          </a:solidFill>
          <a:ln w="12700">
            <a:solidFill>
              <a:srgbClr val="15233B"/>
            </a:solidFill>
            <a:prstDash val="solid"/>
          </a:ln>
        </p:spPr>
      </p:sp>
      <p:sp>
        <p:nvSpPr>
          <p:cNvPr id="10" name="Text 6"/>
          <p:cNvSpPr txBox="1"/>
          <p:nvPr/>
        </p:nvSpPr>
        <p:spPr>
          <a:xfrm>
            <a:off x="7452360" y="3931920"/>
            <a:ext cx="39319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Two views of the same run</a:t>
            </a:r>
            <a:endParaRPr lang="en-US" sz="1800" dirty="0"/>
          </a:p>
        </p:txBody>
      </p:sp>
      <p:sp>
        <p:nvSpPr>
          <p:cNvPr id="11" name="Text 7"/>
          <p:cNvSpPr txBox="1"/>
          <p:nvPr/>
        </p:nvSpPr>
        <p:spPr>
          <a:xfrm>
            <a:off x="7452360" y="4343400"/>
            <a:ext cx="4023360" cy="17830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Language stage: 1600–1800 updates instead of 2000</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Full pipeline: +1,000 synthetic updates (4.096M tokens)</a:t>
            </a:r>
            <a:endParaRPr lang="en-US" sz="1400" dirty="0"/>
          </a:p>
          <a:p>
            <a:pPr marL="342900" indent="-3429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About 85.9 minutes summed over all measured stages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Verification and limits</a:t>
            </a:r>
            <a:endParaRPr lang="en-US" sz="3000" dirty="0"/>
          </a:p>
        </p:txBody>
      </p:sp>
      <p:sp>
        <p:nvSpPr>
          <p:cNvPr id="4" name="Verified card"/>
          <p:cNvSpPr/>
          <p:nvPr/>
        </p:nvSpPr>
        <p:spPr>
          <a:xfrm>
            <a:off x="548640" y="1371600"/>
            <a:ext cx="5394960" cy="4754880"/>
          </a:xfrm>
          <a:prstGeom prst="roundRect">
            <a:avLst>
              <a:gd name="adj" fmla="val 2308"/>
            </a:avLst>
          </a:prstGeom>
          <a:solidFill>
            <a:srgbClr val="15233B"/>
          </a:solidFill>
          <a:ln w="12700">
            <a:solidFill>
              <a:srgbClr val="15233B"/>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800" b="1" dirty="0">
                <a:solidFill>
                  <a:schemeClr val="accent3"/>
                </a:solidFill>
                <a:latin typeface="Calibri" pitchFamily="34" charset="0"/>
                <a:ea typeface="Calibri" pitchFamily="34" charset="-122"/>
                <a:cs typeface="Calibri" pitchFamily="34" charset="-120"/>
              </a:rPr>
              <a:t>What was independently checked</a:t>
            </a:r>
            <a:endParaRPr lang="en-US" sz="1800" dirty="0"/>
          </a:p>
        </p:txBody>
      </p:sp>
      <p:sp>
        <p:nvSpPr>
          <p:cNvPr id="6" name="Text 3"/>
          <p:cNvSpPr txBox="1"/>
          <p:nvPr/>
        </p:nvSpPr>
        <p:spPr>
          <a:xfrm>
            <a:off x="82296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15 V2 checkpoints replayed on CPU: max metric gap 1.9563e-7</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Pilot 1: 15 checkpoints, max CPU/GPU gap 8.2e-8</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Gate decisions, crossings and token accounting recomputed</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Hashes match across arms within each seed</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Source and archive SHA-256 recorded</a:t>
            </a:r>
            <a:endParaRPr lang="en-US" sz="1800" dirty="0"/>
          </a:p>
        </p:txBody>
      </p:sp>
      <p:sp>
        <p:nvSpPr>
          <p:cNvPr id="7" name="Limits card"/>
          <p:cNvSpPr/>
          <p:nvPr/>
        </p:nvSpPr>
        <p:spPr>
          <a:xfrm>
            <a:off x="6217920" y="1371600"/>
            <a:ext cx="5394960" cy="4754880"/>
          </a:xfrm>
          <a:prstGeom prst="roundRect">
            <a:avLst>
              <a:gd name="adj" fmla="val 2308"/>
            </a:avLst>
          </a:prstGeom>
          <a:solidFill>
            <a:srgbClr val="15233B"/>
          </a:solidFill>
          <a:ln w="12700">
            <a:solidFill>
              <a:srgbClr val="15233B"/>
            </a:solidFill>
            <a:prstDash val="solid"/>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800" b="1" dirty="0">
                <a:solidFill>
                  <a:schemeClr val="accent4"/>
                </a:solidFill>
                <a:latin typeface="Calibri" pitchFamily="34" charset="0"/>
                <a:ea typeface="Calibri" pitchFamily="34" charset="-122"/>
                <a:cs typeface="Calibri" pitchFamily="34" charset="-120"/>
              </a:rPr>
              <a:t>Limits the repository states</a:t>
            </a:r>
            <a:endParaRPr lang="en-US" sz="1800" dirty="0"/>
          </a:p>
        </p:txBody>
      </p:sp>
      <p:sp>
        <p:nvSpPr>
          <p:cNvPr id="9" name="Text 6"/>
          <p:cNvSpPr txBox="1"/>
          <p:nvPr/>
        </p:nvSpPr>
        <p:spPr>
          <a:xfrm>
            <a:off x="649224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3 seeds, one shared synthetic cache</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One small corpus; 32,768-token validation prefix</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Development validation has been examined; official test untouched</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Bitwise init/schedule bytes not reproduced across runtimes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No graph treatment in V2; no claim of general acceleration</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What the repository establishes, and what it does not</a:t>
            </a:r>
            <a:endParaRPr lang="en-US" sz="3000" dirty="0"/>
          </a:p>
        </p:txBody>
      </p:sp>
      <p:sp>
        <p:nvSpPr>
          <p:cNvPr id="4" name="Established card"/>
          <p:cNvSpPr/>
          <p:nvPr/>
        </p:nvSpPr>
        <p:spPr>
          <a:xfrm>
            <a:off x="548640" y="1371600"/>
            <a:ext cx="5394960" cy="4754880"/>
          </a:xfrm>
          <a:prstGeom prst="roundRect">
            <a:avLst>
              <a:gd name="adj" fmla="val 2308"/>
            </a:avLst>
          </a:prstGeom>
          <a:solidFill>
            <a:srgbClr val="15233B"/>
          </a:solidFill>
          <a:ln w="12700">
            <a:solidFill>
              <a:srgbClr val="15233B"/>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800" b="1" dirty="0">
                <a:solidFill>
                  <a:schemeClr val="accent3"/>
                </a:solidFill>
                <a:latin typeface="Calibri" pitchFamily="34" charset="0"/>
                <a:ea typeface="Calibri" pitchFamily="34" charset="-122"/>
                <a:cs typeface="Calibri" pitchFamily="34" charset="-120"/>
              </a:rPr>
              <a:t>Supported by the evidence</a:t>
            </a:r>
            <a:endParaRPr lang="en-US" sz="1800" dirty="0"/>
          </a:p>
        </p:txBody>
      </p:sp>
      <p:sp>
        <p:nvSpPr>
          <p:cNvPr id="6" name="Text 3"/>
          <p:cNvSpPr txBox="1"/>
          <p:nvPr/>
        </p:nvSpPr>
        <p:spPr>
          <a:xfrm>
            <a:off x="82296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A modest language-stage speedup (1.178×) in a matched development run</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Synthetic prediction beyond simple copy controls</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Mean-lag invariance and toy-model facts, checked in Lean</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Pilot 1 is a negative result, and its flaw is documented</a:t>
            </a:r>
            <a:endParaRPr lang="en-US" sz="1800" dirty="0"/>
          </a:p>
        </p:txBody>
      </p:sp>
      <p:sp>
        <p:nvSpPr>
          <p:cNvPr id="7" name="Not established card"/>
          <p:cNvSpPr/>
          <p:nvPr/>
        </p:nvSpPr>
        <p:spPr>
          <a:xfrm>
            <a:off x="6217920" y="1371600"/>
            <a:ext cx="5394960" cy="4754880"/>
          </a:xfrm>
          <a:prstGeom prst="roundRect">
            <a:avLst>
              <a:gd name="adj" fmla="val 2308"/>
            </a:avLst>
          </a:prstGeom>
          <a:solidFill>
            <a:srgbClr val="15233B"/>
          </a:solidFill>
          <a:ln w="12700">
            <a:solidFill>
              <a:srgbClr val="15233B"/>
            </a:solidFill>
            <a:prstDash val="solid"/>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1800" b="1" dirty="0">
                <a:solidFill>
                  <a:schemeClr val="accent4"/>
                </a:solidFill>
                <a:latin typeface="Calibri" pitchFamily="34" charset="0"/>
                <a:ea typeface="Calibri" pitchFamily="34" charset="-122"/>
                <a:cs typeface="Calibri" pitchFamily="34" charset="-120"/>
              </a:rPr>
              <a:t>Not established</a:t>
            </a:r>
            <a:endParaRPr lang="en-US" sz="1800" dirty="0"/>
          </a:p>
        </p:txBody>
      </p:sp>
      <p:sp>
        <p:nvSpPr>
          <p:cNvPr id="9" name="Text 6"/>
          <p:cNvSpPr txBox="1"/>
          <p:nvPr/>
        </p:nvSpPr>
        <p:spPr>
          <a:xfrm>
            <a:off x="6492240" y="2103120"/>
            <a:ext cx="4846320" cy="3931920"/>
          </a:xfrm>
          <a:prstGeom prst="rect">
            <a:avLst/>
          </a:prstGeom>
          <a:noFill/>
          <a:ln/>
        </p:spPr>
        <p:txBody>
          <a:bodyPr wrap="square" lIns="0" tIns="0" rIns="0" bIns="0" rtlCol="0" anchor="t"/>
          <a:lstStyle/>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That NCA dynamics cause the gain (shuffled matches grid)</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Any benefit from graph topology (not tested in V2)</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That the synthetic cost is repaid (0.886× cumulative)</a:t>
            </a:r>
            <a:endParaRPr lang="en-US" sz="1800" dirty="0"/>
          </a:p>
          <a:p>
            <a:pPr marL="342900" indent="-342900">
              <a:spcAft>
                <a:spcPts val="700"/>
              </a:spcAft>
              <a:buSzPct val="100000"/>
              <a:buChar char="•"/>
            </a:pPr>
            <a:r>
              <a:rPr lang="en-US" sz="1800" dirty="0">
                <a:solidFill>
                  <a:schemeClr val="tx1"/>
                </a:solidFill>
                <a:latin typeface="Calibri" pitchFamily="34" charset="0"/>
                <a:ea typeface="Calibri" pitchFamily="34" charset="-122"/>
                <a:cs typeface="Calibri" pitchFamily="34" charset="-120"/>
              </a:rPr>
              <a:t>General acceleration, reasoning gains, or reproducing the paper</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Next: Transfer V3 tests graph against grid</a:t>
            </a:r>
            <a:endParaRPr lang="en-US" sz="3000" dirty="0"/>
          </a:p>
        </p:txBody>
      </p:sp>
      <p:sp>
        <p:nvSpPr>
          <p:cNvPr id="4" name="V3 card"/>
          <p:cNvSpPr/>
          <p:nvPr/>
        </p:nvSpPr>
        <p:spPr>
          <a:xfrm>
            <a:off x="548640" y="1371600"/>
            <a:ext cx="6766560" cy="3291840"/>
          </a:xfrm>
          <a:prstGeom prst="roundRect">
            <a:avLst>
              <a:gd name="adj" fmla="val 3333"/>
            </a:avLst>
          </a:prstGeom>
          <a:solidFill>
            <a:srgbClr val="15233B"/>
          </a:solidFill>
          <a:ln w="12700">
            <a:solidFill>
              <a:srgbClr val="15233B"/>
            </a:solidFill>
            <a:prstDash val="solid"/>
          </a:ln>
        </p:spPr>
      </p:sp>
      <p:sp>
        <p:nvSpPr>
          <p:cNvPr id="5" name="Text 2"/>
          <p:cNvSpPr txBox="1"/>
          <p:nvPr/>
        </p:nvSpPr>
        <p:spPr>
          <a:xfrm>
            <a:off x="822960" y="1554480"/>
            <a:ext cx="6217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Transfer V3 protocol (prepared, not yet run)</a:t>
            </a:r>
            <a:endParaRPr lang="en-US" sz="1800" dirty="0"/>
          </a:p>
        </p:txBody>
      </p:sp>
      <p:sp>
        <p:nvSpPr>
          <p:cNvPr id="6" name="Text 3"/>
          <p:cNvSpPr txBox="1"/>
          <p:nvPr/>
        </p:nvSpPr>
        <p:spPr>
          <a:xfrm>
            <a:off x="822960" y="2011680"/>
            <a:ext cx="630936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Five arms: grid, graph, shuffled grid, shuffled graph, no-PPT</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1,000 synthetic then 2,000 language updates; 3 paired replicates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Common frozen rules chosen by one complexity filter</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Language stage starts only if every seed passes the synthetic gate</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About 2.5–3 hours on a T4; no GPU outcome measured yet</a:t>
            </a:r>
            <a:endParaRPr lang="en-US" sz="1500" dirty="0"/>
          </a:p>
        </p:txBody>
      </p:sp>
      <p:sp>
        <p:nvSpPr>
          <p:cNvPr id="7" name="Needed card"/>
          <p:cNvSpPr/>
          <p:nvPr/>
        </p:nvSpPr>
        <p:spPr>
          <a:xfrm>
            <a:off x="7498080" y="1371600"/>
            <a:ext cx="4114800" cy="3291840"/>
          </a:xfrm>
          <a:prstGeom prst="roundRect">
            <a:avLst>
              <a:gd name="adj" fmla="val 3333"/>
            </a:avLst>
          </a:prstGeom>
          <a:solidFill>
            <a:srgbClr val="15233B"/>
          </a:solidFill>
          <a:ln w="12700">
            <a:solidFill>
              <a:srgbClr val="15233B"/>
            </a:solidFill>
            <a:prstDash val="solid"/>
          </a:ln>
        </p:spPr>
      </p:sp>
      <p:sp>
        <p:nvSpPr>
          <p:cNvPr id="8" name="Text 5"/>
          <p:cNvSpPr txBox="1"/>
          <p:nvPr/>
        </p:nvSpPr>
        <p:spPr>
          <a:xfrm>
            <a:off x="7772400" y="1554480"/>
            <a:ext cx="36576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Still needed</a:t>
            </a:r>
            <a:endParaRPr lang="en-US" sz="1800" dirty="0"/>
          </a:p>
        </p:txBody>
      </p:sp>
      <p:sp>
        <p:nvSpPr>
          <p:cNvPr id="9" name="Text 6"/>
          <p:cNvSpPr txBox="1"/>
          <p:nvPr/>
        </p:nvSpPr>
        <p:spPr>
          <a:xfrm>
            <a:off x="7772400" y="2011680"/>
            <a:ext cx="365760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Independently seeded synthetic caches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Stronger frequency and format controls</a:t>
            </a:r>
            <a:endParaRPr lang="en-US" sz="1500" dirty="0"/>
          </a:p>
          <a:p>
            <a:pPr marL="342900" indent="-342900">
              <a:spcAft>
                <a:spcPts val="700"/>
              </a:spcAft>
              <a:buSzPct val="100000"/>
              <a:buChar char="•"/>
            </a:pPr>
            <a:r>
              <a:rPr lang="en-US" sz="1500" dirty="0">
                <a:solidFill>
                  <a:schemeClr val="tx1"/>
                </a:solidFill>
                <a:latin typeface="Calibri" pitchFamily="34" charset="0"/>
                <a:ea typeface="Calibri" pitchFamily="34" charset="-122"/>
                <a:cs typeface="Calibri" pitchFamily="34" charset="-120"/>
              </a:rPr>
              <a:t>A frozen confirmation protocol</a:t>
            </a:r>
            <a:endParaRPr lang="en-US" sz="1500" dirty="0"/>
          </a:p>
        </p:txBody>
      </p:sp>
      <p:sp>
        <p:nvSpPr>
          <p:cNvPr id="10" name="Q&amp;A card"/>
          <p:cNvSpPr/>
          <p:nvPr/>
        </p:nvSpPr>
        <p:spPr>
          <a:xfrm>
            <a:off x="548640" y="4892040"/>
            <a:ext cx="11064240" cy="1280160"/>
          </a:xfrm>
          <a:prstGeom prst="roundRect">
            <a:avLst>
              <a:gd name="adj" fmla="val 8571"/>
            </a:avLst>
          </a:prstGeom>
          <a:solidFill>
            <a:srgbClr val="15233B"/>
          </a:solidFill>
          <a:ln w="12700">
            <a:solidFill>
              <a:srgbClr val="15233B"/>
            </a:solidFill>
            <a:prstDash val="solid"/>
          </a:ln>
        </p:spPr>
      </p:sp>
      <p:sp>
        <p:nvSpPr>
          <p:cNvPr id="11" name="Text 8"/>
          <p:cNvSpPr txBox="1"/>
          <p:nvPr/>
        </p:nvSpPr>
        <p:spPr>
          <a:xfrm>
            <a:off x="822960" y="5029200"/>
            <a:ext cx="3657600" cy="54864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Questions?</a:t>
            </a:r>
            <a:endParaRPr lang="en-US" sz="2800" dirty="0"/>
          </a:p>
        </p:txBody>
      </p:sp>
      <p:sp>
        <p:nvSpPr>
          <p:cNvPr id="12" name="Text 9"/>
          <p:cNvSpPr txBox="1"/>
          <p:nvPr/>
        </p:nvSpPr>
        <p:spPr>
          <a:xfrm>
            <a:off x="822960" y="5623560"/>
            <a:ext cx="10515600" cy="36576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github.com/code8286/GPU_NCA_proofer · see RESULTS.md and docs/results/transfer_v2_run1/REVIEW.md</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GPU_NCA_proofer: audit of NCA pre-pre-training</dc:title>
  <dc:subject>PptxGenJS Presentation</dc:subject>
  <dc:creator>PptxGenJS</dc:creator>
  <cp:lastModifiedBy>PptxGenJS</cp:lastModifiedBy>
  <cp:revision>1</cp:revision>
  <dcterms:created xsi:type="dcterms:W3CDTF">2026-10-17T09:58:16Z</dcterms:created>
  <dcterms:modified xsi:type="dcterms:W3CDTF">2026-10-17T09:58:16Z</dcterms:modified>
</cp:coreProperties>
</file>