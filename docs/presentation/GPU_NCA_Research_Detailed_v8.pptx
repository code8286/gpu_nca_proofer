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slides/charts/chart2.xml" ContentType="application/vnd.openxmlformats-officedocument.drawingml.chart+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slides/charts/chart3.xml" ContentType="application/vnd.openxmlformats-officedocument.drawingml.chart+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4.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4c38efbb90440cc" /><Relationship Type="http://schemas.openxmlformats.org/officeDocument/2006/relationships/extended-properties" Target="/docProps/app.xml" Id="Ra996c55e7cfe481f" /><Relationship Type="http://schemas.openxmlformats.org/officeDocument/2006/relationships/officeDocument" Target="/ppt/presentation.xml" Id="R2cf48a41e05d4263" /></Relationships>
</file>

<file path=ppt/presentation.xml><?xml version="1.0" encoding="utf-8"?>
<p:presentation xmlns:p="http://schemas.openxmlformats.org/presentationml/2006/main">
  <p:sldMasterIdLst>
    <p:sldMasterId xmlns:r="http://schemas.openxmlformats.org/officeDocument/2006/relationships" id="2147483648" r:id="R809584357aee42ca"/>
  </p:sldMasterIdLst>
  <p:notesMasterIdLst>
    <p:notesMasterId xmlns:r="http://schemas.openxmlformats.org/officeDocument/2006/relationships" r:id="Rf0dd35260c2a4b2e"/>
  </p:notesMasterIdLst>
  <p:sldIdLst>
    <p:sldId xmlns:r="http://schemas.openxmlformats.org/officeDocument/2006/relationships" id="256" r:id="Rbb4eecb3fb004321"/>
    <p:sldId xmlns:r="http://schemas.openxmlformats.org/officeDocument/2006/relationships" id="257" r:id="Radd445aee4154a86"/>
    <p:sldId xmlns:r="http://schemas.openxmlformats.org/officeDocument/2006/relationships" id="258" r:id="R966de0c184694b38"/>
    <p:sldId xmlns:r="http://schemas.openxmlformats.org/officeDocument/2006/relationships" id="259" r:id="R0b6c52db05134ebd"/>
    <p:sldId xmlns:r="http://schemas.openxmlformats.org/officeDocument/2006/relationships" id="260" r:id="R43d849bdb81d4195"/>
    <p:sldId xmlns:r="http://schemas.openxmlformats.org/officeDocument/2006/relationships" id="261" r:id="R5a970aa194e541e9"/>
    <p:sldId xmlns:r="http://schemas.openxmlformats.org/officeDocument/2006/relationships" id="262" r:id="R3e67559aa69e477b"/>
    <p:sldId xmlns:r="http://schemas.openxmlformats.org/officeDocument/2006/relationships" id="263" r:id="Re3ddbd4545714bbc"/>
    <p:sldId xmlns:r="http://schemas.openxmlformats.org/officeDocument/2006/relationships" id="264" r:id="Raf479b919d9d40f7"/>
    <p:sldId xmlns:r="http://schemas.openxmlformats.org/officeDocument/2006/relationships" id="265" r:id="Rca332853cd3c467f"/>
    <p:sldId xmlns:r="http://schemas.openxmlformats.org/officeDocument/2006/relationships" id="266" r:id="Rb2bb96ef5a1b4fac"/>
    <p:sldId xmlns:r="http://schemas.openxmlformats.org/officeDocument/2006/relationships" id="267" r:id="R29c83fcd24024816"/>
    <p:sldId xmlns:r="http://schemas.openxmlformats.org/officeDocument/2006/relationships" id="268" r:id="R8998b047dfbc4686"/>
    <p:sldId xmlns:r="http://schemas.openxmlformats.org/officeDocument/2006/relationships" id="269" r:id="R24582f01cc2743a6"/>
    <p:sldId xmlns:r="http://schemas.openxmlformats.org/officeDocument/2006/relationships" id="270" r:id="Rdb04e678dc3b40c1"/>
    <p:sldId xmlns:r="http://schemas.openxmlformats.org/officeDocument/2006/relationships" id="271" r:id="Rdc5be8ab169e4ed9"/>
    <p:sldId xmlns:r="http://schemas.openxmlformats.org/officeDocument/2006/relationships" id="272" r:id="R45b3c7dded7840bd"/>
    <p:sldId xmlns:r="http://schemas.openxmlformats.org/officeDocument/2006/relationships" id="273" r:id="R882d08ac070b45ca"/>
    <p:sldId xmlns:r="http://schemas.openxmlformats.org/officeDocument/2006/relationships" id="274" r:id="R2d727ede71b0458c"/>
    <p:sldId xmlns:r="http://schemas.openxmlformats.org/officeDocument/2006/relationships" id="275" r:id="R3729f5d96e8c41e9"/>
    <p:sldId xmlns:r="http://schemas.openxmlformats.org/officeDocument/2006/relationships" id="276" r:id="R1ff5bb5c1bee46b2"/>
    <p:sldId xmlns:r="http://schemas.openxmlformats.org/officeDocument/2006/relationships" id="277" r:id="Ra6c0e8245bbc4e69"/>
    <p:sldId xmlns:r="http://schemas.openxmlformats.org/officeDocument/2006/relationships" id="278" r:id="R94a3d20c254f465b"/>
    <p:sldId xmlns:r="http://schemas.openxmlformats.org/officeDocument/2006/relationships" id="279" r:id="Rb8bb0d2f0b2648af"/>
    <p:sldId xmlns:r="http://schemas.openxmlformats.org/officeDocument/2006/relationships" id="280" r:id="R58cc092611ff44c4"/>
    <p:sldId xmlns:r="http://schemas.openxmlformats.org/officeDocument/2006/relationships" id="281" r:id="R319fb9e25cfd4c9d"/>
    <p:sldId xmlns:r="http://schemas.openxmlformats.org/officeDocument/2006/relationships" id="282" r:id="R1aee4a87b0fa420e"/>
    <p:sldId xmlns:r="http://schemas.openxmlformats.org/officeDocument/2006/relationships" id="283" r:id="Raf50b1f9f1e04080"/>
    <p:sldId xmlns:r="http://schemas.openxmlformats.org/officeDocument/2006/relationships" id="284" r:id="R6714f13281e44bbc"/>
    <p:sldId xmlns:r="http://schemas.openxmlformats.org/officeDocument/2006/relationships" id="285" r:id="R179ac9aec0144a62"/>
    <p:sldId xmlns:r="http://schemas.openxmlformats.org/officeDocument/2006/relationships" id="286" r:id="R33565d2106bb4b97"/>
    <p:sldId xmlns:r="http://schemas.openxmlformats.org/officeDocument/2006/relationships" id="287" r:id="R9435e84a33044bc7"/>
    <p:sldId xmlns:r="http://schemas.openxmlformats.org/officeDocument/2006/relationships" id="288" r:id="R2aeed828a3d043ac"/>
    <p:sldId xmlns:r="http://schemas.openxmlformats.org/officeDocument/2006/relationships" id="289" r:id="Rf213fece578c44df"/>
    <p:sldId xmlns:r="http://schemas.openxmlformats.org/officeDocument/2006/relationships" id="290" r:id="R7cdfa8ce33e6446f"/>
    <p:sldId xmlns:r="http://schemas.openxmlformats.org/officeDocument/2006/relationships" id="291" r:id="R5e6ff8a37880415e"/>
    <p:sldId xmlns:r="http://schemas.openxmlformats.org/officeDocument/2006/relationships" id="292" r:id="R8f8f88b8bbb8477a"/>
    <p:sldId xmlns:r="http://schemas.openxmlformats.org/officeDocument/2006/relationships" id="293" r:id="R02ea4edc26fc4910"/>
    <p:sldId xmlns:r="http://schemas.openxmlformats.org/officeDocument/2006/relationships" id="294" r:id="R9473e2db5f4c48c2"/>
    <p:sldId xmlns:r="http://schemas.openxmlformats.org/officeDocument/2006/relationships" id="295" r:id="R79daed14c3dc43d3"/>
    <p:sldId xmlns:r="http://schemas.openxmlformats.org/officeDocument/2006/relationships" id="296" r:id="R7e21157428ce4b74"/>
    <p:sldId xmlns:r="http://schemas.openxmlformats.org/officeDocument/2006/relationships" id="297" r:id="R9d56dd331ad341ea"/>
    <p:sldId xmlns:r="http://schemas.openxmlformats.org/officeDocument/2006/relationships" id="298" r:id="R4e805b44a7984546"/>
    <p:sldId xmlns:r="http://schemas.openxmlformats.org/officeDocument/2006/relationships" id="299" r:id="R1e4171cbc78a412e"/>
    <p:sldId xmlns:r="http://schemas.openxmlformats.org/officeDocument/2006/relationships" id="300" r:id="R540c22555bd544de"/>
    <p:sldId xmlns:r="http://schemas.openxmlformats.org/officeDocument/2006/relationships" id="301" r:id="Ref49974427314207"/>
    <p:sldId xmlns:r="http://schemas.openxmlformats.org/officeDocument/2006/relationships" id="302" r:id="Rb0ad6a8eb0844d24"/>
    <p:sldId xmlns:r="http://schemas.openxmlformats.org/officeDocument/2006/relationships" id="303" r:id="Ra02619ff5c6546d2"/>
    <p:sldId xmlns:r="http://schemas.openxmlformats.org/officeDocument/2006/relationships" id="304" r:id="Rf7365bde95364a98"/>
    <p:sldId xmlns:r="http://schemas.openxmlformats.org/officeDocument/2006/relationships" id="305" r:id="R1b955256b8584048"/>
    <p:sldId xmlns:r="http://schemas.openxmlformats.org/officeDocument/2006/relationships" id="306" r:id="R98e6b4e4c4c64c2a"/>
    <p:sldId xmlns:r="http://schemas.openxmlformats.org/officeDocument/2006/relationships" id="307" r:id="R9d2bc2164a224094"/>
    <p:sldId xmlns:r="http://schemas.openxmlformats.org/officeDocument/2006/relationships" id="308" r:id="R9eba0a24802d49a2"/>
    <p:sldId xmlns:r="http://schemas.openxmlformats.org/officeDocument/2006/relationships" id="309" r:id="Ra8bf6e7384e34949"/>
    <p:sldId xmlns:r="http://schemas.openxmlformats.org/officeDocument/2006/relationships" id="310" r:id="R4b1adba04de64ed9"/>
    <p:sldId xmlns:r="http://schemas.openxmlformats.org/officeDocument/2006/relationships" id="311" r:id="R4f2e81c3174c4d74"/>
    <p:sldId xmlns:r="http://schemas.openxmlformats.org/officeDocument/2006/relationships" id="312" r:id="Rfbeef50f871d404b"/>
    <p:sldId xmlns:r="http://schemas.openxmlformats.org/officeDocument/2006/relationships" id="313" r:id="R806e2216f2034b60"/>
    <p:sldId xmlns:r="http://schemas.openxmlformats.org/officeDocument/2006/relationships" id="314" r:id="R460615514e0540fc"/>
    <p:sldId xmlns:r="http://schemas.openxmlformats.org/officeDocument/2006/relationships" id="315" r:id="R527ef20fb6604066"/>
    <p:sldId xmlns:r="http://schemas.openxmlformats.org/officeDocument/2006/relationships" id="316" r:id="Rc78a4cec56d447d0"/>
    <p:sldId xmlns:r="http://schemas.openxmlformats.org/officeDocument/2006/relationships" id="317" r:id="R0d68b7c936494b91"/>
    <p:sldId xmlns:r="http://schemas.openxmlformats.org/officeDocument/2006/relationships" id="318" r:id="R26fde73431e94933"/>
    <p:sldId xmlns:r="http://schemas.openxmlformats.org/officeDocument/2006/relationships" id="319" r:id="Rc660f0080c604973"/>
    <p:sldId xmlns:r="http://schemas.openxmlformats.org/officeDocument/2006/relationships" id="320" r:id="R331e97c16a1a4e7a"/>
    <p:sldId xmlns:r="http://schemas.openxmlformats.org/officeDocument/2006/relationships" id="321" r:id="R1e03952ab3b74779"/>
    <p:sldId xmlns:r="http://schemas.openxmlformats.org/officeDocument/2006/relationships" id="322" r:id="Rf3949d47c8224a24"/>
    <p:sldId xmlns:r="http://schemas.openxmlformats.org/officeDocument/2006/relationships" id="323" r:id="R588edab746e045a4"/>
    <p:sldId xmlns:r="http://schemas.openxmlformats.org/officeDocument/2006/relationships" id="324" r:id="R502f9f36243e4a08"/>
    <p:sldId xmlns:r="http://schemas.openxmlformats.org/officeDocument/2006/relationships" id="325" r:id="R1eec6472dd9446bd"/>
    <p:sldId xmlns:r="http://schemas.openxmlformats.org/officeDocument/2006/relationships" id="326" r:id="Rb789c78f989d4c29"/>
    <p:sldId xmlns:r="http://schemas.openxmlformats.org/officeDocument/2006/relationships" id="327" r:id="R5511cc1b8c464195"/>
    <p:sldId xmlns:r="http://schemas.openxmlformats.org/officeDocument/2006/relationships" id="328" r:id="R90b5233f75824b93"/>
    <p:sldId xmlns:r="http://schemas.openxmlformats.org/officeDocument/2006/relationships" id="329" r:id="R45b88b5ecbe4497d"/>
    <p:sldId xmlns:r="http://schemas.openxmlformats.org/officeDocument/2006/relationships" id="330" r:id="R91f5c6ec6a5a483d"/>
    <p:sldId xmlns:r="http://schemas.openxmlformats.org/officeDocument/2006/relationships" id="331" r:id="Rbe91019deb014f48"/>
    <p:sldId xmlns:r="http://schemas.openxmlformats.org/officeDocument/2006/relationships" id="332" r:id="Rcb1d4dd7b76c4615"/>
    <p:sldId xmlns:r="http://schemas.openxmlformats.org/officeDocument/2006/relationships" id="333" r:id="R9bec225c6a05454c"/>
    <p:sldId xmlns:r="http://schemas.openxmlformats.org/officeDocument/2006/relationships" id="334" r:id="Rc5db812a8780469f"/>
    <p:sldId xmlns:r="http://schemas.openxmlformats.org/officeDocument/2006/relationships" id="335" r:id="R295e5142f7674349"/>
    <p:sldId xmlns:r="http://schemas.openxmlformats.org/officeDocument/2006/relationships" id="336" r:id="R0dab819f0ccc4513"/>
    <p:sldId xmlns:r="http://schemas.openxmlformats.org/officeDocument/2006/relationships" id="337" r:id="Rb36e4b107eda4ed1"/>
    <p:sldId xmlns:r="http://schemas.openxmlformats.org/officeDocument/2006/relationships" id="338" r:id="Rc0a705252fc3495c"/>
    <p:sldId xmlns:r="http://schemas.openxmlformats.org/officeDocument/2006/relationships" id="339" r:id="Rbceb9e24bd81456d"/>
    <p:sldId xmlns:r="http://schemas.openxmlformats.org/officeDocument/2006/relationships" id="340" r:id="R52e2649e982f4012"/>
    <p:sldId xmlns:r="http://schemas.openxmlformats.org/officeDocument/2006/relationships" id="341" r:id="R82d5a7b923954d82"/>
    <p:sldId xmlns:r="http://schemas.openxmlformats.org/officeDocument/2006/relationships" id="342" r:id="Rca13142f27364b3f"/>
    <p:sldId xmlns:r="http://schemas.openxmlformats.org/officeDocument/2006/relationships" id="343" r:id="R404fceb72e0b4ed2"/>
    <p:sldId xmlns:r="http://schemas.openxmlformats.org/officeDocument/2006/relationships" id="344" r:id="R1e7a7dcfb83f4371"/>
    <p:sldId xmlns:r="http://schemas.openxmlformats.org/officeDocument/2006/relationships" id="345" r:id="Rf78f0b08527d4d77"/>
    <p:sldId xmlns:r="http://schemas.openxmlformats.org/officeDocument/2006/relationships" id="346" r:id="Rf7bca532ebfd425a"/>
    <p:sldId xmlns:r="http://schemas.openxmlformats.org/officeDocument/2006/relationships" id="347" r:id="Rc977c246fe4447ca"/>
    <p:sldId xmlns:r="http://schemas.openxmlformats.org/officeDocument/2006/relationships" id="348" r:id="R39334f55b27f4e5e"/>
    <p:sldId xmlns:r="http://schemas.openxmlformats.org/officeDocument/2006/relationships" id="349" r:id="R6e7189ee6a7548b5"/>
    <p:sldId xmlns:r="http://schemas.openxmlformats.org/officeDocument/2006/relationships" id="350" r:id="R33850a19a51641d2"/>
    <p:sldId xmlns:r="http://schemas.openxmlformats.org/officeDocument/2006/relationships" id="351" r:id="R5e55c537357d4e92"/>
    <p:sldId xmlns:r="http://schemas.openxmlformats.org/officeDocument/2006/relationships" id="352" r:id="Rc5e1d0c72e8a4b80"/>
    <p:sldId xmlns:r="http://schemas.openxmlformats.org/officeDocument/2006/relationships" id="353" r:id="Rfb9ba08ad16c4527"/>
    <p:sldId xmlns:r="http://schemas.openxmlformats.org/officeDocument/2006/relationships" id="354" r:id="R30d75222a5564242"/>
    <p:sldId xmlns:r="http://schemas.openxmlformats.org/officeDocument/2006/relationships" id="355" r:id="R719c81718a184168"/>
    <p:sldId xmlns:r="http://schemas.openxmlformats.org/officeDocument/2006/relationships" id="356" r:id="R7cd83de600524a6f"/>
    <p:sldId xmlns:r="http://schemas.openxmlformats.org/officeDocument/2006/relationships" id="357" r:id="R46ddb346f9024958"/>
    <p:sldId xmlns:r="http://schemas.openxmlformats.org/officeDocument/2006/relationships" id="358" r:id="R9175c2cacb604672"/>
    <p:sldId xmlns:r="http://schemas.openxmlformats.org/officeDocument/2006/relationships" id="359" r:id="R73516ffc41a2457f"/>
    <p:sldId xmlns:r="http://schemas.openxmlformats.org/officeDocument/2006/relationships" id="360" r:id="R3de117b4054d4593"/>
    <p:sldId xmlns:r="http://schemas.openxmlformats.org/officeDocument/2006/relationships" id="361" r:id="R4e2dd85eaaca4b3e"/>
    <p:sldId xmlns:r="http://schemas.openxmlformats.org/officeDocument/2006/relationships" id="362" r:id="R0d92fe264de649b1"/>
    <p:sldId xmlns:r="http://schemas.openxmlformats.org/officeDocument/2006/relationships" id="363" r:id="R1ff402b857484866"/>
    <p:sldId xmlns:r="http://schemas.openxmlformats.org/officeDocument/2006/relationships" id="364" r:id="R6c309e12c4a141ca"/>
    <p:sldId xmlns:r="http://schemas.openxmlformats.org/officeDocument/2006/relationships" id="365" r:id="R0774f089579447a1"/>
    <p:sldId xmlns:r="http://schemas.openxmlformats.org/officeDocument/2006/relationships" id="366" r:id="Rda173f5f42104da7"/>
    <p:sldId xmlns:r="http://schemas.openxmlformats.org/officeDocument/2006/relationships" id="367" r:id="R67850b4a66c648b7"/>
    <p:sldId xmlns:r="http://schemas.openxmlformats.org/officeDocument/2006/relationships" id="368" r:id="R4783ae2cf8d14bc7"/>
    <p:sldId xmlns:r="http://schemas.openxmlformats.org/officeDocument/2006/relationships" id="369" r:id="Re99f130c20284a40"/>
    <p:sldId xmlns:r="http://schemas.openxmlformats.org/officeDocument/2006/relationships" id="370" r:id="Ra8f5e0f670a34042"/>
    <p:sldId xmlns:r="http://schemas.openxmlformats.org/officeDocument/2006/relationships" id="371" r:id="R71980e66657f443f"/>
    <p:sldId xmlns:r="http://schemas.openxmlformats.org/officeDocument/2006/relationships" id="372" r:id="Rdd22ca0f8e8b4c74"/>
    <p:sldId xmlns:r="http://schemas.openxmlformats.org/officeDocument/2006/relationships" id="373" r:id="R662ac6af2bbe477a"/>
    <p:sldId xmlns:r="http://schemas.openxmlformats.org/officeDocument/2006/relationships" id="374" r:id="Re19764a85f804619"/>
    <p:sldId xmlns:r="http://schemas.openxmlformats.org/officeDocument/2006/relationships" id="375" r:id="R1fa4572f67674926"/>
    <p:sldId xmlns:r="http://schemas.openxmlformats.org/officeDocument/2006/relationships" id="376" r:id="Ree5ed3d95ca54e24"/>
    <p:sldId xmlns:r="http://schemas.openxmlformats.org/officeDocument/2006/relationships" id="377" r:id="Ree00564e86034750"/>
    <p:sldId xmlns:r="http://schemas.openxmlformats.org/officeDocument/2006/relationships" id="378" r:id="R6236b53b27234860"/>
    <p:sldId xmlns:r="http://schemas.openxmlformats.org/officeDocument/2006/relationships" id="379" r:id="R528a1cb74a4b47fc"/>
    <p:sldId xmlns:r="http://schemas.openxmlformats.org/officeDocument/2006/relationships" id="380" r:id="R7df83f90327f4504"/>
    <p:sldId xmlns:r="http://schemas.openxmlformats.org/officeDocument/2006/relationships" id="381" r:id="Rb36eb001d064493c"/>
    <p:sldId xmlns:r="http://schemas.openxmlformats.org/officeDocument/2006/relationships" id="382" r:id="Rb5813367fc5246f0"/>
    <p:sldId xmlns:r="http://schemas.openxmlformats.org/officeDocument/2006/relationships" id="383" r:id="R9dea329772984b5b"/>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ead57d273824e47" /><Relationship Type="http://schemas.openxmlformats.org/officeDocument/2006/relationships/slideMaster" Target="/ppt/slideMasters/slideMaster1.xml" Id="R809584357aee42ca" /><Relationship Type="http://schemas.openxmlformats.org/officeDocument/2006/relationships/notesMaster" Target="/ppt/notesMasters/notesMaster1.xml" Id="Rf0dd35260c2a4b2e" /><Relationship Type="http://schemas.openxmlformats.org/officeDocument/2006/relationships/presProps" Target="/ppt/presProps.xml" Id="Rccc35ea8ddbe4212" /><Relationship Type="http://schemas.openxmlformats.org/officeDocument/2006/relationships/viewProps" Target="/ppt/viewProps.xml" Id="Rda2f10cde97342ce" /><Relationship Type="http://schemas.openxmlformats.org/officeDocument/2006/relationships/tableStyles" Target="/ppt/tableStyles.xml" Id="R90c8f88758914e04" /><Relationship Type="http://schemas.openxmlformats.org/officeDocument/2006/relationships/slide" Target="/ppt/slides/slide1.xml" Id="Rbb4eecb3fb004321" /><Relationship Type="http://schemas.openxmlformats.org/officeDocument/2006/relationships/slide" Target="/ppt/slides/slide2.xml" Id="Radd445aee4154a86" /><Relationship Type="http://schemas.openxmlformats.org/officeDocument/2006/relationships/slide" Target="/ppt/slides/slide3.xml" Id="R966de0c184694b38" /><Relationship Type="http://schemas.openxmlformats.org/officeDocument/2006/relationships/slide" Target="/ppt/slides/slide4.xml" Id="R0b6c52db05134ebd" /><Relationship Type="http://schemas.openxmlformats.org/officeDocument/2006/relationships/slide" Target="/ppt/slides/slide5.xml" Id="R43d849bdb81d4195" /><Relationship Type="http://schemas.openxmlformats.org/officeDocument/2006/relationships/slide" Target="/ppt/slides/slide6.xml" Id="R5a970aa194e541e9" /><Relationship Type="http://schemas.openxmlformats.org/officeDocument/2006/relationships/slide" Target="/ppt/slides/slide7.xml" Id="R3e67559aa69e477b" /><Relationship Type="http://schemas.openxmlformats.org/officeDocument/2006/relationships/slide" Target="/ppt/slides/slide8.xml" Id="Re3ddbd4545714bbc" /><Relationship Type="http://schemas.openxmlformats.org/officeDocument/2006/relationships/slide" Target="/ppt/slides/slide9.xml" Id="Raf479b919d9d40f7" /><Relationship Type="http://schemas.openxmlformats.org/officeDocument/2006/relationships/slide" Target="/ppt/slides/slide10.xml" Id="Rca332853cd3c467f" /><Relationship Type="http://schemas.openxmlformats.org/officeDocument/2006/relationships/slide" Target="/ppt/slides/slide11.xml" Id="Rb2bb96ef5a1b4fac" /><Relationship Type="http://schemas.openxmlformats.org/officeDocument/2006/relationships/slide" Target="/ppt/slides/slide12.xml" Id="R29c83fcd24024816" /><Relationship Type="http://schemas.openxmlformats.org/officeDocument/2006/relationships/slide" Target="/ppt/slides/slide13.xml" Id="R8998b047dfbc4686" /><Relationship Type="http://schemas.openxmlformats.org/officeDocument/2006/relationships/slide" Target="/ppt/slides/slide14.xml" Id="R24582f01cc2743a6" /><Relationship Type="http://schemas.openxmlformats.org/officeDocument/2006/relationships/slide" Target="/ppt/slides/slide15.xml" Id="Rdb04e678dc3b40c1" /><Relationship Type="http://schemas.openxmlformats.org/officeDocument/2006/relationships/slide" Target="/ppt/slides/slide16.xml" Id="Rdc5be8ab169e4ed9" /><Relationship Type="http://schemas.openxmlformats.org/officeDocument/2006/relationships/slide" Target="/ppt/slides/slide17.xml" Id="R45b3c7dded7840bd" /><Relationship Type="http://schemas.openxmlformats.org/officeDocument/2006/relationships/slide" Target="/ppt/slides/slide18.xml" Id="R882d08ac070b45ca" /><Relationship Type="http://schemas.openxmlformats.org/officeDocument/2006/relationships/slide" Target="/ppt/slides/slide19.xml" Id="R2d727ede71b0458c" /><Relationship Type="http://schemas.openxmlformats.org/officeDocument/2006/relationships/slide" Target="/ppt/slides/slide20.xml" Id="R3729f5d96e8c41e9" /><Relationship Type="http://schemas.openxmlformats.org/officeDocument/2006/relationships/slide" Target="/ppt/slides/slide21.xml" Id="R1ff5bb5c1bee46b2" /><Relationship Type="http://schemas.openxmlformats.org/officeDocument/2006/relationships/slide" Target="/ppt/slides/slide22.xml" Id="Ra6c0e8245bbc4e69" /><Relationship Type="http://schemas.openxmlformats.org/officeDocument/2006/relationships/slide" Target="/ppt/slides/slide23.xml" Id="R94a3d20c254f465b" /><Relationship Type="http://schemas.openxmlformats.org/officeDocument/2006/relationships/slide" Target="/ppt/slides/slide24.xml" Id="Rb8bb0d2f0b2648af" /><Relationship Type="http://schemas.openxmlformats.org/officeDocument/2006/relationships/slide" Target="/ppt/slides/slide25.xml" Id="R58cc092611ff44c4" /><Relationship Type="http://schemas.openxmlformats.org/officeDocument/2006/relationships/slide" Target="/ppt/slides/slide26.xml" Id="R319fb9e25cfd4c9d" /><Relationship Type="http://schemas.openxmlformats.org/officeDocument/2006/relationships/slide" Target="/ppt/slides/slide27.xml" Id="R1aee4a87b0fa420e" /><Relationship Type="http://schemas.openxmlformats.org/officeDocument/2006/relationships/slide" Target="/ppt/slides/slide28.xml" Id="Raf50b1f9f1e04080" /><Relationship Type="http://schemas.openxmlformats.org/officeDocument/2006/relationships/slide" Target="/ppt/slides/slide29.xml" Id="R6714f13281e44bbc" /><Relationship Type="http://schemas.openxmlformats.org/officeDocument/2006/relationships/slide" Target="/ppt/slides/slide30.xml" Id="R179ac9aec0144a62" /><Relationship Type="http://schemas.openxmlformats.org/officeDocument/2006/relationships/slide" Target="/ppt/slides/slide31.xml" Id="R33565d2106bb4b97" /><Relationship Type="http://schemas.openxmlformats.org/officeDocument/2006/relationships/slide" Target="/ppt/slides/slide32.xml" Id="R9435e84a33044bc7" /><Relationship Type="http://schemas.openxmlformats.org/officeDocument/2006/relationships/slide" Target="/ppt/slides/slide33.xml" Id="R2aeed828a3d043ac" /><Relationship Type="http://schemas.openxmlformats.org/officeDocument/2006/relationships/slide" Target="/ppt/slides/slide34.xml" Id="Rf213fece578c44df" /><Relationship Type="http://schemas.openxmlformats.org/officeDocument/2006/relationships/slide" Target="/ppt/slides/slide35.xml" Id="R7cdfa8ce33e6446f" /><Relationship Type="http://schemas.openxmlformats.org/officeDocument/2006/relationships/slide" Target="/ppt/slides/slide36.xml" Id="R5e6ff8a37880415e" /><Relationship Type="http://schemas.openxmlformats.org/officeDocument/2006/relationships/slide" Target="/ppt/slides/slide37.xml" Id="R8f8f88b8bbb8477a" /><Relationship Type="http://schemas.openxmlformats.org/officeDocument/2006/relationships/slide" Target="/ppt/slides/slide38.xml" Id="R02ea4edc26fc4910" /><Relationship Type="http://schemas.openxmlformats.org/officeDocument/2006/relationships/slide" Target="/ppt/slides/slide39.xml" Id="R9473e2db5f4c48c2" /><Relationship Type="http://schemas.openxmlformats.org/officeDocument/2006/relationships/slide" Target="/ppt/slides/slide40.xml" Id="R79daed14c3dc43d3" /><Relationship Type="http://schemas.openxmlformats.org/officeDocument/2006/relationships/slide" Target="/ppt/slides/slide41.xml" Id="R7e21157428ce4b74" /><Relationship Type="http://schemas.openxmlformats.org/officeDocument/2006/relationships/slide" Target="/ppt/slides/slide42.xml" Id="R9d56dd331ad341ea" /><Relationship Type="http://schemas.openxmlformats.org/officeDocument/2006/relationships/slide" Target="/ppt/slides/slide43.xml" Id="R4e805b44a7984546" /><Relationship Type="http://schemas.openxmlformats.org/officeDocument/2006/relationships/slide" Target="/ppt/slides/slide44.xml" Id="R1e4171cbc78a412e" /><Relationship Type="http://schemas.openxmlformats.org/officeDocument/2006/relationships/slide" Target="/ppt/slides/slide45.xml" Id="R540c22555bd544de" /><Relationship Type="http://schemas.openxmlformats.org/officeDocument/2006/relationships/slide" Target="/ppt/slides/slide46.xml" Id="Ref49974427314207" /><Relationship Type="http://schemas.openxmlformats.org/officeDocument/2006/relationships/slide" Target="/ppt/slides/slide47.xml" Id="Rb0ad6a8eb0844d24" /><Relationship Type="http://schemas.openxmlformats.org/officeDocument/2006/relationships/slide" Target="/ppt/slides/slide48.xml" Id="Ra02619ff5c6546d2" /><Relationship Type="http://schemas.openxmlformats.org/officeDocument/2006/relationships/slide" Target="/ppt/slides/slide49.xml" Id="Rf7365bde95364a98" /><Relationship Type="http://schemas.openxmlformats.org/officeDocument/2006/relationships/slide" Target="/ppt/slides/slide50.xml" Id="R1b955256b8584048" /><Relationship Type="http://schemas.openxmlformats.org/officeDocument/2006/relationships/slide" Target="/ppt/slides/slide51.xml" Id="R98e6b4e4c4c64c2a" /><Relationship Type="http://schemas.openxmlformats.org/officeDocument/2006/relationships/slide" Target="/ppt/slides/slide52.xml" Id="R9d2bc2164a224094" /><Relationship Type="http://schemas.openxmlformats.org/officeDocument/2006/relationships/slide" Target="/ppt/slides/slide53.xml" Id="R9eba0a24802d49a2" /><Relationship Type="http://schemas.openxmlformats.org/officeDocument/2006/relationships/slide" Target="/ppt/slides/slide54.xml" Id="Ra8bf6e7384e34949" /><Relationship Type="http://schemas.openxmlformats.org/officeDocument/2006/relationships/slide" Target="/ppt/slides/slide55.xml" Id="R4b1adba04de64ed9" /><Relationship Type="http://schemas.openxmlformats.org/officeDocument/2006/relationships/slide" Target="/ppt/slides/slide56.xml" Id="R4f2e81c3174c4d74" /><Relationship Type="http://schemas.openxmlformats.org/officeDocument/2006/relationships/slide" Target="/ppt/slides/slide57.xml" Id="Rfbeef50f871d404b" /><Relationship Type="http://schemas.openxmlformats.org/officeDocument/2006/relationships/slide" Target="/ppt/slides/slide58.xml" Id="R806e2216f2034b60" /><Relationship Type="http://schemas.openxmlformats.org/officeDocument/2006/relationships/slide" Target="/ppt/slides/slide59.xml" Id="R460615514e0540fc" /><Relationship Type="http://schemas.openxmlformats.org/officeDocument/2006/relationships/slide" Target="/ppt/slides/slide60.xml" Id="R527ef20fb6604066" /><Relationship Type="http://schemas.openxmlformats.org/officeDocument/2006/relationships/slide" Target="/ppt/slides/slide61.xml" Id="Rc78a4cec56d447d0" /><Relationship Type="http://schemas.openxmlformats.org/officeDocument/2006/relationships/slide" Target="/ppt/slides/slide62.xml" Id="R0d68b7c936494b91" /><Relationship Type="http://schemas.openxmlformats.org/officeDocument/2006/relationships/slide" Target="/ppt/slides/slide63.xml" Id="R26fde73431e94933" /><Relationship Type="http://schemas.openxmlformats.org/officeDocument/2006/relationships/slide" Target="/ppt/slides/slide64.xml" Id="Rc660f0080c604973" /><Relationship Type="http://schemas.openxmlformats.org/officeDocument/2006/relationships/slide" Target="/ppt/slides/slide65.xml" Id="R331e97c16a1a4e7a" /><Relationship Type="http://schemas.openxmlformats.org/officeDocument/2006/relationships/slide" Target="/ppt/slides/slide66.xml" Id="R1e03952ab3b74779" /><Relationship Type="http://schemas.openxmlformats.org/officeDocument/2006/relationships/slide" Target="/ppt/slides/slide67.xml" Id="Rf3949d47c8224a24" /><Relationship Type="http://schemas.openxmlformats.org/officeDocument/2006/relationships/slide" Target="/ppt/slides/slide68.xml" Id="R588edab746e045a4" /><Relationship Type="http://schemas.openxmlformats.org/officeDocument/2006/relationships/slide" Target="/ppt/slides/slide69.xml" Id="R502f9f36243e4a08" /><Relationship Type="http://schemas.openxmlformats.org/officeDocument/2006/relationships/slide" Target="/ppt/slides/slide70.xml" Id="R1eec6472dd9446bd" /><Relationship Type="http://schemas.openxmlformats.org/officeDocument/2006/relationships/slide" Target="/ppt/slides/slide71.xml" Id="Rb789c78f989d4c29" /><Relationship Type="http://schemas.openxmlformats.org/officeDocument/2006/relationships/slide" Target="/ppt/slides/slide72.xml" Id="R5511cc1b8c464195" /><Relationship Type="http://schemas.openxmlformats.org/officeDocument/2006/relationships/slide" Target="/ppt/slides/slide73.xml" Id="R90b5233f75824b93" /><Relationship Type="http://schemas.openxmlformats.org/officeDocument/2006/relationships/slide" Target="/ppt/slides/slide74.xml" Id="R45b88b5ecbe4497d" /><Relationship Type="http://schemas.openxmlformats.org/officeDocument/2006/relationships/slide" Target="/ppt/slides/slide75.xml" Id="R91f5c6ec6a5a483d" /><Relationship Type="http://schemas.openxmlformats.org/officeDocument/2006/relationships/slide" Target="/ppt/slides/slide76.xml" Id="Rbe91019deb014f48" /><Relationship Type="http://schemas.openxmlformats.org/officeDocument/2006/relationships/slide" Target="/ppt/slides/slide77.xml" Id="Rcb1d4dd7b76c4615" /><Relationship Type="http://schemas.openxmlformats.org/officeDocument/2006/relationships/slide" Target="/ppt/slides/slide78.xml" Id="R9bec225c6a05454c" /><Relationship Type="http://schemas.openxmlformats.org/officeDocument/2006/relationships/slide" Target="/ppt/slides/slide79.xml" Id="Rc5db812a8780469f" /><Relationship Type="http://schemas.openxmlformats.org/officeDocument/2006/relationships/slide" Target="/ppt/slides/slide80.xml" Id="R295e5142f7674349" /><Relationship Type="http://schemas.openxmlformats.org/officeDocument/2006/relationships/slide" Target="/ppt/slides/slide81.xml" Id="R0dab819f0ccc4513" /><Relationship Type="http://schemas.openxmlformats.org/officeDocument/2006/relationships/slide" Target="/ppt/slides/slide82.xml" Id="Rb36e4b107eda4ed1" /><Relationship Type="http://schemas.openxmlformats.org/officeDocument/2006/relationships/slide" Target="/ppt/slides/slide83.xml" Id="Rc0a705252fc3495c" /><Relationship Type="http://schemas.openxmlformats.org/officeDocument/2006/relationships/slide" Target="/ppt/slides/slide84.xml" Id="Rbceb9e24bd81456d" /><Relationship Type="http://schemas.openxmlformats.org/officeDocument/2006/relationships/slide" Target="/ppt/slides/slide85.xml" Id="R52e2649e982f4012" /><Relationship Type="http://schemas.openxmlformats.org/officeDocument/2006/relationships/slide" Target="/ppt/slides/slide86.xml" Id="R82d5a7b923954d82" /><Relationship Type="http://schemas.openxmlformats.org/officeDocument/2006/relationships/slide" Target="/ppt/slides/slide87.xml" Id="Rca13142f27364b3f" /><Relationship Type="http://schemas.openxmlformats.org/officeDocument/2006/relationships/slide" Target="/ppt/slides/slide88.xml" Id="R404fceb72e0b4ed2" /><Relationship Type="http://schemas.openxmlformats.org/officeDocument/2006/relationships/slide" Target="/ppt/slides/slide89.xml" Id="R1e7a7dcfb83f4371" /><Relationship Type="http://schemas.openxmlformats.org/officeDocument/2006/relationships/slide" Target="/ppt/slides/slide90.xml" Id="Rf78f0b08527d4d77" /><Relationship Type="http://schemas.openxmlformats.org/officeDocument/2006/relationships/slide" Target="/ppt/slides/slide91.xml" Id="Rf7bca532ebfd425a" /><Relationship Type="http://schemas.openxmlformats.org/officeDocument/2006/relationships/slide" Target="/ppt/slides/slide92.xml" Id="Rc977c246fe4447ca" /><Relationship Type="http://schemas.openxmlformats.org/officeDocument/2006/relationships/slide" Target="/ppt/slides/slide93.xml" Id="R39334f55b27f4e5e" /><Relationship Type="http://schemas.openxmlformats.org/officeDocument/2006/relationships/slide" Target="/ppt/slides/slide94.xml" Id="R6e7189ee6a7548b5" /><Relationship Type="http://schemas.openxmlformats.org/officeDocument/2006/relationships/slide" Target="/ppt/slides/slide95.xml" Id="R33850a19a51641d2" /><Relationship Type="http://schemas.openxmlformats.org/officeDocument/2006/relationships/slide" Target="/ppt/slides/slide96.xml" Id="R5e55c537357d4e92" /><Relationship Type="http://schemas.openxmlformats.org/officeDocument/2006/relationships/slide" Target="/ppt/slides/slide97.xml" Id="Rc5e1d0c72e8a4b80" /><Relationship Type="http://schemas.openxmlformats.org/officeDocument/2006/relationships/slide" Target="/ppt/slides/slide98.xml" Id="Rfb9ba08ad16c4527" /><Relationship Type="http://schemas.openxmlformats.org/officeDocument/2006/relationships/slide" Target="/ppt/slides/slide99.xml" Id="R30d75222a5564242" /><Relationship Type="http://schemas.openxmlformats.org/officeDocument/2006/relationships/slide" Target="/ppt/slides/slide100.xml" Id="R719c81718a184168" /><Relationship Type="http://schemas.openxmlformats.org/officeDocument/2006/relationships/slide" Target="/ppt/slides/slide101.xml" Id="R7cd83de600524a6f" /><Relationship Type="http://schemas.openxmlformats.org/officeDocument/2006/relationships/slide" Target="/ppt/slides/slide102.xml" Id="R46ddb346f9024958" /><Relationship Type="http://schemas.openxmlformats.org/officeDocument/2006/relationships/slide" Target="/ppt/slides/slide103.xml" Id="R9175c2cacb604672" /><Relationship Type="http://schemas.openxmlformats.org/officeDocument/2006/relationships/slide" Target="/ppt/slides/slide104.xml" Id="R73516ffc41a2457f" /><Relationship Type="http://schemas.openxmlformats.org/officeDocument/2006/relationships/slide" Target="/ppt/slides/slide105.xml" Id="R3de117b4054d4593" /><Relationship Type="http://schemas.openxmlformats.org/officeDocument/2006/relationships/slide" Target="/ppt/slides/slide106.xml" Id="R4e2dd85eaaca4b3e" /><Relationship Type="http://schemas.openxmlformats.org/officeDocument/2006/relationships/slide" Target="/ppt/slides/slide107.xml" Id="R0d92fe264de649b1" /><Relationship Type="http://schemas.openxmlformats.org/officeDocument/2006/relationships/slide" Target="/ppt/slides/slide108.xml" Id="R1ff402b857484866" /><Relationship Type="http://schemas.openxmlformats.org/officeDocument/2006/relationships/slide" Target="/ppt/slides/slide109.xml" Id="R6c309e12c4a141ca" /><Relationship Type="http://schemas.openxmlformats.org/officeDocument/2006/relationships/slide" Target="/ppt/slides/slide110.xml" Id="R0774f089579447a1" /><Relationship Type="http://schemas.openxmlformats.org/officeDocument/2006/relationships/slide" Target="/ppt/slides/slide111.xml" Id="Rda173f5f42104da7" /><Relationship Type="http://schemas.openxmlformats.org/officeDocument/2006/relationships/slide" Target="/ppt/slides/slide112.xml" Id="R67850b4a66c648b7" /><Relationship Type="http://schemas.openxmlformats.org/officeDocument/2006/relationships/slide" Target="/ppt/slides/slide113.xml" Id="R4783ae2cf8d14bc7" /><Relationship Type="http://schemas.openxmlformats.org/officeDocument/2006/relationships/slide" Target="/ppt/slides/slide114.xml" Id="Re99f130c20284a40" /><Relationship Type="http://schemas.openxmlformats.org/officeDocument/2006/relationships/slide" Target="/ppt/slides/slide115.xml" Id="Ra8f5e0f670a34042" /><Relationship Type="http://schemas.openxmlformats.org/officeDocument/2006/relationships/slide" Target="/ppt/slides/slide116.xml" Id="R71980e66657f443f" /><Relationship Type="http://schemas.openxmlformats.org/officeDocument/2006/relationships/slide" Target="/ppt/slides/slide117.xml" Id="Rdd22ca0f8e8b4c74" /><Relationship Type="http://schemas.openxmlformats.org/officeDocument/2006/relationships/slide" Target="/ppt/slides/slide118.xml" Id="R662ac6af2bbe477a" /><Relationship Type="http://schemas.openxmlformats.org/officeDocument/2006/relationships/slide" Target="/ppt/slides/slide119.xml" Id="Re19764a85f804619" /><Relationship Type="http://schemas.openxmlformats.org/officeDocument/2006/relationships/slide" Target="/ppt/slides/slide120.xml" Id="R1fa4572f67674926" /><Relationship Type="http://schemas.openxmlformats.org/officeDocument/2006/relationships/slide" Target="/ppt/slides/slide121.xml" Id="Ree5ed3d95ca54e24" /><Relationship Type="http://schemas.openxmlformats.org/officeDocument/2006/relationships/slide" Target="/ppt/slides/slide122.xml" Id="Ree00564e86034750" /><Relationship Type="http://schemas.openxmlformats.org/officeDocument/2006/relationships/slide" Target="/ppt/slides/slide123.xml" Id="R6236b53b27234860" /><Relationship Type="http://schemas.openxmlformats.org/officeDocument/2006/relationships/slide" Target="/ppt/slides/slide124.xml" Id="R528a1cb74a4b47fc" /><Relationship Type="http://schemas.openxmlformats.org/officeDocument/2006/relationships/slide" Target="/ppt/slides/slide125.xml" Id="R7df83f90327f4504" /><Relationship Type="http://schemas.openxmlformats.org/officeDocument/2006/relationships/slide" Target="/ppt/slides/slide126.xml" Id="Rb36eb001d064493c" /><Relationship Type="http://schemas.openxmlformats.org/officeDocument/2006/relationships/slide" Target="/ppt/slides/slide127.xml" Id="Rb5813367fc5246f0" /><Relationship Type="http://schemas.openxmlformats.org/officeDocument/2006/relationships/slide" Target="/ppt/slides/slide128.xml" Id="R9dea329772984b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a995e6886a40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a5dd4fd7364363" /><Relationship Type="http://schemas.openxmlformats.org/officeDocument/2006/relationships/notesMaster" Target="/ppt/notesMasters/notesMaster1.xml" Id="R3286cce824864d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72f60e6ff540ee" /><Relationship Type="http://schemas.openxmlformats.org/officeDocument/2006/relationships/notesMaster" Target="/ppt/notesMasters/notesMaster1.xml" Id="R5895dbefe66648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7a3adbb6ad4587" /><Relationship Type="http://schemas.openxmlformats.org/officeDocument/2006/relationships/notesMaster" Target="/ppt/notesMasters/notesMaster1.xml" Id="Rf6706abf88d54a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15f15d3bc24a55" /><Relationship Type="http://schemas.openxmlformats.org/officeDocument/2006/relationships/notesMaster" Target="/ppt/notesMasters/notesMaster1.xml" Id="Rbe3474e2971948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6487abea584317" /><Relationship Type="http://schemas.openxmlformats.org/officeDocument/2006/relationships/notesMaster" Target="/ppt/notesMasters/notesMaster1.xml" Id="R9f5c9c46adf343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054afd5e34a18" /><Relationship Type="http://schemas.openxmlformats.org/officeDocument/2006/relationships/notesMaster" Target="/ppt/notesMasters/notesMaster1.xml" Id="R8d74749af1f745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dfc5cc275d4e8f" /><Relationship Type="http://schemas.openxmlformats.org/officeDocument/2006/relationships/notesMaster" Target="/ppt/notesMasters/notesMaster1.xml" Id="Ra6c118fe5df545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9eec0f58e64931" /><Relationship Type="http://schemas.openxmlformats.org/officeDocument/2006/relationships/notesMaster" Target="/ppt/notesMasters/notesMaster1.xml" Id="R89c3ee3346c146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39d17a741f43fd" /><Relationship Type="http://schemas.openxmlformats.org/officeDocument/2006/relationships/notesMaster" Target="/ppt/notesMasters/notesMaster1.xml" Id="Recf281e6ed9f4e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ed326aad4d436d" /><Relationship Type="http://schemas.openxmlformats.org/officeDocument/2006/relationships/notesMaster" Target="/ppt/notesMasters/notesMaster1.xml" Id="R345bd6b2e47d4b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5380de39cf496b" /><Relationship Type="http://schemas.openxmlformats.org/officeDocument/2006/relationships/notesMaster" Target="/ppt/notesMasters/notesMaster1.xml" Id="R317fe0e2de6a44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bf15d97eaf4cef" /><Relationship Type="http://schemas.openxmlformats.org/officeDocument/2006/relationships/notesMaster" Target="/ppt/notesMasters/notesMaster1.xml" Id="R8c03f456388743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dd282f8fdb4f3b" /><Relationship Type="http://schemas.openxmlformats.org/officeDocument/2006/relationships/notesMaster" Target="/ppt/notesMasters/notesMaster1.xml" Id="Rddfe46e2859247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1914f042c0461e" /><Relationship Type="http://schemas.openxmlformats.org/officeDocument/2006/relationships/notesMaster" Target="/ppt/notesMasters/notesMaster1.xml" Id="R502c4207c86c41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0adb5a15644b0b" /><Relationship Type="http://schemas.openxmlformats.org/officeDocument/2006/relationships/notesMaster" Target="/ppt/notesMasters/notesMaster1.xml" Id="R232c40c7e3454c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2e69366fe24c08" /><Relationship Type="http://schemas.openxmlformats.org/officeDocument/2006/relationships/notesMaster" Target="/ppt/notesMasters/notesMaster1.xml" Id="R5dfacb0e63b646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256da084314c3f" /><Relationship Type="http://schemas.openxmlformats.org/officeDocument/2006/relationships/notesMaster" Target="/ppt/notesMasters/notesMaster1.xml" Id="R8d857526603841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fe946212b84d61" /><Relationship Type="http://schemas.openxmlformats.org/officeDocument/2006/relationships/notesMaster" Target="/ppt/notesMasters/notesMaster1.xml" Id="Rfd4a4c881bd34a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0133ea5913473c" /><Relationship Type="http://schemas.openxmlformats.org/officeDocument/2006/relationships/notesMaster" Target="/ppt/notesMasters/notesMaster1.xml" Id="Rdb833e712bd147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b7b227f28e4a5e" /><Relationship Type="http://schemas.openxmlformats.org/officeDocument/2006/relationships/notesMaster" Target="/ppt/notesMasters/notesMaster1.xml" Id="Rd1b8095b98eb4d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c5969fd49c4cac" /><Relationship Type="http://schemas.openxmlformats.org/officeDocument/2006/relationships/notesMaster" Target="/ppt/notesMasters/notesMaster1.xml" Id="R02fe3e37398342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696445c5c34738" /><Relationship Type="http://schemas.openxmlformats.org/officeDocument/2006/relationships/notesMaster" Target="/ppt/notesMasters/notesMaster1.xml" Id="R5667c223dc1347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cbd4cb756b4d27" /><Relationship Type="http://schemas.openxmlformats.org/officeDocument/2006/relationships/notesMaster" Target="/ppt/notesMasters/notesMaster1.xml" Id="Raffbb46c92624f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2e9fd6e7a544c21" /><Relationship Type="http://schemas.openxmlformats.org/officeDocument/2006/relationships/notesMaster" Target="/ppt/notesMasters/notesMaster1.xml" Id="Rce5c6f151bb140d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85f5b8ee0f44e7" /><Relationship Type="http://schemas.openxmlformats.org/officeDocument/2006/relationships/notesMaster" Target="/ppt/notesMasters/notesMaster1.xml" Id="Rb745f7778e3c48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22308862aa4429" /><Relationship Type="http://schemas.openxmlformats.org/officeDocument/2006/relationships/notesMaster" Target="/ppt/notesMasters/notesMaster1.xml" Id="Rba4dc425abf24c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e4440483004976" /><Relationship Type="http://schemas.openxmlformats.org/officeDocument/2006/relationships/notesMaster" Target="/ppt/notesMasters/notesMaster1.xml" Id="R0058f44f692945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1b02bb856d4e11" /><Relationship Type="http://schemas.openxmlformats.org/officeDocument/2006/relationships/notesMaster" Target="/ppt/notesMasters/notesMaster1.xml" Id="R39546903f28a4db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c7aa93a59643ea" /><Relationship Type="http://schemas.openxmlformats.org/officeDocument/2006/relationships/notesMaster" Target="/ppt/notesMasters/notesMaster1.xml" Id="R58ffd4acb39546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80a1ee8f864b11" /><Relationship Type="http://schemas.openxmlformats.org/officeDocument/2006/relationships/notesMaster" Target="/ppt/notesMasters/notesMaster1.xml" Id="R1c831c9619de435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5493a1eb6434e39" /><Relationship Type="http://schemas.openxmlformats.org/officeDocument/2006/relationships/notesMaster" Target="/ppt/notesMasters/notesMaster1.xml" Id="Ree80a9008650420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ed84da882af4609" /><Relationship Type="http://schemas.openxmlformats.org/officeDocument/2006/relationships/notesMaster" Target="/ppt/notesMasters/notesMaster1.xml" Id="R2bae4ef2344c44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8c05d92dc5049d0" /><Relationship Type="http://schemas.openxmlformats.org/officeDocument/2006/relationships/notesMaster" Target="/ppt/notesMasters/notesMaster1.xml" Id="Rc5c4924efcea419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0c88fb964ce466d" /><Relationship Type="http://schemas.openxmlformats.org/officeDocument/2006/relationships/notesMaster" Target="/ppt/notesMasters/notesMaster1.xml" Id="Rf2e20b3132434b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0ef466f121842cc" /><Relationship Type="http://schemas.openxmlformats.org/officeDocument/2006/relationships/notesMaster" Target="/ppt/notesMasters/notesMaster1.xml" Id="Rbf58f0dbd672453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3251fb0d2d41cd" /><Relationship Type="http://schemas.openxmlformats.org/officeDocument/2006/relationships/notesMaster" Target="/ppt/notesMasters/notesMaster1.xml" Id="R9162079ef80e49a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a00cbb871754232" /><Relationship Type="http://schemas.openxmlformats.org/officeDocument/2006/relationships/notesMaster" Target="/ppt/notesMasters/notesMaster1.xml" Id="Rf45bc50b7d4d4f0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5b4fe16d1244f0f" /><Relationship Type="http://schemas.openxmlformats.org/officeDocument/2006/relationships/notesMaster" Target="/ppt/notesMasters/notesMaster1.xml" Id="R1130fad7dd24453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8c8aca7ff2c4ddb" /><Relationship Type="http://schemas.openxmlformats.org/officeDocument/2006/relationships/notesMaster" Target="/ppt/notesMasters/notesMaster1.xml" Id="R321133e1352844d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4499c03ed2c4335" /><Relationship Type="http://schemas.openxmlformats.org/officeDocument/2006/relationships/notesMaster" Target="/ppt/notesMasters/notesMaster1.xml" Id="R38748cfe25214d2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94726c0604e414b" /><Relationship Type="http://schemas.openxmlformats.org/officeDocument/2006/relationships/notesMaster" Target="/ppt/notesMasters/notesMaster1.xml" Id="Rad94ddf83f70469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f0cf9baedeb4c8c" /><Relationship Type="http://schemas.openxmlformats.org/officeDocument/2006/relationships/notesMaster" Target="/ppt/notesMasters/notesMaster1.xml" Id="R444d65ae49d6411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d85c714feb649da" /><Relationship Type="http://schemas.openxmlformats.org/officeDocument/2006/relationships/notesMaster" Target="/ppt/notesMasters/notesMaster1.xml" Id="R8dba00f3f2c8454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5b28f8acc84edc" /><Relationship Type="http://schemas.openxmlformats.org/officeDocument/2006/relationships/notesMaster" Target="/ppt/notesMasters/notesMaster1.xml" Id="R388152abf91b4c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0f9070531e64876" /><Relationship Type="http://schemas.openxmlformats.org/officeDocument/2006/relationships/notesMaster" Target="/ppt/notesMasters/notesMaster1.xml" Id="Rd496c9c357464e6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69f804f72c44e64" /><Relationship Type="http://schemas.openxmlformats.org/officeDocument/2006/relationships/notesMaster" Target="/ppt/notesMasters/notesMaster1.xml" Id="R0682adc30384420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dd988bfba0547e3" /><Relationship Type="http://schemas.openxmlformats.org/officeDocument/2006/relationships/notesMaster" Target="/ppt/notesMasters/notesMaster1.xml" Id="R878a31442dd349d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9d26051adb7493d" /><Relationship Type="http://schemas.openxmlformats.org/officeDocument/2006/relationships/notesMaster" Target="/ppt/notesMasters/notesMaster1.xml" Id="R4234187bc065437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037b994b1844d98" /><Relationship Type="http://schemas.openxmlformats.org/officeDocument/2006/relationships/notesMaster" Target="/ppt/notesMasters/notesMaster1.xml" Id="R04363711997e4e1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4dce545eda948fe" /><Relationship Type="http://schemas.openxmlformats.org/officeDocument/2006/relationships/notesMaster" Target="/ppt/notesMasters/notesMaster1.xml" Id="R4def4705979645d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850f72abcb64ba5" /><Relationship Type="http://schemas.openxmlformats.org/officeDocument/2006/relationships/notesMaster" Target="/ppt/notesMasters/notesMaster1.xml" Id="Rfa5c0d0f35514a3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d8ac8cd54d64090" /><Relationship Type="http://schemas.openxmlformats.org/officeDocument/2006/relationships/notesMaster" Target="/ppt/notesMasters/notesMaster1.xml" Id="R697839d953bb4cf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852ffc6df7e4ef0" /><Relationship Type="http://schemas.openxmlformats.org/officeDocument/2006/relationships/notesMaster" Target="/ppt/notesMasters/notesMaster1.xml" Id="R6708e8361c12451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443c841d8bc4ca4" /><Relationship Type="http://schemas.openxmlformats.org/officeDocument/2006/relationships/notesMaster" Target="/ppt/notesMasters/notesMaster1.xml" Id="R12964496ad52469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8abe2e636434afb" /><Relationship Type="http://schemas.openxmlformats.org/officeDocument/2006/relationships/notesMaster" Target="/ppt/notesMasters/notesMaster1.xml" Id="R8dafc73eb8424d4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30fb1774b0d4690" /><Relationship Type="http://schemas.openxmlformats.org/officeDocument/2006/relationships/notesMaster" Target="/ppt/notesMasters/notesMaster1.xml" Id="Re91c324f5f874d6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8eb57fc61094173" /><Relationship Type="http://schemas.openxmlformats.org/officeDocument/2006/relationships/notesMaster" Target="/ppt/notesMasters/notesMaster1.xml" Id="R15d4edc1231b4a6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68de658d9a443f4" /><Relationship Type="http://schemas.openxmlformats.org/officeDocument/2006/relationships/notesMaster" Target="/ppt/notesMasters/notesMaster1.xml" Id="Rec5b85fc0b254a5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f5fe3a4a1424637" /><Relationship Type="http://schemas.openxmlformats.org/officeDocument/2006/relationships/notesMaster" Target="/ppt/notesMasters/notesMaster1.xml" Id="R515937026d4e4f7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a4c40105bd64ba9" /><Relationship Type="http://schemas.openxmlformats.org/officeDocument/2006/relationships/notesMaster" Target="/ppt/notesMasters/notesMaster1.xml" Id="R871eb0537992417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95341c0dd984c90" /><Relationship Type="http://schemas.openxmlformats.org/officeDocument/2006/relationships/notesMaster" Target="/ppt/notesMasters/notesMaster1.xml" Id="Rc292b8097746496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17d39b495c34b13" /><Relationship Type="http://schemas.openxmlformats.org/officeDocument/2006/relationships/notesMaster" Target="/ppt/notesMasters/notesMaster1.xml" Id="Rbd7c213b2e64405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ac8fcca8d624aac" /><Relationship Type="http://schemas.openxmlformats.org/officeDocument/2006/relationships/notesMaster" Target="/ppt/notesMasters/notesMaster1.xml" Id="R8b1573d43cdc4de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5f2b80252c042fb" /><Relationship Type="http://schemas.openxmlformats.org/officeDocument/2006/relationships/notesMaster" Target="/ppt/notesMasters/notesMaster1.xml" Id="R5d37803ecf984b8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0b46a7265844b5b" /><Relationship Type="http://schemas.openxmlformats.org/officeDocument/2006/relationships/notesMaster" Target="/ppt/notesMasters/notesMaster1.xml" Id="R81aa12706a754d7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596cb19793e48e8" /><Relationship Type="http://schemas.openxmlformats.org/officeDocument/2006/relationships/notesMaster" Target="/ppt/notesMasters/notesMaster1.xml" Id="Rcf05ab62c31c494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8556f98abee4f31" /><Relationship Type="http://schemas.openxmlformats.org/officeDocument/2006/relationships/notesMaster" Target="/ppt/notesMasters/notesMaster1.xml" Id="Rd6b1ee4e2e204d7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5727b8c39874b15" /><Relationship Type="http://schemas.openxmlformats.org/officeDocument/2006/relationships/notesMaster" Target="/ppt/notesMasters/notesMaster1.xml" Id="Ra51fa15487b3475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9fca85f421949d6" /><Relationship Type="http://schemas.openxmlformats.org/officeDocument/2006/relationships/notesMaster" Target="/ppt/notesMasters/notesMaster1.xml" Id="R6e7627edbbd645a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83fae43a89441ed" /><Relationship Type="http://schemas.openxmlformats.org/officeDocument/2006/relationships/notesMaster" Target="/ppt/notesMasters/notesMaster1.xml" Id="R0250251e6031495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5f1ccab3f004897" /><Relationship Type="http://schemas.openxmlformats.org/officeDocument/2006/relationships/notesMaster" Target="/ppt/notesMasters/notesMaster1.xml" Id="R25ac789adf324bc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c2534eb6b984a34" /><Relationship Type="http://schemas.openxmlformats.org/officeDocument/2006/relationships/notesMaster" Target="/ppt/notesMasters/notesMaster1.xml" Id="Rd6e667b5d28b402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d3b33402d1c4caa" /><Relationship Type="http://schemas.openxmlformats.org/officeDocument/2006/relationships/notesMaster" Target="/ppt/notesMasters/notesMaster1.xml" Id="R7329a416b7ba46c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dc57462f0114eb5" /><Relationship Type="http://schemas.openxmlformats.org/officeDocument/2006/relationships/notesMaster" Target="/ppt/notesMasters/notesMaster1.xml" Id="Rfd8d591f7e4e40e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c8ab6e071434be1" /><Relationship Type="http://schemas.openxmlformats.org/officeDocument/2006/relationships/notesMaster" Target="/ppt/notesMasters/notesMaster1.xml" Id="R8b4b583fc96b4e8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b7f868ed04a445f" /><Relationship Type="http://schemas.openxmlformats.org/officeDocument/2006/relationships/notesMaster" Target="/ppt/notesMasters/notesMaster1.xml" Id="R67c3ec3b96854bda"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d35d321f57a496f" /><Relationship Type="http://schemas.openxmlformats.org/officeDocument/2006/relationships/notesMaster" Target="/ppt/notesMasters/notesMaster1.xml" Id="R96ef17c75c664719"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26c016766d04105" /><Relationship Type="http://schemas.openxmlformats.org/officeDocument/2006/relationships/notesMaster" Target="/ppt/notesMasters/notesMaster1.xml" Id="Ra688c0e559dc48c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d94f47c0e244b83" /><Relationship Type="http://schemas.openxmlformats.org/officeDocument/2006/relationships/notesMaster" Target="/ppt/notesMasters/notesMaster1.xml" Id="R191d438389ab41ec"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4dc8dfa178b49d0" /><Relationship Type="http://schemas.openxmlformats.org/officeDocument/2006/relationships/notesMaster" Target="/ppt/notesMasters/notesMaster1.xml" Id="R6b2cb0f0499f403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70eb8eab67e4840" /><Relationship Type="http://schemas.openxmlformats.org/officeDocument/2006/relationships/notesMaster" Target="/ppt/notesMasters/notesMaster1.xml" Id="R2b00a16a6f21406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aec2cceebe24642" /><Relationship Type="http://schemas.openxmlformats.org/officeDocument/2006/relationships/notesMaster" Target="/ppt/notesMasters/notesMaster1.xml" Id="Rd0b8bb72cb99450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a9aa99cb105d422f" /><Relationship Type="http://schemas.openxmlformats.org/officeDocument/2006/relationships/notesMaster" Target="/ppt/notesMasters/notesMaster1.xml" Id="R6fa3f9a382e6458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334d2a7c14e04769" /><Relationship Type="http://schemas.openxmlformats.org/officeDocument/2006/relationships/notesMaster" Target="/ppt/notesMasters/notesMaster1.xml" Id="R7c0ff486dbfe4bd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02d039824044a39" /><Relationship Type="http://schemas.openxmlformats.org/officeDocument/2006/relationships/notesMaster" Target="/ppt/notesMasters/notesMaster1.xml" Id="Rf9684243049e40b6"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79ce76ef4d94b9c" /><Relationship Type="http://schemas.openxmlformats.org/officeDocument/2006/relationships/notesMaster" Target="/ppt/notesMasters/notesMaster1.xml" Id="Rf58357b386cd411a"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6607381841c41bd" /><Relationship Type="http://schemas.openxmlformats.org/officeDocument/2006/relationships/notesMaster" Target="/ppt/notesMasters/notesMaster1.xml" Id="Race396a99f3b43f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642d1810385f4246" /><Relationship Type="http://schemas.openxmlformats.org/officeDocument/2006/relationships/notesMaster" Target="/ppt/notesMasters/notesMaster1.xml" Id="R1cc834b50eba4b0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a83ab0f73ad4303" /><Relationship Type="http://schemas.openxmlformats.org/officeDocument/2006/relationships/notesMaster" Target="/ppt/notesMasters/notesMaster1.xml" Id="R9e279d488774441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dca9f3b64844844" /><Relationship Type="http://schemas.openxmlformats.org/officeDocument/2006/relationships/notesMaster" Target="/ppt/notesMasters/notesMaster1.xml" Id="Rec9aea02314b4234"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4c928302b96b4262" /><Relationship Type="http://schemas.openxmlformats.org/officeDocument/2006/relationships/notesMaster" Target="/ppt/notesMasters/notesMaster1.xml" Id="R52ba56be895f49d5"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af971fd7198a4828" /><Relationship Type="http://schemas.openxmlformats.org/officeDocument/2006/relationships/notesMaster" Target="/ppt/notesMasters/notesMaster1.xml" Id="Rff7ee630718a4997"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c2234836c2c47b1" /><Relationship Type="http://schemas.openxmlformats.org/officeDocument/2006/relationships/notesMaster" Target="/ppt/notesMasters/notesMaster1.xml" Id="Ra20f1b6da4624cd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31c601c1fc5545fd" /><Relationship Type="http://schemas.openxmlformats.org/officeDocument/2006/relationships/notesMaster" Target="/ppt/notesMasters/notesMaster1.xml" Id="R956fe1bab2c349f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fd126673b2a4db3" /><Relationship Type="http://schemas.openxmlformats.org/officeDocument/2006/relationships/notesMaster" Target="/ppt/notesMasters/notesMaster1.xml" Id="Rd3083572a26340e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8e7c79f3e7347a9" /><Relationship Type="http://schemas.openxmlformats.org/officeDocument/2006/relationships/notesMaster" Target="/ppt/notesMasters/notesMaster1.xml" Id="Rc5802aee55e9449e"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d2e466defcf424d" /><Relationship Type="http://schemas.openxmlformats.org/officeDocument/2006/relationships/notesMaster" Target="/ppt/notesMasters/notesMaster1.xml" Id="R415838b3dd594df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c6e66e4131d4b59" /><Relationship Type="http://schemas.openxmlformats.org/officeDocument/2006/relationships/notesMaster" Target="/ppt/notesMasters/notesMaster1.xml" Id="R13baa844015e49f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04f55402cab04c0f" /><Relationship Type="http://schemas.openxmlformats.org/officeDocument/2006/relationships/notesMaster" Target="/ppt/notesMasters/notesMaster1.xml" Id="Racb8c6c47d104b25"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355ddee761c64a17" /><Relationship Type="http://schemas.openxmlformats.org/officeDocument/2006/relationships/notesMaster" Target="/ppt/notesMasters/notesMaster1.xml" Id="R15d12c3d4e604dc2"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642708a20191453d" /><Relationship Type="http://schemas.openxmlformats.org/officeDocument/2006/relationships/notesMaster" Target="/ppt/notesMasters/notesMaster1.xml" Id="Rcd0fb4ec55b5481b"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6edf3eeb273b4946" /><Relationship Type="http://schemas.openxmlformats.org/officeDocument/2006/relationships/notesMaster" Target="/ppt/notesMasters/notesMaster1.xml" Id="R8690cf9e8bc14ff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bc34fa8a61904d07" /><Relationship Type="http://schemas.openxmlformats.org/officeDocument/2006/relationships/notesMaster" Target="/ppt/notesMasters/notesMaster1.xml" Id="Re91140c5bf63423a"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4be67d7468af4eee" /><Relationship Type="http://schemas.openxmlformats.org/officeDocument/2006/relationships/notesMaster" Target="/ppt/notesMasters/notesMaster1.xml" Id="R4c5e6fac28f74147"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1305380804964114" /><Relationship Type="http://schemas.openxmlformats.org/officeDocument/2006/relationships/notesMaster" Target="/ppt/notesMasters/notesMaster1.xml" Id="Rc33a6bb4745d4ea4"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53df3c75add249a6" /><Relationship Type="http://schemas.openxmlformats.org/officeDocument/2006/relationships/notesMaster" Target="/ppt/notesMasters/notesMaster1.xml" Id="Rd08c746a80d44239"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99624355ef164266" /><Relationship Type="http://schemas.openxmlformats.org/officeDocument/2006/relationships/notesMaster" Target="/ppt/notesMasters/notesMaster1.xml" Id="R42d6c615af9d47ee"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20a11a209e1247d1" /><Relationship Type="http://schemas.openxmlformats.org/officeDocument/2006/relationships/notesMaster" Target="/ppt/notesMasters/notesMaster1.xml" Id="Ra625f44505bd4340"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aa84cd5325134568" /><Relationship Type="http://schemas.openxmlformats.org/officeDocument/2006/relationships/notesMaster" Target="/ppt/notesMasters/notesMaster1.xml" Id="Rd22535002fca47fb"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da39f34611ae4905" /><Relationship Type="http://schemas.openxmlformats.org/officeDocument/2006/relationships/notesMaster" Target="/ppt/notesMasters/notesMaster1.xml" Id="R822888ea0986495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ab79a82ef9cc49dc" /><Relationship Type="http://schemas.openxmlformats.org/officeDocument/2006/relationships/notesMaster" Target="/ppt/notesMasters/notesMaster1.xml" Id="Rd5e8268f3dc641d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db559eaae0504e86" /><Relationship Type="http://schemas.openxmlformats.org/officeDocument/2006/relationships/notesMaster" Target="/ppt/notesMasters/notesMaster1.xml" Id="Rbbc02871dcc840cb"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0d8217ff89214bee" /><Relationship Type="http://schemas.openxmlformats.org/officeDocument/2006/relationships/notesMaster" Target="/ppt/notesMasters/notesMaster1.xml" Id="Rf61ae76d8ee54330"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b8c7e28f68c14719" /><Relationship Type="http://schemas.openxmlformats.org/officeDocument/2006/relationships/notesMaster" Target="/ppt/notesMasters/notesMaster1.xml" Id="Rb21699d125f94e37"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ea46b8d9c0f14471" /><Relationship Type="http://schemas.openxmlformats.org/officeDocument/2006/relationships/notesMaster" Target="/ppt/notesMasters/notesMaster1.xml" Id="R5c516ab0c3614807"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c7dfc0bc50aa40af" /><Relationship Type="http://schemas.openxmlformats.org/officeDocument/2006/relationships/notesMaster" Target="/ppt/notesMasters/notesMaster1.xml" Id="Rfd3f89711fc74ecb"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59bd71de64e34a66" /><Relationship Type="http://schemas.openxmlformats.org/officeDocument/2006/relationships/notesMaster" Target="/ppt/notesMasters/notesMaster1.xml" Id="Re5e07e3a65704252"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2515cd914b1f4e83" /><Relationship Type="http://schemas.openxmlformats.org/officeDocument/2006/relationships/notesMaster" Target="/ppt/notesMasters/notesMaster1.xml" Id="Rb58963145df04ec4"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80b34591e96c43f4" /><Relationship Type="http://schemas.openxmlformats.org/officeDocument/2006/relationships/notesMaster" Target="/ppt/notesMasters/notesMaster1.xml" Id="Re5b8537afdf64658"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4ccacc0be8ec4de5" /><Relationship Type="http://schemas.openxmlformats.org/officeDocument/2006/relationships/notesMaster" Target="/ppt/notesMasters/notesMaster1.xml" Id="R52d421987162461e"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fd2e07928b574978" /><Relationship Type="http://schemas.openxmlformats.org/officeDocument/2006/relationships/notesMaster" Target="/ppt/notesMasters/notesMaster1.xml" Id="R5d6d53849c224748"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a2b08d7b3bef40a4" /><Relationship Type="http://schemas.openxmlformats.org/officeDocument/2006/relationships/notesMaster" Target="/ppt/notesMasters/notesMaster1.xml" Id="Re136333788204155"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16a79a06266a476b" /><Relationship Type="http://schemas.openxmlformats.org/officeDocument/2006/relationships/notesMaster" Target="/ppt/notesMasters/notesMaster1.xml" Id="R89c5d3e4e8a34f8d"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ed1c89ec8a544278" /><Relationship Type="http://schemas.openxmlformats.org/officeDocument/2006/relationships/notesMaster" Target="/ppt/notesMasters/notesMaster1.xml" Id="R9dd9041cd7514508"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f307fa7ab5764cb5" /><Relationship Type="http://schemas.openxmlformats.org/officeDocument/2006/relationships/notesMaster" Target="/ppt/notesMasters/notesMaster1.xml" Id="R7f4539f409b043f3"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2ef7649601d84269" /><Relationship Type="http://schemas.openxmlformats.org/officeDocument/2006/relationships/notesMaster" Target="/ppt/notesMasters/notesMaster1.xml" Id="R21413d493bdf47ec"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960c4dac81cb4b65" /><Relationship Type="http://schemas.openxmlformats.org/officeDocument/2006/relationships/notesMaster" Target="/ppt/notesMasters/notesMaster1.xml" Id="R29e327b5cedb4104"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b2de413a25424c83" /><Relationship Type="http://schemas.openxmlformats.org/officeDocument/2006/relationships/notesMaster" Target="/ppt/notesMasters/notesMaster1.xml" Id="R7bc4cef9ba2a45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talk walks through GPU_NCA_proofer, a repository that audits a recent claim: that training a transformer on synthetic neural cellular automata first, before text, helps it learn language faster. The repository combines a LaTeX mathematical note, partial Lean 4 formalization, and GPU experiments. Everything here follows the repository's own results ledger, updated 17 October 2026.</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README.md</a:t>
            </a:r>
            <a:endParaRPr/>
          </a:p>
          <a:p xmlns:a="http://schemas.openxmlformats.org/drawingml/2006/main">
            <a:r>
              <a:t/>
            </a:r>
            <a:endParaRPr/>
          </a:p>
          <a:p xmlns:a="http://schemas.openxmlformats.org/drawingml/2006/main">
            <a:r>
              <a:t>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RESULTS.md</a:t>
            </a:r>
          </a:p>
          <a:p xmlns:a="http://schemas.openxmlformats.org/drawingml/2006/main">
            <a:r>
              <a:t>Source: docs/theory/main.tex</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from Lee et al., 2026: simulate a neural cellular automaton, flatten its states into tokens, pre-pre-train a transformer on them, then swap the token embeddings for a language tokenizer and continue on text. The repository treats the NCA as a frozen random-rule data generator, not a component of the language model. Its five audit questions are on the right.</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RESEARCH_CONTEXT.md</a:t>
            </a:r>
            <a:endParaRPr/>
          </a:p>
          <a:p xmlns:a="http://schemas.openxmlformats.org/drawingml/2006/main">
            <a:r>
              <a:t/>
            </a:r>
            <a:endParaRPr/>
          </a:p>
          <a:p xmlns:a="http://schemas.openxmlformats.org/drawingml/2006/main">
            <a:r>
              <a:t>METHODOLOGY_AUDIT.md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RESULTS.md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https://distill.pub/2020/growing-ca/</a:t>
            </a:r>
          </a:p>
          <a:p xmlns:a="http://schemas.openxmlformats.org/drawingml/2006/main">
            <a:r>
              <a:t/>
            </a:r>
          </a:p>
          <a:p xmlns:a="http://schemas.openxmlformats.org/drawingml/2006/main">
            <a:r>
              <a:t>https://arxiv.org/abs/1704.01212</a:t>
            </a:r>
          </a:p>
          <a:p xmlns:a="http://schemas.openxmlformats.org/drawingml/2006/main">
            <a:r>
              <a:t/>
            </a:r>
          </a:p>
          <a:p xmlns:a="http://schemas.openxmlformats.org/drawingml/2006/main">
            <a:r>
              <a:t>https://arxiv.org/abs/1706.03762</a:t>
            </a:r>
          </a:p>
          <a:p xmlns:a="http://schemas.openxmlformats.org/drawingml/2006/main">
            <a:r>
              <a:t/>
            </a:r>
          </a:p>
          <a:p xmlns:a="http://schemas.openxmlformats.org/drawingml/2006/main">
            <a:r>
              <a:t>https://arxiv.org/abs/2302.13971</a:t>
            </a:r>
          </a:p>
          <a:p xmlns:a="http://schemas.openxmlformats.org/drawingml/2006/main">
            <a:r>
              <a:t/>
            </a:r>
          </a:p>
          <a:p xmlns:a="http://schemas.openxmlformats.org/drawingml/2006/main">
            <a:r>
              <a:t>https://arxiv.org/html/2603.10055v1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https://arxiv.org/html/2603.10055v1</a:t>
            </a:r>
          </a:p>
          <a:p xmlns:a="http://schemas.openxmlformats.org/drawingml/2006/main">
            <a:r>
              <a:t/>
            </a:r>
          </a:p>
          <a:p xmlns:a="http://schemas.openxmlformats.org/drawingml/2006/main">
            <a:r>
              <a:t>sources/nca-pre-pretraining-reference/reference.json</a:t>
            </a:r>
          </a:p>
          <a:p xmlns:a="http://schemas.openxmlformats.org/drawingml/2006/main">
            <a:r>
              <a:t/>
            </a:r>
          </a:p>
          <a:p xmlns:a="http://schemas.openxmlformats.org/drawingml/2006/main">
            <a:r>
              <a:t>configs/transfer_v2.json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RESEARCH_CONTEXT.md</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headline numbers. First, the matched language-stage run shows grid NCA reaching the scratch endpoint 1.178 times faster in language tokens. Second, shuffled NCA, which destroys the spatial dynamics, gets the same speedup, so the contribution of the dynamics is unresolved. Third, once the synthetic stage is counted, grid needs about 12.8 percent more recorded time. All of this is a development experiment: three seeds, one shared synthetic cache, one small corpus.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1 and 2 separate the frozen NCA rule, the communication graph and the transformer predictor. The transformer never backpropagates into the generator. A periodic 2D grid NCA with 3 by 3 convolutions is an 8-regular typed directed graph, and degree-preserving rewiring is a real change of diffusion spectrum. In Lean, the repository checks relabeling equivariance and that endpoint swaps preserve a typed permutation; the grid-to-convolution equivalence at kernel level and the spectral argument stay informal.</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docs/theory/sections/01_problem.tex</a:t>
            </a:r>
            <a:endParaRPr/>
          </a:p>
          <a:p xmlns:a="http://schemas.openxmlformats.org/drawingml/2006/main">
            <a:r>
              <a:t/>
            </a:r>
            <a:endParaRPr/>
          </a:p>
          <a:p xmlns:a="http://schemas.openxmlformats.org/drawingml/2006/main">
            <a:r>
              <a:t>docs/theory/sections/02_dynamics.tex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data/cpu_check/grid_edges.npy</a:t>
            </a:r>
          </a:p>
          <a:p xmlns:a="http://schemas.openxmlformats.org/drawingml/2006/main">
            <a:r>
              <a:t/>
            </a:r>
          </a:p>
          <a:p xmlns:a="http://schemas.openxmlformats.org/drawingml/2006/main">
            <a:r>
              <a:t>data/cpu_check/graph_edges.npy</a:t>
            </a:r>
          </a:p>
          <a:p xmlns:a="http://schemas.openxmlformats.org/drawingml/2006/main">
            <a:r>
              <a:t/>
            </a:r>
          </a:p>
          <a:p xmlns:a="http://schemas.openxmlformats.org/drawingml/2006/main">
            <a:r>
              <a:t>experiment.py</a:t>
            </a:r>
          </a:p>
          <a:p xmlns:a="http://schemas.openxmlformats.org/drawingml/2006/main">
            <a:r>
              <a:t/>
            </a:r>
          </a:p>
          <a:p xmlns:a="http://schemas.openxmlformats.org/drawingml/2006/main">
            <a:r>
              <a:t>Data SHA-256 58b04e63afa61a16b55d8de01787b52cf703d7217bf80edf966a90c0460ed33b. Only the eight incoming edges of receiver 27 are drawn for clarity. Node positions are fixed labels, not graph geometry.</a:t>
            </a:r>
          </a:p>
          <a:p xmlns:a="http://schemas.openxmlformats.org/drawingml/2006/main">
            <a:r>
              <a:t/>
            </a:r>
          </a:p>
          <a:p xmlns:a="http://schemas.openxmlformats.org/drawingml/2006/main">
            <a:r>
              <a:t>Sources and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One-hot donor states form an ordered 9q-vector. Frozen perception and hidden/output weights apply the same local rule at every cell.</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transfer_v2/nca.py:36-40;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 Proposition grid equivalence</a:t>
            </a:r>
          </a:p>
          <a:p xmlns:a="http://schemas.openxmlformats.org/drawingml/2006/main">
            <a:r>
              <a:t/>
            </a:r>
          </a:p>
          <a:p xmlns:a="http://schemas.openxmlformats.org/drawingml/2006/main">
            <a:r>
              <a:t>transfer_v2/nca.py:convolution_logits</a:t>
            </a:r>
          </a:p>
          <a:p xmlns:a="http://schemas.openxmlformats.org/drawingml/2006/main">
            <a:r>
              <a:t/>
            </a:r>
          </a:p>
          <a:p xmlns:a="http://schemas.openxmlformats.org/drawingml/2006/main">
            <a:r>
              <a:t>tests/test_transfer_v2.py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proofs/lean/GraphNCA/Graph.lean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the rollout is deterministic given the initial state and the rule, the trajectory entropy is bounded. For the binary pilot grid, a known rule leaves only 64 bits of uncertainty. With an unknown rule, there are at most q to the power q^(d+1) local update functions, so rule entropy is at most 512 bits and the total is at most 576 bits. Shuffling preserves each trajectory's token histogram and marker positions but destroys patch ordering. The repository stresses that the retained frequency and format structure could itself help initialization. These entropy arguments are mathematical notes, not formalized in Lean.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docs/theory/sections/03_information.tex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a:p xmlns:a="http://schemas.openxmlformats.org/drawingml/2006/main">
            <a:r>
              <a:t/>
            </a:r>
          </a:p>
          <a:p xmlns:a="http://schemas.openxmlformats.org/drawingml/2006/main">
            <a:r>
              <a:t>transfer_v2/nca.py:shuffled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2 by 2 binary patch becomes one token: base 2 digits give 16 possible patches, offset by 256. One frame is 16 patch tokens plus 2 markers, 18 tokens, and 16 frames give 288 tokens. Predicting a cell at the next step requires attending to its neighbours in the previous frame; the full-window parent-lag bound is 33, and the mean lag is exactly 18 for every typed-permutation topology, so rewiring cannot change it. That invariance is proved in Lean. The lag variance of 19.125, which is 153/8, is a LaTeX computation. The repository does not measure whether these lags harm learning.</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docs/theory/sections/04_serialization.tex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 rule row 0, frame 0</a:t>
            </a:r>
          </a:p>
          <a:p xmlns:a="http://schemas.openxmlformats.org/drawingml/2006/main">
            <a:r>
              <a:t/>
            </a:r>
          </a:p>
          <a:p xmlns:a="http://schemas.openxmlformats.org/drawingml/2006/main">
            <a:r>
              <a:t>transfer_v2/nca.py:encode_frames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positions receive powers 1, q, q² and q³. Frame markers follow the patch vocabulary and are distinct from all patch IDs.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transfer_v2/nca.py:76-81;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docs/theory/sections/04_serialization.tex</a:t>
            </a:r>
          </a:p>
          <a:p xmlns:a="http://schemas.openxmlformats.org/drawingml/2006/main">
            <a:r>
              <a:t/>
            </a:r>
          </a:p>
          <a:p xmlns:a="http://schemas.openxmlformats.org/drawingml/2006/main">
            <a:r>
              <a:t>proofs/lean/GraphNCA/Serialization.lean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docs/theory/sections/04_serialization.tex</a:t>
            </a:r>
          </a:p>
          <a:p xmlns:a="http://schemas.openxmlformats.org/drawingml/2006/main">
            <a:r>
              <a:t/>
            </a:r>
          </a:p>
          <a:p xmlns:a="http://schemas.openxmlformats.org/drawingml/2006/main">
            <a:r>
              <a:t>proofs/lean/GraphNCA/Graph.lean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frame supplies context and contributes no targets. Synthetic evaluation separately reports patch-only loss so predictable markers cannot establish the gate.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transfer_v2/nca.py:157-164;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Transfer keeps the backbone and resets the embeddings and head, a projection that zeroes the head displacement. A sufficient condition for the backbone displacement to help is that its gradient alignment beats the second-order remainder. The Taylor bound itself is a hypothesis, not derived. The worked example is a toy two-dimensional quadratic with Hessian diag(1,10) and learning rate 0.05: contraction 0.95 and 0.5, scratch reaches the target at step 39 and transferred at step 25, a 1.56 times language speedup. With a synthetic cost of K updates the total speedup is 39 over K plus 25, so break-even needs K below 14. The pilot's 100 synthetic updates equal 409,600 tokens. These are analytic toy losses, not measured hitting times.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docs/theory/sections/05_transfer.tex</a:t>
            </a:r>
            <a:endParaRPr/>
          </a:p>
          <a:p xmlns:a="http://schemas.openxmlformats.org/drawingml/2006/main">
            <a:r>
              <a:t/>
            </a:r>
            <a:endParaRPr/>
          </a:p>
          <a:p xmlns:a="http://schemas.openxmlformats.org/drawingml/2006/main">
            <a:r>
              <a:t>docs/theory/sections/06_numerical.tex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saved synthetic backbone loads into a newly initialized language model. The tied language table is common across arms. Optimizer moments and the scheduler start fresh.</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transfer_v2/model.py:92-97; SHA-256 4394c7c226ec72113925da5fb9c50949361d652c5d47f54926e399a5b8f8c6b7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eq:displacement and prop:alignment</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proofs/lean/GraphNCA/LinearSurrogate.lean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exact topology surrogate</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proofs/lean/GraphNCA/Quadratic.lean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proofs/lean/GraphNCA/Numerics.lean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proofs/lean/GraphNCA/Numerics.lean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transfer_v2/model.py</a:t>
            </a:r>
          </a:p>
          <a:p xmlns:a="http://schemas.openxmlformats.org/drawingml/2006/main">
            <a:r>
              <a:t/>
            </a:r>
          </a:p>
          <a:p xmlns:a="http://schemas.openxmlformats.org/drawingml/2006/main">
            <a:r>
              <a:t>configs/transfer_v2.json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Lean folder contains 44 named statements, including supporting lemmas and exact arithmetic, checked in Lean 4.35.0 with Mathlib in the official web editor using BrowserBundle.lean. The sources avoid sorry, admit, project-defined axioms and native_decide, and only propext, Classical.choice and Quot.sound appear. The repository states plainly that formalization is partial: entropy, the spectral argument and the calculus behind Taylor estimates are informal, a local lake build is not claimed, and nothing in Lean proves real language-model acceleration. The screenshot shows axiom reports in the web editor.</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proofs/lean/PROOF_MAP.md</a:t>
            </a:r>
            <a:endParaRPr/>
          </a:p>
          <a:p xmlns:a="http://schemas.openxmlformats.org/drawingml/2006/main">
            <a:r>
              <a:t/>
            </a:r>
            <a:endParaRPr/>
          </a:p>
          <a:p xmlns:a="http://schemas.openxmlformats.org/drawingml/2006/main">
            <a:r>
              <a:t>proofs/lean/verification/status.json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Lean reduces consistent state and neighbor relabeling to the same shared local computation. This theorem proves the statement under its declared definitions and types.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proofs/lean/GraphNCA/Graph.lean:19-24; SHA-256 72cf666ca49daa9f75f780b596c4b1bc8418d0540443025d945f81d52bef6d67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combines a checked boundary inequality with monotonicity and a natural-number bound. These are rational toy-loss statements, separate from GPU validation curves.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proofs/lean/GraphNCA/Numerics.lean:60-66; SHA-256 bcca26b251d6a5c31c0abd4ce12870572cd46351bae064a8d5a3283872b94b02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proofs/lean/verification/README.md</a:t>
            </a:r>
          </a:p>
          <a:p xmlns:a="http://schemas.openxmlformats.org/drawingml/2006/main">
            <a:r>
              <a:t/>
            </a:r>
          </a:p>
          <a:p xmlns:a="http://schemas.openxmlformats.org/drawingml/2006/main">
            <a:r>
              <a:t>proofs/lean/verification/attempt-1-diagnostics.txt</a:t>
            </a:r>
          </a:p>
          <a:p xmlns:a="http://schemas.openxmlformats.org/drawingml/2006/main">
            <a:r>
              <a:t/>
            </a:r>
          </a:p>
          <a:p xmlns:a="http://schemas.openxmlformats.org/drawingml/2006/main">
            <a:r>
              <a:t>proofs/lean/verification/final-diagnostics.txt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GPU pilot used a fixed total budget of 1,000 updates, 4,096,000 tokens per arm. Scratch saw 1,000 text updates; the NCA arms saw 100 synthetic plus 900 text. So language exposure was unequal and the scheduler positions differed, and the repository says this does not cleanly isolate transfer. The numbers are valid as a negative pilot. Graph NCA took 1.432 times as long to reach the target of 2.5 validation nats per byte, with 5.47 percent higher geometric-mean byte perplexity, and all three seeds favored text-only. Fifteen runs, 61.44 million tokens in total.</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docs/results/pilot1/REVIEW.md</a:t>
            </a:r>
            <a:endParaRPr/>
          </a:p>
          <a:p xmlns:a="http://schemas.openxmlformats.org/drawingml/2006/main">
            <a:r>
              <a:t/>
            </a:r>
            <a:endParaRPr/>
          </a:p>
          <a:p xmlns:a="http://schemas.openxmlformats.org/drawingml/2006/main">
            <a:r>
              <a:t>METHODOLOGY_AUDIT.md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Aligned by language tokens, the three NCA arms track each other and trail the text arms. Graph and grid crossed the target at the same recorded update in every seed. Graph versus shuffled graph differ by only 0.000215 nats per byte in mean test loss. And although graph saved some target-text tokens, total-token speedups were only 0.667, 0.667 and 0.800 once the synthetic exposure is counted. These results apply to this small pilot and do not disprove NCA transfer at other scales or with other rules.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docs/results/pilot1/language_aligned_curves.png</a:t>
            </a:r>
            <a:endParaRPr/>
          </a:p>
          <a:p xmlns:a="http://schemas.openxmlformats.org/drawingml/2006/main">
            <a:r>
              <a:t/>
            </a:r>
            <a:endParaRPr/>
          </a:p>
          <a:p xmlns:a="http://schemas.openxmlformats.org/drawingml/2006/main">
            <a:r>
              <a:t>docs/results/pilot1/prepretraining_diagnosis.json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docs/PILOT_PROTOCOL.md</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fixes the Pilot 1 exposure problem. Every arm gets an identical 2,000-update language stage, 8,192,000 tokens, with fresh text embeddings and head, the same data order, schedule and optimizer. Grid and shuffled arms first receive 1,000 synthetic updates, 4,096,000 tokens; scratch receives none. Rules are screened for complexity: 4,096 training rules retained from 8,832 candidates, 128 held-out. It ran on a Kaggle Tesla T4 with three paired seeds. Graph rewiring was not part of V2, and the official test split was not touched.</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configs/transfer_v2.json</a:t>
            </a:r>
            <a:endParaRPr/>
          </a:p>
          <a:p xmlns:a="http://schemas.openxmlformats.org/drawingml/2006/main">
            <a:r>
              <a:t/>
            </a:r>
            <a:endParaRPr/>
          </a:p>
          <a:p xmlns:a="http://schemas.openxmlformats.org/drawingml/2006/main">
            <a:r>
              <a:t>docs/results/transfer_v2_run1/REVIEW.md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transfer_v2/nca.py:generate_split</a:t>
            </a:r>
          </a:p>
          <a:p xmlns:a="http://schemas.openxmlformats.org/drawingml/2006/main">
            <a:r>
              <a:t/>
            </a:r>
          </a:p>
          <a:p xmlns:a="http://schemas.openxmlformats.org/drawingml/2006/main">
            <a:r>
              <a:t>transfer_v2/data.py</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Kaggle Outputs/nca_transfer_v2_run1_review/artifacts/data/development/manifest.json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 row 0</a:t>
            </a:r>
          </a:p>
          <a:p xmlns:a="http://schemas.openxmlformats.org/drawingml/2006/main">
            <a:r>
              <a:t/>
            </a:r>
          </a:p>
          <a:p xmlns:a="http://schemas.openxmlformats.org/drawingml/2006/main">
            <a:r>
              <a:t>transfer_v2/nca.py:encode_frames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a:t>
            </a:r>
          </a:p>
          <a:p xmlns:a="http://schemas.openxmlformats.org/drawingml/2006/main">
            <a:r>
              <a:t/>
            </a:r>
          </a:p>
          <a:p xmlns:a="http://schemas.openxmlformats.org/drawingml/2006/main">
            <a:r>
              <a:t>Kaggle Outputs/nca_transfer_v2_run1_review/artifacts/data/development/shuffled_validation.npy</a:t>
            </a:r>
          </a:p>
          <a:p xmlns:a="http://schemas.openxmlformats.org/drawingml/2006/main">
            <a:r>
              <a:t/>
            </a:r>
          </a:p>
          <a:p xmlns:a="http://schemas.openxmlformats.org/drawingml/2006/main">
            <a:r>
              <a:t>transfer_v2/nca.py:shuffled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a:t>
            </a:r>
          </a:p>
          <a:p xmlns:a="http://schemas.openxmlformats.org/drawingml/2006/main">
            <a:r>
              <a:t/>
            </a:r>
          </a:p>
          <a:p xmlns:a="http://schemas.openxmlformats.org/drawingml/2006/main">
            <a:r>
              <a:t>Kaggle Outputs/nca_transfer_v2_run1_review/artifacts/data/development/shuffled_validation.npy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model uses RoPE, RMSNorm, causal attention and a SwiGLU feed-forward block. V2 and v3 use the same language architecture.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transfer_v2/model.py:42-48; SHA-256 4394c7c226ec72113925da5fb9c50949361d652c5d47f54926e399a5b8f8c6b7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updates use Adam. Language updates create a fresh AdamW optimizer. Equal language schedules and batch draws isolate initialization under the declared controls.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transfer_v2/training.py:76-79; SHA-256 fa34eb401bacf01490191bbcfa4729db95e4db2fed95f0de68a15337a36abfe5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microbatches of size two and context 1024 produce 4096 input tokens per update. Masked synthetic prediction targets differ from this input-token count.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transfer_v2/training.py:86-98; SHA-256 fa34eb401bacf01490191bbcfa4729db95e4db2fed95f0de68a15337a36abfe5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invokes the original matched-total-budget experiment. Its notebook and returned evidence remain available for comparison.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kaggle_gnn_nca_pilot.ipynb, cell 25; notebook SHA-256 e47cc0c3e505354f64c4d21aaf2c3d3d114ea3ea52d8d064dab6e491da9f458d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self-contained notebook embeds 20 source/configuration/test files. This complete cell launches the real development run after the disposable fixture.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kaggle_nca_transfer_v2.ipynb, cell 29; notebook SHA-256 80c23b8cdceeb9dd607e92779e095357bb2c088daeb3c196dba1402de773199b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packages data identities, checkpoints, metrics, source and verification for independent review. The source notebook has no stored execution outputs.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kaggle_nca_transfer_v2.ipynb, cell 33; notebook SHA-256 80c23b8cdceeb9dd607e92779e095357bb2c088daeb3c196dba1402de773199b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configs/transfer_v2.json</a:t>
            </a:r>
          </a:p>
          <a:p xmlns:a="http://schemas.openxmlformats.org/drawingml/2006/main">
            <a:r>
              <a:t/>
            </a:r>
          </a:p>
          <a:p xmlns:a="http://schemas.openxmlformats.org/drawingml/2006/main">
            <a:r>
              <a:t>docs/TRANSFER_V2_PROTOCOL.md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grid seeds passed the declared held-out-rule gate. Patch NLL improved by 10.24 to 10.35 percent from initialization and ended between 8.2866 and 8.2976, versus 8.8264 for the fitted copy-mixture control. All three shuffled seeds also passed, ending at 8.2818 to 8.2873 on their own validation orderings. The gate shows prediction beyond simple controls; it does not show the model learned local update physics, and native losses use different orderings, so they are not a direct dynamics comparison.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docs/results/transfer_v2_run1/gpu/ppt_diagnostics.png</a:t>
            </a:r>
            <a:endParaRPr/>
          </a:p>
          <a:p xmlns:a="http://schemas.openxmlformats.org/drawingml/2006/main">
            <a:r>
              <a:t/>
            </a:r>
            <a:endParaRPr/>
          </a:p>
          <a:p xmlns:a="http://schemas.openxmlformats.org/drawingml/2006/main">
            <a:r>
              <a:t>docs/results/transfer_v2_run1/gpu/grid_nca_17/ppt_summary.json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transfer_v2/training.py:quality_gate</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is each seed's own scratch final validation NLL. Grid first reached it at 1800, 1600 and 1700 language updates, shuffled at 1700, 1600 and 1800; checked every 100 updates without interpolation. The geometric language-token speedup is 1.178 times for both, and the language-time speedup for grid is 1.180 times, about 15.2 percent less language time. At the common final budget, grid improves NLL by 0.03277 nats per token, about 3.2 percent lower perplexity. This measures convergence, not faster transformer updates.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a:p xmlns:a="http://schemas.openxmlformats.org/drawingml/2006/main">
            <a:r>
              <a:t/>
            </a:r>
            <a:endParaRPr/>
          </a:p>
          <a:p xmlns:a="http://schemas.openxmlformats.org/drawingml/2006/main">
            <a:r>
              <a:t>docs/results/transfer_v2_run1/paired_language_gain.png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Shuffling keeps every trajectory's token histogram and marker positions but destroys the original patch ordering, and with it the 2D adjacency. Shuffled NCA ends at 5.2315 versus 5.2333 for grid, slightly better. Grid minus shuffled final NLL is plus 0.0156, plus 0.0006 and minus 0.0108 across the seeds. So there is no consistent grid advantage. That means the modest gain is not shown to come from cellular-automata dynamics, but the repository does not conclude that it comes from token frequency alone either: frequency and format structure survive the shuffle, and which retained property explains the transfer is open.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docs/results/transfer_v2_run1/gpu/learning_curves.png</a:t>
            </a:r>
            <a:endParaRPr/>
          </a:p>
          <a:p xmlns:a="http://schemas.openxmlformats.org/drawingml/2006/main">
            <a:r>
              <a:t/>
            </a:r>
            <a:endParaRPr/>
          </a:p>
          <a:p xmlns:a="http://schemas.openxmlformats.org/drawingml/2006/main">
            <a:r>
              <a:t>docs/results/transfer_v2_run1/comparisons.csv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a:p xmlns:a="http://schemas.openxmlformats.org/drawingml/2006/main">
            <a:r>
              <a:t/>
            </a:r>
          </a:p>
          <a:p xmlns:a="http://schemas.openxmlformats.org/drawingml/2006/main">
            <a:r>
              <a:t>docs/results/transfer_v2_run1/aggregate.json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Counting the synthetic stage changes the picture. Grid's geometric cumulative-time speedup at the paired reference is 0.886, about 12.8 percent more recorded time. Cumulative tokens at the crossings are 11.4688, 10.6496 and 11.0592 million, versus 8.192 million for scratch, because 1,000 synthetic updates, 4.096 million tokens, come first. The archive sums about 85.9 minutes across all measured stages. The language-stage result is positive; cost recovery at this horizon is negative. Timing is from the GPU logs and excludes queueing and package startup.</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a:p xmlns:a="http://schemas.openxmlformats.org/drawingml/2006/main">
            <a:r>
              <a:t/>
            </a:r>
            <a:endParaRPr/>
          </a:p>
          <a:p xmlns:a="http://schemas.openxmlformats.org/drawingml/2006/main">
            <a:r>
              <a:t>docs/results/transfer_v2_run1/comparisons.csv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docs/results/transfer_v2_run1/comparisons.csv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retains its evidence. All 15 V2 development checkpoints reloaded and reproduced validation metrics on CPU within tolerance, with a maximum discrepancy of 1.9563e-7; the pilot's CPU replay differed by at most 8.2e-8. Selected checkpoints, gate decisions, crossings and token accounting were recomputed, and hashes match within each seed. A local Windows/PyTorch 2.14.1 attempt to regenerate every initialization and schedule hash failed against Kaggle's Linux/PyTorch 2.11.0, so bitwise cross-runtime reproduction of those bytes is not established. The limits listed at right are why the repository calls V2 a development experiment.</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docs/results/transfer_v2_run1/cpu_verification.json</a:t>
            </a:r>
            <a:endParaRPr/>
          </a:p>
          <a:p xmlns:a="http://schemas.openxmlformats.org/drawingml/2006/main">
            <a:r>
              <a:t/>
            </a:r>
            <a:endParaRPr/>
          </a:p>
          <a:p xmlns:a="http://schemas.openxmlformats.org/drawingml/2006/main">
            <a:r>
              <a:t>docs/results/transfer_v2_run1/stage_control_audit.json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docs/theory/sections/03_information.tex</a:t>
            </a:r>
          </a:p>
          <a:p xmlns:a="http://schemas.openxmlformats.org/drawingml/2006/main">
            <a:r>
              <a:t/>
            </a:r>
          </a:p>
          <a:p xmlns:a="http://schemas.openxmlformats.org/drawingml/2006/main">
            <a:r>
              <a:t>METHODOLOGY_AUDIT.md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endParaRPr/>
          </a:p>
          <a:p xmlns:a="http://schemas.openxmlformats.org/drawingml/2006/main">
            <a:r>
              <a:t>Source: RESULTS.md</a:t>
            </a:r>
            <a:endParaRPr/>
          </a:p>
          <a:p xmlns:a="http://schemas.openxmlformats.org/drawingml/2006/main">
            <a:r>
              <a:t>Source: RESEARCH_CONTEXT.md</a:t>
            </a:r>
            <a:endParaRPr/>
          </a:p>
          <a:p xmlns:a="http://schemas.openxmlformats.org/drawingml/2006/main">
            <a:r>
              <a:t>CPU diagnostic, imported GPU measurement and mathematical claims retain their separate scopes.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generator restores the same random stream before the graph rollout and checks equal stream consumption. Topology changes donor indices while frozen weights and draw schedules remain paired.</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transfer_v3/graph.py:65-73; SHA-256 a0787e8a15f5ff058107260c5f762615cdc832848c2bfd484c927f7860022ee2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rewirer rejects duplicate donors and extra self edges, swaps within a typed slot and validates each slot as a permutation. The changed-slot fraction is measured after accepted swaps.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transfer_v3/graph.py:49-56; SHA-256 a0787e8a15f5ff058107260c5f762615cdc832848c2bfd484c927f7860022ee2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execution cell from kaggle_nca_transfer_v3.ipynb, cell 30. The notebook produced the reviewed five-arm GPU run. One of the three primary graph-versus-grid crossings is censored. Sources: docs/results/transfer_v3_run1/REVIEW.md; docs/TRANSFER_V3_PROTOCOL.md. Research status: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docs/TRANSFER_V3_PROTOCOL.md</a:t>
            </a:r>
          </a:p>
          <a:p xmlns:a="http://schemas.openxmlformats.org/drawingml/2006/main">
            <a:r>
              <a:t>Source: docs/results/transfer_v3_run1/REVIEW.md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RESULTS.md</a:t>
            </a:r>
          </a:p>
          <a:p xmlns:a="http://schemas.openxmlformats.org/drawingml/2006/main">
            <a:r>
              <a:t>Source: RESEARCH_CONTEXT.md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docs/TRANSFER_V4_PROTOCOL.md</a:t>
            </a:r>
          </a:p>
          <a:p xmlns:a="http://schemas.openxmlformats.org/drawingml/2006/main">
            <a:r>
              <a:t>Source: docs/READINESS_V5_PROTOCOL.md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docs/results/transfer_v3_run1/REVIEW.md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docs/results/transfer_v3_run1/paired_graph_transfer.png</a:t>
            </a:r>
          </a:p>
          <a:p xmlns:a="http://schemas.openxmlformats.org/drawingml/2006/main">
            <a:r>
              <a:t>Source: docs/results/transfer_v3_run1/REVIEW.md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docs/results/transfer_v3_run1/gpu/learning_curves.png</a:t>
            </a:r>
          </a:p>
          <a:p xmlns:a="http://schemas.openxmlformats.org/drawingml/2006/main">
            <a:r>
              <a:t>Source: docs/results/transfer_v3_run1/REVIEW.md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docs/results/transfer_v3_run1/gpu/ppt_diagnostics.png</a:t>
            </a:r>
          </a:p>
          <a:p xmlns:a="http://schemas.openxmlformats.org/drawingml/2006/main">
            <a:r>
              <a:t>Source: docs/results/transfer_v3_run1/REVIEW.md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docs/TRANSFER_V4_PROTOCOL.md</a:t>
            </a:r>
          </a:p>
          <a:p xmlns:a="http://schemas.openxmlformats.org/drawingml/2006/main">
            <a:r>
              <a:t>Source: transfer_v4/controls.py</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transfer_v4/controls.py:15-29</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kaggle_nca_transfer_v4.ipynb:cell 34</a:t>
            </a:r>
          </a:p>
          <a:p xmlns:a="http://schemas.openxmlformats.org/drawingml/2006/main">
            <a:r>
              <a:t>Source: build_mechanism_notebook.py</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docs/results/transfer_v4_run1/primary_analysis.json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docs/results/transfer_v4_run1/primary_analysis.json</a:t>
            </a:r>
          </a:p>
          <a:p xmlns:a="http://schemas.openxmlformats.org/drawingml/2006/main">
            <a:r>
              <a:t>Source: docs/TRANSFER_V4_PROTOCOL.md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docs/results/transfer_v4_run1/REVIEW.md</a:t>
            </a:r>
          </a:p>
          <a:p xmlns:a="http://schemas.openxmlformats.org/drawingml/2006/main">
            <a:r>
              <a:t>Source: docs/results/transfer_v4_run1/aggregate.json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docs/results/transfer_v4_run1/paired_graph_transfer.png</a:t>
            </a:r>
          </a:p>
          <a:p xmlns:a="http://schemas.openxmlformats.org/drawingml/2006/main">
            <a:r>
              <a:t>Source: docs/results/transfer_v4_run1/REVIEW.md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docs/results/transfer_v4_run1/gpu/learning_curves.png</a:t>
            </a:r>
          </a:p>
          <a:p xmlns:a="http://schemas.openxmlformats.org/drawingml/2006/main">
            <a:r>
              <a:t>Source: docs/results/transfer_v4_run1/REVIEW.md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docs/results/transfer_v4_run1/gpu/ppt_diagnostics.png</a:t>
            </a:r>
          </a:p>
          <a:p xmlns:a="http://schemas.openxmlformats.org/drawingml/2006/main">
            <a:r>
              <a:t>Source: docs/results/transfer_v4_run1/REVIEW.md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readiness_v5/frequency.py</a:t>
            </a:r>
          </a:p>
          <a:p xmlns:a="http://schemas.openxmlformats.org/drawingml/2006/main">
            <a:r>
              <a:t>Source: docs/results/transfer_v4_run1/frequency_diagnostic.json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readiness_v5/frequency.py:20-29</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docs/results/readiness_v5_run1/REVIEW.md</a:t>
            </a:r>
          </a:p>
          <a:p xmlns:a="http://schemas.openxmlformats.org/drawingml/2006/main">
            <a:r>
              <a:t>Source: docs/results/readiness_v5_run1/summary.json</a:t>
            </a:r>
          </a:p>
          <a:p xmlns:a="http://schemas.openxmlformats.org/drawingml/2006/main">
            <a:r>
              <a:t>Source: readiness_v5/gate.py</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docs/results/readiness_v5_run1/readiness_advantages.png</a:t>
            </a:r>
          </a:p>
          <a:p xmlns:a="http://schemas.openxmlformats.org/drawingml/2006/main">
            <a:r>
              <a:t>Source: docs/results/readiness_v5_run1/REVIEW.md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docs/TRAINABILITY_V6_PROTOCOL.md</a:t>
            </a:r>
          </a:p>
          <a:p xmlns:a="http://schemas.openxmlformats.org/drawingml/2006/main">
            <a:r>
              <a:t>Source: docs/results/trainability_v6_run1/REVIEW.md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docs/results/trainability_v6_run1/REVIEW.md</a:t>
            </a:r>
          </a:p>
          <a:p xmlns:a="http://schemas.openxmlformats.org/drawingml/2006/main">
            <a:r>
              <a:t>Source: docs/results/trainability_v6_run1/summary.json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docs/results/trainability_v6_run1/learning_curves.png</a:t>
            </a:r>
          </a:p>
          <a:p xmlns:a="http://schemas.openxmlformats.org/drawingml/2006/main">
            <a:r>
              <a:t>Source: docs/results/trainability_v6_run1/REVIEW.md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interaction_v7/data.py:10-15</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interaction_v7/data.py</a:t>
            </a:r>
          </a:p>
          <a:p xmlns:a="http://schemas.openxmlformats.org/drawingml/2006/main">
            <a:r>
              <a:t>Source: tests/test_interaction_v7.py</a:t>
            </a:r>
          </a:p>
          <a:p xmlns:a="http://schemas.openxmlformats.org/drawingml/2006/main">
            <a:r>
              <a:t>Source: docs/results/interaction_v7_run1/REVIEW.md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docs/results/interaction_v7_run1/REVIEW.md</a:t>
            </a:r>
          </a:p>
          <a:p xmlns:a="http://schemas.openxmlformats.org/drawingml/2006/main">
            <a:r>
              <a:t>Source: docs/results/interaction_v7_run1/summary.json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docs/results/interaction_v7_run1/learning_curves.png</a:t>
            </a:r>
          </a:p>
          <a:p xmlns:a="http://schemas.openxmlformats.org/drawingml/2006/main">
            <a:r>
              <a:t>Source: docs/results/interaction_v7_run1/REVIEW.md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docs/INTERACTION_V7_FIRST_TRANSITION.md</a:t>
            </a:r>
          </a:p>
          <a:p xmlns:a="http://schemas.openxmlformats.org/drawingml/2006/main">
            <a:r>
              <a:t>Source: docs/results/interaction_v7_run1/first_transition/FROZEN_PROTOCOL.md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docs/results/interaction_v7_run1/REVIEW.md</a:t>
            </a:r>
          </a:p>
          <a:p xmlns:a="http://schemas.openxmlformats.org/drawingml/2006/main">
            <a:r>
              <a:t>Source: docs/results/interaction_v7_run1/first_transition/results.json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docs/LOSS_WEIGHT_V8_PROTOCOL.md</a:t>
            </a:r>
          </a:p>
          <a:p xmlns:a="http://schemas.openxmlformats.org/drawingml/2006/main">
            <a:r>
              <a:t>Source: loss_weight_v8/objective.py</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loss_weight_v8/objective.py:18-25</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docs/results/loss_weight_v8_run1/summary.json</a:t>
            </a:r>
          </a:p>
          <a:p xmlns:a="http://schemas.openxmlformats.org/drawingml/2006/main">
            <a:r>
              <a:t>Source: docs/LOSS_WEIGHT_V8_PROTOCOL.md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docs/results/loss_weight_v8_run1/summary.json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docs/results/loss_weight_v8_run1/first_transition_accuracy.png</a:t>
            </a:r>
          </a:p>
          <a:p xmlns:a="http://schemas.openxmlformats.org/drawingml/2006/main">
            <a:r>
              <a:t>Source: docs/results/loss_weight_v8_run1/REVIEW.md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docs/results/loss_weight_v8_run1/REVIEW.md</a:t>
            </a:r>
          </a:p>
          <a:p xmlns:a="http://schemas.openxmlformats.org/drawingml/2006/main">
            <a:r>
              <a:t>Source: docs/results/loss_weight_v8_run1/verification.json</a:t>
            </a:r>
          </a:p>
          <a:p xmlns:a="http://schemas.openxmlformats.org/drawingml/2006/main">
            <a:r>
              <a:t>Source: docs/results/loss_weight_v8_run1/PROVENANCE.json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RESULTS.md</a:t>
            </a:r>
          </a:p>
          <a:p xmlns:a="http://schemas.openxmlformats.org/drawingml/2006/main">
            <a:r>
              <a:t>Source: docs/results/loss_weight_v8_run1/REVIEW.md</a:t>
            </a:r>
          </a:p>
          <a:p xmlns:a="http://schemas.openxmlformats.org/drawingml/2006/main">
            <a:r>
              <a:t>Source: proofs/lean/PROOF_MAP.md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docs/results/loss_weight_v8_run1/REVIEW.md</a:t>
            </a:r>
          </a:p>
          <a:p xmlns:a="http://schemas.openxmlformats.org/drawingml/2006/main">
            <a:r>
              <a:t>Source: RESEARCH_CONTEXT.md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sources/nca-pre-pretraining-reference/reference.json</a:t>
            </a:r>
          </a:p>
          <a:p xmlns:a="http://schemas.openxmlformats.org/drawingml/2006/main">
            <a:r>
              <a:t>Source: docs/results/transfer_v4_run1/REVIEW.md</a:t>
            </a:r>
          </a:p>
          <a:p xmlns:a="http://schemas.openxmlformats.org/drawingml/2006/main">
            <a:r>
              <a:t>Source: docs/presentation/SOURCE_COVERAGE.json</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docs/theory/sections/07_conclusions.tex</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endParaRPr/>
          </a:p>
          <a:p xmlns:a="http://schemas.openxmlformats.org/drawingml/2006/main">
            <a:r>
              <a:t>Source: RESULTS.md</a:t>
            </a:r>
            <a:endParaRPr/>
          </a:p>
          <a:p xmlns:a="http://schemas.openxmlformats.org/drawingml/2006/main">
            <a:r>
              <a:t>Source: docs/results/loss_weight_v8_run1/REVIEW.md</a:t>
            </a:r>
            <a:endParaRPr/>
          </a:p>
          <a:p xmlns:a="http://schemas.openxmlformats.org/drawingml/2006/main">
            <a:r>
              <a:t>Source: proofs/lean/PROOF_MAP.md</a:t>
            </a:r>
            <a:endParaRPr/>
          </a:p>
          <a:p xmlns:a="http://schemas.openxmlformats.org/drawingml/2006/main">
            <a:r>
              <a:t>CPU diagnostic, imported GPU measurement and mathematical claims retain their separate scopes.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AGENTS.md</a:t>
            </a:r>
          </a:p>
          <a:p xmlns:a="http://schemas.openxmlformats.org/drawingml/2006/main">
            <a:r>
              <a:t>Source: publication.json</a:t>
            </a:r>
          </a:p>
          <a:p xmlns:a="http://schemas.openxmlformats.org/drawingml/2006/main">
            <a:r>
              <a:t>Source: proofs/lean/PROOF_MAP.md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publication.json</a:t>
            </a:r>
          </a:p>
          <a:p xmlns:a="http://schemas.openxmlformats.org/drawingml/2006/main">
            <a:r>
              <a:t>Source: RESULTS.md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docs/theory/main.tex</a:t>
            </a:r>
          </a:p>
          <a:p xmlns:a="http://schemas.openxmlformats.org/drawingml/2006/main">
            <a:r>
              <a:t/>
            </a:r>
          </a:p>
          <a:p xmlns:a="http://schemas.openxmlformats.org/drawingml/2006/main">
            <a:r>
              <a:t>proofs/lean/PROOF_MAP.md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proofs/lean/GraphNCA.lean</a:t>
            </a:r>
          </a:p>
          <a:p xmlns:a="http://schemas.openxmlformats.org/drawingml/2006/main">
            <a:r>
              <a:t/>
            </a:r>
          </a:p>
          <a:p xmlns:a="http://schemas.openxmlformats.org/drawingml/2006/main">
            <a:r>
              <a:t>proofs/lean/verification/axiom-reports.txt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20 October 2026.</a:t>
            </a:r>
          </a:p>
          <a:p xmlns:a="http://schemas.openxmlformats.org/drawingml/2006/main">
            <a:r>
              <a:t>Source: LOGBOOK.md</a:t>
            </a:r>
          </a:p>
          <a:p xmlns:a="http://schemas.openxmlformats.org/drawingml/2006/main">
            <a:r>
              <a:t>Source: RESULTS.md</a:t>
            </a:r>
          </a:p>
          <a:p xmlns:a="http://schemas.openxmlformats.org/drawingml/2006/main">
            <a:r>
              <a:t>Source: proofs/lean/verification/README.md</a:t>
            </a:r>
          </a:p>
          <a:p xmlns:a="http://schemas.openxmlformats.org/drawingml/2006/main">
            <a:r>
              <a:t>CPU diagnostic, imported GPU measurement and mathematical claims retain their separate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https://arxiv.org/html/2603.10055v1</a:t>
            </a:r>
          </a:p>
          <a:p xmlns:a="http://schemas.openxmlformats.org/drawingml/2006/main">
            <a:r>
              <a:t/>
            </a:r>
          </a:p>
          <a:p xmlns:a="http://schemas.openxmlformats.org/drawingml/2006/main">
            <a:r>
              <a:t>https://distill.pub/2020/growing-ca/</a:t>
            </a:r>
          </a:p>
          <a:p xmlns:a="http://schemas.openxmlformats.org/drawingml/2006/main">
            <a:r>
              <a:t/>
            </a:r>
          </a:p>
          <a:p xmlns:a="http://schemas.openxmlformats.org/drawingml/2006/main">
            <a:r>
              <a:t>https://arxiv.org/abs/1704.01212</a:t>
            </a:r>
          </a:p>
          <a:p xmlns:a="http://schemas.openxmlformats.org/drawingml/2006/main">
            <a:r>
              <a:t/>
            </a:r>
          </a:p>
          <a:p xmlns:a="http://schemas.openxmlformats.org/drawingml/2006/main">
            <a:r>
              <a:t>https://arxiv.org/abs/1706.03762</a:t>
            </a:r>
          </a:p>
          <a:p xmlns:a="http://schemas.openxmlformats.org/drawingml/2006/main">
            <a:r>
              <a:t/>
            </a:r>
          </a:p>
          <a:p xmlns:a="http://schemas.openxmlformats.org/drawingml/2006/main">
            <a:r>
              <a:t>https://arxiv.org/abs/2302.13971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eq:graphvsgrid</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60-update diagnostic with five arms. Its fixture-scale losses and total-step clock remain separate from the returned GPU transfer result.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runs/cpu_verified/curves.png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matched-total-budget GPU plot. Unequal text exposure and the scratch scheduler boundary limit transfer interpretation.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Outputs/gnn_nca_results_1_review/artifacts/runs/pilot_20261016_214947_390021/curves.png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retained local diagnostic. The complete provenance and later independently replayed CPU result remain in the research workspace.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runs/cpu_check/curves.svg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fixture only. A short pipeline check does not estimate language-transfer performance.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runs/smoke/curves.svg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Returned GPU execution fixture, excluded from the scientific pilot comparison.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Outputs/gnn_nca_results_1_review/artifacts/runs/smoke_20261016_214947_390021/curves.svg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Fixture plot from the returned archive. Its short language curves are excluded from all development-result aggregates.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Outputs/nca_transfer_v2_run1_review/artifacts/runs/smoke/learning_curves.png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execution fixture. This plot checks the workflow and does not supply the real held-out-rule gate result.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Outputs/nca_transfer_v2_run1_review/artifacts/runs/smoke/ppt_diagnostics.png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CPU fixture with paired grid/graph controls. It exercises the five-arm workflow. No v3 GPU measurement or scientific transfer conclusion follows.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tmp/transfer_v3_check_ed51a18898ec4460bc1a79ac2ac40da4/run_complete/learning_curves.png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7746bc80314b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28db8931a34f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fb9661b14041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SLIDE">
    <p:bg>
      <p:bgPr>
        <a:solidFill xmlns:a="http://schemas.openxmlformats.org/drawingml/2006/main">
          <a:srgbClr val="0B122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CONTENT">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CF36EC-2479-486B-8F28-40EF6454123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defRPr>
            </a:lvl1pPr>
          </a:lstStyle>
          <a:p xmlns:a="http://schemas.openxmlformats.org/drawingml/2006/main">
            <a:pPr marL="0" indent="0" algn="l">
              <a:buNone/>
            </a:pPr>
            <a:endParaRPr sz="3000"/>
          </a:p>
        </p:txBody>
      </p:sp>
      <p:sp>
        <p:nvSpPr>
          <p:cNvPr id="3" name="Text 0">
            <a:extLst xmlns:a="http://schemas.openxmlformats.org/drawingml/2006/main">
              <a:ext uri="{FF2B5EF4-FFF2-40B4-BE49-F238E27FC236}">
                <a16:creationId xmlns:a16="http://schemas.microsoft.com/office/drawing/2014/main" id="{3D9C3132-62B4-4429-8305-523BFE3E83E1}"/>
              </a:ext>
            </a:extLst>
          </p:cNvPr>
          <p:cNvSpPr>
            <a:spLocks xmlns:a="http://schemas.openxmlformats.org/drawingml/2006/main" noGrp="1"/>
          </p:cNvSpPr>
          <p:nvPr/>
        </p:nvSpPr>
        <p:spPr>
          <a:xfrm xmlns:a="http://schemas.openxmlformats.org/drawingml/2006/main">
            <a:off x="548640" y="641908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tx2"/>
                </a:solidFill>
              </a:rPr>
              <a:t>GPU_NCA_proofer · audit of NCA pre-pre-training · repository snapshot 20 Oct 2026</a:t>
            </a:r>
            <a:endParaRPr sz="1100"/>
          </a:p>
        </p:txBody>
      </p:sp>
      <p:sp>
        <p:nvSpPr>
          <p:cNvPr id="25" name="Slide Number Placeholder 0">
            <a:extLst xmlns:a="http://schemas.openxmlformats.org/drawingml/2006/main">
              <a:ext uri="{FF2B5EF4-FFF2-40B4-BE49-F238E27FC236}">
                <a16:creationId xmlns:a16="http://schemas.microsoft.com/office/drawing/2014/main" id="{742F462E-9B19-4B81-A04B-5A962162D445}"/>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1d69e6bf9d4dac" /><Relationship Type="http://schemas.openxmlformats.org/officeDocument/2006/relationships/slideLayout" Target="/ppt/slideLayouts/slideLayout1.xml" Id="R948b1ed15ff54028" /><Relationship Type="http://schemas.openxmlformats.org/officeDocument/2006/relationships/slideLayout" Target="/ppt/slideLayouts/slideLayout2.xml" Id="R77ae85b9a4674552" /><Relationship Type="http://schemas.openxmlformats.org/officeDocument/2006/relationships/slideLayout" Target="/ppt/slideLayouts/slideLayout3.xml" Id="R0c46789c51d940f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4042CD1B-C854-4640-A081-C582A738700F}"/>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8b1ed15ff54028"/>
    <p:sldLayoutId xmlns:r="http://schemas.openxmlformats.org/officeDocument/2006/relationships" id="2147483650" r:id="R77ae85b9a4674552"/>
    <p:sldLayoutId xmlns:r="http://schemas.openxmlformats.org/officeDocument/2006/relationships" id="2147483651" r:id="R0c46789c51d940f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db83b51ee8e4c79" /><Relationship Type="http://schemas.openxmlformats.org/officeDocument/2006/relationships/notesSlide" Target="/ppt/notesSlides/notesSlide1.xml" Id="R9fcd9e5cb6f64e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952cd100fa4c2d" /><Relationship Type="http://schemas.openxmlformats.org/officeDocument/2006/relationships/notesSlide" Target="/ppt/notesSlides/notesSlide2.xml" Id="Rca75ea7380894f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dc5409ecd3143e4" /><Relationship Type="http://schemas.openxmlformats.org/officeDocument/2006/relationships/notesSlide" Target="/ppt/notesSlides/notesSlide3.xml" Id="Rf3f3034d02b845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bf89148eb84114" /><Relationship Type="http://schemas.openxmlformats.org/officeDocument/2006/relationships/notesSlide" Target="/ppt/notesSlides/notesSlide4.xml" Id="R0c05325fa01040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0794e0eda349ab" /><Relationship Type="http://schemas.openxmlformats.org/officeDocument/2006/relationships/notesSlide" Target="/ppt/notesSlides/notesSlide5.xml" Id="Rf375d4d92d2249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168e5bf83d4c9d" /><Relationship Type="http://schemas.openxmlformats.org/officeDocument/2006/relationships/notesSlide" Target="/ppt/notesSlides/notesSlide6.xml" Id="R199d2438f4b54c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09a166069144d4" /><Relationship Type="http://schemas.openxmlformats.org/officeDocument/2006/relationships/notesSlide" Target="/ppt/notesSlides/notesSlide7.xml" Id="R745487abf41742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b548719044b4d36" /><Relationship Type="http://schemas.openxmlformats.org/officeDocument/2006/relationships/notesSlide" Target="/ppt/notesSlides/notesSlide8.xml" Id="R9d5e48d03aea4d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858e3e877ff0405f" /><Relationship Type="http://schemas.openxmlformats.org/officeDocument/2006/relationships/notesSlide" Target="/ppt/notesSlides/notesSlide9.xml" Id="R0af50761e0bf47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8fc0123dab451c" /><Relationship Type="http://schemas.openxmlformats.org/officeDocument/2006/relationships/notesSlide" Target="/ppt/notesSlides/notesSlide10.xml" Id="Ra5e23c6b62eb45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7f689af1574ed2" /><Relationship Type="http://schemas.openxmlformats.org/officeDocument/2006/relationships/notesSlide" Target="/ppt/notesSlides/notesSlide11.xml" Id="Rb0872c6087164c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b72cc288564a6b" /><Relationship Type="http://schemas.openxmlformats.org/officeDocument/2006/relationships/notesSlide" Target="/ppt/notesSlides/notesSlide12.xml" Id="Rce7d0f89625245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de9e4c74d9410e" /><Relationship Type="http://schemas.openxmlformats.org/officeDocument/2006/relationships/notesSlide" Target="/ppt/notesSlides/notesSlide13.xml" Id="Ref5db1592a6e4e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9b1749f7de472e" /><Relationship Type="http://schemas.openxmlformats.org/officeDocument/2006/relationships/notesSlide" Target="/ppt/notesSlides/notesSlide14.xml" Id="R34ad815130714c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a31e662b314925" /><Relationship Type="http://schemas.openxmlformats.org/officeDocument/2006/relationships/notesSlide" Target="/ppt/notesSlides/notesSlide15.xml" Id="R201911709e8e44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6033552eec3484b" /><Relationship Type="http://schemas.openxmlformats.org/officeDocument/2006/relationships/notesSlide" Target="/ppt/notesSlides/notesSlide16.xml" Id="R968e981d6f3a48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f259405a02334754" /><Relationship Type="http://schemas.openxmlformats.org/officeDocument/2006/relationships/notesSlide" Target="/ppt/notesSlides/notesSlide17.xml" Id="Ra2dc0a0175cd46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e8da9dbf6344465" /><Relationship Type="http://schemas.openxmlformats.org/officeDocument/2006/relationships/notesSlide" Target="/ppt/notesSlides/notesSlide18.xml" Id="Rb8c996a8206044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13398963114895" /><Relationship Type="http://schemas.openxmlformats.org/officeDocument/2006/relationships/notesSlide" Target="/ppt/notesSlides/notesSlide19.xml" Id="R9fe5e3d7337643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3bdd103280bd469c" /><Relationship Type="http://schemas.openxmlformats.org/officeDocument/2006/relationships/notesSlide" Target="/ppt/notesSlides/notesSlide20.xml" Id="R2fe6e2b89b2642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b38cf52aef42d8" /><Relationship Type="http://schemas.openxmlformats.org/officeDocument/2006/relationships/notesSlide" Target="/ppt/notesSlides/notesSlide21.xml" Id="R8b53e15876d946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d887e15c5f54465" /><Relationship Type="http://schemas.openxmlformats.org/officeDocument/2006/relationships/notesSlide" Target="/ppt/notesSlides/notesSlide22.xml" Id="Rd3a408da5e1d40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575423bce5e40ef" /><Relationship Type="http://schemas.openxmlformats.org/officeDocument/2006/relationships/notesSlide" Target="/ppt/notesSlides/notesSlide23.xml" Id="Rcbcdd46a48914c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c3ac9eaac0d4de6" /><Relationship Type="http://schemas.openxmlformats.org/officeDocument/2006/relationships/notesSlide" Target="/ppt/notesSlides/notesSlide24.xml" Id="R608e4f1dcbb54e1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803ecea02384b55" /><Relationship Type="http://schemas.openxmlformats.org/officeDocument/2006/relationships/notesSlide" Target="/ppt/notesSlides/notesSlide25.xml" Id="Ra86d8a1f8c6646d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01cb2954ffbf4785" /><Relationship Type="http://schemas.openxmlformats.org/officeDocument/2006/relationships/notesSlide" Target="/ppt/notesSlides/notesSlide26.xml" Id="Rf0f834c69dec494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dc6e5094b3549bd" /><Relationship Type="http://schemas.openxmlformats.org/officeDocument/2006/relationships/notesSlide" Target="/ppt/notesSlides/notesSlide27.xml" Id="R672e41f5df664e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e5616975bbb45ad" /><Relationship Type="http://schemas.openxmlformats.org/officeDocument/2006/relationships/notesSlide" Target="/ppt/notesSlides/notesSlide28.xml" Id="R3a4997acaffb4ac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a4cad44088d46b0" /><Relationship Type="http://schemas.openxmlformats.org/officeDocument/2006/relationships/notesSlide" Target="/ppt/notesSlides/notesSlide29.xml" Id="R1c511b400b9445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df9f4ab8e9248b3" /><Relationship Type="http://schemas.openxmlformats.org/officeDocument/2006/relationships/notesSlide" Target="/ppt/notesSlides/notesSlide30.xml" Id="R4300de1e5c73438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699b015684c4040" /><Relationship Type="http://schemas.openxmlformats.org/officeDocument/2006/relationships/notesSlide" Target="/ppt/notesSlides/notesSlide31.xml" Id="R02f4481cfa87444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80222a988334889" /><Relationship Type="http://schemas.openxmlformats.org/officeDocument/2006/relationships/notesSlide" Target="/ppt/notesSlides/notesSlide32.xml" Id="R04d12f1e1cb24cf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285b98f3ccf4a91" /><Relationship Type="http://schemas.openxmlformats.org/officeDocument/2006/relationships/chart" Target="/ppt/slides/charts/chart1.xml" Id="R85a6bfc0231e4a33" /><Relationship Type="http://schemas.openxmlformats.org/officeDocument/2006/relationships/notesSlide" Target="/ppt/notesSlides/notesSlide33.xml" Id="Rba4e89b599bb4d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3a736bb95224cfc" /><Relationship Type="http://schemas.openxmlformats.org/officeDocument/2006/relationships/notesSlide" Target="/ppt/notesSlides/notesSlide34.xml" Id="Rfcf9ff27c2584ba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6e5838000204434" /><Relationship Type="http://schemas.openxmlformats.org/officeDocument/2006/relationships/notesSlide" Target="/ppt/notesSlides/notesSlide35.xml" Id="R3fd68cfcb5cc4d8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28e3631a23d41dd" /><Relationship Type="http://schemas.openxmlformats.org/officeDocument/2006/relationships/notesSlide" Target="/ppt/notesSlides/notesSlide36.xml" Id="R157b64d61e474cd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5c32da611c8f4325" /><Relationship Type="http://schemas.openxmlformats.org/officeDocument/2006/relationships/image" Target="/ppt/media/image.jpeg" Id="Rcb7612927c2149ca" /><Relationship Type="http://schemas.openxmlformats.org/officeDocument/2006/relationships/notesSlide" Target="/ppt/notesSlides/notesSlide37.xml" Id="Ra4e674869450429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b9867522eae4173" /><Relationship Type="http://schemas.openxmlformats.org/officeDocument/2006/relationships/notesSlide" Target="/ppt/notesSlides/notesSlide38.xml" Id="R6597573dcff74b0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edf0f7b5044ae5" /><Relationship Type="http://schemas.openxmlformats.org/officeDocument/2006/relationships/notesSlide" Target="/ppt/notesSlides/notesSlide39.xml" Id="R92fd4e94180c42a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75f2f9fb35f471d" /><Relationship Type="http://schemas.openxmlformats.org/officeDocument/2006/relationships/notesSlide" Target="/ppt/notesSlides/notesSlide40.xml" Id="Re6c9de9799dc4b1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ce5e8c8ea2284791" /><Relationship Type="http://schemas.openxmlformats.org/officeDocument/2006/relationships/notesSlide" Target="/ppt/notesSlides/notesSlide41.xml" Id="R17f39651ec694c5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3.xml" Id="Rbb9f8e33f5ae439d" /><Relationship Type="http://schemas.openxmlformats.org/officeDocument/2006/relationships/image" Target="/ppt/media/image.png" Id="R59e2e0c9e84648c8" /><Relationship Type="http://schemas.openxmlformats.org/officeDocument/2006/relationships/notesSlide" Target="/ppt/notesSlides/notesSlide42.xml" Id="Rc8b19bb8e3c4452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a921435bb104686" /><Relationship Type="http://schemas.openxmlformats.org/officeDocument/2006/relationships/notesSlide" Target="/ppt/notesSlides/notesSlide43.xml" Id="R23a890aac4e24b2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a03ef081a40b425c" /><Relationship Type="http://schemas.openxmlformats.org/officeDocument/2006/relationships/notesSlide" Target="/ppt/notesSlides/notesSlide44.xml" Id="R0589ecdf0a734e3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81c6f7378384e75" /><Relationship Type="http://schemas.openxmlformats.org/officeDocument/2006/relationships/notesSlide" Target="/ppt/notesSlides/notesSlide45.xml" Id="Rcf3703f7f0dd4d4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e12d3c9c77a46d8" /><Relationship Type="http://schemas.openxmlformats.org/officeDocument/2006/relationships/notesSlide" Target="/ppt/notesSlides/notesSlide46.xml" Id="Raef8bdfd3e14434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cddd66600dd46ef" /><Relationship Type="http://schemas.openxmlformats.org/officeDocument/2006/relationships/notesSlide" Target="/ppt/notesSlides/notesSlide47.xml" Id="R11a00fa8fb8743e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54ac40ca1984aed" /><Relationship Type="http://schemas.openxmlformats.org/officeDocument/2006/relationships/notesSlide" Target="/ppt/notesSlides/notesSlide48.xml" Id="R1ac066b9b3f447f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c50c2f8d094402d" /><Relationship Type="http://schemas.openxmlformats.org/officeDocument/2006/relationships/chart" Target="/ppt/slides/charts/chart2.xml" Id="R1014354bd9aa475d" /><Relationship Type="http://schemas.openxmlformats.org/officeDocument/2006/relationships/notesSlide" Target="/ppt/notesSlides/notesSlide49.xml" Id="R43f53893d7094c4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59fdcf89ae7460a" /><Relationship Type="http://schemas.openxmlformats.org/officeDocument/2006/relationships/notesSlide" Target="/ppt/notesSlides/notesSlide50.xml" Id="Rab096a21b6cf449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255a7cc3f83426c" /><Relationship Type="http://schemas.openxmlformats.org/officeDocument/2006/relationships/notesSlide" Target="/ppt/notesSlides/notesSlide51.xml" Id="R874c93393fd040e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fea428264074dd9" /><Relationship Type="http://schemas.openxmlformats.org/officeDocument/2006/relationships/notesSlide" Target="/ppt/notesSlides/notesSlide52.xml" Id="R93900ecdd639437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125ed5654dd4d36" /><Relationship Type="http://schemas.openxmlformats.org/officeDocument/2006/relationships/notesSlide" Target="/ppt/notesSlides/notesSlide53.xml" Id="R2b3fb4f2957843f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7c6785fdb134549" /><Relationship Type="http://schemas.openxmlformats.org/officeDocument/2006/relationships/notesSlide" Target="/ppt/notesSlides/notesSlide54.xml" Id="Re2e068c9c22f4cb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77cc9f284bb4e1a" /><Relationship Type="http://schemas.openxmlformats.org/officeDocument/2006/relationships/notesSlide" Target="/ppt/notesSlides/notesSlide55.xml" Id="R34b6546d19e84e7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fb9b614858c4563" /><Relationship Type="http://schemas.openxmlformats.org/officeDocument/2006/relationships/notesSlide" Target="/ppt/notesSlides/notesSlide56.xml" Id="R8eec54559a7f4ad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3.xml" Id="R8d1dc0b99a2a4ccc" /><Relationship Type="http://schemas.openxmlformats.org/officeDocument/2006/relationships/image" Target="/ppt/media/image2.png" Id="Ra8a1d4f0a2e34447" /><Relationship Type="http://schemas.openxmlformats.org/officeDocument/2006/relationships/notesSlide" Target="/ppt/notesSlides/notesSlide57.xml" Id="Rec21e942f3b04f2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00a430f22c84efd" /><Relationship Type="http://schemas.openxmlformats.org/officeDocument/2006/relationships/notesSlide" Target="/ppt/notesSlides/notesSlide58.xml" Id="R925f513b0fcb4de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3.xml" Id="R96bfc64a16944da8" /><Relationship Type="http://schemas.openxmlformats.org/officeDocument/2006/relationships/image" Target="/ppt/media/image3.png" Id="R701664125f4c445a" /><Relationship Type="http://schemas.openxmlformats.org/officeDocument/2006/relationships/notesSlide" Target="/ppt/notesSlides/notesSlide59.xml" Id="R5e2acaeb96794fb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3.xml" Id="R9470103f08d54942" /><Relationship Type="http://schemas.openxmlformats.org/officeDocument/2006/relationships/image" Target="/ppt/media/image4.png" Id="R247c9144a70e48eb" /><Relationship Type="http://schemas.openxmlformats.org/officeDocument/2006/relationships/notesSlide" Target="/ppt/notesSlides/notesSlide60.xml" Id="R2bb322922e9940c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6a55af8fa5443e9" /><Relationship Type="http://schemas.openxmlformats.org/officeDocument/2006/relationships/chart" Target="/ppt/slides/charts/chart3.xml" Id="R716c6426cccd4173" /><Relationship Type="http://schemas.openxmlformats.org/officeDocument/2006/relationships/notesSlide" Target="/ppt/notesSlides/notesSlide61.xml" Id="Rd73ffeadf86440f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799e28e8e3f46f0" /><Relationship Type="http://schemas.openxmlformats.org/officeDocument/2006/relationships/notesSlide" Target="/ppt/notesSlides/notesSlide62.xml" Id="R9d60fcdc72a74ec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d1f78ed5350942c1" /><Relationship Type="http://schemas.openxmlformats.org/officeDocument/2006/relationships/notesSlide" Target="/ppt/notesSlides/notesSlide63.xml" Id="Re3931cf735f443c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3.xml" Id="Rb5eea8b5e5514751" /><Relationship Type="http://schemas.openxmlformats.org/officeDocument/2006/relationships/chart" Target="/ppt/slides/charts/chart4.xml" Id="R025c1b96ee7447d2" /><Relationship Type="http://schemas.openxmlformats.org/officeDocument/2006/relationships/notesSlide" Target="/ppt/notesSlides/notesSlide64.xml" Id="Rfb83ebc127fa4c1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2a66a2571c54e78" /><Relationship Type="http://schemas.openxmlformats.org/officeDocument/2006/relationships/notesSlide" Target="/ppt/notesSlides/notesSlide65.xml" Id="R0697a763e93245e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3.xml" Id="R7721bda369dd4bb5" /><Relationship Type="http://schemas.openxmlformats.org/officeDocument/2006/relationships/notesSlide" Target="/ppt/notesSlides/notesSlide66.xml" Id="Rfbc3483839f643d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236c06a98ca14c6a" /><Relationship Type="http://schemas.openxmlformats.org/officeDocument/2006/relationships/notesSlide" Target="/ppt/notesSlides/notesSlide67.xml" Id="R157d9a7d2b7447c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3.xml" Id="R177e279cc12d40a1" /><Relationship Type="http://schemas.openxmlformats.org/officeDocument/2006/relationships/notesSlide" Target="/ppt/notesSlides/notesSlide68.xml" Id="R23367e8b85794f7b"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603947b2b624e83" /><Relationship Type="http://schemas.openxmlformats.org/officeDocument/2006/relationships/notesSlide" Target="/ppt/notesSlides/notesSlide69.xml" Id="Rfbd31a449d6546f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b8adaf8cc034148" /><Relationship Type="http://schemas.openxmlformats.org/officeDocument/2006/relationships/notesSlide" Target="/ppt/notesSlides/notesSlide70.xml" Id="R471f8272f36b495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c9c63056b6eb4d22" /><Relationship Type="http://schemas.openxmlformats.org/officeDocument/2006/relationships/notesSlide" Target="/ppt/notesSlides/notesSlide71.xml" Id="Ra0c69d4e8546471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ae653e2f6558445b" /><Relationship Type="http://schemas.openxmlformats.org/officeDocument/2006/relationships/notesSlide" Target="/ppt/notesSlides/notesSlide72.xml" Id="R94f9253225d64f4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ff8ea3abef624f2d" /><Relationship Type="http://schemas.openxmlformats.org/officeDocument/2006/relationships/notesSlide" Target="/ppt/notesSlides/notesSlide73.xml" Id="Re4e8ce23279e46a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fcb799ba70c4c92" /><Relationship Type="http://schemas.openxmlformats.org/officeDocument/2006/relationships/notesSlide" Target="/ppt/notesSlides/notesSlide74.xml" Id="Rd6d3d30cf55341e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c09b7875f0454f19" /><Relationship Type="http://schemas.openxmlformats.org/officeDocument/2006/relationships/notesSlide" Target="/ppt/notesSlides/notesSlide75.xml" Id="R874366adfade44d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ad55f467ae9b460b" /><Relationship Type="http://schemas.openxmlformats.org/officeDocument/2006/relationships/image" Target="/ppt/media/image5.png" Id="R5682dd10351c4289" /><Relationship Type="http://schemas.openxmlformats.org/officeDocument/2006/relationships/notesSlide" Target="/ppt/notesSlides/notesSlide76.xml" Id="Redc578c50e8041f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c01a3cee3d664da4" /><Relationship Type="http://schemas.openxmlformats.org/officeDocument/2006/relationships/image" Target="/ppt/media/image6.png" Id="R90b8f6a5f1a84266" /><Relationship Type="http://schemas.openxmlformats.org/officeDocument/2006/relationships/notesSlide" Target="/ppt/notesSlides/notesSlide77.xml" Id="Rf2359e53acbe42f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3d1582e9c3b4ca9" /><Relationship Type="http://schemas.openxmlformats.org/officeDocument/2006/relationships/image" Target="/ppt/media/image7.png" Id="Rf9594defa17843a1" /><Relationship Type="http://schemas.openxmlformats.org/officeDocument/2006/relationships/notesSlide" Target="/ppt/notesSlides/notesSlide78.xml" Id="Rf6918b5a5473444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87599a9d3bd74507" /><Relationship Type="http://schemas.openxmlformats.org/officeDocument/2006/relationships/notesSlide" Target="/ppt/notesSlides/notesSlide79.xml" Id="Rae09c3af0dd54b9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219c044facef460c" /><Relationship Type="http://schemas.openxmlformats.org/officeDocument/2006/relationships/notesSlide" Target="/ppt/notesSlides/notesSlide80.xml" Id="R09b0d4390ef44f95"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071620e7ecd44eeb" /><Relationship Type="http://schemas.openxmlformats.org/officeDocument/2006/relationships/notesSlide" Target="/ppt/notesSlides/notesSlide81.xml" Id="Rbfd3047e08f2424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d210245521104e67" /><Relationship Type="http://schemas.openxmlformats.org/officeDocument/2006/relationships/notesSlide" Target="/ppt/notesSlides/notesSlide82.xml" Id="R8f414aecf0f54ff7"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c47b123acc674487" /><Relationship Type="http://schemas.openxmlformats.org/officeDocument/2006/relationships/notesSlide" Target="/ppt/notesSlides/notesSlide83.xml" Id="R41e2ce2a5e3c454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97d11213a3874d2d" /><Relationship Type="http://schemas.openxmlformats.org/officeDocument/2006/relationships/notesSlide" Target="/ppt/notesSlides/notesSlide84.xml" Id="R9bcd864aa4984203"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4c8e6757ffe543cf" /><Relationship Type="http://schemas.openxmlformats.org/officeDocument/2006/relationships/image" Target="/ppt/media/image8.png" Id="R532ccac083b74234" /><Relationship Type="http://schemas.openxmlformats.org/officeDocument/2006/relationships/notesSlide" Target="/ppt/notesSlides/notesSlide85.xml" Id="R3f25137133e34b2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b0263a41cdf44b77" /><Relationship Type="http://schemas.openxmlformats.org/officeDocument/2006/relationships/image" Target="/ppt/media/image9.png" Id="R1fcac7300aa54ab2" /><Relationship Type="http://schemas.openxmlformats.org/officeDocument/2006/relationships/notesSlide" Target="/ppt/notesSlides/notesSlide86.xml" Id="Rf5923c05b0c6478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b465808a35e4882" /><Relationship Type="http://schemas.openxmlformats.org/officeDocument/2006/relationships/image" Target="/ppt/media/image10.png" Id="R564c04ca1da24bd2" /><Relationship Type="http://schemas.openxmlformats.org/officeDocument/2006/relationships/notesSlide" Target="/ppt/notesSlides/notesSlide87.xml" Id="R3433aacd529a404f"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757f8d5c3e014c2e" /><Relationship Type="http://schemas.openxmlformats.org/officeDocument/2006/relationships/notesSlide" Target="/ppt/notesSlides/notesSlide88.xml" Id="Rb4bc9953eabe4af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e7b279dbd5824356" /><Relationship Type="http://schemas.openxmlformats.org/officeDocument/2006/relationships/notesSlide" Target="/ppt/notesSlides/notesSlide89.xml" Id="Ra8c5b1ab64ea4a31"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6191a692cbff42b0" /><Relationship Type="http://schemas.openxmlformats.org/officeDocument/2006/relationships/notesSlide" Target="/ppt/notesSlides/notesSlide90.xml" Id="R137580668155480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02a721abf54d4870" /><Relationship Type="http://schemas.openxmlformats.org/officeDocument/2006/relationships/image" Target="/ppt/media/image11.png" Id="R5a2f607026014da3" /><Relationship Type="http://schemas.openxmlformats.org/officeDocument/2006/relationships/notesSlide" Target="/ppt/notesSlides/notesSlide91.xml" Id="R338d8e7910b94fa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a70dc98fa31c4f57" /><Relationship Type="http://schemas.openxmlformats.org/officeDocument/2006/relationships/notesSlide" Target="/ppt/notesSlides/notesSlide92.xml" Id="Rdc68b73007934b07"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f78748fa6a644899" /><Relationship Type="http://schemas.openxmlformats.org/officeDocument/2006/relationships/notesSlide" Target="/ppt/notesSlides/notesSlide93.xml" Id="R98b03caa2b444a8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ec9e685e9a5a43b4" /><Relationship Type="http://schemas.openxmlformats.org/officeDocument/2006/relationships/image" Target="/ppt/media/image12.png" Id="Rd02db5a2b7e94d1a" /><Relationship Type="http://schemas.openxmlformats.org/officeDocument/2006/relationships/notesSlide" Target="/ppt/notesSlides/notesSlide94.xml" Id="R569cc29f070749dc"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8831e15119624279" /><Relationship Type="http://schemas.openxmlformats.org/officeDocument/2006/relationships/notesSlide" Target="/ppt/notesSlides/notesSlide95.xml" Id="Rbb6bac8be7964d5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0e42d3ec7ba94fa0" /><Relationship Type="http://schemas.openxmlformats.org/officeDocument/2006/relationships/notesSlide" Target="/ppt/notesSlides/notesSlide96.xml" Id="R4b930dd9f70a46f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246aed314317436a" /><Relationship Type="http://schemas.openxmlformats.org/officeDocument/2006/relationships/notesSlide" Target="/ppt/notesSlides/notesSlide97.xml" Id="R9aa68cb72fc9451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dd998cdd7a941b6" /><Relationship Type="http://schemas.openxmlformats.org/officeDocument/2006/relationships/image" Target="/ppt/media/image13.png" Id="Rc618b5fc6d07430b" /><Relationship Type="http://schemas.openxmlformats.org/officeDocument/2006/relationships/notesSlide" Target="/ppt/notesSlides/notesSlide98.xml" Id="R959daadcc4e143fb"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12b740257ce74560" /><Relationship Type="http://schemas.openxmlformats.org/officeDocument/2006/relationships/notesSlide" Target="/ppt/notesSlides/notesSlide99.xml" Id="R510918bd2a974d42"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bb3fb27ebfb74137" /><Relationship Type="http://schemas.openxmlformats.org/officeDocument/2006/relationships/notesSlide" Target="/ppt/notesSlides/notesSlide100.xml" Id="R2709f34f6be1417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6d1ac20c141a4fba" /><Relationship Type="http://schemas.openxmlformats.org/officeDocument/2006/relationships/notesSlide" Target="/ppt/notesSlides/notesSlide101.xml" Id="Rfefdaa502af24af9"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7b04ec402d8f4991" /><Relationship Type="http://schemas.openxmlformats.org/officeDocument/2006/relationships/notesSlide" Target="/ppt/notesSlides/notesSlide102.xml" Id="R716999f64a8740f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5431c3942ea14483" /><Relationship Type="http://schemas.openxmlformats.org/officeDocument/2006/relationships/notesSlide" Target="/ppt/notesSlides/notesSlide103.xml" Id="R4e4591f2092746b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2191bb64d9e045dd" /><Relationship Type="http://schemas.openxmlformats.org/officeDocument/2006/relationships/notesSlide" Target="/ppt/notesSlides/notesSlide104.xml" Id="R38eae21e12564f80"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f9d0231da87940a2" /><Relationship Type="http://schemas.openxmlformats.org/officeDocument/2006/relationships/image" Target="/ppt/media/image14.png" Id="Refe6085fb9954674" /><Relationship Type="http://schemas.openxmlformats.org/officeDocument/2006/relationships/notesSlide" Target="/ppt/notesSlides/notesSlide105.xml" Id="R28a8f9befd314d2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01684832034947b4" /><Relationship Type="http://schemas.openxmlformats.org/officeDocument/2006/relationships/notesSlide" Target="/ppt/notesSlides/notesSlide106.xml" Id="R5650ff74ab674f9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a7f44fdb16f94dc8" /><Relationship Type="http://schemas.openxmlformats.org/officeDocument/2006/relationships/notesSlide" Target="/ppt/notesSlides/notesSlide107.xml" Id="Rc5179cf2b2d346a8"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c08d7a9d0ae54d82" /><Relationship Type="http://schemas.openxmlformats.org/officeDocument/2006/relationships/notesSlide" Target="/ppt/notesSlides/notesSlide108.xml" Id="Rf86a2fe5832b439d"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276e5e7fed5e4aed" /><Relationship Type="http://schemas.openxmlformats.org/officeDocument/2006/relationships/notesSlide" Target="/ppt/notesSlides/notesSlide109.xml" Id="R1dcb890af3c2422b"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5013f7ecf3164856" /><Relationship Type="http://schemas.openxmlformats.org/officeDocument/2006/relationships/notesSlide" Target="/ppt/notesSlides/notesSlide110.xml" Id="R1a6e36b2a79542ba"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b1be164eeef842c8" /><Relationship Type="http://schemas.openxmlformats.org/officeDocument/2006/relationships/notesSlide" Target="/ppt/notesSlides/notesSlide111.xml" Id="R51c7666c89d246c4"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3.xml" Id="R212d9fce1cbf4846" /><Relationship Type="http://schemas.openxmlformats.org/officeDocument/2006/relationships/notesSlide" Target="/ppt/notesSlides/notesSlide112.xml" Id="R5abd8a3ff8844624"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c09f05423e714202" /><Relationship Type="http://schemas.openxmlformats.org/officeDocument/2006/relationships/notesSlide" Target="/ppt/notesSlides/notesSlide113.xml" Id="R23c999d7fa3b4c3a"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5721d819b0664969" /><Relationship Type="http://schemas.openxmlformats.org/officeDocument/2006/relationships/notesSlide" Target="/ppt/notesSlides/notesSlide114.xml" Id="R4ff7b32281d244ed"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b3d89f7b4dd24893" /><Relationship Type="http://schemas.openxmlformats.org/officeDocument/2006/relationships/notesSlide" Target="/ppt/notesSlides/notesSlide115.xml" Id="R6f474eb3ccfa411b"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cbab9493c15e4b22" /><Relationship Type="http://schemas.openxmlformats.org/officeDocument/2006/relationships/notesSlide" Target="/ppt/notesSlides/notesSlide116.xml" Id="Rdcb81d16084e49a5"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310deff1ecd245c0" /><Relationship Type="http://schemas.openxmlformats.org/officeDocument/2006/relationships/notesSlide" Target="/ppt/notesSlides/notesSlide117.xml" Id="R5d4285a3dcf242c5"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f12222e1d63f45f2" /><Relationship Type="http://schemas.openxmlformats.org/officeDocument/2006/relationships/notesSlide" Target="/ppt/notesSlides/notesSlide118.xml" Id="R413c6b7619f04e37"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58d1bc35191e4703" /><Relationship Type="http://schemas.openxmlformats.org/officeDocument/2006/relationships/notesSlide" Target="/ppt/notesSlides/notesSlide119.xml" Id="R97a11db390c94342"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8fa0a1f4fd094971" /><Relationship Type="http://schemas.openxmlformats.org/officeDocument/2006/relationships/notesSlide" Target="/ppt/notesSlides/notesSlide120.xml" Id="R8c9df17bae4b41c9"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b2c85fcf23a548b8" /><Relationship Type="http://schemas.openxmlformats.org/officeDocument/2006/relationships/image" Target="/ppt/media/image15.png" Id="Re3b1dc39ce9d4775" /><Relationship Type="http://schemas.openxmlformats.org/officeDocument/2006/relationships/notesSlide" Target="/ppt/notesSlides/notesSlide121.xml" Id="R4ba0deb87b614d7d"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796922a258da48e4" /><Relationship Type="http://schemas.openxmlformats.org/officeDocument/2006/relationships/image" Target="/ppt/media/image16.png" Id="Ra01e3bc806024feb" /><Relationship Type="http://schemas.openxmlformats.org/officeDocument/2006/relationships/notesSlide" Target="/ppt/notesSlides/notesSlide122.xml" Id="R325bbab9547648b1"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2883ad28a3d04402" /><Relationship Type="http://schemas.openxmlformats.org/officeDocument/2006/relationships/image" Target="/ppt/media/image17.png" Id="R7265feebbd554e3b" /><Relationship Type="http://schemas.openxmlformats.org/officeDocument/2006/relationships/notesSlide" Target="/ppt/notesSlides/notesSlide123.xml" Id="R250a1d9061564e16"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20f0d49cac7f4244" /><Relationship Type="http://schemas.openxmlformats.org/officeDocument/2006/relationships/image" Target="/ppt/media/image18.png" Id="R6467a069680a465b" /><Relationship Type="http://schemas.openxmlformats.org/officeDocument/2006/relationships/notesSlide" Target="/ppt/notesSlides/notesSlide124.xml" Id="Rfaf40f95759c4ee6"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b3e357072fe4447f" /><Relationship Type="http://schemas.openxmlformats.org/officeDocument/2006/relationships/image" Target="/ppt/media/image19.png" Id="R17f24b7cb5684da1" /><Relationship Type="http://schemas.openxmlformats.org/officeDocument/2006/relationships/notesSlide" Target="/ppt/notesSlides/notesSlide125.xml" Id="Rd9717b0bb9584092"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41459aa622cf4c6d" /><Relationship Type="http://schemas.openxmlformats.org/officeDocument/2006/relationships/image" Target="/ppt/media/image20.png" Id="R6ef34f334ca84503" /><Relationship Type="http://schemas.openxmlformats.org/officeDocument/2006/relationships/notesSlide" Target="/ppt/notesSlides/notesSlide126.xml" Id="R8b045e37f1e64261"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9b88fe5bca50494b" /><Relationship Type="http://schemas.openxmlformats.org/officeDocument/2006/relationships/image" Target="/ppt/media/image21.png" Id="Rc6403ee81a024ea3" /><Relationship Type="http://schemas.openxmlformats.org/officeDocument/2006/relationships/notesSlide" Target="/ppt/notesSlides/notesSlide127.xml" Id="R96f9d52a85074a6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5dd75f77d6c14a2e" /><Relationship Type="http://schemas.openxmlformats.org/officeDocument/2006/relationships/image" Target="/ppt/media/image22.png" Id="R06b948c0ade74ef5" /><Relationship Type="http://schemas.openxmlformats.org/officeDocument/2006/relationships/notesSlide" Target="/ppt/notesSlides/notesSlide128.xml" Id="Rcd25f5edcaaa4d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Relationships xmlns="http://schemas.openxmlformats.org/package/2006/relationships"><Relationship Id="rId1" Type="http://schemas.openxmlformats.org/officeDocument/2006/relationships/package" Target="../../embeddings/original-template-data.xlsx" /></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Exact analytic loss at each natural update</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lineChart>
        <c:grouping val="standard"/>
        <c:varyColors val="0"/>
        <c:ser>
          <c:idx val="0"/>
          <c:order val="0"/>
          <c:tx>
            <c:v>Scratch</c:v>
          </c:tx>
          <c:spPr>
            <a:solidFill xmlns:a="http://schemas.openxmlformats.org/drawingml/2006/main">
              <a:srgbClr val="38BDF8"/>
            </a:solidFill>
            <a:ln xmlns:a="http://schemas.openxmlformats.org/drawingml/2006/main" w="23813">
              <a:solidFill>
                <a:srgbClr val="38BDF8"/>
              </a:solidFill>
              <a:prstDash val="solid"/>
            </a:ln>
          </c:spPr>
          <c:marker>
            <c:symbol val="none"/>
            <c:size val="4"/>
          </c:marker>
          <c:cat>
            <c:numRef>
              <c:f>'Chart Data'!$A$2:$A$42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Data'!$B$2:$B$42</c:f>
              <c:numCache>
                <c:formatCode>0.00</c:formatCode>
                <c:ptCount val="41"/>
                <c:pt idx="0">
                  <c:v>0.179247729576</c:v>
                </c:pt>
                <c:pt idx="1">
                  <c:v>0.16176796458</c:v>
                </c:pt>
                <c:pt idx="2">
                  <c:v>0.145994810193</c:v>
                </c:pt>
                <c:pt idx="3">
                  <c:v>0.131760121739</c:v>
                </c:pt>
                <c:pt idx="4">
                  <c:v>0.118913461254</c:v>
                </c:pt>
                <c:pt idx="5">
                  <c:v>0.107319386628</c:v>
                </c:pt>
                <c:pt idx="6">
                  <c:v>0.0968557433934</c:v>
                </c:pt>
                <c:pt idx="7">
                  <c:v>0.0874123076529</c:v>
                </c:pt>
                <c:pt idx="8">
                  <c:v>0.0788896074669</c:v>
                </c:pt>
                <c:pt idx="9">
                  <c:v>0.0711978706914</c:v>
                </c:pt>
                <c:pt idx="10">
                  <c:v>0.0642560782871</c:v>
                </c:pt>
                <c:pt idx="11">
                  <c:v>0.0579911106511</c:v>
                </c:pt>
                <c:pt idx="12">
                  <c:v>0.0523369773619</c:v>
                </c:pt>
                <c:pt idx="13">
                  <c:v>0.0472341220689</c:v>
                </c:pt>
                <c:pt idx="14">
                  <c:v>0.0426287951672</c:v>
                </c:pt>
                <c:pt idx="15">
                  <c:v>0.0384724876384</c:v>
                </c:pt>
                <c:pt idx="16">
                  <c:v>0.0347214200936</c:v>
                </c:pt>
                <c:pt idx="17">
                  <c:v>0.0313360816345</c:v>
                </c:pt>
                <c:pt idx="18">
                  <c:v>0.0282808136751</c:v>
                </c:pt>
                <c:pt idx="19">
                  <c:v>0.0255234343418</c:v>
                </c:pt>
                <c:pt idx="20">
                  <c:v>0.0230348994935</c:v>
                </c:pt>
                <c:pt idx="21">
                  <c:v>0.0207889967929</c:v>
                </c:pt>
                <c:pt idx="22">
                  <c:v>0.0187620696056</c:v>
                </c:pt>
                <c:pt idx="23">
                  <c:v>0.016932767819</c:v>
                </c:pt>
                <c:pt idx="24">
                  <c:v>0.0152818229567</c:v>
                </c:pt>
                <c:pt idx="25">
                  <c:v>0.0137918452184</c:v>
                </c:pt>
                <c:pt idx="26">
                  <c:v>0.0124471403096</c:v>
                </c:pt>
                <c:pt idx="27">
                  <c:v>0.0112335441294</c:v>
                </c:pt>
                <c:pt idx="28">
                  <c:v>0.0101382735768</c:v>
                </c:pt>
                <c:pt idx="29">
                  <c:v>0.00914979190305</c:v>
                </c:pt>
                <c:pt idx="30">
                  <c:v>0.00825768719251</c:v>
                </c:pt>
                <c:pt idx="31">
                  <c:v>0.00745256269124</c:v>
                </c:pt>
                <c:pt idx="32">
                  <c:v>0.00672593782884</c:v>
                </c:pt>
                <c:pt idx="33">
                  <c:v>0.00607015889053</c:v>
                </c:pt>
                <c:pt idx="34">
                  <c:v>0.0054783183987</c:v>
                </c:pt>
                <c:pt idx="35">
                  <c:v>0.00494418235483</c:v>
                </c:pt>
                <c:pt idx="36">
                  <c:v>0.00446212457523</c:v>
                </c:pt>
                <c:pt idx="37">
                  <c:v>0.00402706742915</c:v>
                </c:pt>
                <c:pt idx="38">
                  <c:v>0.00363442835481</c:v>
                </c:pt>
                <c:pt idx="39">
                  <c:v>0.00328007159021</c:v>
                </c:pt>
                <c:pt idx="40">
                  <c:v>0.00296026461017</c:v>
                </c:pt>
              </c:numCache>
            </c:numRef>
          </c:val>
        </c:ser>
        <c:ser>
          <c:idx val="1"/>
          <c:order val="1"/>
          <c:tx>
            <c:v>Transferred</c:v>
          </c:tx>
          <c:spPr>
            <a:solidFill xmlns:a="http://schemas.openxmlformats.org/drawingml/2006/main">
              <a:srgbClr val="FBBF24"/>
            </a:solidFill>
            <a:ln xmlns:a="http://schemas.openxmlformats.org/drawingml/2006/main" w="23813">
              <a:solidFill>
                <a:srgbClr val="FBBF24"/>
              </a:solidFill>
              <a:prstDash val="solid"/>
            </a:ln>
          </c:spPr>
          <c:marker>
            <c:symbol val="none"/>
            <c:size val="4"/>
          </c:marker>
          <c:cat>
            <c:numRef>
              <c:f>'Chart Data'!$C$2:$C$42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Data'!$D$2:$D$42</c:f>
              <c:numCache>
                <c:formatCode>0.00</c:formatCode>
                <c:ptCount val="41"/>
                <c:pt idx="0">
                  <c:v>0.0448155086726</c:v>
                </c:pt>
                <c:pt idx="1">
                  <c:v>0.0404428852146</c:v>
                </c:pt>
                <c:pt idx="2">
                  <c:v>0.0364989260656</c:v>
                </c:pt>
                <c:pt idx="3">
                  <c:v>0.032940086314</c:v>
                </c:pt>
                <c:pt idx="4">
                  <c:v>0.0297283792834</c:v>
                </c:pt>
                <c:pt idx="5">
                  <c:v>0.0268298501495</c:v>
                </c:pt>
                <c:pt idx="6">
                  <c:v>0.0242139367215</c:v>
                </c:pt>
                <c:pt idx="7">
                  <c:v>0.0218530771315</c:v>
                </c:pt>
                <c:pt idx="8">
                  <c:v>0.0197224019213</c:v>
                </c:pt>
                <c:pt idx="9">
                  <c:v>0.0177994676865</c:v>
                </c:pt>
                <c:pt idx="10">
                  <c:v>0.0160640195752</c:v>
                </c:pt>
                <c:pt idx="11">
                  <c:v>0.0144977776636</c:v>
                </c:pt>
                <c:pt idx="12">
                  <c:v>0.0130842443407</c:v>
                </c:pt>
                <c:pt idx="13">
                  <c:v>0.0118085305173</c:v>
                </c:pt>
                <c:pt idx="14">
                  <c:v>0.0106571987918</c:v>
                </c:pt>
                <c:pt idx="15">
                  <c:v>0.00961812190959</c:v>
                </c:pt>
                <c:pt idx="16">
                  <c:v>0.00868035502341</c:v>
                </c:pt>
                <c:pt idx="17">
                  <c:v>0.00783402040862</c:v>
                </c:pt>
                <c:pt idx="18">
                  <c:v>0.00707020341878</c:v>
                </c:pt>
                <c:pt idx="19">
                  <c:v>0.00638085858545</c:v>
                </c:pt>
                <c:pt idx="20">
                  <c:v>0.00575872487337</c:v>
                </c:pt>
                <c:pt idx="21">
                  <c:v>0.00519724919822</c:v>
                </c:pt>
                <c:pt idx="22">
                  <c:v>0.00469051740139</c:v>
                </c:pt>
                <c:pt idx="23">
                  <c:v>0.00423319195475</c:v>
                </c:pt>
                <c:pt idx="24">
                  <c:v>0.00382045573917</c:v>
                </c:pt>
                <c:pt idx="25">
                  <c:v>0.0034479613046</c:v>
                </c:pt>
                <c:pt idx="26">
                  <c:v>0.0031117850774</c:v>
                </c:pt>
                <c:pt idx="27">
                  <c:v>0.00280838603235</c:v>
                </c:pt>
                <c:pt idx="28">
                  <c:v>0.0025345683942</c:v>
                </c:pt>
                <c:pt idx="29">
                  <c:v>0.00228744797576</c:v>
                </c:pt>
                <c:pt idx="30">
                  <c:v>0.00206442179813</c:v>
                </c:pt>
                <c:pt idx="31">
                  <c:v>0.00186314067281</c:v>
                </c:pt>
                <c:pt idx="32">
                  <c:v>0.00168148445721</c:v>
                </c:pt>
                <c:pt idx="33">
                  <c:v>0.00151753972263</c:v>
                </c:pt>
                <c:pt idx="34">
                  <c:v>0.00136957959968</c:v>
                </c:pt>
                <c:pt idx="35">
                  <c:v>0.00123604558871</c:v>
                </c:pt>
                <c:pt idx="36">
                  <c:v>0.00111553114381</c:v>
                </c:pt>
                <c:pt idx="37">
                  <c:v>0.00100676685729</c:v>
                </c:pt>
                <c:pt idx="38">
                  <c:v>0.000908607088702</c:v>
                </c:pt>
                <c:pt idx="39">
                  <c:v>0.000820017897553</c:v>
                </c:pt>
                <c:pt idx="40">
                  <c:v>0.000740066152542</c:v>
                </c:pt>
              </c:numCache>
            </c:numRef>
          </c:val>
        </c:ser>
        <c:ser>
          <c:idx val="2"/>
          <c:order val="2"/>
          <c:tx>
            <c:v>Target ε = 0.01</c:v>
          </c:tx>
          <c:spPr>
            <a:solidFill xmlns:a="http://schemas.openxmlformats.org/drawingml/2006/main">
              <a:srgbClr val="EF4444"/>
            </a:solidFill>
            <a:ln xmlns:a="http://schemas.openxmlformats.org/drawingml/2006/main" w="23813">
              <a:solidFill>
                <a:srgbClr val="EF4444"/>
              </a:solidFill>
              <a:prstDash val="solid"/>
            </a:ln>
          </c:spPr>
          <c:marker>
            <c:symbol val="none"/>
            <c:size val="4"/>
          </c:marker>
          <c:cat>
            <c:numRef>
              <c:f>'Chart Data'!$E$2:$E$42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Data'!$F$2:$F$42</c:f>
              <c:numCache>
                <c:formatCode>0.00</c:formatCode>
                <c:ptCount val="4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pt idx="23">
                  <c:v>0.01</c:v>
                </c:pt>
                <c:pt idx="24">
                  <c:v>0.01</c:v>
                </c:pt>
                <c:pt idx="25">
                  <c:v>0.01</c:v>
                </c:pt>
                <c:pt idx="26">
                  <c:v>0.01</c:v>
                </c:pt>
                <c:pt idx="27">
                  <c:v>0.01</c:v>
                </c:pt>
                <c:pt idx="28">
                  <c:v>0.01</c:v>
                </c:pt>
                <c:pt idx="29">
                  <c:v>0.01</c:v>
                </c:pt>
                <c:pt idx="30">
                  <c:v>0.01</c:v>
                </c:pt>
                <c:pt idx="31">
                  <c:v>0.01</c:v>
                </c:pt>
                <c:pt idx="32">
                  <c:v>0.01</c:v>
                </c:pt>
                <c:pt idx="33">
                  <c:v>0.01</c:v>
                </c:pt>
                <c:pt idx="34">
                  <c:v>0.01</c:v>
                </c:pt>
                <c:pt idx="35">
                  <c:v>0.01</c:v>
                </c:pt>
                <c:pt idx="36">
                  <c:v>0.01</c:v>
                </c:pt>
                <c:pt idx="37">
                  <c:v>0.01</c:v>
                </c:pt>
                <c:pt idx="38">
                  <c:v>0.01</c:v>
                </c:pt>
                <c:pt idx="39">
                  <c:v>0.01</c:v>
                </c:pt>
                <c:pt idx="40">
                  <c:v>0.01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Language updates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0.2"/>
          <c:min val="0"/>
        </c:scaling>
        <c:delete val="0"/>
        <c:axPos val="l"/>
        <c:majorGridlines>
          <c:spPr>
            <a:ln xmlns:a="http://schemas.openxmlformats.org/drawingml/2006/main" w="9525">
              <a:solidFill>
                <a:srgbClr val="D7DE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Ten most frequent patch IDs in saved rule row 0</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barChart>
        <c:barDir val="col"/>
        <c:grouping val="clustered"/>
        <c:varyColors val="0"/>
        <c:ser>
          <c:idx val="0"/>
          <c:order val="0"/>
          <c:tx>
            <c:v>Original</c:v>
          </c:tx>
          <c:spPr>
            <a:solidFill xmlns:a="http://schemas.openxmlformats.org/drawingml/2006/main">
              <a:srgbClr val="38BDF8"/>
            </a:solidFill>
            <a:ln xmlns:a="http://schemas.openxmlformats.org/drawingml/2006/main" w="23813">
              <a:solidFill>
                <a:srgbClr val="38BDF8"/>
              </a:solidFill>
              <a:prstDash val="solid"/>
            </a:ln>
          </c:spPr>
          <c:invertIfNegative val="0"/>
          <c:cat>
            <c:numRef>
              <c:f>'Chart Data'!$A$2:$A$11</c:f>
              <c:numCache>
                <c:formatCode>General</c:formatCode>
                <c:ptCount val="10"/>
                <c:pt idx="0">
                  <c:v>2652</c:v>
                </c:pt>
                <c:pt idx="1">
                  <c:v>2255</c:v>
                </c:pt>
                <c:pt idx="2">
                  <c:v>2522</c:v>
                </c:pt>
                <c:pt idx="3">
                  <c:v>2462</c:v>
                </c:pt>
                <c:pt idx="4">
                  <c:v>2252</c:v>
                </c:pt>
                <c:pt idx="5">
                  <c:v>6522</c:v>
                </c:pt>
                <c:pt idx="6">
                  <c:v>2265</c:v>
                </c:pt>
                <c:pt idx="7">
                  <c:v>8265</c:v>
                </c:pt>
                <c:pt idx="8">
                  <c:v>6225</c:v>
                </c:pt>
                <c:pt idx="9">
                  <c:v>2655</c:v>
                </c:pt>
              </c:numCache>
            </c:numRef>
          </c:cat>
          <c:val>
            <c:numRef>
              <c:f>'Chart Data'!$B$2:$B$11</c:f>
              <c:numCache>
                <c:formatCode>0</c:formatCode>
                <c:ptCount val="10"/>
                <c:pt idx="0">
                  <c:v>17</c:v>
                </c:pt>
                <c:pt idx="1">
                  <c:v>14</c:v>
                </c:pt>
                <c:pt idx="2">
                  <c:v>9</c:v>
                </c:pt>
                <c:pt idx="3">
                  <c:v>8</c:v>
                </c:pt>
                <c:pt idx="4">
                  <c:v>8</c:v>
                </c:pt>
                <c:pt idx="5">
                  <c:v>7</c:v>
                </c:pt>
                <c:pt idx="6">
                  <c:v>7</c:v>
                </c:pt>
                <c:pt idx="7">
                  <c:v>7</c:v>
                </c:pt>
                <c:pt idx="8">
                  <c:v>7</c:v>
                </c:pt>
                <c:pt idx="9">
                  <c:v>7</c:v>
                </c:pt>
              </c:numCache>
            </c:numRef>
          </c:val>
        </c:ser>
        <c:ser>
          <c:idx val="1"/>
          <c:order val="1"/>
          <c:tx>
            <c:v>Shuffled</c:v>
          </c:tx>
          <c:spPr>
            <a:solidFill xmlns:a="http://schemas.openxmlformats.org/drawingml/2006/main">
              <a:srgbClr val="FBBF24"/>
            </a:solidFill>
            <a:ln xmlns:a="http://schemas.openxmlformats.org/drawingml/2006/main" w="23813">
              <a:solidFill>
                <a:srgbClr val="FBBF24"/>
              </a:solidFill>
              <a:prstDash val="solid"/>
            </a:ln>
          </c:spPr>
          <c:invertIfNegative val="0"/>
          <c:cat>
            <c:numRef>
              <c:f>'Chart Data'!$C$2:$C$11</c:f>
              <c:numCache>
                <c:formatCode>General</c:formatCode>
                <c:ptCount val="10"/>
                <c:pt idx="0">
                  <c:v>2652</c:v>
                </c:pt>
                <c:pt idx="1">
                  <c:v>2255</c:v>
                </c:pt>
                <c:pt idx="2">
                  <c:v>2522</c:v>
                </c:pt>
                <c:pt idx="3">
                  <c:v>2462</c:v>
                </c:pt>
                <c:pt idx="4">
                  <c:v>2252</c:v>
                </c:pt>
                <c:pt idx="5">
                  <c:v>6522</c:v>
                </c:pt>
                <c:pt idx="6">
                  <c:v>2265</c:v>
                </c:pt>
                <c:pt idx="7">
                  <c:v>8265</c:v>
                </c:pt>
                <c:pt idx="8">
                  <c:v>6225</c:v>
                </c:pt>
                <c:pt idx="9">
                  <c:v>2655</c:v>
                </c:pt>
              </c:numCache>
            </c:numRef>
          </c:cat>
          <c:val>
            <c:numRef>
              <c:f>'Chart Data'!$D$2:$D$11</c:f>
              <c:numCache>
                <c:formatCode>0</c:formatCode>
                <c:ptCount val="10"/>
                <c:pt idx="0">
                  <c:v>17</c:v>
                </c:pt>
                <c:pt idx="1">
                  <c:v>14</c:v>
                </c:pt>
                <c:pt idx="2">
                  <c:v>9</c:v>
                </c:pt>
                <c:pt idx="3">
                  <c:v>8</c:v>
                </c:pt>
                <c:pt idx="4">
                  <c:v>8</c:v>
                </c:pt>
                <c:pt idx="5">
                  <c:v>7</c:v>
                </c:pt>
                <c:pt idx="6">
                  <c:v>7</c:v>
                </c:pt>
                <c:pt idx="7">
                  <c:v>7</c:v>
                </c:pt>
                <c:pt idx="8">
                  <c:v>7</c:v>
                </c:pt>
                <c:pt idx="9">
                  <c:v>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Patch ID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21.25"/>
          <c:min val="0"/>
        </c:scaling>
        <c:delete val="0"/>
        <c:axPos val="l"/>
        <c:majorGridlines>
          <c:spPr>
            <a:ln xmlns:a="http://schemas.openxmlformats.org/drawingml/2006/main" w="9525">
              <a:solidFill>
                <a:srgbClr val="D7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Observed first recorded crossing, lower is better</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barChart>
        <c:barDir val="col"/>
        <c:grouping val="clustered"/>
        <c:varyColors val="0"/>
        <c:ser>
          <c:idx val="0"/>
          <c:order val="0"/>
          <c:tx>
            <c:v>Scratch reference</c:v>
          </c:tx>
          <c:spPr>
            <a:solidFill xmlns:a="http://schemas.openxmlformats.org/drawingml/2006/main">
              <a:srgbClr val="38BDF8"/>
            </a:solidFill>
            <a:ln xmlns:a="http://schemas.openxmlformats.org/drawingml/2006/main" w="23813">
              <a:solidFill>
                <a:srgbClr val="38BDF8"/>
              </a:solidFill>
              <a:prstDash val="solid"/>
            </a:ln>
          </c:spPr>
          <c:invertIfNegative val="0"/>
          <c:cat>
            <c:strRef>
              <c:f>'Chart Data'!$A$2:$A$4</c:f>
              <c:strCache>
                <c:ptCount val="3"/>
                <c:pt idx="0">
                  <c:v>Seed 17</c:v>
                </c:pt>
                <c:pt idx="1">
                  <c:v>Seed 29</c:v>
                </c:pt>
                <c:pt idx="2">
                  <c:v>Seed 43</c:v>
                </c:pt>
              </c:strCache>
            </c:strRef>
          </c:cat>
          <c:val>
            <c:numRef>
              <c:f>'Chart Data'!$B$2:$B$4</c:f>
              <c:numCache>
                <c:formatCode>0</c:formatCode>
                <c:ptCount val="3"/>
                <c:pt idx="0">
                  <c:v>2000</c:v>
                </c:pt>
                <c:pt idx="1">
                  <c:v>2000</c:v>
                </c:pt>
                <c:pt idx="2">
                  <c:v>2000</c:v>
                </c:pt>
              </c:numCache>
            </c:numRef>
          </c:val>
        </c:ser>
        <c:ser>
          <c:idx val="1"/>
          <c:order val="1"/>
          <c:tx>
            <c:v>Grid PPT</c:v>
          </c:tx>
          <c:spPr>
            <a:solidFill xmlns:a="http://schemas.openxmlformats.org/drawingml/2006/main">
              <a:srgbClr val="FBBF24"/>
            </a:solidFill>
            <a:ln xmlns:a="http://schemas.openxmlformats.org/drawingml/2006/main" w="23813">
              <a:solidFill>
                <a:srgbClr val="FBBF24"/>
              </a:solidFill>
              <a:prstDash val="solid"/>
            </a:ln>
          </c:spPr>
          <c:invertIfNegative val="0"/>
          <c:cat>
            <c:strRef>
              <c:f>'Chart Data'!$C$2:$C$4</c:f>
              <c:strCache>
                <c:ptCount val="3"/>
                <c:pt idx="0">
                  <c:v>Seed 17</c:v>
                </c:pt>
                <c:pt idx="1">
                  <c:v>Seed 29</c:v>
                </c:pt>
                <c:pt idx="2">
                  <c:v>Seed 43</c:v>
                </c:pt>
              </c:strCache>
            </c:strRef>
          </c:cat>
          <c:val>
            <c:numRef>
              <c:f>'Chart Data'!$D$2:$D$4</c:f>
              <c:numCache>
                <c:formatCode>0</c:formatCode>
                <c:ptCount val="3"/>
                <c:pt idx="0">
                  <c:v>1800</c:v>
                </c:pt>
                <c:pt idx="1">
                  <c:v>1600</c:v>
                </c:pt>
                <c:pt idx="2">
                  <c:v>1700</c:v>
                </c:pt>
              </c:numCache>
            </c:numRef>
          </c:val>
        </c:ser>
        <c:ser>
          <c:idx val="2"/>
          <c:order val="2"/>
          <c:tx>
            <c:v>Shuffled PPT</c:v>
          </c:tx>
          <c:spPr>
            <a:solidFill xmlns:a="http://schemas.openxmlformats.org/drawingml/2006/main">
              <a:srgbClr val="34D399"/>
            </a:solidFill>
            <a:ln xmlns:a="http://schemas.openxmlformats.org/drawingml/2006/main" w="23813">
              <a:solidFill>
                <a:srgbClr val="34D399"/>
              </a:solidFill>
              <a:prstDash val="solid"/>
            </a:ln>
          </c:spPr>
          <c:invertIfNegative val="0"/>
          <c:cat>
            <c:strRef>
              <c:f>'Chart Data'!$E$2:$E$4</c:f>
              <c:strCache>
                <c:ptCount val="3"/>
                <c:pt idx="0">
                  <c:v>Seed 17</c:v>
                </c:pt>
                <c:pt idx="1">
                  <c:v>Seed 29</c:v>
                </c:pt>
                <c:pt idx="2">
                  <c:v>Seed 43</c:v>
                </c:pt>
              </c:strCache>
            </c:strRef>
          </c:cat>
          <c:val>
            <c:numRef>
              <c:f>'Chart Data'!$F$2:$F$4</c:f>
              <c:numCache>
                <c:formatCode>0</c:formatCode>
                <c:ptCount val="3"/>
                <c:pt idx="0">
                  <c:v>1700</c:v>
                </c:pt>
                <c:pt idx="1">
                  <c:v>1600</c:v>
                </c:pt>
                <c:pt idx="2">
                  <c:v>1800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Paired model seed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2400"/>
          <c:min val="0"/>
        </c:scaling>
        <c:delete val="0"/>
        <c:axPos val="l"/>
        <c:majorGridlines>
          <c:spPr>
            <a:ln xmlns:a="http://schemas.openxmlformats.org/drawingml/2006/main" w="9525">
              <a:solidFill>
                <a:srgbClr val="D7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date1904 val="0"/>
  <c:roundedCorners val="1"/>
  <c:chart>
    <c:title>
      <c:tx>
        <c:rich>
          <a:bodyPr/>
          <a:lstStyle/>
          <a:p>
            <a:pPr>
              <a:defRPr sz="1400" b="0" i="0" u="none" strike="noStrike">
                <a:solidFill>
                  <a:srgbClr val="F1F5F9"/>
                </a:solidFill>
                <a:latin typeface="+mn-lt"/>
              </a:defRPr>
            </a:pPr>
            <a:r>
              <a:rPr sz="1400" b="0" i="0" u="none" strike="noStrike">
                <a:solidFill>
                  <a:srgbClr val="F1F5F9"/>
                </a:solidFill>
                <a:latin typeface="+mn-lt"/>
              </a:rPr>
              <a:t>Total training tokens at the scratch endpoint (millions)</a:t>
            </a:r>
          </a:p>
        </c:rich>
      </c:tx>
      <c:layout/>
      <c:overlay val="0"/>
    </c:title>
    <c:autoTitleDeleted val="0"/>
    <c:plotArea>
      <c:layout/>
      <c:barChart>
        <c:barDir val="col"/>
        <c:grouping val="clustered"/>
        <c:varyColors val="0"/>
        <c:ser>
          <c:idx val="0"/>
          <c:order val="0"/>
          <c:tx>
            <c:strRef>
              <c:f>Sheet1!$B$1</c:f>
              <c:strCache>
                <c:ptCount val="1"/>
                <c:pt idx="0">
                  <c:v>Scratch (8.192M)</c:v>
                </c:pt>
              </c:strCache>
            </c:strRef>
          </c:tx>
          <c:spPr>
            <a:solidFill>
              <a:srgbClr val="9FB0C8"/>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strRef>
              <c:f>Sheet1!$A$2:$A$4</c:f>
              <c:strCache>
                <c:ptCount val="3"/>
                <c:pt idx="0">
                  <c:v>Seed 17</c:v>
                </c:pt>
                <c:pt idx="1">
                  <c:v>Seed 29</c:v>
                </c:pt>
                <c:pt idx="2">
                  <c:v>Seed 43</c:v>
                </c:pt>
              </c:strCache>
            </c:strRef>
          </c:cat>
          <c:val>
            <c:numRef>
              <c:f>Sheet1!$B$2:$B$4</c:f>
              <c:numCache>
                <c:formatCode>General</c:formatCode>
                <c:ptCount val="3"/>
                <c:pt idx="0">
                  <c:v>8.192</c:v>
                </c:pt>
                <c:pt idx="1">
                  <c:v>8.192</c:v>
                </c:pt>
                <c:pt idx="2">
                  <c:v>8.192</c:v>
                </c:pt>
              </c:numCache>
            </c:numRef>
          </c:val>
        </c:ser>
        <c:ser>
          <c:idx val="1"/>
          <c:order val="1"/>
          <c:tx>
            <c:strRef>
              <c:f>Sheet1!$C$1</c:f>
              <c:strCache>
                <c:ptCount val="1"/>
                <c:pt idx="0">
                  <c:v>Grid NCA: PPT + language to crossing</c:v>
                </c:pt>
              </c:strCache>
            </c:strRef>
          </c:tx>
          <c:spPr>
            <a:solidFill>
              <a:srgbClr val="F87171"/>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strRef>
              <c:f>Sheet1!$A$2:$A$4</c:f>
              <c:strCache>
                <c:ptCount val="3"/>
                <c:pt idx="0">
                  <c:v>Seed 17</c:v>
                </c:pt>
                <c:pt idx="1">
                  <c:v>Seed 29</c:v>
                </c:pt>
                <c:pt idx="2">
                  <c:v>Seed 43</c:v>
                </c:pt>
              </c:strCache>
            </c:strRef>
          </c:cat>
          <c:val>
            <c:numRef>
              <c:f>Sheet1!$C$2:$C$4</c:f>
              <c:numCache>
                <c:formatCode>General</c:formatCode>
                <c:ptCount val="3"/>
                <c:pt idx="0">
                  <c:v>11.4688</c:v>
                </c:pt>
                <c:pt idx="1">
                  <c:v>10.6496</c:v>
                </c:pt>
                <c:pt idx="2">
                  <c:v>11.0592</c:v>
                </c:pt>
              </c:numCache>
            </c:numRef>
          </c:val>
        </c:ser>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1F5F9"/>
                </a:solidFill>
                <a:latin typeface="+mn-lt"/>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6350" cap="flat">
              <a:solidFill>
                <a:srgbClr val="2A3B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0C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1F5F9"/>
              </a:solidFill>
              <a:latin typeface="+mn-lt"/>
              <a:cs typeface="+mn-lt"/>
            </a:defRPr>
          </a:pPr>
          <a:endParaRPr lang="en-US"/>
        </a:p>
      </c:txPr>
    </c:legend>
    <c:plotVisOnly val="1"/>
    <c:dispBlanksAs val="span"/>
  </c:chart>
  <c:spPr>
    <a:noFill/>
    <a:ln>
      <a:noFill/>
    </a:ln>
    <a:effectLst/>
  </c:spPr>
  <c:externalData r:id="rId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6F3BF0-1F28-4433-892A-813C4827C99C}"/>
              </a:ext>
            </a:extLst>
          </p:cNvPr>
          <p:cNvSpPr>
            <a:spLocks xmlns:a="http://schemas.openxmlformats.org/drawingml/2006/main" noGrp="1"/>
          </p:cNvSpPr>
          <p:nvPr/>
        </p:nvSpPr>
        <p:spPr>
          <a:xfrm xmlns:a="http://schemas.openxmlformats.org/drawingml/2006/main">
            <a:off x="822960" y="100584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spc="300">
                <a:solidFill>
                  <a:schemeClr val="accent1"/>
                </a:solidFill>
                <a:latin typeface="Calibri"/>
                <a:ea typeface="Calibri"/>
                <a:cs typeface="Calibri"/>
              </a:rPr>
              <a:t>RESEARCH UPDATE</a:t>
            </a:r>
            <a:endParaRPr sz="1600"/>
          </a:p>
        </p:txBody>
      </p:sp>
      <p:sp>
        <p:nvSpPr>
          <p:cNvPr id="3" name="Text 1">
            <a:extLst xmlns:a="http://schemas.openxmlformats.org/drawingml/2006/main">
              <a:ext uri="{FF2B5EF4-FFF2-40B4-BE49-F238E27FC236}">
                <a16:creationId xmlns:a16="http://schemas.microsoft.com/office/drawing/2014/main" id="{0B9E686D-1FE1-4B8B-9511-D169B0A6D34E}"/>
              </a:ext>
            </a:extLst>
          </p:cNvPr>
          <p:cNvSpPr>
            <a:spLocks xmlns:a="http://schemas.openxmlformats.org/drawingml/2006/main" noGrp="1"/>
          </p:cNvSpPr>
          <p:nvPr/>
        </p:nvSpPr>
        <p:spPr>
          <a:xfrm xmlns:a="http://schemas.openxmlformats.org/drawingml/2006/main">
            <a:off x="822960" y="155448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4575" b="1">
                <a:solidFill>
                  <a:srgbClr val="F1F5F9"/>
                </a:solidFill>
                <a:latin typeface="Calibri"/>
                <a:ea typeface="Calibri"/>
                <a:cs typeface="Calibri"/>
              </a:defRPr>
            </a:defPPr>
            <a:lvl1pPr>
              <a:buNone/>
              <a:defRPr sz="4575" b="1">
                <a:solidFill>
                  <a:srgbClr val="F1F5F9"/>
                </a:solidFill>
                <a:latin typeface="Calibri"/>
                <a:ea typeface="Calibri"/>
                <a:cs typeface="Calibri"/>
              </a:defRPr>
            </a:lvl1pPr>
            <a:lvl2pPr>
              <a:buNone/>
              <a:defRPr sz="4575" b="1">
                <a:solidFill>
                  <a:srgbClr val="F1F5F9"/>
                </a:solidFill>
                <a:latin typeface="Calibri"/>
                <a:ea typeface="Calibri"/>
                <a:cs typeface="Calibri"/>
              </a:defRPr>
            </a:lvl2pPr>
            <a:lvl3pPr>
              <a:buNone/>
              <a:defRPr sz="4575" b="1">
                <a:solidFill>
                  <a:srgbClr val="F1F5F9"/>
                </a:solidFill>
                <a:latin typeface="Calibri"/>
                <a:ea typeface="Calibri"/>
                <a:cs typeface="Calibri"/>
              </a:defRPr>
            </a:lvl3pPr>
            <a:lvl4pPr>
              <a:buNone/>
              <a:defRPr sz="4575" b="1">
                <a:solidFill>
                  <a:srgbClr val="F1F5F9"/>
                </a:solidFill>
                <a:latin typeface="Calibri"/>
                <a:ea typeface="Calibri"/>
                <a:cs typeface="Calibri"/>
              </a:defRPr>
            </a:lvl4pPr>
            <a:lvl5pPr>
              <a:buNone/>
              <a:defRPr sz="4575" b="1">
                <a:solidFill>
                  <a:srgbClr val="F1F5F9"/>
                </a:solidFill>
                <a:latin typeface="Calibri"/>
                <a:ea typeface="Calibri"/>
                <a:cs typeface="Calibri"/>
              </a:defRPr>
            </a:lvl5pPr>
            <a:lvl6pPr>
              <a:buNone/>
              <a:defRPr sz="4575" b="1">
                <a:solidFill>
                  <a:srgbClr val="F1F5F9"/>
                </a:solidFill>
                <a:latin typeface="Calibri"/>
                <a:ea typeface="Calibri"/>
                <a:cs typeface="Calibri"/>
              </a:defRPr>
            </a:lvl6pPr>
            <a:lvl7pPr>
              <a:buNone/>
              <a:defRPr sz="4575" b="1">
                <a:solidFill>
                  <a:srgbClr val="F1F5F9"/>
                </a:solidFill>
                <a:latin typeface="Calibri"/>
                <a:ea typeface="Calibri"/>
                <a:cs typeface="Calibri"/>
              </a:defRPr>
            </a:lvl7pPr>
            <a:lvl8pPr>
              <a:buNone/>
              <a:defRPr sz="4575" b="1">
                <a:solidFill>
                  <a:srgbClr val="F1F5F9"/>
                </a:solidFill>
                <a:latin typeface="Calibri"/>
                <a:ea typeface="Calibri"/>
                <a:cs typeface="Calibri"/>
              </a:defRPr>
            </a:lvl8pPr>
            <a:lvl9pPr>
              <a:buNone/>
              <a:defRPr sz="4575" b="1">
                <a:solidFill>
                  <a:srgbClr val="F1F5F9"/>
                </a:solidFill>
                <a:latin typeface="Calibri"/>
                <a:ea typeface="Calibri"/>
                <a:cs typeface="Calibri"/>
              </a:defRPr>
            </a:lvl9pPr>
          </a:lstStyle>
          <a:p xmlns:a="http://schemas.openxmlformats.org/drawingml/2006/main">
            <a:pPr marL="0" indent="0">
              <a:buNone/>
              <a:defRPr sz="4575" b="1">
                <a:solidFill>
                  <a:srgbClr val="F1F5F9"/>
                </a:solidFill>
                <a:latin typeface="Calibri"/>
                <a:ea typeface="Calibri"/>
                <a:cs typeface="Calibri"/>
              </a:defRPr>
            </a:pPr>
            <a:r>
              <a:rPr sz="4575" b="1">
                <a:solidFill>
                  <a:srgbClr val="F1F5F9"/>
                </a:solidFill>
                <a:latin typeface="Calibri"/>
                <a:ea typeface="Calibri"/>
                <a:cs typeface="Calibri"/>
              </a:rPr>
              <a:t>GNNs in Neural Cellular Automata</a:t>
            </a:r>
            <a:endParaRPr sz="6000"/>
          </a:p>
        </p:txBody>
      </p:sp>
      <p:sp>
        <p:nvSpPr>
          <p:cNvPr id="4" name="Text 2">
            <a:extLst xmlns:a="http://schemas.openxmlformats.org/drawingml/2006/main">
              <a:ext uri="{FF2B5EF4-FFF2-40B4-BE49-F238E27FC236}">
                <a16:creationId xmlns:a16="http://schemas.microsoft.com/office/drawing/2014/main" id="{DE98D5AD-0EE1-4C74-9464-25C7DD1AA309}"/>
              </a:ext>
            </a:extLst>
          </p:cNvPr>
          <p:cNvSpPr>
            <a:spLocks xmlns:a="http://schemas.openxmlformats.org/drawingml/2006/main" noGrp="1"/>
          </p:cNvSpPr>
          <p:nvPr/>
        </p:nvSpPr>
        <p:spPr>
          <a:xfrm xmlns:a="http://schemas.openxmlformats.org/drawingml/2006/main">
            <a:off x="822960" y="2743200"/>
            <a:ext cx="9601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chemeClr val="tx2"/>
                </a:solidFill>
                <a:latin typeface="Calibri"/>
                <a:ea typeface="Calibri"/>
                <a:cs typeface="Calibri"/>
              </a:rPr>
              <a:t>Mathematics, formal proofs, GPU transfer results and controlled CPU diagnostics through stage 8</a:t>
            </a:r>
            <a:endParaRPr sz="2200"/>
          </a:p>
        </p:txBody>
      </p:sp>
      <p:sp>
        <p:nvSpPr>
          <p:cNvPr id="5" name="Highlights card">
            <a:extLst xmlns:a="http://schemas.openxmlformats.org/drawingml/2006/main">
              <a:ext uri="{FF2B5EF4-FFF2-40B4-BE49-F238E27FC236}">
                <a16:creationId xmlns:a16="http://schemas.microsoft.com/office/drawing/2014/main" id="{3578FF3F-F8E9-4B2C-ABBD-77B53BA1F4CC}"/>
              </a:ext>
            </a:extLst>
          </p:cNvPr>
          <p:cNvSpPr>
            <a:spLocks xmlns:a="http://schemas.openxmlformats.org/drawingml/2006/main" noGrp="1"/>
          </p:cNvSpPr>
          <p:nvPr/>
        </p:nvSpPr>
        <p:spPr>
          <a:xfrm xmlns:a="http://schemas.openxmlformats.org/drawingml/2006/main">
            <a:off x="822960" y="4114800"/>
            <a:ext cx="10515600" cy="1463040"/>
          </a:xfrm>
          <a:prstGeom xmlns:a="http://schemas.openxmlformats.org/drawingml/2006/main" prst="roundRect">
            <a:avLst>
              <a:gd name="adj" fmla="val 7500"/>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4">
            <a:extLst xmlns:a="http://schemas.openxmlformats.org/drawingml/2006/main">
              <a:ext uri="{FF2B5EF4-FFF2-40B4-BE49-F238E27FC236}">
                <a16:creationId xmlns:a16="http://schemas.microsoft.com/office/drawing/2014/main" id="{770AA92D-C922-4277-8641-32C19D810C69}"/>
              </a:ext>
            </a:extLst>
          </p:cNvPr>
          <p:cNvSpPr>
            <a:spLocks xmlns:a="http://schemas.openxmlformats.org/drawingml/2006/main" noGrp="1"/>
          </p:cNvSpPr>
          <p:nvPr/>
        </p:nvSpPr>
        <p:spPr>
          <a:xfrm xmlns:a="http://schemas.openxmlformats.org/drawingml/2006/main">
            <a:off x="1097280" y="4251960"/>
            <a:ext cx="10058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100">
                <a:solidFill>
                  <a:srgbClr val="F1F5F9"/>
                </a:solidFill>
                <a:latin typeface="Calibri"/>
                <a:ea typeface="Calibri"/>
                <a:cs typeface="Calibri"/>
              </a:defRPr>
            </a:defPPr>
            <a:lvl1pPr>
              <a:buNone/>
              <a:defRPr sz="2100">
                <a:solidFill>
                  <a:srgbClr val="F1F5F9"/>
                </a:solidFill>
                <a:latin typeface="Calibri"/>
                <a:ea typeface="Calibri"/>
                <a:cs typeface="Calibri"/>
              </a:defRPr>
            </a:lvl1pPr>
            <a:lvl2pPr>
              <a:buNone/>
              <a:defRPr sz="2100">
                <a:solidFill>
                  <a:srgbClr val="F1F5F9"/>
                </a:solidFill>
                <a:latin typeface="Calibri"/>
                <a:ea typeface="Calibri"/>
                <a:cs typeface="Calibri"/>
              </a:defRPr>
            </a:lvl2pPr>
            <a:lvl3pPr>
              <a:buNone/>
              <a:defRPr sz="2100">
                <a:solidFill>
                  <a:srgbClr val="F1F5F9"/>
                </a:solidFill>
                <a:latin typeface="Calibri"/>
                <a:ea typeface="Calibri"/>
                <a:cs typeface="Calibri"/>
              </a:defRPr>
            </a:lvl3pPr>
            <a:lvl4pPr>
              <a:buNone/>
              <a:defRPr sz="2100">
                <a:solidFill>
                  <a:srgbClr val="F1F5F9"/>
                </a:solidFill>
                <a:latin typeface="Calibri"/>
                <a:ea typeface="Calibri"/>
                <a:cs typeface="Calibri"/>
              </a:defRPr>
            </a:lvl4pPr>
            <a:lvl5pPr>
              <a:buNone/>
              <a:defRPr sz="2100">
                <a:solidFill>
                  <a:srgbClr val="F1F5F9"/>
                </a:solidFill>
                <a:latin typeface="Calibri"/>
                <a:ea typeface="Calibri"/>
                <a:cs typeface="Calibri"/>
              </a:defRPr>
            </a:lvl5pPr>
            <a:lvl6pPr>
              <a:buNone/>
              <a:defRPr sz="2100">
                <a:solidFill>
                  <a:srgbClr val="F1F5F9"/>
                </a:solidFill>
                <a:latin typeface="Calibri"/>
                <a:ea typeface="Calibri"/>
                <a:cs typeface="Calibri"/>
              </a:defRPr>
            </a:lvl6pPr>
            <a:lvl7pPr>
              <a:buNone/>
              <a:defRPr sz="2100">
                <a:solidFill>
                  <a:srgbClr val="F1F5F9"/>
                </a:solidFill>
                <a:latin typeface="Calibri"/>
                <a:ea typeface="Calibri"/>
                <a:cs typeface="Calibri"/>
              </a:defRPr>
            </a:lvl7pPr>
            <a:lvl8pPr>
              <a:buNone/>
              <a:defRPr sz="2100">
                <a:solidFill>
                  <a:srgbClr val="F1F5F9"/>
                </a:solidFill>
                <a:latin typeface="Calibri"/>
                <a:ea typeface="Calibri"/>
                <a:cs typeface="Calibri"/>
              </a:defRPr>
            </a:lvl8pPr>
            <a:lvl9pPr>
              <a:buNone/>
              <a:defRPr sz="2100">
                <a:solidFill>
                  <a:srgbClr val="F1F5F9"/>
                </a:solidFill>
                <a:latin typeface="Calibri"/>
                <a:ea typeface="Calibri"/>
                <a:cs typeface="Calibri"/>
              </a:defRPr>
            </a:lvl9pPr>
          </a:lstStyle>
          <a:p xmlns:a="http://schemas.openxmlformats.org/drawingml/2006/main">
            <a:pPr marL="342900" indent="-342900">
              <a:spcAft>
                <a:spcPts val="700"/>
              </a:spcAft>
              <a:buSzPct val="100000"/>
              <a:buChar char="•"/>
              <a:defRPr sz="2100">
                <a:solidFill>
                  <a:srgbClr val="F1F5F9"/>
                </a:solidFill>
                <a:latin typeface="Calibri"/>
                <a:ea typeface="Calibri"/>
                <a:cs typeface="Calibri"/>
              </a:defRPr>
            </a:pPr>
            <a:r>
              <a:rPr sz="2100">
                <a:solidFill>
                  <a:srgbClr val="F1F5F9"/>
                </a:solidFill>
                <a:latin typeface="Calibri"/>
                <a:ea typeface="Calibri"/>
                <a:cs typeface="Calibri"/>
              </a:rPr>
              <a:t>Detailed research presentation</a:t>
            </a:r>
            <a:endParaRPr sz="1600"/>
          </a:p>
          <a:p xmlns:a="http://schemas.openxmlformats.org/drawingml/2006/main">
            <a:pPr marL="342900" indent="-342900">
              <a:spcAft>
                <a:spcPts val="700"/>
              </a:spcAft>
              <a:buSzPct val="100000"/>
              <a:buChar char="•"/>
              <a:defRPr sz="2100">
                <a:solidFill>
                  <a:srgbClr val="F1F5F9"/>
                </a:solidFill>
                <a:latin typeface="Calibri"/>
                <a:ea typeface="Calibri"/>
                <a:cs typeface="Calibri"/>
              </a:defRPr>
            </a:pPr>
            <a:r>
              <a:rPr sz="2100">
                <a:solidFill>
                  <a:srgbClr val="F1F5F9"/>
                </a:solidFill>
                <a:latin typeface="Calibri"/>
                <a:ea typeface="Calibri"/>
                <a:cs typeface="Calibri"/>
              </a:rPr>
              <a:t>20 October 2026</a:t>
            </a:r>
            <a:endParaRPr sz="1600"/>
          </a:p>
        </p:txBody>
      </p:sp>
      <p:sp>
        <p:nvSpPr>
          <p:cNvPr id="7" name="Text 5">
            <a:extLst xmlns:a="http://schemas.openxmlformats.org/drawingml/2006/main">
              <a:ext uri="{FF2B5EF4-FFF2-40B4-BE49-F238E27FC236}">
                <a16:creationId xmlns:a16="http://schemas.microsoft.com/office/drawing/2014/main" id="{D21F24EB-EBBA-4786-9580-07F698837595}"/>
              </a:ext>
            </a:extLst>
          </p:cNvPr>
          <p:cNvSpPr>
            <a:spLocks xmlns:a="http://schemas.openxmlformats.org/drawingml/2006/main" noGrp="1"/>
          </p:cNvSpPr>
          <p:nvPr/>
        </p:nvSpPr>
        <p:spPr>
          <a:xfrm xmlns:a="http://schemas.openxmlformats.org/drawingml/2006/main">
            <a:off x="822960" y="594360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2"/>
                </a:solidFill>
                <a:latin typeface="Courier New"/>
                <a:ea typeface="Courier New"/>
                <a:cs typeface="Courier New"/>
              </a:rPr>
              <a:t>github.com/code8286/GPU_NCA_proofer</a:t>
            </a:r>
            <a:endParaRPr sz="1400"/>
          </a:p>
        </p:txBody>
      </p:sp>
    </p:spTree>
    <p:extLst>
      <p:ext uri="{BB962C8B-B14F-4D97-AF65-F5344CB8AC3E}">
        <p14:creationId xmlns:p14="http://schemas.microsoft.com/office/powerpoint/2010/main" val="1120480227"/>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E768D1-D508-4C81-84FA-2631D3A59198}"/>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Research map</a:t>
            </a:r>
          </a:p>
        </p:txBody>
      </p:sp>
      <p:graphicFrame>
        <p:nvGraphicFramePr>
          <p:cNvPr id="2" name="">
            <a:extLst xmlns:a="http://schemas.openxmlformats.org/drawingml/2006/main">
              <a:ext uri="{FF2B5EF4-FFF2-40B4-BE49-F238E27FC236}">
                <a16:creationId xmlns:a16="http://schemas.microsoft.com/office/drawing/2014/main" id="{5CA899F4-117F-4EE7-891E-4BAE7931B4EE}"/>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4000500"/>
                <a:gridCol w="6953250"/>
              </a:tblGrid>
              <a:tr h="666750">
                <a:tc>
                  <a:txBody>
                    <a:bodyPr wrap="square" lIns="95250" tIns="95250" rIns="95250" bIns="95250"/>
                    <a:lstStyle/>
                    <a:p>
                      <a:r>
                        <a:rPr sz="1800" b="1">
                          <a:solidFill>
                            <a:srgbClr val="F1F5F9"/>
                          </a:solidFill>
                          <a:latin typeface="Calibri"/>
                          <a:ea typeface="Calibri"/>
                          <a:cs typeface="Calibri"/>
                        </a:rPr>
                        <a:t>Question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Evidence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800" b="0">
                          <a:solidFill>
                            <a:srgbClr val="F1F5F9"/>
                          </a:solidFill>
                          <a:latin typeface="Calibri"/>
                          <a:ea typeface="Calibri"/>
                          <a:cs typeface="Calibri"/>
                        </a:rPr>
                        <a:t>What should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Typed NCA dynamics, tokenization and optimization theory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What is mathematically established?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Worked derivations and a selected 44-statement Lean core</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What happened on the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Historical pilot and separately reviewed v2, v3 and v4 runs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What do CPU diagnostics show?</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Readiness failures, basic trainability, partial spatial learning and failed weighting</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What comes next?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Existing-checkpoint fit/generalization diagnostic before another treatment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page">
            <a:extLst xmlns:a="http://schemas.openxmlformats.org/drawingml/2006/main">
              <a:ext uri="{FF2B5EF4-FFF2-40B4-BE49-F238E27FC236}">
                <a16:creationId xmlns:a16="http://schemas.microsoft.com/office/drawing/2014/main" id="{95EBC6EA-91F4-4D69-B7AA-9AAFC07B706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a:t>
            </a:r>
          </a:p>
        </p:txBody>
      </p:sp>
    </p:spTree>
    <p:extLst>
      <p:ext uri="{BB962C8B-B14F-4D97-AF65-F5344CB8AC3E}">
        <p14:creationId xmlns:p14="http://schemas.microsoft.com/office/powerpoint/2010/main" val="7341739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CED409-677D-401E-A34F-205BF2479F0D}"/>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Problem statement and research question</a:t>
            </a:r>
            <a:endParaRPr sz="3000"/>
          </a:p>
        </p:txBody>
      </p:sp>
      <p:sp>
        <p:nvSpPr>
          <p:cNvPr id="4" name="Claim card">
            <a:extLst xmlns:a="http://schemas.openxmlformats.org/drawingml/2006/main">
              <a:ext uri="{FF2B5EF4-FFF2-40B4-BE49-F238E27FC236}">
                <a16:creationId xmlns:a16="http://schemas.microsoft.com/office/drawing/2014/main" id="{2FA4BA83-2AE8-44D5-AFAD-8F49D0EB79D0}"/>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AF7E0DF3-238B-4AC1-8344-7B19E01EA6A9}"/>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The proposed idea (Lee et al., 2026)</a:t>
            </a:r>
            <a:endParaRPr sz="1800"/>
          </a:p>
        </p:txBody>
      </p:sp>
      <p:sp>
        <p:nvSpPr>
          <p:cNvPr id="6" name="Text 3">
            <a:extLst xmlns:a="http://schemas.openxmlformats.org/drawingml/2006/main">
              <a:ext uri="{FF2B5EF4-FFF2-40B4-BE49-F238E27FC236}">
                <a16:creationId xmlns:a16="http://schemas.microsoft.com/office/drawing/2014/main" id="{1549558B-15FB-4C44-A5B3-20A8F9EDC7CF}"/>
              </a:ext>
            </a:extLst>
          </p:cNvPr>
          <p:cNvSpPr>
            <a:spLocks xmlns:a="http://schemas.openxmlformats.org/drawingml/2006/main" noGrp="1"/>
          </p:cNvSpPr>
          <p:nvPr/>
        </p:nvSpPr>
        <p:spPr>
          <a:xfrm xmlns:a="http://schemas.openxmlformats.org/drawingml/2006/main">
            <a:off x="82296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Simulate a neural cellular automaton (NCA) on a 2D grid or graph</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Serialize 2D cell states into 1D token sequences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Pre-pre-train an autoregressive transformer on them</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Discard synthetic embeddings, attach a language tokenizer, train on text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Claimed benefit: relational priors that speed up language learning</a:t>
            </a:r>
            <a:endParaRPr sz="1800"/>
          </a:p>
        </p:txBody>
      </p:sp>
      <p:sp>
        <p:nvSpPr>
          <p:cNvPr id="7" name="Questions card">
            <a:extLst xmlns:a="http://schemas.openxmlformats.org/drawingml/2006/main">
              <a:ext uri="{FF2B5EF4-FFF2-40B4-BE49-F238E27FC236}">
                <a16:creationId xmlns:a16="http://schemas.microsoft.com/office/drawing/2014/main" id="{C69CAA63-032D-418F-8077-B8EDA0905FFA}"/>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09228B07-E720-459D-95F7-D31A8164FB1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the repository asks</a:t>
            </a:r>
            <a:endParaRPr sz="1800"/>
          </a:p>
        </p:txBody>
      </p:sp>
      <p:sp>
        <p:nvSpPr>
          <p:cNvPr id="9" name="Text 6">
            <a:extLst xmlns:a="http://schemas.openxmlformats.org/drawingml/2006/main">
              <a:ext uri="{FF2B5EF4-FFF2-40B4-BE49-F238E27FC236}">
                <a16:creationId xmlns:a16="http://schemas.microsoft.com/office/drawing/2014/main" id="{ED024204-C837-4B97-A5ED-A03DFD97B0D8}"/>
              </a:ext>
            </a:extLst>
          </p:cNvPr>
          <p:cNvSpPr>
            <a:spLocks xmlns:a="http://schemas.openxmlformats.org/drawingml/2006/main" noGrp="1"/>
          </p:cNvSpPr>
          <p:nvPr/>
        </p:nvSpPr>
        <p:spPr>
          <a:xfrm xmlns:a="http://schemas.openxmlformats.org/drawingml/2006/main">
            <a:off x="649224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Dynamics: what is the message-passing system computing?</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Information: how much entropy do deterministic trajectories carry?</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Serialization: what artifacts does a 2D to 1D flattening create?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Optimization: what survives the embedding reset?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Economics: does any language gain repay the synthetic stage?</a:t>
            </a:r>
            <a:endParaRPr sz="1800"/>
          </a:p>
        </p:txBody>
      </p:sp>
      <p:sp>
        <p:nvSpPr>
          <p:cNvPr id="25" name="Slide Number Placeholder 0">
            <a:extLst xmlns:a="http://schemas.openxmlformats.org/drawingml/2006/main">
              <a:ext uri="{FF2B5EF4-FFF2-40B4-BE49-F238E27FC236}">
                <a16:creationId xmlns:a16="http://schemas.microsoft.com/office/drawing/2014/main" id="{894E6E52-CBC7-4C9A-ABB1-AD39577F5849}"/>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203363616"/>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770552-B375-4998-97DA-05E942CE20B1}"/>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Research status through stage 8</a:t>
            </a:r>
          </a:p>
        </p:txBody>
      </p:sp>
      <p:graphicFrame>
        <p:nvGraphicFramePr>
          <p:cNvPr id="2" name="">
            <a:extLst xmlns:a="http://schemas.openxmlformats.org/drawingml/2006/main">
              <a:ext uri="{FF2B5EF4-FFF2-40B4-BE49-F238E27FC236}">
                <a16:creationId xmlns:a16="http://schemas.microsoft.com/office/drawing/2014/main" id="{5F71031F-6CFB-4B5E-BBD4-6AD801B928A6}"/>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4429125"/>
                <a:gridCol w="6524625"/>
              </a:tblGrid>
              <a:tr h="666750">
                <a:tc>
                  <a:txBody>
                    <a:bodyPr wrap="square" lIns="95250" tIns="95250" rIns="95250" bIns="95250"/>
                    <a:lstStyle/>
                    <a:p>
                      <a:r>
                        <a:rPr sz="1800" b="1">
                          <a:solidFill>
                            <a:srgbClr val="F1F5F9"/>
                          </a:solidFill>
                          <a:latin typeface="Calibri"/>
                          <a:ea typeface="Calibri"/>
                          <a:cs typeface="Calibri"/>
                        </a:rPr>
                        <a:t>Question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Current evidence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800" b="0">
                          <a:solidFill>
                            <a:srgbClr val="F1F5F9"/>
                          </a:solidFill>
                          <a:latin typeface="Calibri"/>
                          <a:ea typeface="Calibri"/>
                          <a:cs typeface="Calibri"/>
                        </a:rPr>
                        <a:t>Synthetic initialization transfers to language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V2-v4 reach scratch targets sooner in language tokens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Graph or dynamics advantage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V3 primary is partly censored. Both v4 primary tests fail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Synthetic cost recovered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No recovery within the measured v2-v4 horizon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Original random-rule competence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Stage 5 rejects all 12 structured cohorts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Controlled spatial competence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Stage 7 is partial. Stage 8 weighting worsens every coherent seed</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943FA508-4857-4043-9F61-043458BA6F3C}"/>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Latest GPU evidence is v4. Stages 5-8 are local CPU diagnostics and do not authorize language training.</a:t>
            </a:r>
          </a:p>
        </p:txBody>
      </p:sp>
      <p:sp>
        <p:nvSpPr>
          <p:cNvPr id="4" name="page">
            <a:extLst xmlns:a="http://schemas.openxmlformats.org/drawingml/2006/main">
              <a:ext uri="{FF2B5EF4-FFF2-40B4-BE49-F238E27FC236}">
                <a16:creationId xmlns:a16="http://schemas.microsoft.com/office/drawing/2014/main" id="{3B5BA101-959A-409E-BDEB-2E2F50474FA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a:t>
            </a:r>
          </a:p>
        </p:txBody>
      </p:sp>
    </p:spTree>
    <p:extLst>
      <p:ext uri="{BB962C8B-B14F-4D97-AF65-F5344CB8AC3E}">
        <p14:creationId xmlns:p14="http://schemas.microsoft.com/office/powerpoint/2010/main" val="572882982"/>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A3601F-411A-4226-822E-0ACE26757EA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Literature review</a:t>
            </a:r>
          </a:p>
        </p:txBody>
      </p:sp>
      <p:graphicFrame>
        <p:nvGraphicFramePr>
          <p:cNvPr id="2" name="">
            <a:extLst xmlns:a="http://schemas.openxmlformats.org/drawingml/2006/main">
              <a:ext uri="{FF2B5EF4-FFF2-40B4-BE49-F238E27FC236}">
                <a16:creationId xmlns:a16="http://schemas.microsoft.com/office/drawing/2014/main" id="{51A1E058-62F1-4C7A-B7CE-09D67925C9FE}"/>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2762250"/>
                <a:gridCol w="4095750"/>
                <a:gridCol w="4095750"/>
              </a:tblGrid>
              <a:tr h="666750">
                <a:tc>
                  <a:txBody>
                    <a:bodyPr wrap="square" lIns="95250" tIns="95250" rIns="95250" bIns="95250"/>
                    <a:lstStyle/>
                    <a:p>
                      <a:r>
                        <a:rPr sz="1725" b="1">
                          <a:solidFill>
                            <a:srgbClr val="F1F5F9"/>
                          </a:solidFill>
                          <a:latin typeface="Calibri"/>
                          <a:ea typeface="Calibri"/>
                          <a:cs typeface="Calibri"/>
                        </a:rPr>
                        <a:t>Primary work</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Relevant idea</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Role here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725" b="0">
                          <a:solidFill>
                            <a:srgbClr val="F1F5F9"/>
                          </a:solidFill>
                          <a:latin typeface="Calibri"/>
                          <a:ea typeface="Calibri"/>
                          <a:cs typeface="Calibri"/>
                        </a:rPr>
                        <a:t>Gilmer et al., 2017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Shared message passing on graphs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Typed local update representation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725" b="0">
                          <a:solidFill>
                            <a:srgbClr val="F1F5F9"/>
                          </a:solidFill>
                          <a:latin typeface="Calibri"/>
                          <a:ea typeface="Calibri"/>
                          <a:cs typeface="Calibri"/>
                        </a:rPr>
                        <a:t>Vaswani et al., 2017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Attention-based sequence prediction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Autoregressive transformer learner</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725" b="0">
                          <a:solidFill>
                            <a:srgbClr val="F1F5F9"/>
                          </a:solidFill>
                          <a:latin typeface="Calibri"/>
                          <a:ea typeface="Calibri"/>
                          <a:cs typeface="Calibri"/>
                        </a:rPr>
                        <a:t>Mordvintsev et al., 2020</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Neural cellular automata</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Local rules and emergent spatial dynamics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725" b="0">
                          <a:solidFill>
                            <a:srgbClr val="F1F5F9"/>
                          </a:solidFill>
                          <a:latin typeface="Calibri"/>
                          <a:ea typeface="Calibri"/>
                          <a:cs typeface="Calibri"/>
                        </a:rPr>
                        <a:t>Touvron et al., 2023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LLaMA model family</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Architectural context for the small local model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725" b="0">
                          <a:solidFill>
                            <a:srgbClr val="F1F5F9"/>
                          </a:solidFill>
                          <a:latin typeface="Calibri"/>
                          <a:ea typeface="Calibri"/>
                          <a:cs typeface="Calibri"/>
                        </a:rPr>
                        <a:t>Lee et al., 2026</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NCA trajectories before language training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Direct motivating transfer study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C34B88B0-9540-4011-9A92-50458C0F47F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a:t>
            </a:r>
          </a:p>
        </p:txBody>
      </p:sp>
    </p:spTree>
    <p:extLst>
      <p:ext uri="{BB962C8B-B14F-4D97-AF65-F5344CB8AC3E}">
        <p14:creationId xmlns:p14="http://schemas.microsoft.com/office/powerpoint/2010/main" val="1285497226"/>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7F805D-A031-4F67-98A1-BA5C9594796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Reference study and this development experiment</a:t>
            </a:r>
          </a:p>
        </p:txBody>
      </p:sp>
      <p:graphicFrame>
        <p:nvGraphicFramePr>
          <p:cNvPr id="2" name="">
            <a:extLst xmlns:a="http://schemas.openxmlformats.org/drawingml/2006/main">
              <a:ext uri="{FF2B5EF4-FFF2-40B4-BE49-F238E27FC236}">
                <a16:creationId xmlns:a16="http://schemas.microsoft.com/office/drawing/2014/main" id="{8B3B28CA-DF4E-4FCB-8BB6-E16EBAEDCF83}"/>
              </a:ext>
            </a:extLst>
          </p:cNvPr>
          <p:cNvGraphicFramePr/>
          <p:nvPr/>
        </p:nvGraphicFramePr>
        <p:xfrm>
          <a:off xmlns:a="http://schemas.openxmlformats.org/drawingml/2006/main" x="590550" y="1457325"/>
          <a:ext xmlns:a="http://schemas.openxmlformats.org/drawingml/2006/main" cx="10953750" cy="3905250"/>
        </p:xfrm>
        <a:graphic xmlns:a="http://schemas.openxmlformats.org/drawingml/2006/main">
          <a:graphicData uri="http://schemas.openxmlformats.org/drawingml/2006/table">
            <a:tbl>
              <a:tblPr/>
              <a:tblGrid>
                <a:gridCol w="2571750"/>
                <a:gridCol w="4191000"/>
                <a:gridCol w="4191000"/>
              </a:tblGrid>
              <a:tr h="650875">
                <a:tc>
                  <a:txBody>
                    <a:bodyPr wrap="square" lIns="95250" tIns="95250" rIns="95250" bIns="95250"/>
                    <a:lstStyle/>
                    <a:p>
                      <a:r>
                        <a:rPr sz="1725" b="1">
                          <a:solidFill>
                            <a:srgbClr val="F1F5F9"/>
                          </a:solidFill>
                          <a:latin typeface="Calibri"/>
                          <a:ea typeface="Calibri"/>
                          <a:cs typeface="Calibri"/>
                        </a:rPr>
                        <a:t>Aspect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Lee et al. v1</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Our v2 run</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0875">
                <a:tc>
                  <a:txBody>
                    <a:bodyPr wrap="square" lIns="95250" tIns="95250" rIns="95250" bIns="95250"/>
                    <a:lstStyle/>
                    <a:p>
                      <a:r>
                        <a:rPr sz="1725" b="0">
                          <a:solidFill>
                            <a:srgbClr val="F1F5F9"/>
                          </a:solidFill>
                          <a:latin typeface="Calibri"/>
                          <a:ea typeface="Calibri"/>
                          <a:cs typeface="Calibri"/>
                        </a:rPr>
                        <a:t>Transformer scale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1.6B in the main setup</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12.31M language model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0875">
                <a:tc>
                  <a:txBody>
                    <a:bodyPr wrap="square" lIns="95250" tIns="95250" rIns="95250" bIns="95250"/>
                    <a:lstStyle/>
                    <a:p>
                      <a:r>
                        <a:rPr sz="1725" b="0">
                          <a:solidFill>
                            <a:srgbClr val="F1F5F9"/>
                          </a:solidFill>
                          <a:latin typeface="Calibri"/>
                          <a:ea typeface="Calibri"/>
                          <a:cs typeface="Calibri"/>
                        </a:rPr>
                        <a:t>Synthetic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164M</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4.096M per synthetic arm and seed</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0875">
                <a:tc>
                  <a:txBody>
                    <a:bodyPr wrap="square" lIns="95250" tIns="95250" rIns="95250" bIns="95250"/>
                    <a:lstStyle/>
                    <a:p>
                      <a:r>
                        <a:rPr sz="1725" b="0">
                          <a:solidFill>
                            <a:srgbClr val="F1F5F9"/>
                          </a:solidFill>
                          <a:latin typeface="Calibri"/>
                          <a:ea typeface="Calibri"/>
                          <a:cs typeface="Calibri"/>
                        </a:rPr>
                        <a:t>Language data</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Web text, math and code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WikiText-2, 8.192M sampled input tokens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0875">
                <a:tc>
                  <a:txBody>
                    <a:bodyPr wrap="square" lIns="95250" tIns="95250" rIns="95250" bIns="95250"/>
                    <a:lstStyle/>
                    <a:p>
                      <a:r>
                        <a:rPr sz="1725" b="0">
                          <a:solidFill>
                            <a:srgbClr val="F1F5F9"/>
                          </a:solidFill>
                          <a:latin typeface="Calibri"/>
                          <a:ea typeface="Calibri"/>
                          <a:cs typeface="Calibri"/>
                        </a:rPr>
                        <a:t>Reported convergence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1.4–1.6× to scratch endpoint</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1.178× geometric token speedup</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0875">
                <a:tc>
                  <a:txBody>
                    <a:bodyPr wrap="square" lIns="95250" tIns="95250" rIns="95250" bIns="95250"/>
                    <a:lstStyle/>
                    <a:p>
                      <a:r>
                        <a:rPr sz="1725" b="0">
                          <a:solidFill>
                            <a:srgbClr val="F1F5F9"/>
                          </a:solidFill>
                          <a:latin typeface="Calibri"/>
                          <a:ea typeface="Calibri"/>
                          <a:cs typeface="Calibri"/>
                        </a:rPr>
                        <a:t>Interpretation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External research result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Small development result with matching shuffled control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8B2A0585-A846-42BF-B662-F264FD9DBDC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Different scales, corpora, controls and budgets prevent a direct performance ranking or a reproduction claim.</a:t>
            </a:r>
          </a:p>
        </p:txBody>
      </p:sp>
      <p:sp>
        <p:nvSpPr>
          <p:cNvPr id="4" name="body">
            <a:extLst xmlns:a="http://schemas.openxmlformats.org/drawingml/2006/main">
              <a:ext uri="{FF2B5EF4-FFF2-40B4-BE49-F238E27FC236}">
                <a16:creationId xmlns:a16="http://schemas.microsoft.com/office/drawing/2014/main" id="{A271A855-F003-479D-A67B-E9B0B4BDB77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a:t>
            </a:r>
          </a:p>
        </p:txBody>
      </p:sp>
    </p:spTree>
    <p:extLst>
      <p:ext uri="{BB962C8B-B14F-4D97-AF65-F5344CB8AC3E}">
        <p14:creationId xmlns:p14="http://schemas.microsoft.com/office/powerpoint/2010/main" val="1823269891"/>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70C4FF2-0911-45BA-B290-FF7DF00FB02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Hypotheses and falsifiable comparisons</a:t>
            </a:r>
          </a:p>
        </p:txBody>
      </p:sp>
      <p:sp>
        <p:nvSpPr>
          <p:cNvPr id="2" name="body">
            <a:extLst xmlns:a="http://schemas.openxmlformats.org/drawingml/2006/main">
              <a:ext uri="{FF2B5EF4-FFF2-40B4-BE49-F238E27FC236}">
                <a16:creationId xmlns:a16="http://schemas.microsoft.com/office/drawing/2014/main" id="{9CBF6B18-BD96-46B8-810A-5F8858C87A14}"/>
              </a:ext>
            </a:extLst>
          </p:cNvPr>
          <p:cNvSpPr>
            <a:spLocks xmlns:a="http://schemas.openxmlformats.org/drawingml/2006/main" noGrp="1"/>
          </p:cNvSpPr>
          <p:nvPr/>
        </p:nvSpPr>
        <p:spPr>
          <a:xfrm xmlns:a="http://schemas.openxmlformats.org/drawingml/2006/main">
            <a:off x="590550" y="14287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Transfer hypothesis: synthetic initialization lowers loss or reaches a fixed language reference sooner under the same language update procedure.</a:t>
            </a:r>
          </a:p>
        </p:txBody>
      </p:sp>
      <p:sp>
        <p:nvSpPr>
          <p:cNvPr id="3" name="body">
            <a:extLst xmlns:a="http://schemas.openxmlformats.org/drawingml/2006/main">
              <a:ext uri="{FF2B5EF4-FFF2-40B4-BE49-F238E27FC236}">
                <a16:creationId xmlns:a16="http://schemas.microsoft.com/office/drawing/2014/main" id="{633CC509-9FDA-4124-AE0C-9E81685B5934}"/>
              </a:ext>
            </a:extLst>
          </p:cNvPr>
          <p:cNvSpPr>
            <a:spLocks xmlns:a="http://schemas.openxmlformats.org/drawingml/2006/main" noGrp="1"/>
          </p:cNvSpPr>
          <p:nvPr/>
        </p:nvSpPr>
        <p:spPr>
          <a:xfrm xmlns:a="http://schemas.openxmlformats.org/drawingml/2006/main">
            <a:off x="590550" y="25336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Dynamics hypothesis: ordered NCA trajectories outperform frequency- and marker-preserving shuffled trajectories.</a:t>
            </a:r>
          </a:p>
        </p:txBody>
      </p:sp>
      <p:sp>
        <p:nvSpPr>
          <p:cNvPr id="4" name="body">
            <a:extLst xmlns:a="http://schemas.openxmlformats.org/drawingml/2006/main">
              <a:ext uri="{FF2B5EF4-FFF2-40B4-BE49-F238E27FC236}">
                <a16:creationId xmlns:a16="http://schemas.microsoft.com/office/drawing/2014/main" id="{CE0AAA04-3100-43DF-80FD-8E644075C008}"/>
              </a:ext>
            </a:extLst>
          </p:cNvPr>
          <p:cNvSpPr>
            <a:spLocks xmlns:a="http://schemas.openxmlformats.org/drawingml/2006/main" noGrp="1"/>
          </p:cNvSpPr>
          <p:nvPr/>
        </p:nvSpPr>
        <p:spPr>
          <a:xfrm xmlns:a="http://schemas.openxmlformats.org/drawingml/2006/main">
            <a:off x="590550" y="36385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Graph hypothesis: graph-NCA initialization outperforms grid-NCA initialization under paired rules, random draws and language controls.</a:t>
            </a:r>
          </a:p>
        </p:txBody>
      </p:sp>
      <p:sp>
        <p:nvSpPr>
          <p:cNvPr id="5" name="body">
            <a:extLst xmlns:a="http://schemas.openxmlformats.org/drawingml/2006/main">
              <a:ext uri="{FF2B5EF4-FFF2-40B4-BE49-F238E27FC236}">
                <a16:creationId xmlns:a16="http://schemas.microsoft.com/office/drawing/2014/main" id="{19548945-6227-4E60-9C0D-D372EA46F6C3}"/>
              </a:ext>
            </a:extLst>
          </p:cNvPr>
          <p:cNvSpPr>
            <a:spLocks xmlns:a="http://schemas.openxmlformats.org/drawingml/2006/main" noGrp="1"/>
          </p:cNvSpPr>
          <p:nvPr/>
        </p:nvSpPr>
        <p:spPr>
          <a:xfrm xmlns:a="http://schemas.openxmlformats.org/drawingml/2006/main">
            <a:off x="590550" y="47434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Cost hypothesis: language-stage savings exceed generation and synthetic optimization cost.</a:t>
            </a:r>
          </a:p>
        </p:txBody>
      </p:sp>
      <p:sp>
        <p:nvSpPr>
          <p:cNvPr id="6" name="body">
            <a:extLst xmlns:a="http://schemas.openxmlformats.org/drawingml/2006/main">
              <a:ext uri="{FF2B5EF4-FFF2-40B4-BE49-F238E27FC236}">
                <a16:creationId xmlns:a16="http://schemas.microsoft.com/office/drawing/2014/main" id="{141F93CA-45D4-41A7-9CE9-838E8C58263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7</a:t>
            </a:r>
          </a:p>
        </p:txBody>
      </p:sp>
    </p:spTree>
    <p:extLst>
      <p:ext uri="{BB962C8B-B14F-4D97-AF65-F5344CB8AC3E}">
        <p14:creationId xmlns:p14="http://schemas.microsoft.com/office/powerpoint/2010/main" val="20886913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6E7840-31C0-4DD3-A702-8539600C019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Measured v2 transfer and cumulative cost</a:t>
            </a:r>
            <a:endParaRPr sz="3000"/>
          </a:p>
        </p:txBody>
      </p:sp>
      <p:sp>
        <p:nvSpPr>
          <p:cNvPr id="4" name="Speedup card">
            <a:extLst xmlns:a="http://schemas.openxmlformats.org/drawingml/2006/main">
              <a:ext uri="{FF2B5EF4-FFF2-40B4-BE49-F238E27FC236}">
                <a16:creationId xmlns:a16="http://schemas.microsoft.com/office/drawing/2014/main" id="{457C003E-E1C6-448F-996D-3B84D7911DE4}"/>
              </a:ext>
            </a:extLst>
          </p:cNvPr>
          <p:cNvSpPr>
            <a:spLocks xmlns:a="http://schemas.openxmlformats.org/drawingml/2006/main" noGrp="1"/>
          </p:cNvSpPr>
          <p:nvPr/>
        </p:nvSpPr>
        <p:spPr>
          <a:xfrm xmlns:a="http://schemas.openxmlformats.org/drawingml/2006/main">
            <a:off x="54864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5" name="Speedup number">
            <a:extLst xmlns:a="http://schemas.openxmlformats.org/drawingml/2006/main">
              <a:ext uri="{FF2B5EF4-FFF2-40B4-BE49-F238E27FC236}">
                <a16:creationId xmlns:a16="http://schemas.microsoft.com/office/drawing/2014/main" id="{B73B252A-C7D7-4599-A7EE-87EF460996C6}"/>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1.178×</a:t>
            </a:r>
            <a:endParaRPr sz="4800"/>
          </a:p>
        </p:txBody>
      </p:sp>
      <p:sp>
        <p:nvSpPr>
          <p:cNvPr id="6" name="Speedup label">
            <a:extLst xmlns:a="http://schemas.openxmlformats.org/drawingml/2006/main">
              <a:ext uri="{FF2B5EF4-FFF2-40B4-BE49-F238E27FC236}">
                <a16:creationId xmlns:a16="http://schemas.microsoft.com/office/drawing/2014/main" id="{3CA67E83-76F9-4EAC-A5DC-788648E4F9D7}"/>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Language-token speedup</a:t>
            </a:r>
            <a:endParaRPr sz="1800"/>
          </a:p>
        </p:txBody>
      </p:sp>
      <p:sp>
        <p:nvSpPr>
          <p:cNvPr id="7" name="Speedup detail">
            <a:extLst xmlns:a="http://schemas.openxmlformats.org/drawingml/2006/main">
              <a:ext uri="{FF2B5EF4-FFF2-40B4-BE49-F238E27FC236}">
                <a16:creationId xmlns:a16="http://schemas.microsoft.com/office/drawing/2014/main" id="{B6BBB818-7AD7-4F4B-B285-46FB2A5E5E6E}"/>
              </a:ext>
            </a:extLst>
          </p:cNvPr>
          <p:cNvSpPr>
            <a:spLocks xmlns:a="http://schemas.openxmlformats.org/drawingml/2006/main" noGrp="1"/>
          </p:cNvSpPr>
          <p:nvPr/>
        </p:nvSpPr>
        <p:spPr>
          <a:xfrm xmlns:a="http://schemas.openxmlformats.org/drawingml/2006/main">
            <a:off x="82296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Grid NCA reaches each seed's scratch endpoint in 1600–1800 language updates instead of 2000.</a:t>
            </a:r>
            <a:endParaRPr sz="1400"/>
          </a:p>
        </p:txBody>
      </p:sp>
      <p:sp>
        <p:nvSpPr>
          <p:cNvPr id="8" name="Shuffled card">
            <a:extLst xmlns:a="http://schemas.openxmlformats.org/drawingml/2006/main">
              <a:ext uri="{FF2B5EF4-FFF2-40B4-BE49-F238E27FC236}">
                <a16:creationId xmlns:a16="http://schemas.microsoft.com/office/drawing/2014/main" id="{5562A865-391A-44C8-AE1D-DA2B0AE845FD}"/>
              </a:ext>
            </a:extLst>
          </p:cNvPr>
          <p:cNvSpPr>
            <a:spLocks xmlns:a="http://schemas.openxmlformats.org/drawingml/2006/main" noGrp="1"/>
          </p:cNvSpPr>
          <p:nvPr/>
        </p:nvSpPr>
        <p:spPr>
          <a:xfrm xmlns:a="http://schemas.openxmlformats.org/drawingml/2006/main">
            <a:off x="429768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9" name="Shuffled number">
            <a:extLst xmlns:a="http://schemas.openxmlformats.org/drawingml/2006/main">
              <a:ext uri="{FF2B5EF4-FFF2-40B4-BE49-F238E27FC236}">
                <a16:creationId xmlns:a16="http://schemas.microsoft.com/office/drawing/2014/main" id="{29752E06-B563-4F29-929E-B264563622C1}"/>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1.178×</a:t>
            </a:r>
            <a:endParaRPr sz="4800"/>
          </a:p>
        </p:txBody>
      </p:sp>
      <p:sp>
        <p:nvSpPr>
          <p:cNvPr id="10" name="Shuffled label">
            <a:extLst xmlns:a="http://schemas.openxmlformats.org/drawingml/2006/main">
              <a:ext uri="{FF2B5EF4-FFF2-40B4-BE49-F238E27FC236}">
                <a16:creationId xmlns:a16="http://schemas.microsoft.com/office/drawing/2014/main" id="{EBBE697A-10E0-446B-8FF3-EB0935368F3D}"/>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Same for shuffled NCA</a:t>
            </a:r>
            <a:endParaRPr sz="1800"/>
          </a:p>
        </p:txBody>
      </p:sp>
      <p:sp>
        <p:nvSpPr>
          <p:cNvPr id="11" name="Shuffled detail">
            <a:extLst xmlns:a="http://schemas.openxmlformats.org/drawingml/2006/main">
              <a:ext uri="{FF2B5EF4-FFF2-40B4-BE49-F238E27FC236}">
                <a16:creationId xmlns:a16="http://schemas.microsoft.com/office/drawing/2014/main" id="{8D5BAE65-8F60-48F9-88C9-1A1D059CD6AC}"/>
              </a:ext>
            </a:extLst>
          </p:cNvPr>
          <p:cNvSpPr>
            <a:spLocks xmlns:a="http://schemas.openxmlformats.org/drawingml/2006/main" noGrp="1"/>
          </p:cNvSpPr>
          <p:nvPr/>
        </p:nvSpPr>
        <p:spPr>
          <a:xfrm xmlns:a="http://schemas.openxmlformats.org/drawingml/2006/main">
            <a:off x="457200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Shuffled trajectories give the identical speedup, so the NCA dynamics are not isolated as the cause.</a:t>
            </a:r>
            <a:endParaRPr sz="1400"/>
          </a:p>
        </p:txBody>
      </p:sp>
      <p:sp>
        <p:nvSpPr>
          <p:cNvPr id="12" name="Cumulative card">
            <a:extLst xmlns:a="http://schemas.openxmlformats.org/drawingml/2006/main">
              <a:ext uri="{FF2B5EF4-FFF2-40B4-BE49-F238E27FC236}">
                <a16:creationId xmlns:a16="http://schemas.microsoft.com/office/drawing/2014/main" id="{ABD0EED9-6E30-464D-BD3C-1AC1976F8E5C}"/>
              </a:ext>
            </a:extLst>
          </p:cNvPr>
          <p:cNvSpPr>
            <a:spLocks xmlns:a="http://schemas.openxmlformats.org/drawingml/2006/main" noGrp="1"/>
          </p:cNvSpPr>
          <p:nvPr/>
        </p:nvSpPr>
        <p:spPr>
          <a:xfrm xmlns:a="http://schemas.openxmlformats.org/drawingml/2006/main">
            <a:off x="804672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13" name="Cumulative number">
            <a:extLst xmlns:a="http://schemas.openxmlformats.org/drawingml/2006/main">
              <a:ext uri="{FF2B5EF4-FFF2-40B4-BE49-F238E27FC236}">
                <a16:creationId xmlns:a16="http://schemas.microsoft.com/office/drawing/2014/main" id="{A0D1FC11-12EE-4474-BBEF-A17456412C50}"/>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87171"/>
                </a:solidFill>
                <a:latin typeface="Calibri"/>
                <a:ea typeface="Calibri"/>
                <a:cs typeface="Calibri"/>
              </a:rPr>
              <a:t>0.886×</a:t>
            </a:r>
            <a:endParaRPr sz="4800"/>
          </a:p>
        </p:txBody>
      </p:sp>
      <p:sp>
        <p:nvSpPr>
          <p:cNvPr id="14" name="Cumulative label">
            <a:extLst xmlns:a="http://schemas.openxmlformats.org/drawingml/2006/main">
              <a:ext uri="{FF2B5EF4-FFF2-40B4-BE49-F238E27FC236}">
                <a16:creationId xmlns:a16="http://schemas.microsoft.com/office/drawing/2014/main" id="{1866E975-22F1-4EB9-920E-157CFB11BC98}"/>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Cumulative-time speedup</a:t>
            </a:r>
            <a:endParaRPr sz="1800"/>
          </a:p>
        </p:txBody>
      </p:sp>
      <p:sp>
        <p:nvSpPr>
          <p:cNvPr id="15" name="Cumulative detail">
            <a:extLst xmlns:a="http://schemas.openxmlformats.org/drawingml/2006/main">
              <a:ext uri="{FF2B5EF4-FFF2-40B4-BE49-F238E27FC236}">
                <a16:creationId xmlns:a16="http://schemas.microsoft.com/office/drawing/2014/main" id="{C3CDEB99-B1FC-49F2-9114-1E828B4B6227}"/>
              </a:ext>
            </a:extLst>
          </p:cNvPr>
          <p:cNvSpPr>
            <a:spLocks xmlns:a="http://schemas.openxmlformats.org/drawingml/2006/main" noGrp="1"/>
          </p:cNvSpPr>
          <p:nvPr/>
        </p:nvSpPr>
        <p:spPr>
          <a:xfrm xmlns:a="http://schemas.openxmlformats.org/drawingml/2006/main">
            <a:off x="832104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Counting the 1,000 synthetic updates, grid needs about 12.8% more recorded time at the reference.</a:t>
            </a:r>
            <a:endParaRPr sz="1400"/>
          </a:p>
        </p:txBody>
      </p:sp>
      <p:sp>
        <p:nvSpPr>
          <p:cNvPr id="16" name="Caveat card">
            <a:extLst xmlns:a="http://schemas.openxmlformats.org/drawingml/2006/main">
              <a:ext uri="{FF2B5EF4-FFF2-40B4-BE49-F238E27FC236}">
                <a16:creationId xmlns:a16="http://schemas.microsoft.com/office/drawing/2014/main" id="{2460EA1C-263A-4509-8F3F-5240B7AB03AC}"/>
              </a:ext>
            </a:extLst>
          </p:cNvPr>
          <p:cNvSpPr>
            <a:spLocks xmlns:a="http://schemas.openxmlformats.org/drawingml/2006/main" noGrp="1"/>
          </p:cNvSpPr>
          <p:nvPr/>
        </p:nvSpPr>
        <p:spPr>
          <a:xfrm xmlns:a="http://schemas.openxmlformats.org/drawingml/2006/main">
            <a:off x="548640" y="4617720"/>
            <a:ext cx="11064240" cy="1508760"/>
          </a:xfrm>
          <a:prstGeom xmlns:a="http://schemas.openxmlformats.org/drawingml/2006/main" prst="roundRect">
            <a:avLst>
              <a:gd name="adj" fmla="val 7273"/>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536A4B2A-9189-4FC1-A270-7F53C13856CE}"/>
              </a:ext>
            </a:extLst>
          </p:cNvPr>
          <p:cNvSpPr>
            <a:spLocks xmlns:a="http://schemas.openxmlformats.org/drawingml/2006/main" noGrp="1"/>
          </p:cNvSpPr>
          <p:nvPr/>
        </p:nvSpPr>
        <p:spPr>
          <a:xfrm xmlns:a="http://schemas.openxmlformats.org/drawingml/2006/main">
            <a:off x="822960" y="475488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Scope of the claims</a:t>
            </a:r>
            <a:endParaRPr sz="1800"/>
          </a:p>
        </p:txBody>
      </p:sp>
      <p:sp>
        <p:nvSpPr>
          <p:cNvPr id="18" name="Text 15">
            <a:extLst xmlns:a="http://schemas.openxmlformats.org/drawingml/2006/main">
              <a:ext uri="{FF2B5EF4-FFF2-40B4-BE49-F238E27FC236}">
                <a16:creationId xmlns:a16="http://schemas.microsoft.com/office/drawing/2014/main" id="{2A974CD2-AF1F-480A-B107-6D26E98D9129}"/>
              </a:ext>
            </a:extLst>
          </p:cNvPr>
          <p:cNvSpPr>
            <a:spLocks xmlns:a="http://schemas.openxmlformats.org/drawingml/2006/main" noGrp="1"/>
          </p:cNvSpPr>
          <p:nvPr/>
        </p:nvSpPr>
        <p:spPr>
          <a:xfrm xmlns:a="http://schemas.openxmlformats.org/drawingml/2006/main">
            <a:off x="822960" y="5166360"/>
            <a:ext cx="10515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2"/>
                </a:solidFill>
                <a:latin typeface="Calibri"/>
                <a:ea typeface="Calibri"/>
                <a:cs typeface="Calibri"/>
              </a:rPr>
              <a:t>Development setting: 3 paired seeds, one shared synthetic cache, a small corpus. The repository does not claim general acceleration, reasoning gains, or a reproduction of the paper. Graph rewiring was not tested in V2.</a:t>
            </a:r>
            <a:endParaRPr sz="1600"/>
          </a:p>
        </p:txBody>
      </p:sp>
      <p:sp>
        <p:nvSpPr>
          <p:cNvPr id="25" name="Slide Number Placeholder 0">
            <a:extLst xmlns:a="http://schemas.openxmlformats.org/drawingml/2006/main">
              <a:ext uri="{FF2B5EF4-FFF2-40B4-BE49-F238E27FC236}">
                <a16:creationId xmlns:a16="http://schemas.microsoft.com/office/drawing/2014/main" id="{0725C173-0303-4DD0-A452-F433F376124B}"/>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7736863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9875CB-BC73-43D9-B766-1979F9201E51}"/>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Theory: dynamics, graph and transformer</a:t>
            </a:r>
            <a:endParaRPr sz="3000"/>
          </a:p>
        </p:txBody>
      </p:sp>
      <p:sp>
        <p:nvSpPr>
          <p:cNvPr id="4" name="Objects card">
            <a:extLst xmlns:a="http://schemas.openxmlformats.org/drawingml/2006/main">
              <a:ext uri="{FF2B5EF4-FFF2-40B4-BE49-F238E27FC236}">
                <a16:creationId xmlns:a16="http://schemas.microsoft.com/office/drawing/2014/main" id="{9DC67732-47F2-4498-B374-A8324753447D}"/>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69EE309C-9EB0-4ECE-B6BB-7BC94A544594}"/>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Three separate objects (§1)</a:t>
            </a:r>
            <a:endParaRPr sz="1800"/>
          </a:p>
        </p:txBody>
      </p:sp>
      <p:sp>
        <p:nvSpPr>
          <p:cNvPr id="6" name="Text 3">
            <a:extLst xmlns:a="http://schemas.openxmlformats.org/drawingml/2006/main">
              <a:ext uri="{FF2B5EF4-FFF2-40B4-BE49-F238E27FC236}">
                <a16:creationId xmlns:a16="http://schemas.microsoft.com/office/drawing/2014/main" id="{B00E8A99-D534-4F38-8D17-9BE9606DFBBD}"/>
              </a:ext>
            </a:extLst>
          </p:cNvPr>
          <p:cNvSpPr>
            <a:spLocks xmlns:a="http://schemas.openxmlformats.org/drawingml/2006/main" noGrp="1"/>
          </p:cNvSpPr>
          <p:nvPr/>
        </p:nvSpPr>
        <p:spPr>
          <a:xfrm xmlns:a="http://schemas.openxmlformats.org/drawingml/2006/main">
            <a:off x="82296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NCA dynamics: discrete alphabet, X(t+1) = F(X(t)); rule weights sampled once and frozen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Topology G: typed incoming relation permutations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Transformer predictor: a detached model trained only on serialized traces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cannot backpropagate into the generator</a:t>
            </a:r>
            <a:endParaRPr sz="1800"/>
          </a:p>
        </p:txBody>
      </p:sp>
      <p:sp>
        <p:nvSpPr>
          <p:cNvPr id="7" name="Rewiring card">
            <a:extLst xmlns:a="http://schemas.openxmlformats.org/drawingml/2006/main">
              <a:ext uri="{FF2B5EF4-FFF2-40B4-BE49-F238E27FC236}">
                <a16:creationId xmlns:a16="http://schemas.microsoft.com/office/drawing/2014/main" id="{7B264087-169B-44ED-AC8A-2F9F2F8FADBE}"/>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7D5CBD19-EE10-4301-BE61-A28412FEA84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Grid vs. graph rewiring (§2)</a:t>
            </a:r>
            <a:endParaRPr sz="1800"/>
          </a:p>
        </p:txBody>
      </p:sp>
      <p:sp>
        <p:nvSpPr>
          <p:cNvPr id="9" name="Text 6">
            <a:extLst xmlns:a="http://schemas.openxmlformats.org/drawingml/2006/main">
              <a:ext uri="{FF2B5EF4-FFF2-40B4-BE49-F238E27FC236}">
                <a16:creationId xmlns:a16="http://schemas.microsoft.com/office/drawing/2014/main" id="{A013308C-98F9-473D-A9BF-E8822E6319E5}"/>
              </a:ext>
            </a:extLst>
          </p:cNvPr>
          <p:cNvSpPr>
            <a:spLocks xmlns:a="http://schemas.openxmlformats.org/drawingml/2006/main" noGrp="1"/>
          </p:cNvSpPr>
          <p:nvPr/>
        </p:nvSpPr>
        <p:spPr>
          <a:xfrm xmlns:a="http://schemas.openxmlformats.org/drawingml/2006/main">
            <a:off x="649224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Periodic 2D grid with 3×3 convolutions = 8-regular typed directed graph</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Degree-preserving rewiring permutes incoming neighbours and keeps degree 8</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changes the diffusion spectrum and logit-margin perturbation bounds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breaks 2D translation equivariance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Lean covers relabeling equivariance; spectral claims stay informal</a:t>
            </a:r>
            <a:endParaRPr sz="1800"/>
          </a:p>
        </p:txBody>
      </p:sp>
      <p:sp>
        <p:nvSpPr>
          <p:cNvPr id="25" name="Slide Number Placeholder 0">
            <a:extLst xmlns:a="http://schemas.openxmlformats.org/drawingml/2006/main">
              <a:ext uri="{FF2B5EF4-FFF2-40B4-BE49-F238E27FC236}">
                <a16:creationId xmlns:a16="http://schemas.microsoft.com/office/drawing/2014/main" id="{CAED8FC8-E30B-4002-B94C-FC936F04EA40}"/>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519521893"/>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2" name="title">
            <a:extLst xmlns:a="http://schemas.openxmlformats.org/drawingml/2006/main">
              <a:ext uri="{FF2B5EF4-FFF2-40B4-BE49-F238E27FC236}">
                <a16:creationId xmlns:a16="http://schemas.microsoft.com/office/drawing/2014/main" id="{E8F41D94-FFEC-4C82-B580-BB9C4191F3AB}"/>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GNN visualization from a saved topology</a:t>
            </a:r>
          </a:p>
        </p:txBody>
      </p:sp>
      <p:sp>
        <p:nvSpPr>
          <p:cNvPr id="2" name="">
            <a:extLst xmlns:a="http://schemas.openxmlformats.org/drawingml/2006/main">
              <a:ext uri="{FF2B5EF4-FFF2-40B4-BE49-F238E27FC236}">
                <a16:creationId xmlns:a16="http://schemas.microsoft.com/office/drawing/2014/main" id="{52E30ADA-2547-4DB6-BC12-98B4D3BB9FDB}"/>
              </a:ext>
            </a:extLst>
          </p:cNvPr>
          <p:cNvSpPr>
            <a:spLocks xmlns:a="http://schemas.openxmlformats.org/drawingml/2006/main" noGrp="1"/>
          </p:cNvSpPr>
          <p:nvPr/>
        </p:nvSpPr>
        <p:spPr>
          <a:xfrm xmlns:a="http://schemas.openxmlformats.org/drawingml/2006/main">
            <a:off x="1914525" y="2466975"/>
            <a:ext cx="409575" cy="409575"/>
          </a:xfrm>
          <a:custGeom xmlns:a="http://schemas.openxmlformats.org/drawingml/2006/main">
            <a:pathLst>
              <a:path w="409575" h="409575">
                <a:moveTo>
                  <a:pt x="0" y="0"/>
                </a:moveTo>
                <a:lnTo>
                  <a:pt x="409575" y="409575"/>
                </a:lnTo>
              </a:path>
            </a:pathLst>
          </a:custGeom>
          <a:noFill xmlns:a="http://schemas.openxmlformats.org/drawingml/2006/main"/>
          <a:ln xmlns:a="http://schemas.openxmlformats.org/drawingml/2006/main" w="26670">
            <a:solidFill>
              <a:srgbClr val="38BDF8"/>
            </a:solidFill>
            <a:prstDash val="solid"/>
          </a:ln>
        </p:spPr>
      </p:sp>
      <p:sp>
        <p:nvSpPr>
          <p:cNvPr id="3" name="">
            <a:extLst xmlns:a="http://schemas.openxmlformats.org/drawingml/2006/main">
              <a:ext uri="{FF2B5EF4-FFF2-40B4-BE49-F238E27FC236}">
                <a16:creationId xmlns:a16="http://schemas.microsoft.com/office/drawing/2014/main" id="{D7CFC63D-29BC-4E34-89C6-B4F1AE3C7BC9}"/>
              </a:ext>
            </a:extLst>
          </p:cNvPr>
          <p:cNvSpPr>
            <a:spLocks xmlns:a="http://schemas.openxmlformats.org/drawingml/2006/main" noGrp="1"/>
          </p:cNvSpPr>
          <p:nvPr/>
        </p:nvSpPr>
        <p:spPr>
          <a:xfrm xmlns:a="http://schemas.openxmlformats.org/drawingml/2006/main">
            <a:off x="2324100" y="2466975"/>
            <a:ext cx="9525" cy="409575"/>
          </a:xfrm>
          <a:custGeom xmlns:a="http://schemas.openxmlformats.org/drawingml/2006/main">
            <a:pathLst>
              <a:path w="9525" h="409575">
                <a:moveTo>
                  <a:pt x="0"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4" name="">
            <a:extLst xmlns:a="http://schemas.openxmlformats.org/drawingml/2006/main">
              <a:ext uri="{FF2B5EF4-FFF2-40B4-BE49-F238E27FC236}">
                <a16:creationId xmlns:a16="http://schemas.microsoft.com/office/drawing/2014/main" id="{428EE6C1-D4B9-4E65-BBFD-02759929E846}"/>
              </a:ext>
            </a:extLst>
          </p:cNvPr>
          <p:cNvSpPr>
            <a:spLocks xmlns:a="http://schemas.openxmlformats.org/drawingml/2006/main" noGrp="1"/>
          </p:cNvSpPr>
          <p:nvPr/>
        </p:nvSpPr>
        <p:spPr>
          <a:xfrm xmlns:a="http://schemas.openxmlformats.org/drawingml/2006/main">
            <a:off x="2324100" y="2466975"/>
            <a:ext cx="409575" cy="409575"/>
          </a:xfrm>
          <a:custGeom xmlns:a="http://schemas.openxmlformats.org/drawingml/2006/main">
            <a:pathLst>
              <a:path w="409575" h="409575">
                <a:moveTo>
                  <a:pt x="409575"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5" name="">
            <a:extLst xmlns:a="http://schemas.openxmlformats.org/drawingml/2006/main">
              <a:ext uri="{FF2B5EF4-FFF2-40B4-BE49-F238E27FC236}">
                <a16:creationId xmlns:a16="http://schemas.microsoft.com/office/drawing/2014/main" id="{D682ADC6-B4EC-473A-89C0-343A91C1B03C}"/>
              </a:ext>
            </a:extLst>
          </p:cNvPr>
          <p:cNvSpPr>
            <a:spLocks xmlns:a="http://schemas.openxmlformats.org/drawingml/2006/main" noGrp="1"/>
          </p:cNvSpPr>
          <p:nvPr/>
        </p:nvSpPr>
        <p:spPr>
          <a:xfrm xmlns:a="http://schemas.openxmlformats.org/drawingml/2006/main">
            <a:off x="1914525" y="28765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26670">
            <a:solidFill>
              <a:srgbClr val="38BDF8"/>
            </a:solidFill>
            <a:prstDash val="solid"/>
          </a:ln>
        </p:spPr>
      </p:sp>
      <p:sp>
        <p:nvSpPr>
          <p:cNvPr id="6" name="">
            <a:extLst xmlns:a="http://schemas.openxmlformats.org/drawingml/2006/main">
              <a:ext uri="{FF2B5EF4-FFF2-40B4-BE49-F238E27FC236}">
                <a16:creationId xmlns:a16="http://schemas.microsoft.com/office/drawing/2014/main" id="{BAA38241-4679-4FBE-99D9-F5EFC810477F}"/>
              </a:ext>
            </a:extLst>
          </p:cNvPr>
          <p:cNvSpPr>
            <a:spLocks xmlns:a="http://schemas.openxmlformats.org/drawingml/2006/main" noGrp="1"/>
          </p:cNvSpPr>
          <p:nvPr/>
        </p:nvSpPr>
        <p:spPr>
          <a:xfrm xmlns:a="http://schemas.openxmlformats.org/drawingml/2006/main">
            <a:off x="2324100" y="2876550"/>
            <a:ext cx="409575" cy="9525"/>
          </a:xfrm>
          <a:custGeom xmlns:a="http://schemas.openxmlformats.org/drawingml/2006/main">
            <a:pathLst>
              <a:path w="409575" h="9525">
                <a:moveTo>
                  <a:pt x="409575" y="0"/>
                </a:moveTo>
                <a:lnTo>
                  <a:pt x="0" y="0"/>
                </a:lnTo>
              </a:path>
            </a:pathLst>
          </a:custGeom>
          <a:noFill xmlns:a="http://schemas.openxmlformats.org/drawingml/2006/main"/>
          <a:ln xmlns:a="http://schemas.openxmlformats.org/drawingml/2006/main" w="26670">
            <a:solidFill>
              <a:srgbClr val="38BDF8"/>
            </a:solidFill>
            <a:prstDash val="solid"/>
          </a:ln>
        </p:spPr>
      </p:sp>
      <p:sp>
        <p:nvSpPr>
          <p:cNvPr id="7" name="">
            <a:extLst xmlns:a="http://schemas.openxmlformats.org/drawingml/2006/main">
              <a:ext uri="{FF2B5EF4-FFF2-40B4-BE49-F238E27FC236}">
                <a16:creationId xmlns:a16="http://schemas.microsoft.com/office/drawing/2014/main" id="{DF3A9DBD-4921-416C-8F20-71864C0AFF01}"/>
              </a:ext>
            </a:extLst>
          </p:cNvPr>
          <p:cNvSpPr>
            <a:spLocks xmlns:a="http://schemas.openxmlformats.org/drawingml/2006/main" noGrp="1"/>
          </p:cNvSpPr>
          <p:nvPr/>
        </p:nvSpPr>
        <p:spPr>
          <a:xfrm xmlns:a="http://schemas.openxmlformats.org/drawingml/2006/main">
            <a:off x="1914525" y="2876550"/>
            <a:ext cx="409575" cy="409575"/>
          </a:xfrm>
          <a:custGeom xmlns:a="http://schemas.openxmlformats.org/drawingml/2006/main">
            <a:pathLst>
              <a:path w="409575" h="409575">
                <a:moveTo>
                  <a:pt x="0" y="409575"/>
                </a:moveTo>
                <a:lnTo>
                  <a:pt x="409575" y="0"/>
                </a:lnTo>
              </a:path>
            </a:pathLst>
          </a:custGeom>
          <a:noFill xmlns:a="http://schemas.openxmlformats.org/drawingml/2006/main"/>
          <a:ln xmlns:a="http://schemas.openxmlformats.org/drawingml/2006/main" w="26670">
            <a:solidFill>
              <a:srgbClr val="38BDF8"/>
            </a:solidFill>
            <a:prstDash val="solid"/>
          </a:ln>
        </p:spPr>
      </p:sp>
      <p:sp>
        <p:nvSpPr>
          <p:cNvPr id="8" name="">
            <a:extLst xmlns:a="http://schemas.openxmlformats.org/drawingml/2006/main">
              <a:ext uri="{FF2B5EF4-FFF2-40B4-BE49-F238E27FC236}">
                <a16:creationId xmlns:a16="http://schemas.microsoft.com/office/drawing/2014/main" id="{5338ECD1-2A68-40E6-A80A-96301E173DA2}"/>
              </a:ext>
            </a:extLst>
          </p:cNvPr>
          <p:cNvSpPr>
            <a:spLocks xmlns:a="http://schemas.openxmlformats.org/drawingml/2006/main" noGrp="1"/>
          </p:cNvSpPr>
          <p:nvPr/>
        </p:nvSpPr>
        <p:spPr>
          <a:xfrm xmlns:a="http://schemas.openxmlformats.org/drawingml/2006/main">
            <a:off x="2324100" y="2876550"/>
            <a:ext cx="9525" cy="409575"/>
          </a:xfrm>
          <a:custGeom xmlns:a="http://schemas.openxmlformats.org/drawingml/2006/main">
            <a:pathLst>
              <a:path w="9525" h="409575">
                <a:moveTo>
                  <a:pt x="0"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9" name="">
            <a:extLst xmlns:a="http://schemas.openxmlformats.org/drawingml/2006/main">
              <a:ext uri="{FF2B5EF4-FFF2-40B4-BE49-F238E27FC236}">
                <a16:creationId xmlns:a16="http://schemas.microsoft.com/office/drawing/2014/main" id="{3C6811DC-E3EA-4634-88F2-659CE03D46CA}"/>
              </a:ext>
            </a:extLst>
          </p:cNvPr>
          <p:cNvSpPr>
            <a:spLocks xmlns:a="http://schemas.openxmlformats.org/drawingml/2006/main" noGrp="1"/>
          </p:cNvSpPr>
          <p:nvPr/>
        </p:nvSpPr>
        <p:spPr>
          <a:xfrm xmlns:a="http://schemas.openxmlformats.org/drawingml/2006/main">
            <a:off x="2324100" y="2876550"/>
            <a:ext cx="409575" cy="409575"/>
          </a:xfrm>
          <a:custGeom xmlns:a="http://schemas.openxmlformats.org/drawingml/2006/main">
            <a:pathLst>
              <a:path w="409575" h="409575">
                <a:moveTo>
                  <a:pt x="409575"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10" name="">
            <a:extLst xmlns:a="http://schemas.openxmlformats.org/drawingml/2006/main">
              <a:ext uri="{FF2B5EF4-FFF2-40B4-BE49-F238E27FC236}">
                <a16:creationId xmlns:a16="http://schemas.microsoft.com/office/drawing/2014/main" id="{C1BC4DA6-DEB5-4D8D-AB6B-746D6CB22AD8}"/>
              </a:ext>
            </a:extLst>
          </p:cNvPr>
          <p:cNvSpPr>
            <a:spLocks xmlns:a="http://schemas.openxmlformats.org/drawingml/2006/main" noGrp="1"/>
          </p:cNvSpPr>
          <p:nvPr/>
        </p:nvSpPr>
        <p:spPr>
          <a:xfrm xmlns:a="http://schemas.openxmlformats.org/drawingml/2006/main">
            <a:off x="10096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B494F7-E6DB-4223-B2CC-70651CE74524}"/>
              </a:ext>
            </a:extLst>
          </p:cNvPr>
          <p:cNvSpPr>
            <a:spLocks xmlns:a="http://schemas.openxmlformats.org/drawingml/2006/main" noGrp="1"/>
          </p:cNvSpPr>
          <p:nvPr/>
        </p:nvSpPr>
        <p:spPr>
          <a:xfrm xmlns:a="http://schemas.openxmlformats.org/drawingml/2006/main">
            <a:off x="14192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99DFBD-F04C-4801-9EBF-9A289A5E061A}"/>
              </a:ext>
            </a:extLst>
          </p:cNvPr>
          <p:cNvSpPr>
            <a:spLocks xmlns:a="http://schemas.openxmlformats.org/drawingml/2006/main" noGrp="1"/>
          </p:cNvSpPr>
          <p:nvPr/>
        </p:nvSpPr>
        <p:spPr>
          <a:xfrm xmlns:a="http://schemas.openxmlformats.org/drawingml/2006/main">
            <a:off x="18288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84874E-5226-4038-B339-1E594AF2AE74}"/>
              </a:ext>
            </a:extLst>
          </p:cNvPr>
          <p:cNvSpPr>
            <a:spLocks xmlns:a="http://schemas.openxmlformats.org/drawingml/2006/main" noGrp="1"/>
          </p:cNvSpPr>
          <p:nvPr/>
        </p:nvSpPr>
        <p:spPr>
          <a:xfrm xmlns:a="http://schemas.openxmlformats.org/drawingml/2006/main">
            <a:off x="22383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F8B84F-2BC2-43F4-A0E0-C95B71C9AD23}"/>
              </a:ext>
            </a:extLst>
          </p:cNvPr>
          <p:cNvSpPr>
            <a:spLocks xmlns:a="http://schemas.openxmlformats.org/drawingml/2006/main" noGrp="1"/>
          </p:cNvSpPr>
          <p:nvPr/>
        </p:nvSpPr>
        <p:spPr>
          <a:xfrm xmlns:a="http://schemas.openxmlformats.org/drawingml/2006/main">
            <a:off x="26479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E9723B-5770-4077-A7DE-A2256A4D9701}"/>
              </a:ext>
            </a:extLst>
          </p:cNvPr>
          <p:cNvSpPr>
            <a:spLocks xmlns:a="http://schemas.openxmlformats.org/drawingml/2006/main" noGrp="1"/>
          </p:cNvSpPr>
          <p:nvPr/>
        </p:nvSpPr>
        <p:spPr>
          <a:xfrm xmlns:a="http://schemas.openxmlformats.org/drawingml/2006/main">
            <a:off x="30575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167FA9-CDE3-4B66-8A89-F246B935EACE}"/>
              </a:ext>
            </a:extLst>
          </p:cNvPr>
          <p:cNvSpPr>
            <a:spLocks xmlns:a="http://schemas.openxmlformats.org/drawingml/2006/main" noGrp="1"/>
          </p:cNvSpPr>
          <p:nvPr/>
        </p:nvSpPr>
        <p:spPr>
          <a:xfrm xmlns:a="http://schemas.openxmlformats.org/drawingml/2006/main">
            <a:off x="34671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B29D70-8CDE-435E-B675-095D6F4A36C4}"/>
              </a:ext>
            </a:extLst>
          </p:cNvPr>
          <p:cNvSpPr>
            <a:spLocks xmlns:a="http://schemas.openxmlformats.org/drawingml/2006/main" noGrp="1"/>
          </p:cNvSpPr>
          <p:nvPr/>
        </p:nvSpPr>
        <p:spPr>
          <a:xfrm xmlns:a="http://schemas.openxmlformats.org/drawingml/2006/main">
            <a:off x="38766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8A49C2-7896-4E7F-A1B6-0021757930EF}"/>
              </a:ext>
            </a:extLst>
          </p:cNvPr>
          <p:cNvSpPr>
            <a:spLocks xmlns:a="http://schemas.openxmlformats.org/drawingml/2006/main" noGrp="1"/>
          </p:cNvSpPr>
          <p:nvPr/>
        </p:nvSpPr>
        <p:spPr>
          <a:xfrm xmlns:a="http://schemas.openxmlformats.org/drawingml/2006/main">
            <a:off x="10096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609C5F7-004A-48B0-9538-0671898DF1F9}"/>
              </a:ext>
            </a:extLst>
          </p:cNvPr>
          <p:cNvSpPr>
            <a:spLocks xmlns:a="http://schemas.openxmlformats.org/drawingml/2006/main" noGrp="1"/>
          </p:cNvSpPr>
          <p:nvPr/>
        </p:nvSpPr>
        <p:spPr>
          <a:xfrm xmlns:a="http://schemas.openxmlformats.org/drawingml/2006/main">
            <a:off x="14192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3509A5-0CBA-408F-8909-1FE54D83C5D0}"/>
              </a:ext>
            </a:extLst>
          </p:cNvPr>
          <p:cNvSpPr>
            <a:spLocks xmlns:a="http://schemas.openxmlformats.org/drawingml/2006/main" noGrp="1"/>
          </p:cNvSpPr>
          <p:nvPr/>
        </p:nvSpPr>
        <p:spPr>
          <a:xfrm xmlns:a="http://schemas.openxmlformats.org/drawingml/2006/main">
            <a:off x="18288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155F4B1-5308-4847-B78E-ADB7389461E6}"/>
              </a:ext>
            </a:extLst>
          </p:cNvPr>
          <p:cNvSpPr>
            <a:spLocks xmlns:a="http://schemas.openxmlformats.org/drawingml/2006/main" noGrp="1"/>
          </p:cNvSpPr>
          <p:nvPr/>
        </p:nvSpPr>
        <p:spPr>
          <a:xfrm xmlns:a="http://schemas.openxmlformats.org/drawingml/2006/main">
            <a:off x="22383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12EE81E-0B81-4C37-ACD7-E3E60ABC143E}"/>
              </a:ext>
            </a:extLst>
          </p:cNvPr>
          <p:cNvSpPr>
            <a:spLocks xmlns:a="http://schemas.openxmlformats.org/drawingml/2006/main" noGrp="1"/>
          </p:cNvSpPr>
          <p:nvPr/>
        </p:nvSpPr>
        <p:spPr>
          <a:xfrm xmlns:a="http://schemas.openxmlformats.org/drawingml/2006/main">
            <a:off x="26479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EC0566-D732-49EA-90FB-68E4E20AB8F3}"/>
              </a:ext>
            </a:extLst>
          </p:cNvPr>
          <p:cNvSpPr>
            <a:spLocks xmlns:a="http://schemas.openxmlformats.org/drawingml/2006/main" noGrp="1"/>
          </p:cNvSpPr>
          <p:nvPr/>
        </p:nvSpPr>
        <p:spPr>
          <a:xfrm xmlns:a="http://schemas.openxmlformats.org/drawingml/2006/main">
            <a:off x="30575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9EF75E0-6500-444B-9067-FE02FAF97E25}"/>
              </a:ext>
            </a:extLst>
          </p:cNvPr>
          <p:cNvSpPr>
            <a:spLocks xmlns:a="http://schemas.openxmlformats.org/drawingml/2006/main" noGrp="1"/>
          </p:cNvSpPr>
          <p:nvPr/>
        </p:nvSpPr>
        <p:spPr>
          <a:xfrm xmlns:a="http://schemas.openxmlformats.org/drawingml/2006/main">
            <a:off x="34671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EE9F093-9E9F-49D7-95F2-96E541F23DCC}"/>
              </a:ext>
            </a:extLst>
          </p:cNvPr>
          <p:cNvSpPr>
            <a:spLocks xmlns:a="http://schemas.openxmlformats.org/drawingml/2006/main" noGrp="1"/>
          </p:cNvSpPr>
          <p:nvPr/>
        </p:nvSpPr>
        <p:spPr>
          <a:xfrm xmlns:a="http://schemas.openxmlformats.org/drawingml/2006/main">
            <a:off x="38766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A7BF67E-1951-413F-81A2-D2651B6233D0}"/>
              </a:ext>
            </a:extLst>
          </p:cNvPr>
          <p:cNvSpPr>
            <a:spLocks xmlns:a="http://schemas.openxmlformats.org/drawingml/2006/main" noGrp="1"/>
          </p:cNvSpPr>
          <p:nvPr/>
        </p:nvSpPr>
        <p:spPr>
          <a:xfrm xmlns:a="http://schemas.openxmlformats.org/drawingml/2006/main">
            <a:off x="100965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D1E3D4B-CEC1-4CFE-A416-C487B1236F42}"/>
              </a:ext>
            </a:extLst>
          </p:cNvPr>
          <p:cNvSpPr>
            <a:spLocks xmlns:a="http://schemas.openxmlformats.org/drawingml/2006/main" noGrp="1"/>
          </p:cNvSpPr>
          <p:nvPr/>
        </p:nvSpPr>
        <p:spPr>
          <a:xfrm xmlns:a="http://schemas.openxmlformats.org/drawingml/2006/main">
            <a:off x="14192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4F47D12-398C-44FB-92DD-5BAAB1CB2B0E}"/>
              </a:ext>
            </a:extLst>
          </p:cNvPr>
          <p:cNvSpPr>
            <a:spLocks xmlns:a="http://schemas.openxmlformats.org/drawingml/2006/main" noGrp="1"/>
          </p:cNvSpPr>
          <p:nvPr/>
        </p:nvSpPr>
        <p:spPr>
          <a:xfrm xmlns:a="http://schemas.openxmlformats.org/drawingml/2006/main">
            <a:off x="182880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05D85F5-4AE5-42DD-A1D5-637BB75A87FB}"/>
              </a:ext>
            </a:extLst>
          </p:cNvPr>
          <p:cNvSpPr>
            <a:spLocks xmlns:a="http://schemas.openxmlformats.org/drawingml/2006/main" noGrp="1"/>
          </p:cNvSpPr>
          <p:nvPr/>
        </p:nvSpPr>
        <p:spPr>
          <a:xfrm xmlns:a="http://schemas.openxmlformats.org/drawingml/2006/main">
            <a:off x="2238375"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5E3A13B-A60D-4489-9AD5-544735B8A9E4}"/>
              </a:ext>
            </a:extLst>
          </p:cNvPr>
          <p:cNvSpPr>
            <a:spLocks xmlns:a="http://schemas.openxmlformats.org/drawingml/2006/main" noGrp="1"/>
          </p:cNvSpPr>
          <p:nvPr/>
        </p:nvSpPr>
        <p:spPr>
          <a:xfrm xmlns:a="http://schemas.openxmlformats.org/drawingml/2006/main">
            <a:off x="264795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C71F905-49A4-4B6D-A273-523435BBD4ED}"/>
              </a:ext>
            </a:extLst>
          </p:cNvPr>
          <p:cNvSpPr>
            <a:spLocks xmlns:a="http://schemas.openxmlformats.org/drawingml/2006/main" noGrp="1"/>
          </p:cNvSpPr>
          <p:nvPr/>
        </p:nvSpPr>
        <p:spPr>
          <a:xfrm xmlns:a="http://schemas.openxmlformats.org/drawingml/2006/main">
            <a:off x="30575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433117B-6D06-4C58-952B-49685D847E7C}"/>
              </a:ext>
            </a:extLst>
          </p:cNvPr>
          <p:cNvSpPr>
            <a:spLocks xmlns:a="http://schemas.openxmlformats.org/drawingml/2006/main" noGrp="1"/>
          </p:cNvSpPr>
          <p:nvPr/>
        </p:nvSpPr>
        <p:spPr>
          <a:xfrm xmlns:a="http://schemas.openxmlformats.org/drawingml/2006/main">
            <a:off x="346710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983AED-901E-45B9-A4CF-923B427B447E}"/>
              </a:ext>
            </a:extLst>
          </p:cNvPr>
          <p:cNvSpPr>
            <a:spLocks xmlns:a="http://schemas.openxmlformats.org/drawingml/2006/main" noGrp="1"/>
          </p:cNvSpPr>
          <p:nvPr/>
        </p:nvSpPr>
        <p:spPr>
          <a:xfrm xmlns:a="http://schemas.openxmlformats.org/drawingml/2006/main">
            <a:off x="38766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05210DF-0E7D-4718-9F60-5368FEF810E3}"/>
              </a:ext>
            </a:extLst>
          </p:cNvPr>
          <p:cNvSpPr>
            <a:spLocks xmlns:a="http://schemas.openxmlformats.org/drawingml/2006/main" noGrp="1"/>
          </p:cNvSpPr>
          <p:nvPr/>
        </p:nvSpPr>
        <p:spPr>
          <a:xfrm xmlns:a="http://schemas.openxmlformats.org/drawingml/2006/main">
            <a:off x="100965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2BC2CBB-40BB-4B4F-A074-DEC108279020}"/>
              </a:ext>
            </a:extLst>
          </p:cNvPr>
          <p:cNvSpPr>
            <a:spLocks xmlns:a="http://schemas.openxmlformats.org/drawingml/2006/main" noGrp="1"/>
          </p:cNvSpPr>
          <p:nvPr/>
        </p:nvSpPr>
        <p:spPr>
          <a:xfrm xmlns:a="http://schemas.openxmlformats.org/drawingml/2006/main">
            <a:off x="14192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C6FC0B3-8F23-4387-84D6-AF205D6BFACE}"/>
              </a:ext>
            </a:extLst>
          </p:cNvPr>
          <p:cNvSpPr>
            <a:spLocks xmlns:a="http://schemas.openxmlformats.org/drawingml/2006/main" noGrp="1"/>
          </p:cNvSpPr>
          <p:nvPr/>
        </p:nvSpPr>
        <p:spPr>
          <a:xfrm xmlns:a="http://schemas.openxmlformats.org/drawingml/2006/main">
            <a:off x="182880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70AC379-F76C-42A9-8FB7-DD1F6F269A43}"/>
              </a:ext>
            </a:extLst>
          </p:cNvPr>
          <p:cNvSpPr>
            <a:spLocks xmlns:a="http://schemas.openxmlformats.org/drawingml/2006/main" noGrp="1"/>
          </p:cNvSpPr>
          <p:nvPr/>
        </p:nvSpPr>
        <p:spPr>
          <a:xfrm xmlns:a="http://schemas.openxmlformats.org/drawingml/2006/main">
            <a:off x="2238375" y="2790825"/>
            <a:ext cx="171450" cy="171450"/>
          </a:xfrm>
          <a:prstGeom xmlns:a="http://schemas.openxmlformats.org/drawingml/2006/main" prst="ellipse">
            <a:avLst/>
          </a:prstGeom>
          <a:solidFill xmlns:a="http://schemas.openxmlformats.org/drawingml/2006/main">
            <a:srgbClr val="FBBF2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73D734E-00AA-4F24-9380-017909B7A527}"/>
              </a:ext>
            </a:extLst>
          </p:cNvPr>
          <p:cNvSpPr>
            <a:spLocks xmlns:a="http://schemas.openxmlformats.org/drawingml/2006/main" noGrp="1"/>
          </p:cNvSpPr>
          <p:nvPr/>
        </p:nvSpPr>
        <p:spPr>
          <a:xfrm xmlns:a="http://schemas.openxmlformats.org/drawingml/2006/main">
            <a:off x="264795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CFBAE95-CBDE-482D-AF97-34068FEB2697}"/>
              </a:ext>
            </a:extLst>
          </p:cNvPr>
          <p:cNvSpPr>
            <a:spLocks xmlns:a="http://schemas.openxmlformats.org/drawingml/2006/main" noGrp="1"/>
          </p:cNvSpPr>
          <p:nvPr/>
        </p:nvSpPr>
        <p:spPr>
          <a:xfrm xmlns:a="http://schemas.openxmlformats.org/drawingml/2006/main">
            <a:off x="30575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6669D5B-9DC4-426F-B448-41737D3B533B}"/>
              </a:ext>
            </a:extLst>
          </p:cNvPr>
          <p:cNvSpPr>
            <a:spLocks xmlns:a="http://schemas.openxmlformats.org/drawingml/2006/main" noGrp="1"/>
          </p:cNvSpPr>
          <p:nvPr/>
        </p:nvSpPr>
        <p:spPr>
          <a:xfrm xmlns:a="http://schemas.openxmlformats.org/drawingml/2006/main">
            <a:off x="34671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624C4D9-C2FF-4348-9784-1E7ECBFD7B88}"/>
              </a:ext>
            </a:extLst>
          </p:cNvPr>
          <p:cNvSpPr>
            <a:spLocks xmlns:a="http://schemas.openxmlformats.org/drawingml/2006/main" noGrp="1"/>
          </p:cNvSpPr>
          <p:nvPr/>
        </p:nvSpPr>
        <p:spPr>
          <a:xfrm xmlns:a="http://schemas.openxmlformats.org/drawingml/2006/main">
            <a:off x="38766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F58357C-BBE5-4185-8915-513631466706}"/>
              </a:ext>
            </a:extLst>
          </p:cNvPr>
          <p:cNvSpPr>
            <a:spLocks xmlns:a="http://schemas.openxmlformats.org/drawingml/2006/main" noGrp="1"/>
          </p:cNvSpPr>
          <p:nvPr/>
        </p:nvSpPr>
        <p:spPr>
          <a:xfrm xmlns:a="http://schemas.openxmlformats.org/drawingml/2006/main">
            <a:off x="10096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6FC216E-E10A-4B03-BD52-657D41D7D632}"/>
              </a:ext>
            </a:extLst>
          </p:cNvPr>
          <p:cNvSpPr>
            <a:spLocks xmlns:a="http://schemas.openxmlformats.org/drawingml/2006/main" noGrp="1"/>
          </p:cNvSpPr>
          <p:nvPr/>
        </p:nvSpPr>
        <p:spPr>
          <a:xfrm xmlns:a="http://schemas.openxmlformats.org/drawingml/2006/main">
            <a:off x="14192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901C198-DEFA-43E3-B302-E84A6D5C58DE}"/>
              </a:ext>
            </a:extLst>
          </p:cNvPr>
          <p:cNvSpPr>
            <a:spLocks xmlns:a="http://schemas.openxmlformats.org/drawingml/2006/main" noGrp="1"/>
          </p:cNvSpPr>
          <p:nvPr/>
        </p:nvSpPr>
        <p:spPr>
          <a:xfrm xmlns:a="http://schemas.openxmlformats.org/drawingml/2006/main">
            <a:off x="1828800"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FEC108C-C4B8-4AFE-B24C-54C49B530343}"/>
              </a:ext>
            </a:extLst>
          </p:cNvPr>
          <p:cNvSpPr>
            <a:spLocks xmlns:a="http://schemas.openxmlformats.org/drawingml/2006/main" noGrp="1"/>
          </p:cNvSpPr>
          <p:nvPr/>
        </p:nvSpPr>
        <p:spPr>
          <a:xfrm xmlns:a="http://schemas.openxmlformats.org/drawingml/2006/main">
            <a:off x="2238375"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C45FC0B-5BB0-4652-86D4-1C23E33E0A2F}"/>
              </a:ext>
            </a:extLst>
          </p:cNvPr>
          <p:cNvSpPr>
            <a:spLocks xmlns:a="http://schemas.openxmlformats.org/drawingml/2006/main" noGrp="1"/>
          </p:cNvSpPr>
          <p:nvPr/>
        </p:nvSpPr>
        <p:spPr>
          <a:xfrm xmlns:a="http://schemas.openxmlformats.org/drawingml/2006/main">
            <a:off x="2647950"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2CE2D5D-BD5C-48E1-B646-743E2165E100}"/>
              </a:ext>
            </a:extLst>
          </p:cNvPr>
          <p:cNvSpPr>
            <a:spLocks xmlns:a="http://schemas.openxmlformats.org/drawingml/2006/main" noGrp="1"/>
          </p:cNvSpPr>
          <p:nvPr/>
        </p:nvSpPr>
        <p:spPr>
          <a:xfrm xmlns:a="http://schemas.openxmlformats.org/drawingml/2006/main">
            <a:off x="30575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03C3753-A087-4038-A5AB-5A9876F08AA3}"/>
              </a:ext>
            </a:extLst>
          </p:cNvPr>
          <p:cNvSpPr>
            <a:spLocks xmlns:a="http://schemas.openxmlformats.org/drawingml/2006/main" noGrp="1"/>
          </p:cNvSpPr>
          <p:nvPr/>
        </p:nvSpPr>
        <p:spPr>
          <a:xfrm xmlns:a="http://schemas.openxmlformats.org/drawingml/2006/main">
            <a:off x="34671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8BF2655-B10D-4BC6-A6BF-3EB6F4660071}"/>
              </a:ext>
            </a:extLst>
          </p:cNvPr>
          <p:cNvSpPr>
            <a:spLocks xmlns:a="http://schemas.openxmlformats.org/drawingml/2006/main" noGrp="1"/>
          </p:cNvSpPr>
          <p:nvPr/>
        </p:nvSpPr>
        <p:spPr>
          <a:xfrm xmlns:a="http://schemas.openxmlformats.org/drawingml/2006/main">
            <a:off x="38766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8667807-FBFC-4B9A-83BE-AF69D830BCCA}"/>
              </a:ext>
            </a:extLst>
          </p:cNvPr>
          <p:cNvSpPr>
            <a:spLocks xmlns:a="http://schemas.openxmlformats.org/drawingml/2006/main" noGrp="1"/>
          </p:cNvSpPr>
          <p:nvPr/>
        </p:nvSpPr>
        <p:spPr>
          <a:xfrm xmlns:a="http://schemas.openxmlformats.org/drawingml/2006/main">
            <a:off x="10096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1B1B7D02-A86A-4BA4-8748-227E940F1341}"/>
              </a:ext>
            </a:extLst>
          </p:cNvPr>
          <p:cNvSpPr>
            <a:spLocks xmlns:a="http://schemas.openxmlformats.org/drawingml/2006/main" noGrp="1"/>
          </p:cNvSpPr>
          <p:nvPr/>
        </p:nvSpPr>
        <p:spPr>
          <a:xfrm xmlns:a="http://schemas.openxmlformats.org/drawingml/2006/main">
            <a:off x="14192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29852C4-B2E4-4025-ABA6-A4B80942BFE5}"/>
              </a:ext>
            </a:extLst>
          </p:cNvPr>
          <p:cNvSpPr>
            <a:spLocks xmlns:a="http://schemas.openxmlformats.org/drawingml/2006/main" noGrp="1"/>
          </p:cNvSpPr>
          <p:nvPr/>
        </p:nvSpPr>
        <p:spPr>
          <a:xfrm xmlns:a="http://schemas.openxmlformats.org/drawingml/2006/main">
            <a:off x="18288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733E2A0-9185-45F4-BFB3-4D581E718452}"/>
              </a:ext>
            </a:extLst>
          </p:cNvPr>
          <p:cNvSpPr>
            <a:spLocks xmlns:a="http://schemas.openxmlformats.org/drawingml/2006/main" noGrp="1"/>
          </p:cNvSpPr>
          <p:nvPr/>
        </p:nvSpPr>
        <p:spPr>
          <a:xfrm xmlns:a="http://schemas.openxmlformats.org/drawingml/2006/main">
            <a:off x="22383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8A2AF67-1B51-456D-A234-29658BC2CADA}"/>
              </a:ext>
            </a:extLst>
          </p:cNvPr>
          <p:cNvSpPr>
            <a:spLocks xmlns:a="http://schemas.openxmlformats.org/drawingml/2006/main" noGrp="1"/>
          </p:cNvSpPr>
          <p:nvPr/>
        </p:nvSpPr>
        <p:spPr>
          <a:xfrm xmlns:a="http://schemas.openxmlformats.org/drawingml/2006/main">
            <a:off x="26479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4E68818-A7B2-4B3C-814C-9516BAB9F1BF}"/>
              </a:ext>
            </a:extLst>
          </p:cNvPr>
          <p:cNvSpPr>
            <a:spLocks xmlns:a="http://schemas.openxmlformats.org/drawingml/2006/main" noGrp="1"/>
          </p:cNvSpPr>
          <p:nvPr/>
        </p:nvSpPr>
        <p:spPr>
          <a:xfrm xmlns:a="http://schemas.openxmlformats.org/drawingml/2006/main">
            <a:off x="30575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9DA983E-05F9-43AB-9B30-6A83EE1C0159}"/>
              </a:ext>
            </a:extLst>
          </p:cNvPr>
          <p:cNvSpPr>
            <a:spLocks xmlns:a="http://schemas.openxmlformats.org/drawingml/2006/main" noGrp="1"/>
          </p:cNvSpPr>
          <p:nvPr/>
        </p:nvSpPr>
        <p:spPr>
          <a:xfrm xmlns:a="http://schemas.openxmlformats.org/drawingml/2006/main">
            <a:off x="34671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588480E-F3FC-4D6C-8B10-1DBAEDA7E574}"/>
              </a:ext>
            </a:extLst>
          </p:cNvPr>
          <p:cNvSpPr>
            <a:spLocks xmlns:a="http://schemas.openxmlformats.org/drawingml/2006/main" noGrp="1"/>
          </p:cNvSpPr>
          <p:nvPr/>
        </p:nvSpPr>
        <p:spPr>
          <a:xfrm xmlns:a="http://schemas.openxmlformats.org/drawingml/2006/main">
            <a:off x="38766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A4DCA9E-5B92-4CAE-B6FD-A3CF9C08FA1C}"/>
              </a:ext>
            </a:extLst>
          </p:cNvPr>
          <p:cNvSpPr>
            <a:spLocks xmlns:a="http://schemas.openxmlformats.org/drawingml/2006/main" noGrp="1"/>
          </p:cNvSpPr>
          <p:nvPr/>
        </p:nvSpPr>
        <p:spPr>
          <a:xfrm xmlns:a="http://schemas.openxmlformats.org/drawingml/2006/main">
            <a:off x="10096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654362EA-1DCA-484C-BA1E-085FC88A70C1}"/>
              </a:ext>
            </a:extLst>
          </p:cNvPr>
          <p:cNvSpPr>
            <a:spLocks xmlns:a="http://schemas.openxmlformats.org/drawingml/2006/main" noGrp="1"/>
          </p:cNvSpPr>
          <p:nvPr/>
        </p:nvSpPr>
        <p:spPr>
          <a:xfrm xmlns:a="http://schemas.openxmlformats.org/drawingml/2006/main">
            <a:off x="14192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ED7F3D56-6428-4604-8E5C-EEE1FE0171C7}"/>
              </a:ext>
            </a:extLst>
          </p:cNvPr>
          <p:cNvSpPr>
            <a:spLocks xmlns:a="http://schemas.openxmlformats.org/drawingml/2006/main" noGrp="1"/>
          </p:cNvSpPr>
          <p:nvPr/>
        </p:nvSpPr>
        <p:spPr>
          <a:xfrm xmlns:a="http://schemas.openxmlformats.org/drawingml/2006/main">
            <a:off x="18288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2896F44-F75C-4112-B573-C27695920FA6}"/>
              </a:ext>
            </a:extLst>
          </p:cNvPr>
          <p:cNvSpPr>
            <a:spLocks xmlns:a="http://schemas.openxmlformats.org/drawingml/2006/main" noGrp="1"/>
          </p:cNvSpPr>
          <p:nvPr/>
        </p:nvSpPr>
        <p:spPr>
          <a:xfrm xmlns:a="http://schemas.openxmlformats.org/drawingml/2006/main">
            <a:off x="22383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1516BCB1-8029-443E-9C96-C32B3C4D9B9A}"/>
              </a:ext>
            </a:extLst>
          </p:cNvPr>
          <p:cNvSpPr>
            <a:spLocks xmlns:a="http://schemas.openxmlformats.org/drawingml/2006/main" noGrp="1"/>
          </p:cNvSpPr>
          <p:nvPr/>
        </p:nvSpPr>
        <p:spPr>
          <a:xfrm xmlns:a="http://schemas.openxmlformats.org/drawingml/2006/main">
            <a:off x="26479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AA74A4B8-D7D3-4834-B6DD-E8F06B63FDA9}"/>
              </a:ext>
            </a:extLst>
          </p:cNvPr>
          <p:cNvSpPr>
            <a:spLocks xmlns:a="http://schemas.openxmlformats.org/drawingml/2006/main" noGrp="1"/>
          </p:cNvSpPr>
          <p:nvPr/>
        </p:nvSpPr>
        <p:spPr>
          <a:xfrm xmlns:a="http://schemas.openxmlformats.org/drawingml/2006/main">
            <a:off x="30575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5E124F3-AEB2-421D-BDF5-CA4E5CA700B5}"/>
              </a:ext>
            </a:extLst>
          </p:cNvPr>
          <p:cNvSpPr>
            <a:spLocks xmlns:a="http://schemas.openxmlformats.org/drawingml/2006/main" noGrp="1"/>
          </p:cNvSpPr>
          <p:nvPr/>
        </p:nvSpPr>
        <p:spPr>
          <a:xfrm xmlns:a="http://schemas.openxmlformats.org/drawingml/2006/main">
            <a:off x="34671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2079661D-18B8-4607-9C41-FF0FD760E780}"/>
              </a:ext>
            </a:extLst>
          </p:cNvPr>
          <p:cNvSpPr>
            <a:spLocks xmlns:a="http://schemas.openxmlformats.org/drawingml/2006/main" noGrp="1"/>
          </p:cNvSpPr>
          <p:nvPr/>
        </p:nvSpPr>
        <p:spPr>
          <a:xfrm xmlns:a="http://schemas.openxmlformats.org/drawingml/2006/main">
            <a:off x="38766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517422D7-0047-4630-88EE-2A7EA5ED55C9}"/>
              </a:ext>
            </a:extLst>
          </p:cNvPr>
          <p:cNvSpPr>
            <a:spLocks xmlns:a="http://schemas.openxmlformats.org/drawingml/2006/main" noGrp="1"/>
          </p:cNvSpPr>
          <p:nvPr/>
        </p:nvSpPr>
        <p:spPr>
          <a:xfrm xmlns:a="http://schemas.openxmlformats.org/drawingml/2006/main">
            <a:off x="10096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6984B72F-FEDE-4D31-9532-C1C9F1B2E614}"/>
              </a:ext>
            </a:extLst>
          </p:cNvPr>
          <p:cNvSpPr>
            <a:spLocks xmlns:a="http://schemas.openxmlformats.org/drawingml/2006/main" noGrp="1"/>
          </p:cNvSpPr>
          <p:nvPr/>
        </p:nvSpPr>
        <p:spPr>
          <a:xfrm xmlns:a="http://schemas.openxmlformats.org/drawingml/2006/main">
            <a:off x="14192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C334C149-BBD5-472E-952F-48978A449ABE}"/>
              </a:ext>
            </a:extLst>
          </p:cNvPr>
          <p:cNvSpPr>
            <a:spLocks xmlns:a="http://schemas.openxmlformats.org/drawingml/2006/main" noGrp="1"/>
          </p:cNvSpPr>
          <p:nvPr/>
        </p:nvSpPr>
        <p:spPr>
          <a:xfrm xmlns:a="http://schemas.openxmlformats.org/drawingml/2006/main">
            <a:off x="18288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131D2B7A-66EC-4C90-A9F7-82A83589E5E6}"/>
              </a:ext>
            </a:extLst>
          </p:cNvPr>
          <p:cNvSpPr>
            <a:spLocks xmlns:a="http://schemas.openxmlformats.org/drawingml/2006/main" noGrp="1"/>
          </p:cNvSpPr>
          <p:nvPr/>
        </p:nvSpPr>
        <p:spPr>
          <a:xfrm xmlns:a="http://schemas.openxmlformats.org/drawingml/2006/main">
            <a:off x="22383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F3DFDD0-9999-45EE-A428-1FEE7B643F5E}"/>
              </a:ext>
            </a:extLst>
          </p:cNvPr>
          <p:cNvSpPr>
            <a:spLocks xmlns:a="http://schemas.openxmlformats.org/drawingml/2006/main" noGrp="1"/>
          </p:cNvSpPr>
          <p:nvPr/>
        </p:nvSpPr>
        <p:spPr>
          <a:xfrm xmlns:a="http://schemas.openxmlformats.org/drawingml/2006/main">
            <a:off x="26479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BC636BB2-6DDB-441F-A79B-CE66ED092258}"/>
              </a:ext>
            </a:extLst>
          </p:cNvPr>
          <p:cNvSpPr>
            <a:spLocks xmlns:a="http://schemas.openxmlformats.org/drawingml/2006/main" noGrp="1"/>
          </p:cNvSpPr>
          <p:nvPr/>
        </p:nvSpPr>
        <p:spPr>
          <a:xfrm xmlns:a="http://schemas.openxmlformats.org/drawingml/2006/main">
            <a:off x="30575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741809C4-AB55-41C6-8285-43E6D930D195}"/>
              </a:ext>
            </a:extLst>
          </p:cNvPr>
          <p:cNvSpPr>
            <a:spLocks xmlns:a="http://schemas.openxmlformats.org/drawingml/2006/main" noGrp="1"/>
          </p:cNvSpPr>
          <p:nvPr/>
        </p:nvSpPr>
        <p:spPr>
          <a:xfrm xmlns:a="http://schemas.openxmlformats.org/drawingml/2006/main">
            <a:off x="34671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193A2A73-6F18-4397-BED0-B52A569BF3AE}"/>
              </a:ext>
            </a:extLst>
          </p:cNvPr>
          <p:cNvSpPr>
            <a:spLocks xmlns:a="http://schemas.openxmlformats.org/drawingml/2006/main" noGrp="1"/>
          </p:cNvSpPr>
          <p:nvPr/>
        </p:nvSpPr>
        <p:spPr>
          <a:xfrm xmlns:a="http://schemas.openxmlformats.org/drawingml/2006/main">
            <a:off x="38766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4" name="body">
            <a:extLst xmlns:a="http://schemas.openxmlformats.org/drawingml/2006/main">
              <a:ext uri="{FF2B5EF4-FFF2-40B4-BE49-F238E27FC236}">
                <a16:creationId xmlns:a16="http://schemas.microsoft.com/office/drawing/2014/main" id="{E1F253D2-6764-4B28-8CBE-A6835677BC8C}"/>
              </a:ext>
            </a:extLst>
          </p:cNvPr>
          <p:cNvSpPr>
            <a:spLocks xmlns:a="http://schemas.openxmlformats.org/drawingml/2006/main" noGrp="1"/>
          </p:cNvSpPr>
          <p:nvPr/>
        </p:nvSpPr>
        <p:spPr>
          <a:xfrm xmlns:a="http://schemas.openxmlformats.org/drawingml/2006/main">
            <a:off x="1000125" y="48101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1F5F9"/>
                </a:solidFill>
                <a:latin typeface="Calibri"/>
                <a:ea typeface="Calibri"/>
                <a:cs typeface="Calibri"/>
              </a:defRPr>
            </a:defPPr>
            <a:lvl1pPr>
              <a:buNone/>
              <a:defRPr sz="1725" b="1">
                <a:solidFill>
                  <a:srgbClr val="F1F5F9"/>
                </a:solidFill>
                <a:latin typeface="Calibri"/>
                <a:ea typeface="Calibri"/>
                <a:cs typeface="Calibri"/>
              </a:defRPr>
            </a:lvl1pPr>
            <a:lvl2pPr>
              <a:buNone/>
              <a:defRPr sz="1725" b="1">
                <a:solidFill>
                  <a:srgbClr val="F1F5F9"/>
                </a:solidFill>
                <a:latin typeface="Calibri"/>
                <a:ea typeface="Calibri"/>
                <a:cs typeface="Calibri"/>
              </a:defRPr>
            </a:lvl2pPr>
            <a:lvl3pPr>
              <a:buNone/>
              <a:defRPr sz="1725" b="1">
                <a:solidFill>
                  <a:srgbClr val="F1F5F9"/>
                </a:solidFill>
                <a:latin typeface="Calibri"/>
                <a:ea typeface="Calibri"/>
                <a:cs typeface="Calibri"/>
              </a:defRPr>
            </a:lvl3pPr>
            <a:lvl4pPr>
              <a:buNone/>
              <a:defRPr sz="1725" b="1">
                <a:solidFill>
                  <a:srgbClr val="F1F5F9"/>
                </a:solidFill>
                <a:latin typeface="Calibri"/>
                <a:ea typeface="Calibri"/>
                <a:cs typeface="Calibri"/>
              </a:defRPr>
            </a:lvl4pPr>
            <a:lvl5pPr>
              <a:buNone/>
              <a:defRPr sz="1725" b="1">
                <a:solidFill>
                  <a:srgbClr val="F1F5F9"/>
                </a:solidFill>
                <a:latin typeface="Calibri"/>
                <a:ea typeface="Calibri"/>
                <a:cs typeface="Calibri"/>
              </a:defRPr>
            </a:lvl5pPr>
            <a:lvl6pPr>
              <a:buNone/>
              <a:defRPr sz="1725" b="1">
                <a:solidFill>
                  <a:srgbClr val="F1F5F9"/>
                </a:solidFill>
                <a:latin typeface="Calibri"/>
                <a:ea typeface="Calibri"/>
                <a:cs typeface="Calibri"/>
              </a:defRPr>
            </a:lvl6pPr>
            <a:lvl7pPr>
              <a:buNone/>
              <a:defRPr sz="1725" b="1">
                <a:solidFill>
                  <a:srgbClr val="F1F5F9"/>
                </a:solidFill>
                <a:latin typeface="Calibri"/>
                <a:ea typeface="Calibri"/>
                <a:cs typeface="Calibri"/>
              </a:defRPr>
            </a:lvl7pPr>
            <a:lvl8pPr>
              <a:buNone/>
              <a:defRPr sz="1725" b="1">
                <a:solidFill>
                  <a:srgbClr val="F1F5F9"/>
                </a:solidFill>
                <a:latin typeface="Calibri"/>
                <a:ea typeface="Calibri"/>
                <a:cs typeface="Calibri"/>
              </a:defRPr>
            </a:lvl8pPr>
            <a:lvl9pPr>
              <a:buNone/>
              <a:defRPr sz="1725" b="1">
                <a:solidFill>
                  <a:srgbClr val="F1F5F9"/>
                </a:solidFill>
                <a:latin typeface="Calibri"/>
                <a:ea typeface="Calibri"/>
                <a:cs typeface="Calibri"/>
              </a:defRPr>
            </a:lvl9pPr>
          </a:lstStyle>
          <a:p xmlns:a="http://schemas.openxmlformats.org/drawingml/2006/main">
            <a:pPr>
              <a:buNone/>
              <a:defRPr sz="1725" b="1">
                <a:solidFill>
                  <a:srgbClr val="F1F5F9"/>
                </a:solidFill>
                <a:latin typeface="Calibri"/>
                <a:ea typeface="Calibri"/>
                <a:cs typeface="Calibri"/>
              </a:defRPr>
            </a:pPr>
            <a:r>
              <a:rPr sz="1725" b="1">
                <a:solidFill>
                  <a:srgbClr val="F1F5F9"/>
                </a:solidFill>
                <a:latin typeface="Calibri"/>
                <a:ea typeface="Calibri"/>
                <a:cs typeface="Calibri"/>
              </a:rPr>
              <a:t>Periodic grid donors</a:t>
            </a:r>
          </a:p>
        </p:txBody>
      </p:sp>
      <p:sp>
        <p:nvSpPr>
          <p:cNvPr id="75" name="body">
            <a:extLst xmlns:a="http://schemas.openxmlformats.org/drawingml/2006/main">
              <a:ext uri="{FF2B5EF4-FFF2-40B4-BE49-F238E27FC236}">
                <a16:creationId xmlns:a16="http://schemas.microsoft.com/office/drawing/2014/main" id="{912E5E65-CCED-45A6-A7B7-D0B1F25519FE}"/>
              </a:ext>
            </a:extLst>
          </p:cNvPr>
          <p:cNvSpPr>
            <a:spLocks xmlns:a="http://schemas.openxmlformats.org/drawingml/2006/main" noGrp="1"/>
          </p:cNvSpPr>
          <p:nvPr/>
        </p:nvSpPr>
        <p:spPr>
          <a:xfrm xmlns:a="http://schemas.openxmlformats.org/drawingml/2006/main">
            <a:off x="1000125" y="52292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FB0C8"/>
                </a:solidFill>
                <a:latin typeface="Calibri"/>
                <a:ea typeface="Calibri"/>
                <a:cs typeface="Calibri"/>
              </a:defRPr>
            </a:defPPr>
            <a:lvl1pPr>
              <a:buNone/>
              <a:defRPr sz="1575" b="0">
                <a:solidFill>
                  <a:srgbClr val="9FB0C8"/>
                </a:solidFill>
                <a:latin typeface="Calibri"/>
                <a:ea typeface="Calibri"/>
                <a:cs typeface="Calibri"/>
              </a:defRPr>
            </a:lvl1pPr>
            <a:lvl2pPr>
              <a:buNone/>
              <a:defRPr sz="1575" b="0">
                <a:solidFill>
                  <a:srgbClr val="9FB0C8"/>
                </a:solidFill>
                <a:latin typeface="Calibri"/>
                <a:ea typeface="Calibri"/>
                <a:cs typeface="Calibri"/>
              </a:defRPr>
            </a:lvl2pPr>
            <a:lvl3pPr>
              <a:buNone/>
              <a:defRPr sz="1575" b="0">
                <a:solidFill>
                  <a:srgbClr val="9FB0C8"/>
                </a:solidFill>
                <a:latin typeface="Calibri"/>
                <a:ea typeface="Calibri"/>
                <a:cs typeface="Calibri"/>
              </a:defRPr>
            </a:lvl3pPr>
            <a:lvl4pPr>
              <a:buNone/>
              <a:defRPr sz="1575" b="0">
                <a:solidFill>
                  <a:srgbClr val="9FB0C8"/>
                </a:solidFill>
                <a:latin typeface="Calibri"/>
                <a:ea typeface="Calibri"/>
                <a:cs typeface="Calibri"/>
              </a:defRPr>
            </a:lvl4pPr>
            <a:lvl5pPr>
              <a:buNone/>
              <a:defRPr sz="1575" b="0">
                <a:solidFill>
                  <a:srgbClr val="9FB0C8"/>
                </a:solidFill>
                <a:latin typeface="Calibri"/>
                <a:ea typeface="Calibri"/>
                <a:cs typeface="Calibri"/>
              </a:defRPr>
            </a:lvl5pPr>
            <a:lvl6pPr>
              <a:buNone/>
              <a:defRPr sz="1575" b="0">
                <a:solidFill>
                  <a:srgbClr val="9FB0C8"/>
                </a:solidFill>
                <a:latin typeface="Calibri"/>
                <a:ea typeface="Calibri"/>
                <a:cs typeface="Calibri"/>
              </a:defRPr>
            </a:lvl6pPr>
            <a:lvl7pPr>
              <a:buNone/>
              <a:defRPr sz="1575" b="0">
                <a:solidFill>
                  <a:srgbClr val="9FB0C8"/>
                </a:solidFill>
                <a:latin typeface="Calibri"/>
                <a:ea typeface="Calibri"/>
                <a:cs typeface="Calibri"/>
              </a:defRPr>
            </a:lvl7pPr>
            <a:lvl8pPr>
              <a:buNone/>
              <a:defRPr sz="1575" b="0">
                <a:solidFill>
                  <a:srgbClr val="9FB0C8"/>
                </a:solidFill>
                <a:latin typeface="Calibri"/>
                <a:ea typeface="Calibri"/>
                <a:cs typeface="Calibri"/>
              </a:defRPr>
            </a:lvl8pPr>
            <a:lvl9pPr>
              <a:buNone/>
              <a:defRPr sz="1575" b="0">
                <a:solidFill>
                  <a:srgbClr val="9FB0C8"/>
                </a:solidFill>
                <a:latin typeface="Calibri"/>
                <a:ea typeface="Calibri"/>
                <a:cs typeface="Calibri"/>
              </a:defRPr>
            </a:lvl9pPr>
          </a:lstStyle>
          <a:p xmlns:a="http://schemas.openxmlformats.org/drawingml/2006/main">
            <a:pPr>
              <a:buNone/>
              <a:defRPr sz="1575" b="0">
                <a:solidFill>
                  <a:srgbClr val="9FB0C8"/>
                </a:solidFill>
                <a:latin typeface="Calibri"/>
                <a:ea typeface="Calibri"/>
                <a:cs typeface="Calibri"/>
              </a:defRPr>
            </a:pPr>
            <a:r>
              <a:rPr sz="1575" b="0">
                <a:solidFill>
                  <a:srgbClr val="9FB0C8"/>
                </a:solidFill>
                <a:latin typeface="Calibri"/>
                <a:ea typeface="Calibri"/>
                <a:cs typeface="Calibri"/>
              </a:rPr>
              <a:t>Receiver 27 draws from: 18, 19, 20, 26, 28, 34, 35, 36</a:t>
            </a:r>
          </a:p>
        </p:txBody>
      </p:sp>
      <p:sp>
        <p:nvSpPr>
          <p:cNvPr id="76" name="">
            <a:extLst xmlns:a="http://schemas.openxmlformats.org/drawingml/2006/main">
              <a:ext uri="{FF2B5EF4-FFF2-40B4-BE49-F238E27FC236}">
                <a16:creationId xmlns:a16="http://schemas.microsoft.com/office/drawing/2014/main" id="{91882FF6-A266-41C5-87B8-D5883CE7C0DD}"/>
              </a:ext>
            </a:extLst>
          </p:cNvPr>
          <p:cNvSpPr>
            <a:spLocks xmlns:a="http://schemas.openxmlformats.org/drawingml/2006/main" noGrp="1"/>
          </p:cNvSpPr>
          <p:nvPr/>
        </p:nvSpPr>
        <p:spPr>
          <a:xfrm xmlns:a="http://schemas.openxmlformats.org/drawingml/2006/main">
            <a:off x="8105775" y="2466975"/>
            <a:ext cx="409575" cy="409575"/>
          </a:xfrm>
          <a:custGeom xmlns:a="http://schemas.openxmlformats.org/drawingml/2006/main">
            <a:pathLst>
              <a:path w="409575" h="409575">
                <a:moveTo>
                  <a:pt x="0" y="0"/>
                </a:moveTo>
                <a:lnTo>
                  <a:pt x="409575" y="409575"/>
                </a:lnTo>
              </a:path>
            </a:pathLst>
          </a:custGeom>
          <a:noFill xmlns:a="http://schemas.openxmlformats.org/drawingml/2006/main"/>
          <a:ln xmlns:a="http://schemas.openxmlformats.org/drawingml/2006/main" w="26670">
            <a:solidFill>
              <a:srgbClr val="38BDF8"/>
            </a:solidFill>
            <a:prstDash val="solid"/>
          </a:ln>
        </p:spPr>
      </p:sp>
      <p:sp>
        <p:nvSpPr>
          <p:cNvPr id="77" name="">
            <a:extLst xmlns:a="http://schemas.openxmlformats.org/drawingml/2006/main">
              <a:ext uri="{FF2B5EF4-FFF2-40B4-BE49-F238E27FC236}">
                <a16:creationId xmlns:a16="http://schemas.microsoft.com/office/drawing/2014/main" id="{71831DB3-E85A-4CAD-B072-D27FFA844535}"/>
              </a:ext>
            </a:extLst>
          </p:cNvPr>
          <p:cNvSpPr>
            <a:spLocks xmlns:a="http://schemas.openxmlformats.org/drawingml/2006/main" noGrp="1"/>
          </p:cNvSpPr>
          <p:nvPr/>
        </p:nvSpPr>
        <p:spPr>
          <a:xfrm xmlns:a="http://schemas.openxmlformats.org/drawingml/2006/main">
            <a:off x="8515350" y="2466975"/>
            <a:ext cx="9525" cy="409575"/>
          </a:xfrm>
          <a:custGeom xmlns:a="http://schemas.openxmlformats.org/drawingml/2006/main">
            <a:pathLst>
              <a:path w="9525" h="409575">
                <a:moveTo>
                  <a:pt x="0"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78" name="">
            <a:extLst xmlns:a="http://schemas.openxmlformats.org/drawingml/2006/main">
              <a:ext uri="{FF2B5EF4-FFF2-40B4-BE49-F238E27FC236}">
                <a16:creationId xmlns:a16="http://schemas.microsoft.com/office/drawing/2014/main" id="{09503F42-061D-4B60-9A1C-A4CCCE3D8AC8}"/>
              </a:ext>
            </a:extLst>
          </p:cNvPr>
          <p:cNvSpPr>
            <a:spLocks xmlns:a="http://schemas.openxmlformats.org/drawingml/2006/main" noGrp="1"/>
          </p:cNvSpPr>
          <p:nvPr/>
        </p:nvSpPr>
        <p:spPr>
          <a:xfrm xmlns:a="http://schemas.openxmlformats.org/drawingml/2006/main">
            <a:off x="8515350" y="2466975"/>
            <a:ext cx="409575" cy="409575"/>
          </a:xfrm>
          <a:custGeom xmlns:a="http://schemas.openxmlformats.org/drawingml/2006/main">
            <a:pathLst>
              <a:path w="409575" h="409575">
                <a:moveTo>
                  <a:pt x="409575"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79" name="">
            <a:extLst xmlns:a="http://schemas.openxmlformats.org/drawingml/2006/main">
              <a:ext uri="{FF2B5EF4-FFF2-40B4-BE49-F238E27FC236}">
                <a16:creationId xmlns:a16="http://schemas.microsoft.com/office/drawing/2014/main" id="{52EA78C6-D685-4F23-AB2A-B23D9D441ADF}"/>
              </a:ext>
            </a:extLst>
          </p:cNvPr>
          <p:cNvSpPr>
            <a:spLocks xmlns:a="http://schemas.openxmlformats.org/drawingml/2006/main" noGrp="1"/>
          </p:cNvSpPr>
          <p:nvPr/>
        </p:nvSpPr>
        <p:spPr>
          <a:xfrm xmlns:a="http://schemas.openxmlformats.org/drawingml/2006/main">
            <a:off x="8105775" y="28765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26670">
            <a:solidFill>
              <a:srgbClr val="38BDF8"/>
            </a:solidFill>
            <a:prstDash val="solid"/>
          </a:ln>
        </p:spPr>
      </p:sp>
      <p:sp>
        <p:nvSpPr>
          <p:cNvPr id="80" name="">
            <a:extLst xmlns:a="http://schemas.openxmlformats.org/drawingml/2006/main">
              <a:ext uri="{FF2B5EF4-FFF2-40B4-BE49-F238E27FC236}">
                <a16:creationId xmlns:a16="http://schemas.microsoft.com/office/drawing/2014/main" id="{A2543478-EF25-4AE5-B85A-9008EEF98A34}"/>
              </a:ext>
            </a:extLst>
          </p:cNvPr>
          <p:cNvSpPr>
            <a:spLocks xmlns:a="http://schemas.openxmlformats.org/drawingml/2006/main" noGrp="1"/>
          </p:cNvSpPr>
          <p:nvPr/>
        </p:nvSpPr>
        <p:spPr>
          <a:xfrm xmlns:a="http://schemas.openxmlformats.org/drawingml/2006/main">
            <a:off x="7696200" y="1647825"/>
            <a:ext cx="819150" cy="1228725"/>
          </a:xfrm>
          <a:custGeom xmlns:a="http://schemas.openxmlformats.org/drawingml/2006/main">
            <a:pathLst>
              <a:path w="819150" h="1228725">
                <a:moveTo>
                  <a:pt x="0" y="0"/>
                </a:moveTo>
                <a:lnTo>
                  <a:pt x="819150" y="1228725"/>
                </a:lnTo>
              </a:path>
            </a:pathLst>
          </a:custGeom>
          <a:noFill xmlns:a="http://schemas.openxmlformats.org/drawingml/2006/main"/>
          <a:ln xmlns:a="http://schemas.openxmlformats.org/drawingml/2006/main" w="26670">
            <a:solidFill>
              <a:srgbClr val="38BDF8"/>
            </a:solidFill>
            <a:prstDash val="solid"/>
          </a:ln>
        </p:spPr>
      </p:sp>
      <p:sp>
        <p:nvSpPr>
          <p:cNvPr id="81" name="">
            <a:extLst xmlns:a="http://schemas.openxmlformats.org/drawingml/2006/main">
              <a:ext uri="{FF2B5EF4-FFF2-40B4-BE49-F238E27FC236}">
                <a16:creationId xmlns:a16="http://schemas.microsoft.com/office/drawing/2014/main" id="{6502963F-59D2-4E5B-B435-D36794465414}"/>
              </a:ext>
            </a:extLst>
          </p:cNvPr>
          <p:cNvSpPr>
            <a:spLocks xmlns:a="http://schemas.openxmlformats.org/drawingml/2006/main" noGrp="1"/>
          </p:cNvSpPr>
          <p:nvPr/>
        </p:nvSpPr>
        <p:spPr>
          <a:xfrm xmlns:a="http://schemas.openxmlformats.org/drawingml/2006/main">
            <a:off x="8515350" y="2876550"/>
            <a:ext cx="409575" cy="1228725"/>
          </a:xfrm>
          <a:custGeom xmlns:a="http://schemas.openxmlformats.org/drawingml/2006/main">
            <a:pathLst>
              <a:path w="409575" h="1228725">
                <a:moveTo>
                  <a:pt x="409575" y="1228725"/>
                </a:moveTo>
                <a:lnTo>
                  <a:pt x="0" y="0"/>
                </a:lnTo>
              </a:path>
            </a:pathLst>
          </a:custGeom>
          <a:noFill xmlns:a="http://schemas.openxmlformats.org/drawingml/2006/main"/>
          <a:ln xmlns:a="http://schemas.openxmlformats.org/drawingml/2006/main" w="26670">
            <a:solidFill>
              <a:srgbClr val="38BDF8"/>
            </a:solidFill>
            <a:prstDash val="solid"/>
          </a:ln>
        </p:spPr>
      </p:sp>
      <p:sp>
        <p:nvSpPr>
          <p:cNvPr id="82" name="">
            <a:extLst xmlns:a="http://schemas.openxmlformats.org/drawingml/2006/main">
              <a:ext uri="{FF2B5EF4-FFF2-40B4-BE49-F238E27FC236}">
                <a16:creationId xmlns:a16="http://schemas.microsoft.com/office/drawing/2014/main" id="{045C3296-9782-415E-8721-4B2BBC56CCDB}"/>
              </a:ext>
            </a:extLst>
          </p:cNvPr>
          <p:cNvSpPr>
            <a:spLocks xmlns:a="http://schemas.openxmlformats.org/drawingml/2006/main" noGrp="1"/>
          </p:cNvSpPr>
          <p:nvPr/>
        </p:nvSpPr>
        <p:spPr>
          <a:xfrm xmlns:a="http://schemas.openxmlformats.org/drawingml/2006/main">
            <a:off x="8515350" y="2876550"/>
            <a:ext cx="9525" cy="409575"/>
          </a:xfrm>
          <a:custGeom xmlns:a="http://schemas.openxmlformats.org/drawingml/2006/main">
            <a:pathLst>
              <a:path w="9525" h="409575">
                <a:moveTo>
                  <a:pt x="0"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83" name="">
            <a:extLst xmlns:a="http://schemas.openxmlformats.org/drawingml/2006/main">
              <a:ext uri="{FF2B5EF4-FFF2-40B4-BE49-F238E27FC236}">
                <a16:creationId xmlns:a16="http://schemas.microsoft.com/office/drawing/2014/main" id="{DFD54B30-C9C6-408F-8E93-287B2ED60A88}"/>
              </a:ext>
            </a:extLst>
          </p:cNvPr>
          <p:cNvSpPr>
            <a:spLocks xmlns:a="http://schemas.openxmlformats.org/drawingml/2006/main" noGrp="1"/>
          </p:cNvSpPr>
          <p:nvPr/>
        </p:nvSpPr>
        <p:spPr>
          <a:xfrm xmlns:a="http://schemas.openxmlformats.org/drawingml/2006/main">
            <a:off x="8515350" y="2057400"/>
            <a:ext cx="819150" cy="819150"/>
          </a:xfrm>
          <a:custGeom xmlns:a="http://schemas.openxmlformats.org/drawingml/2006/main">
            <a:pathLst>
              <a:path w="819150" h="819150">
                <a:moveTo>
                  <a:pt x="819150" y="0"/>
                </a:moveTo>
                <a:lnTo>
                  <a:pt x="0" y="819150"/>
                </a:lnTo>
              </a:path>
            </a:pathLst>
          </a:custGeom>
          <a:noFill xmlns:a="http://schemas.openxmlformats.org/drawingml/2006/main"/>
          <a:ln xmlns:a="http://schemas.openxmlformats.org/drawingml/2006/main" w="26670">
            <a:solidFill>
              <a:srgbClr val="38BDF8"/>
            </a:solidFill>
            <a:prstDash val="solid"/>
          </a:ln>
        </p:spPr>
      </p:sp>
      <p:sp>
        <p:nvSpPr>
          <p:cNvPr id="84" name="">
            <a:extLst xmlns:a="http://schemas.openxmlformats.org/drawingml/2006/main">
              <a:ext uri="{FF2B5EF4-FFF2-40B4-BE49-F238E27FC236}">
                <a16:creationId xmlns:a16="http://schemas.microsoft.com/office/drawing/2014/main" id="{71107786-A0E7-40FC-8624-1084FB68FE48}"/>
              </a:ext>
            </a:extLst>
          </p:cNvPr>
          <p:cNvSpPr>
            <a:spLocks xmlns:a="http://schemas.openxmlformats.org/drawingml/2006/main" noGrp="1"/>
          </p:cNvSpPr>
          <p:nvPr/>
        </p:nvSpPr>
        <p:spPr>
          <a:xfrm xmlns:a="http://schemas.openxmlformats.org/drawingml/2006/main">
            <a:off x="72009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354301A-8403-4824-9B13-680A9420C5F4}"/>
              </a:ext>
            </a:extLst>
          </p:cNvPr>
          <p:cNvSpPr>
            <a:spLocks xmlns:a="http://schemas.openxmlformats.org/drawingml/2006/main" noGrp="1"/>
          </p:cNvSpPr>
          <p:nvPr/>
        </p:nvSpPr>
        <p:spPr>
          <a:xfrm xmlns:a="http://schemas.openxmlformats.org/drawingml/2006/main">
            <a:off x="7610475" y="15621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4F02C6AA-EF27-46AF-A51E-36AED3B335B1}"/>
              </a:ext>
            </a:extLst>
          </p:cNvPr>
          <p:cNvSpPr>
            <a:spLocks xmlns:a="http://schemas.openxmlformats.org/drawingml/2006/main" noGrp="1"/>
          </p:cNvSpPr>
          <p:nvPr/>
        </p:nvSpPr>
        <p:spPr>
          <a:xfrm xmlns:a="http://schemas.openxmlformats.org/drawingml/2006/main">
            <a:off x="80200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5E9BCBA-D948-4DFA-82C8-E32F9641B4E7}"/>
              </a:ext>
            </a:extLst>
          </p:cNvPr>
          <p:cNvSpPr>
            <a:spLocks xmlns:a="http://schemas.openxmlformats.org/drawingml/2006/main" noGrp="1"/>
          </p:cNvSpPr>
          <p:nvPr/>
        </p:nvSpPr>
        <p:spPr>
          <a:xfrm xmlns:a="http://schemas.openxmlformats.org/drawingml/2006/main">
            <a:off x="84296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B06A0210-AE01-4668-9899-B0B6D237138A}"/>
              </a:ext>
            </a:extLst>
          </p:cNvPr>
          <p:cNvSpPr>
            <a:spLocks xmlns:a="http://schemas.openxmlformats.org/drawingml/2006/main" noGrp="1"/>
          </p:cNvSpPr>
          <p:nvPr/>
        </p:nvSpPr>
        <p:spPr>
          <a:xfrm xmlns:a="http://schemas.openxmlformats.org/drawingml/2006/main">
            <a:off x="88392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D5CF2BE-C65B-41BD-BDF7-F4C37917712E}"/>
              </a:ext>
            </a:extLst>
          </p:cNvPr>
          <p:cNvSpPr>
            <a:spLocks xmlns:a="http://schemas.openxmlformats.org/drawingml/2006/main" noGrp="1"/>
          </p:cNvSpPr>
          <p:nvPr/>
        </p:nvSpPr>
        <p:spPr>
          <a:xfrm xmlns:a="http://schemas.openxmlformats.org/drawingml/2006/main">
            <a:off x="92487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CCAE2E70-8FC5-4ADB-BAD9-4600F1DFE10B}"/>
              </a:ext>
            </a:extLst>
          </p:cNvPr>
          <p:cNvSpPr>
            <a:spLocks xmlns:a="http://schemas.openxmlformats.org/drawingml/2006/main" noGrp="1"/>
          </p:cNvSpPr>
          <p:nvPr/>
        </p:nvSpPr>
        <p:spPr>
          <a:xfrm xmlns:a="http://schemas.openxmlformats.org/drawingml/2006/main">
            <a:off x="96583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591D7BF3-E709-4738-B9E0-D9C89E55F97E}"/>
              </a:ext>
            </a:extLst>
          </p:cNvPr>
          <p:cNvSpPr>
            <a:spLocks xmlns:a="http://schemas.openxmlformats.org/drawingml/2006/main" noGrp="1"/>
          </p:cNvSpPr>
          <p:nvPr/>
        </p:nvSpPr>
        <p:spPr>
          <a:xfrm xmlns:a="http://schemas.openxmlformats.org/drawingml/2006/main">
            <a:off x="100679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D4BBDDF9-E9B4-4DB9-94E3-1BF8FC1FF0CE}"/>
              </a:ext>
            </a:extLst>
          </p:cNvPr>
          <p:cNvSpPr>
            <a:spLocks xmlns:a="http://schemas.openxmlformats.org/drawingml/2006/main" noGrp="1"/>
          </p:cNvSpPr>
          <p:nvPr/>
        </p:nvSpPr>
        <p:spPr>
          <a:xfrm xmlns:a="http://schemas.openxmlformats.org/drawingml/2006/main">
            <a:off x="72009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37E4B6FA-C64A-4BCF-8D03-E5E16FF9D14A}"/>
              </a:ext>
            </a:extLst>
          </p:cNvPr>
          <p:cNvSpPr>
            <a:spLocks xmlns:a="http://schemas.openxmlformats.org/drawingml/2006/main" noGrp="1"/>
          </p:cNvSpPr>
          <p:nvPr/>
        </p:nvSpPr>
        <p:spPr>
          <a:xfrm xmlns:a="http://schemas.openxmlformats.org/drawingml/2006/main">
            <a:off x="76104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414CCA1C-D938-4026-969D-3F74EF6AE3F8}"/>
              </a:ext>
            </a:extLst>
          </p:cNvPr>
          <p:cNvSpPr>
            <a:spLocks xmlns:a="http://schemas.openxmlformats.org/drawingml/2006/main" noGrp="1"/>
          </p:cNvSpPr>
          <p:nvPr/>
        </p:nvSpPr>
        <p:spPr>
          <a:xfrm xmlns:a="http://schemas.openxmlformats.org/drawingml/2006/main">
            <a:off x="80200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C6986429-92AE-433C-8589-3B6A2AEE4463}"/>
              </a:ext>
            </a:extLst>
          </p:cNvPr>
          <p:cNvSpPr>
            <a:spLocks xmlns:a="http://schemas.openxmlformats.org/drawingml/2006/main" noGrp="1"/>
          </p:cNvSpPr>
          <p:nvPr/>
        </p:nvSpPr>
        <p:spPr>
          <a:xfrm xmlns:a="http://schemas.openxmlformats.org/drawingml/2006/main">
            <a:off x="84296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54DBB8BF-E2FF-4B56-90AA-E569CB0B1898}"/>
              </a:ext>
            </a:extLst>
          </p:cNvPr>
          <p:cNvSpPr>
            <a:spLocks xmlns:a="http://schemas.openxmlformats.org/drawingml/2006/main" noGrp="1"/>
          </p:cNvSpPr>
          <p:nvPr/>
        </p:nvSpPr>
        <p:spPr>
          <a:xfrm xmlns:a="http://schemas.openxmlformats.org/drawingml/2006/main">
            <a:off x="88392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8D21F595-FFD9-402E-A1E4-247D84608A74}"/>
              </a:ext>
            </a:extLst>
          </p:cNvPr>
          <p:cNvSpPr>
            <a:spLocks xmlns:a="http://schemas.openxmlformats.org/drawingml/2006/main" noGrp="1"/>
          </p:cNvSpPr>
          <p:nvPr/>
        </p:nvSpPr>
        <p:spPr>
          <a:xfrm xmlns:a="http://schemas.openxmlformats.org/drawingml/2006/main">
            <a:off x="9248775" y="197167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CFD00F8C-AAFD-4F1A-9298-C9195208C2EE}"/>
              </a:ext>
            </a:extLst>
          </p:cNvPr>
          <p:cNvSpPr>
            <a:spLocks xmlns:a="http://schemas.openxmlformats.org/drawingml/2006/main" noGrp="1"/>
          </p:cNvSpPr>
          <p:nvPr/>
        </p:nvSpPr>
        <p:spPr>
          <a:xfrm xmlns:a="http://schemas.openxmlformats.org/drawingml/2006/main">
            <a:off x="96583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F3FC9BC-BC63-4DA1-B478-F76550608155}"/>
              </a:ext>
            </a:extLst>
          </p:cNvPr>
          <p:cNvSpPr>
            <a:spLocks xmlns:a="http://schemas.openxmlformats.org/drawingml/2006/main" noGrp="1"/>
          </p:cNvSpPr>
          <p:nvPr/>
        </p:nvSpPr>
        <p:spPr>
          <a:xfrm xmlns:a="http://schemas.openxmlformats.org/drawingml/2006/main">
            <a:off x="100679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CA530025-F3F6-4793-9A64-06F773A01EE1}"/>
              </a:ext>
            </a:extLst>
          </p:cNvPr>
          <p:cNvSpPr>
            <a:spLocks xmlns:a="http://schemas.openxmlformats.org/drawingml/2006/main" noGrp="1"/>
          </p:cNvSpPr>
          <p:nvPr/>
        </p:nvSpPr>
        <p:spPr>
          <a:xfrm xmlns:a="http://schemas.openxmlformats.org/drawingml/2006/main">
            <a:off x="720090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3FE4D2B9-AFAB-4378-B203-B2F16F1854F7}"/>
              </a:ext>
            </a:extLst>
          </p:cNvPr>
          <p:cNvSpPr>
            <a:spLocks xmlns:a="http://schemas.openxmlformats.org/drawingml/2006/main" noGrp="1"/>
          </p:cNvSpPr>
          <p:nvPr/>
        </p:nvSpPr>
        <p:spPr>
          <a:xfrm xmlns:a="http://schemas.openxmlformats.org/drawingml/2006/main">
            <a:off x="76104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DD6DFF6B-054B-4BA8-B0CC-0975F578C9BB}"/>
              </a:ext>
            </a:extLst>
          </p:cNvPr>
          <p:cNvSpPr>
            <a:spLocks xmlns:a="http://schemas.openxmlformats.org/drawingml/2006/main" noGrp="1"/>
          </p:cNvSpPr>
          <p:nvPr/>
        </p:nvSpPr>
        <p:spPr>
          <a:xfrm xmlns:a="http://schemas.openxmlformats.org/drawingml/2006/main">
            <a:off x="802005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7A610D6B-4CCD-47E1-B599-F158163DF632}"/>
              </a:ext>
            </a:extLst>
          </p:cNvPr>
          <p:cNvSpPr>
            <a:spLocks xmlns:a="http://schemas.openxmlformats.org/drawingml/2006/main" noGrp="1"/>
          </p:cNvSpPr>
          <p:nvPr/>
        </p:nvSpPr>
        <p:spPr>
          <a:xfrm xmlns:a="http://schemas.openxmlformats.org/drawingml/2006/main">
            <a:off x="8429625"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2431C2DE-657D-4AE8-8C2A-6B514EBFF405}"/>
              </a:ext>
            </a:extLst>
          </p:cNvPr>
          <p:cNvSpPr>
            <a:spLocks xmlns:a="http://schemas.openxmlformats.org/drawingml/2006/main" noGrp="1"/>
          </p:cNvSpPr>
          <p:nvPr/>
        </p:nvSpPr>
        <p:spPr>
          <a:xfrm xmlns:a="http://schemas.openxmlformats.org/drawingml/2006/main">
            <a:off x="883920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3CD2DBB0-D488-4A3E-ABEA-EB8D134F3411}"/>
              </a:ext>
            </a:extLst>
          </p:cNvPr>
          <p:cNvSpPr>
            <a:spLocks xmlns:a="http://schemas.openxmlformats.org/drawingml/2006/main" noGrp="1"/>
          </p:cNvSpPr>
          <p:nvPr/>
        </p:nvSpPr>
        <p:spPr>
          <a:xfrm xmlns:a="http://schemas.openxmlformats.org/drawingml/2006/main">
            <a:off x="92487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BD5CE8C0-F400-4257-88BD-88E3FD28DE89}"/>
              </a:ext>
            </a:extLst>
          </p:cNvPr>
          <p:cNvSpPr>
            <a:spLocks xmlns:a="http://schemas.openxmlformats.org/drawingml/2006/main" noGrp="1"/>
          </p:cNvSpPr>
          <p:nvPr/>
        </p:nvSpPr>
        <p:spPr>
          <a:xfrm xmlns:a="http://schemas.openxmlformats.org/drawingml/2006/main">
            <a:off x="965835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0CCEBC58-133A-4A79-8C75-589CF173B381}"/>
              </a:ext>
            </a:extLst>
          </p:cNvPr>
          <p:cNvSpPr>
            <a:spLocks xmlns:a="http://schemas.openxmlformats.org/drawingml/2006/main" noGrp="1"/>
          </p:cNvSpPr>
          <p:nvPr/>
        </p:nvSpPr>
        <p:spPr>
          <a:xfrm xmlns:a="http://schemas.openxmlformats.org/drawingml/2006/main">
            <a:off x="100679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007E98B3-25D1-4863-BB17-74B85FCB80B3}"/>
              </a:ext>
            </a:extLst>
          </p:cNvPr>
          <p:cNvSpPr>
            <a:spLocks xmlns:a="http://schemas.openxmlformats.org/drawingml/2006/main" noGrp="1"/>
          </p:cNvSpPr>
          <p:nvPr/>
        </p:nvSpPr>
        <p:spPr>
          <a:xfrm xmlns:a="http://schemas.openxmlformats.org/drawingml/2006/main">
            <a:off x="72009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D3BBFEF3-BA82-4F79-A443-17CB0F31D1EE}"/>
              </a:ext>
            </a:extLst>
          </p:cNvPr>
          <p:cNvSpPr>
            <a:spLocks xmlns:a="http://schemas.openxmlformats.org/drawingml/2006/main" noGrp="1"/>
          </p:cNvSpPr>
          <p:nvPr/>
        </p:nvSpPr>
        <p:spPr>
          <a:xfrm xmlns:a="http://schemas.openxmlformats.org/drawingml/2006/main">
            <a:off x="76104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AF309F1C-638F-4852-840D-DF17A1722CBC}"/>
              </a:ext>
            </a:extLst>
          </p:cNvPr>
          <p:cNvSpPr>
            <a:spLocks xmlns:a="http://schemas.openxmlformats.org/drawingml/2006/main" noGrp="1"/>
          </p:cNvSpPr>
          <p:nvPr/>
        </p:nvSpPr>
        <p:spPr>
          <a:xfrm xmlns:a="http://schemas.openxmlformats.org/drawingml/2006/main">
            <a:off x="802005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F77F1489-F9BD-4BFE-B8D0-5D1781CD985D}"/>
              </a:ext>
            </a:extLst>
          </p:cNvPr>
          <p:cNvSpPr>
            <a:spLocks xmlns:a="http://schemas.openxmlformats.org/drawingml/2006/main" noGrp="1"/>
          </p:cNvSpPr>
          <p:nvPr/>
        </p:nvSpPr>
        <p:spPr>
          <a:xfrm xmlns:a="http://schemas.openxmlformats.org/drawingml/2006/main">
            <a:off x="8429625" y="2790825"/>
            <a:ext cx="171450" cy="171450"/>
          </a:xfrm>
          <a:prstGeom xmlns:a="http://schemas.openxmlformats.org/drawingml/2006/main" prst="ellipse">
            <a:avLst/>
          </a:prstGeom>
          <a:solidFill xmlns:a="http://schemas.openxmlformats.org/drawingml/2006/main">
            <a:srgbClr val="FBBF24"/>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8F0AA2F9-98A0-4C33-9381-A6475497261C}"/>
              </a:ext>
            </a:extLst>
          </p:cNvPr>
          <p:cNvSpPr>
            <a:spLocks xmlns:a="http://schemas.openxmlformats.org/drawingml/2006/main" noGrp="1"/>
          </p:cNvSpPr>
          <p:nvPr/>
        </p:nvSpPr>
        <p:spPr>
          <a:xfrm xmlns:a="http://schemas.openxmlformats.org/drawingml/2006/main">
            <a:off x="88392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7E199108-C24E-4730-8043-B4ECDA106AAD}"/>
              </a:ext>
            </a:extLst>
          </p:cNvPr>
          <p:cNvSpPr>
            <a:spLocks xmlns:a="http://schemas.openxmlformats.org/drawingml/2006/main" noGrp="1"/>
          </p:cNvSpPr>
          <p:nvPr/>
        </p:nvSpPr>
        <p:spPr>
          <a:xfrm xmlns:a="http://schemas.openxmlformats.org/drawingml/2006/main">
            <a:off x="92487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18910939-F40B-40FD-854C-3331B1266A63}"/>
              </a:ext>
            </a:extLst>
          </p:cNvPr>
          <p:cNvSpPr>
            <a:spLocks xmlns:a="http://schemas.openxmlformats.org/drawingml/2006/main" noGrp="1"/>
          </p:cNvSpPr>
          <p:nvPr/>
        </p:nvSpPr>
        <p:spPr>
          <a:xfrm xmlns:a="http://schemas.openxmlformats.org/drawingml/2006/main">
            <a:off x="965835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32A58759-8B96-47BF-AB3A-BD9448FB3132}"/>
              </a:ext>
            </a:extLst>
          </p:cNvPr>
          <p:cNvSpPr>
            <a:spLocks xmlns:a="http://schemas.openxmlformats.org/drawingml/2006/main" noGrp="1"/>
          </p:cNvSpPr>
          <p:nvPr/>
        </p:nvSpPr>
        <p:spPr>
          <a:xfrm xmlns:a="http://schemas.openxmlformats.org/drawingml/2006/main">
            <a:off x="100679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055751AF-6179-4C8A-B1CE-64F205AFF7F6}"/>
              </a:ext>
            </a:extLst>
          </p:cNvPr>
          <p:cNvSpPr>
            <a:spLocks xmlns:a="http://schemas.openxmlformats.org/drawingml/2006/main" noGrp="1"/>
          </p:cNvSpPr>
          <p:nvPr/>
        </p:nvSpPr>
        <p:spPr>
          <a:xfrm xmlns:a="http://schemas.openxmlformats.org/drawingml/2006/main">
            <a:off x="72009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ECDF826C-F013-4E79-8679-451DA9369732}"/>
              </a:ext>
            </a:extLst>
          </p:cNvPr>
          <p:cNvSpPr>
            <a:spLocks xmlns:a="http://schemas.openxmlformats.org/drawingml/2006/main" noGrp="1"/>
          </p:cNvSpPr>
          <p:nvPr/>
        </p:nvSpPr>
        <p:spPr>
          <a:xfrm xmlns:a="http://schemas.openxmlformats.org/drawingml/2006/main">
            <a:off x="76104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A48FD6AF-0B18-45D9-950A-5A8D7CBAC71F}"/>
              </a:ext>
            </a:extLst>
          </p:cNvPr>
          <p:cNvSpPr>
            <a:spLocks xmlns:a="http://schemas.openxmlformats.org/drawingml/2006/main" noGrp="1"/>
          </p:cNvSpPr>
          <p:nvPr/>
        </p:nvSpPr>
        <p:spPr>
          <a:xfrm xmlns:a="http://schemas.openxmlformats.org/drawingml/2006/main">
            <a:off x="80200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1C80512C-2597-42EC-9644-50A4EA9364C1}"/>
              </a:ext>
            </a:extLst>
          </p:cNvPr>
          <p:cNvSpPr>
            <a:spLocks xmlns:a="http://schemas.openxmlformats.org/drawingml/2006/main" noGrp="1"/>
          </p:cNvSpPr>
          <p:nvPr/>
        </p:nvSpPr>
        <p:spPr>
          <a:xfrm xmlns:a="http://schemas.openxmlformats.org/drawingml/2006/main">
            <a:off x="8429625"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AD41B26D-EC9E-4D62-88BD-DE055249CD15}"/>
              </a:ext>
            </a:extLst>
          </p:cNvPr>
          <p:cNvSpPr>
            <a:spLocks xmlns:a="http://schemas.openxmlformats.org/drawingml/2006/main" noGrp="1"/>
          </p:cNvSpPr>
          <p:nvPr/>
        </p:nvSpPr>
        <p:spPr>
          <a:xfrm xmlns:a="http://schemas.openxmlformats.org/drawingml/2006/main">
            <a:off x="88392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9113531A-3D69-4A0D-A2A2-79281DE9D0F1}"/>
              </a:ext>
            </a:extLst>
          </p:cNvPr>
          <p:cNvSpPr>
            <a:spLocks xmlns:a="http://schemas.openxmlformats.org/drawingml/2006/main" noGrp="1"/>
          </p:cNvSpPr>
          <p:nvPr/>
        </p:nvSpPr>
        <p:spPr>
          <a:xfrm xmlns:a="http://schemas.openxmlformats.org/drawingml/2006/main">
            <a:off x="92487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A344EF96-8ABD-4761-BC53-C2CE6401180C}"/>
              </a:ext>
            </a:extLst>
          </p:cNvPr>
          <p:cNvSpPr>
            <a:spLocks xmlns:a="http://schemas.openxmlformats.org/drawingml/2006/main" noGrp="1"/>
          </p:cNvSpPr>
          <p:nvPr/>
        </p:nvSpPr>
        <p:spPr>
          <a:xfrm xmlns:a="http://schemas.openxmlformats.org/drawingml/2006/main">
            <a:off x="96583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D9EC35C7-F4D0-45E4-8ED4-19630BE685A0}"/>
              </a:ext>
            </a:extLst>
          </p:cNvPr>
          <p:cNvSpPr>
            <a:spLocks xmlns:a="http://schemas.openxmlformats.org/drawingml/2006/main" noGrp="1"/>
          </p:cNvSpPr>
          <p:nvPr/>
        </p:nvSpPr>
        <p:spPr>
          <a:xfrm xmlns:a="http://schemas.openxmlformats.org/drawingml/2006/main">
            <a:off x="100679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EA27B9A1-4110-40C9-9482-42EC1FFC7E72}"/>
              </a:ext>
            </a:extLst>
          </p:cNvPr>
          <p:cNvSpPr>
            <a:spLocks xmlns:a="http://schemas.openxmlformats.org/drawingml/2006/main" noGrp="1"/>
          </p:cNvSpPr>
          <p:nvPr/>
        </p:nvSpPr>
        <p:spPr>
          <a:xfrm xmlns:a="http://schemas.openxmlformats.org/drawingml/2006/main">
            <a:off x="72009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E5EEFF6F-009A-4F8F-873C-063D64DA6EBA}"/>
              </a:ext>
            </a:extLst>
          </p:cNvPr>
          <p:cNvSpPr>
            <a:spLocks xmlns:a="http://schemas.openxmlformats.org/drawingml/2006/main" noGrp="1"/>
          </p:cNvSpPr>
          <p:nvPr/>
        </p:nvSpPr>
        <p:spPr>
          <a:xfrm xmlns:a="http://schemas.openxmlformats.org/drawingml/2006/main">
            <a:off x="76104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66E420C3-0B3B-4F97-A02C-A2D26817FE20}"/>
              </a:ext>
            </a:extLst>
          </p:cNvPr>
          <p:cNvSpPr>
            <a:spLocks xmlns:a="http://schemas.openxmlformats.org/drawingml/2006/main" noGrp="1"/>
          </p:cNvSpPr>
          <p:nvPr/>
        </p:nvSpPr>
        <p:spPr>
          <a:xfrm xmlns:a="http://schemas.openxmlformats.org/drawingml/2006/main">
            <a:off x="80200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3D9EE176-E34A-4F76-A59D-9FB1F14E6717}"/>
              </a:ext>
            </a:extLst>
          </p:cNvPr>
          <p:cNvSpPr>
            <a:spLocks xmlns:a="http://schemas.openxmlformats.org/drawingml/2006/main" noGrp="1"/>
          </p:cNvSpPr>
          <p:nvPr/>
        </p:nvSpPr>
        <p:spPr>
          <a:xfrm xmlns:a="http://schemas.openxmlformats.org/drawingml/2006/main">
            <a:off x="84296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5B0E7995-7009-43A3-82D2-F1F2B500912D}"/>
              </a:ext>
            </a:extLst>
          </p:cNvPr>
          <p:cNvSpPr>
            <a:spLocks xmlns:a="http://schemas.openxmlformats.org/drawingml/2006/main" noGrp="1"/>
          </p:cNvSpPr>
          <p:nvPr/>
        </p:nvSpPr>
        <p:spPr>
          <a:xfrm xmlns:a="http://schemas.openxmlformats.org/drawingml/2006/main">
            <a:off x="88392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7B731E1D-B826-4DE6-91B0-A6162642D6F7}"/>
              </a:ext>
            </a:extLst>
          </p:cNvPr>
          <p:cNvSpPr>
            <a:spLocks xmlns:a="http://schemas.openxmlformats.org/drawingml/2006/main" noGrp="1"/>
          </p:cNvSpPr>
          <p:nvPr/>
        </p:nvSpPr>
        <p:spPr>
          <a:xfrm xmlns:a="http://schemas.openxmlformats.org/drawingml/2006/main">
            <a:off x="92487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3AABBCB9-9A5F-457B-865F-84C590460E75}"/>
              </a:ext>
            </a:extLst>
          </p:cNvPr>
          <p:cNvSpPr>
            <a:spLocks xmlns:a="http://schemas.openxmlformats.org/drawingml/2006/main" noGrp="1"/>
          </p:cNvSpPr>
          <p:nvPr/>
        </p:nvSpPr>
        <p:spPr>
          <a:xfrm xmlns:a="http://schemas.openxmlformats.org/drawingml/2006/main">
            <a:off x="96583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85E9C52E-03FC-448B-9098-9DA517A6A177}"/>
              </a:ext>
            </a:extLst>
          </p:cNvPr>
          <p:cNvSpPr>
            <a:spLocks xmlns:a="http://schemas.openxmlformats.org/drawingml/2006/main" noGrp="1"/>
          </p:cNvSpPr>
          <p:nvPr/>
        </p:nvSpPr>
        <p:spPr>
          <a:xfrm xmlns:a="http://schemas.openxmlformats.org/drawingml/2006/main">
            <a:off x="100679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8E99ADB7-E129-40C5-8FE4-0D92B4095A04}"/>
              </a:ext>
            </a:extLst>
          </p:cNvPr>
          <p:cNvSpPr>
            <a:spLocks xmlns:a="http://schemas.openxmlformats.org/drawingml/2006/main" noGrp="1"/>
          </p:cNvSpPr>
          <p:nvPr/>
        </p:nvSpPr>
        <p:spPr>
          <a:xfrm xmlns:a="http://schemas.openxmlformats.org/drawingml/2006/main">
            <a:off x="72009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21320D44-30D1-4428-BBD4-622512A008A3}"/>
              </a:ext>
            </a:extLst>
          </p:cNvPr>
          <p:cNvSpPr>
            <a:spLocks xmlns:a="http://schemas.openxmlformats.org/drawingml/2006/main" noGrp="1"/>
          </p:cNvSpPr>
          <p:nvPr/>
        </p:nvSpPr>
        <p:spPr>
          <a:xfrm xmlns:a="http://schemas.openxmlformats.org/drawingml/2006/main">
            <a:off x="76104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6C487C70-43DE-4ED6-90DC-B9F768B4BAA8}"/>
              </a:ext>
            </a:extLst>
          </p:cNvPr>
          <p:cNvSpPr>
            <a:spLocks xmlns:a="http://schemas.openxmlformats.org/drawingml/2006/main" noGrp="1"/>
          </p:cNvSpPr>
          <p:nvPr/>
        </p:nvSpPr>
        <p:spPr>
          <a:xfrm xmlns:a="http://schemas.openxmlformats.org/drawingml/2006/main">
            <a:off x="80200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C952F985-8745-48C5-93F2-80D4991C2747}"/>
              </a:ext>
            </a:extLst>
          </p:cNvPr>
          <p:cNvSpPr>
            <a:spLocks xmlns:a="http://schemas.openxmlformats.org/drawingml/2006/main" noGrp="1"/>
          </p:cNvSpPr>
          <p:nvPr/>
        </p:nvSpPr>
        <p:spPr>
          <a:xfrm xmlns:a="http://schemas.openxmlformats.org/drawingml/2006/main">
            <a:off x="84296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E5A9BF50-2BE7-4D5B-96AB-EBD48006046F}"/>
              </a:ext>
            </a:extLst>
          </p:cNvPr>
          <p:cNvSpPr>
            <a:spLocks xmlns:a="http://schemas.openxmlformats.org/drawingml/2006/main" noGrp="1"/>
          </p:cNvSpPr>
          <p:nvPr/>
        </p:nvSpPr>
        <p:spPr>
          <a:xfrm xmlns:a="http://schemas.openxmlformats.org/drawingml/2006/main">
            <a:off x="8839200" y="40195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6400A317-6C1D-478F-A868-548297FCC179}"/>
              </a:ext>
            </a:extLst>
          </p:cNvPr>
          <p:cNvSpPr>
            <a:spLocks xmlns:a="http://schemas.openxmlformats.org/drawingml/2006/main" noGrp="1"/>
          </p:cNvSpPr>
          <p:nvPr/>
        </p:nvSpPr>
        <p:spPr>
          <a:xfrm xmlns:a="http://schemas.openxmlformats.org/drawingml/2006/main">
            <a:off x="92487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56A155C2-40AF-401A-B068-8308898528B3}"/>
              </a:ext>
            </a:extLst>
          </p:cNvPr>
          <p:cNvSpPr>
            <a:spLocks xmlns:a="http://schemas.openxmlformats.org/drawingml/2006/main" noGrp="1"/>
          </p:cNvSpPr>
          <p:nvPr/>
        </p:nvSpPr>
        <p:spPr>
          <a:xfrm xmlns:a="http://schemas.openxmlformats.org/drawingml/2006/main">
            <a:off x="96583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3B0EDA02-74B9-4885-8DAB-32047168B074}"/>
              </a:ext>
            </a:extLst>
          </p:cNvPr>
          <p:cNvSpPr>
            <a:spLocks xmlns:a="http://schemas.openxmlformats.org/drawingml/2006/main" noGrp="1"/>
          </p:cNvSpPr>
          <p:nvPr/>
        </p:nvSpPr>
        <p:spPr>
          <a:xfrm xmlns:a="http://schemas.openxmlformats.org/drawingml/2006/main">
            <a:off x="100679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449C8C02-AA77-438F-B6B3-47A8CEF902AF}"/>
              </a:ext>
            </a:extLst>
          </p:cNvPr>
          <p:cNvSpPr>
            <a:spLocks xmlns:a="http://schemas.openxmlformats.org/drawingml/2006/main" noGrp="1"/>
          </p:cNvSpPr>
          <p:nvPr/>
        </p:nvSpPr>
        <p:spPr>
          <a:xfrm xmlns:a="http://schemas.openxmlformats.org/drawingml/2006/main">
            <a:off x="72009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62F9E5A6-8D5E-450F-A874-54BBA3306E55}"/>
              </a:ext>
            </a:extLst>
          </p:cNvPr>
          <p:cNvSpPr>
            <a:spLocks xmlns:a="http://schemas.openxmlformats.org/drawingml/2006/main" noGrp="1"/>
          </p:cNvSpPr>
          <p:nvPr/>
        </p:nvSpPr>
        <p:spPr>
          <a:xfrm xmlns:a="http://schemas.openxmlformats.org/drawingml/2006/main">
            <a:off x="76104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0439AF4E-95B8-4BB7-99F4-58AF839B33B7}"/>
              </a:ext>
            </a:extLst>
          </p:cNvPr>
          <p:cNvSpPr>
            <a:spLocks xmlns:a="http://schemas.openxmlformats.org/drawingml/2006/main" noGrp="1"/>
          </p:cNvSpPr>
          <p:nvPr/>
        </p:nvSpPr>
        <p:spPr>
          <a:xfrm xmlns:a="http://schemas.openxmlformats.org/drawingml/2006/main">
            <a:off x="80200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78DDFCAB-51F6-4880-942A-989A22414843}"/>
              </a:ext>
            </a:extLst>
          </p:cNvPr>
          <p:cNvSpPr>
            <a:spLocks xmlns:a="http://schemas.openxmlformats.org/drawingml/2006/main" noGrp="1"/>
          </p:cNvSpPr>
          <p:nvPr/>
        </p:nvSpPr>
        <p:spPr>
          <a:xfrm xmlns:a="http://schemas.openxmlformats.org/drawingml/2006/main">
            <a:off x="84296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4" name="">
            <a:extLst xmlns:a="http://schemas.openxmlformats.org/drawingml/2006/main">
              <a:ext uri="{FF2B5EF4-FFF2-40B4-BE49-F238E27FC236}">
                <a16:creationId xmlns:a16="http://schemas.microsoft.com/office/drawing/2014/main" id="{29564FE1-0176-4CF6-B6EE-1C8F89B4CFFE}"/>
              </a:ext>
            </a:extLst>
          </p:cNvPr>
          <p:cNvSpPr>
            <a:spLocks xmlns:a="http://schemas.openxmlformats.org/drawingml/2006/main" noGrp="1"/>
          </p:cNvSpPr>
          <p:nvPr/>
        </p:nvSpPr>
        <p:spPr>
          <a:xfrm xmlns:a="http://schemas.openxmlformats.org/drawingml/2006/main">
            <a:off x="88392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7F796CBD-76D1-41B8-B22C-613BF015911B}"/>
              </a:ext>
            </a:extLst>
          </p:cNvPr>
          <p:cNvSpPr>
            <a:spLocks xmlns:a="http://schemas.openxmlformats.org/drawingml/2006/main" noGrp="1"/>
          </p:cNvSpPr>
          <p:nvPr/>
        </p:nvSpPr>
        <p:spPr>
          <a:xfrm xmlns:a="http://schemas.openxmlformats.org/drawingml/2006/main">
            <a:off x="92487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6" name="">
            <a:extLst xmlns:a="http://schemas.openxmlformats.org/drawingml/2006/main">
              <a:ext uri="{FF2B5EF4-FFF2-40B4-BE49-F238E27FC236}">
                <a16:creationId xmlns:a16="http://schemas.microsoft.com/office/drawing/2014/main" id="{26689DD7-BF7E-49D7-80B7-86C85915890B}"/>
              </a:ext>
            </a:extLst>
          </p:cNvPr>
          <p:cNvSpPr>
            <a:spLocks xmlns:a="http://schemas.openxmlformats.org/drawingml/2006/main" noGrp="1"/>
          </p:cNvSpPr>
          <p:nvPr/>
        </p:nvSpPr>
        <p:spPr>
          <a:xfrm xmlns:a="http://schemas.openxmlformats.org/drawingml/2006/main">
            <a:off x="96583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7" name="">
            <a:extLst xmlns:a="http://schemas.openxmlformats.org/drawingml/2006/main">
              <a:ext uri="{FF2B5EF4-FFF2-40B4-BE49-F238E27FC236}">
                <a16:creationId xmlns:a16="http://schemas.microsoft.com/office/drawing/2014/main" id="{34563838-5849-481E-B5C9-F0888A83FBC0}"/>
              </a:ext>
            </a:extLst>
          </p:cNvPr>
          <p:cNvSpPr>
            <a:spLocks xmlns:a="http://schemas.openxmlformats.org/drawingml/2006/main" noGrp="1"/>
          </p:cNvSpPr>
          <p:nvPr/>
        </p:nvSpPr>
        <p:spPr>
          <a:xfrm xmlns:a="http://schemas.openxmlformats.org/drawingml/2006/main">
            <a:off x="100679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8" name="body">
            <a:extLst xmlns:a="http://schemas.openxmlformats.org/drawingml/2006/main">
              <a:ext uri="{FF2B5EF4-FFF2-40B4-BE49-F238E27FC236}">
                <a16:creationId xmlns:a16="http://schemas.microsoft.com/office/drawing/2014/main" id="{49F1C9F3-0870-4BC3-8A14-CDC383CB2E13}"/>
              </a:ext>
            </a:extLst>
          </p:cNvPr>
          <p:cNvSpPr>
            <a:spLocks xmlns:a="http://schemas.openxmlformats.org/drawingml/2006/main" noGrp="1"/>
          </p:cNvSpPr>
          <p:nvPr/>
        </p:nvSpPr>
        <p:spPr>
          <a:xfrm xmlns:a="http://schemas.openxmlformats.org/drawingml/2006/main">
            <a:off x="7191375" y="48101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1F5F9"/>
                </a:solidFill>
                <a:latin typeface="Calibri"/>
                <a:ea typeface="Calibri"/>
                <a:cs typeface="Calibri"/>
              </a:defRPr>
            </a:defPPr>
            <a:lvl1pPr>
              <a:buNone/>
              <a:defRPr sz="1725" b="1">
                <a:solidFill>
                  <a:srgbClr val="F1F5F9"/>
                </a:solidFill>
                <a:latin typeface="Calibri"/>
                <a:ea typeface="Calibri"/>
                <a:cs typeface="Calibri"/>
              </a:defRPr>
            </a:lvl1pPr>
            <a:lvl2pPr>
              <a:buNone/>
              <a:defRPr sz="1725" b="1">
                <a:solidFill>
                  <a:srgbClr val="F1F5F9"/>
                </a:solidFill>
                <a:latin typeface="Calibri"/>
                <a:ea typeface="Calibri"/>
                <a:cs typeface="Calibri"/>
              </a:defRPr>
            </a:lvl2pPr>
            <a:lvl3pPr>
              <a:buNone/>
              <a:defRPr sz="1725" b="1">
                <a:solidFill>
                  <a:srgbClr val="F1F5F9"/>
                </a:solidFill>
                <a:latin typeface="Calibri"/>
                <a:ea typeface="Calibri"/>
                <a:cs typeface="Calibri"/>
              </a:defRPr>
            </a:lvl3pPr>
            <a:lvl4pPr>
              <a:buNone/>
              <a:defRPr sz="1725" b="1">
                <a:solidFill>
                  <a:srgbClr val="F1F5F9"/>
                </a:solidFill>
                <a:latin typeface="Calibri"/>
                <a:ea typeface="Calibri"/>
                <a:cs typeface="Calibri"/>
              </a:defRPr>
            </a:lvl4pPr>
            <a:lvl5pPr>
              <a:buNone/>
              <a:defRPr sz="1725" b="1">
                <a:solidFill>
                  <a:srgbClr val="F1F5F9"/>
                </a:solidFill>
                <a:latin typeface="Calibri"/>
                <a:ea typeface="Calibri"/>
                <a:cs typeface="Calibri"/>
              </a:defRPr>
            </a:lvl5pPr>
            <a:lvl6pPr>
              <a:buNone/>
              <a:defRPr sz="1725" b="1">
                <a:solidFill>
                  <a:srgbClr val="F1F5F9"/>
                </a:solidFill>
                <a:latin typeface="Calibri"/>
                <a:ea typeface="Calibri"/>
                <a:cs typeface="Calibri"/>
              </a:defRPr>
            </a:lvl6pPr>
            <a:lvl7pPr>
              <a:buNone/>
              <a:defRPr sz="1725" b="1">
                <a:solidFill>
                  <a:srgbClr val="F1F5F9"/>
                </a:solidFill>
                <a:latin typeface="Calibri"/>
                <a:ea typeface="Calibri"/>
                <a:cs typeface="Calibri"/>
              </a:defRPr>
            </a:lvl7pPr>
            <a:lvl8pPr>
              <a:buNone/>
              <a:defRPr sz="1725" b="1">
                <a:solidFill>
                  <a:srgbClr val="F1F5F9"/>
                </a:solidFill>
                <a:latin typeface="Calibri"/>
                <a:ea typeface="Calibri"/>
                <a:cs typeface="Calibri"/>
              </a:defRPr>
            </a:lvl8pPr>
            <a:lvl9pPr>
              <a:buNone/>
              <a:defRPr sz="1725" b="1">
                <a:solidFill>
                  <a:srgbClr val="F1F5F9"/>
                </a:solidFill>
                <a:latin typeface="Calibri"/>
                <a:ea typeface="Calibri"/>
                <a:cs typeface="Calibri"/>
              </a:defRPr>
            </a:lvl9pPr>
          </a:lstStyle>
          <a:p xmlns:a="http://schemas.openxmlformats.org/drawingml/2006/main">
            <a:pPr>
              <a:buNone/>
              <a:defRPr sz="1725" b="1">
                <a:solidFill>
                  <a:srgbClr val="F1F5F9"/>
                </a:solidFill>
                <a:latin typeface="Calibri"/>
                <a:ea typeface="Calibri"/>
                <a:cs typeface="Calibri"/>
              </a:defRPr>
            </a:pPr>
            <a:r>
              <a:rPr sz="1725" b="1">
                <a:solidFill>
                  <a:srgbClr val="F1F5F9"/>
                </a:solidFill>
                <a:latin typeface="Calibri"/>
                <a:ea typeface="Calibri"/>
                <a:cs typeface="Calibri"/>
              </a:rPr>
              <a:t>Rewired graph donors</a:t>
            </a:r>
          </a:p>
        </p:txBody>
      </p:sp>
      <p:sp>
        <p:nvSpPr>
          <p:cNvPr id="149" name="body">
            <a:extLst xmlns:a="http://schemas.openxmlformats.org/drawingml/2006/main">
              <a:ext uri="{FF2B5EF4-FFF2-40B4-BE49-F238E27FC236}">
                <a16:creationId xmlns:a16="http://schemas.microsoft.com/office/drawing/2014/main" id="{201AEE05-8489-4B51-B995-EE3FF351BC99}"/>
              </a:ext>
            </a:extLst>
          </p:cNvPr>
          <p:cNvSpPr>
            <a:spLocks xmlns:a="http://schemas.openxmlformats.org/drawingml/2006/main" noGrp="1"/>
          </p:cNvSpPr>
          <p:nvPr/>
        </p:nvSpPr>
        <p:spPr>
          <a:xfrm xmlns:a="http://schemas.openxmlformats.org/drawingml/2006/main">
            <a:off x="7191375" y="52292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FB0C8"/>
                </a:solidFill>
                <a:latin typeface="Calibri"/>
                <a:ea typeface="Calibri"/>
                <a:cs typeface="Calibri"/>
              </a:defRPr>
            </a:defPPr>
            <a:lvl1pPr>
              <a:buNone/>
              <a:defRPr sz="1575" b="0">
                <a:solidFill>
                  <a:srgbClr val="9FB0C8"/>
                </a:solidFill>
                <a:latin typeface="Calibri"/>
                <a:ea typeface="Calibri"/>
                <a:cs typeface="Calibri"/>
              </a:defRPr>
            </a:lvl1pPr>
            <a:lvl2pPr>
              <a:buNone/>
              <a:defRPr sz="1575" b="0">
                <a:solidFill>
                  <a:srgbClr val="9FB0C8"/>
                </a:solidFill>
                <a:latin typeface="Calibri"/>
                <a:ea typeface="Calibri"/>
                <a:cs typeface="Calibri"/>
              </a:defRPr>
            </a:lvl2pPr>
            <a:lvl3pPr>
              <a:buNone/>
              <a:defRPr sz="1575" b="0">
                <a:solidFill>
                  <a:srgbClr val="9FB0C8"/>
                </a:solidFill>
                <a:latin typeface="Calibri"/>
                <a:ea typeface="Calibri"/>
                <a:cs typeface="Calibri"/>
              </a:defRPr>
            </a:lvl3pPr>
            <a:lvl4pPr>
              <a:buNone/>
              <a:defRPr sz="1575" b="0">
                <a:solidFill>
                  <a:srgbClr val="9FB0C8"/>
                </a:solidFill>
                <a:latin typeface="Calibri"/>
                <a:ea typeface="Calibri"/>
                <a:cs typeface="Calibri"/>
              </a:defRPr>
            </a:lvl4pPr>
            <a:lvl5pPr>
              <a:buNone/>
              <a:defRPr sz="1575" b="0">
                <a:solidFill>
                  <a:srgbClr val="9FB0C8"/>
                </a:solidFill>
                <a:latin typeface="Calibri"/>
                <a:ea typeface="Calibri"/>
                <a:cs typeface="Calibri"/>
              </a:defRPr>
            </a:lvl5pPr>
            <a:lvl6pPr>
              <a:buNone/>
              <a:defRPr sz="1575" b="0">
                <a:solidFill>
                  <a:srgbClr val="9FB0C8"/>
                </a:solidFill>
                <a:latin typeface="Calibri"/>
                <a:ea typeface="Calibri"/>
                <a:cs typeface="Calibri"/>
              </a:defRPr>
            </a:lvl6pPr>
            <a:lvl7pPr>
              <a:buNone/>
              <a:defRPr sz="1575" b="0">
                <a:solidFill>
                  <a:srgbClr val="9FB0C8"/>
                </a:solidFill>
                <a:latin typeface="Calibri"/>
                <a:ea typeface="Calibri"/>
                <a:cs typeface="Calibri"/>
              </a:defRPr>
            </a:lvl7pPr>
            <a:lvl8pPr>
              <a:buNone/>
              <a:defRPr sz="1575" b="0">
                <a:solidFill>
                  <a:srgbClr val="9FB0C8"/>
                </a:solidFill>
                <a:latin typeface="Calibri"/>
                <a:ea typeface="Calibri"/>
                <a:cs typeface="Calibri"/>
              </a:defRPr>
            </a:lvl8pPr>
            <a:lvl9pPr>
              <a:buNone/>
              <a:defRPr sz="1575" b="0">
                <a:solidFill>
                  <a:srgbClr val="9FB0C8"/>
                </a:solidFill>
                <a:latin typeface="Calibri"/>
                <a:ea typeface="Calibri"/>
                <a:cs typeface="Calibri"/>
              </a:defRPr>
            </a:lvl9pPr>
          </a:lstStyle>
          <a:p xmlns:a="http://schemas.openxmlformats.org/drawingml/2006/main">
            <a:pPr>
              <a:buNone/>
              <a:defRPr sz="1575" b="0">
                <a:solidFill>
                  <a:srgbClr val="9FB0C8"/>
                </a:solidFill>
                <a:latin typeface="Calibri"/>
                <a:ea typeface="Calibri"/>
                <a:cs typeface="Calibri"/>
              </a:defRPr>
            </a:pPr>
            <a:r>
              <a:rPr sz="1575" b="0">
                <a:solidFill>
                  <a:srgbClr val="9FB0C8"/>
                </a:solidFill>
                <a:latin typeface="Calibri"/>
                <a:ea typeface="Calibri"/>
                <a:cs typeface="Calibri"/>
              </a:rPr>
              <a:t>Receiver 27 draws from: 18, 19, 20, 26, 1, 52, 35, 13</a:t>
            </a:r>
          </a:p>
        </p:txBody>
      </p:sp>
      <p:sp>
        <p:nvSpPr>
          <p:cNvPr id="150" name="source">
            <a:extLst xmlns:a="http://schemas.openxmlformats.org/drawingml/2006/main">
              <a:ext uri="{FF2B5EF4-FFF2-40B4-BE49-F238E27FC236}">
                <a16:creationId xmlns:a16="http://schemas.microsoft.com/office/drawing/2014/main" id="{F4DD3A13-A780-4E2A-A7E0-ECDA07DB871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Historical CPU topology example. 113/512 typed slots changed. V2 used grid trajectories.</a:t>
            </a:r>
          </a:p>
        </p:txBody>
      </p:sp>
      <p:sp>
        <p:nvSpPr>
          <p:cNvPr id="151" name="body">
            <a:extLst xmlns:a="http://schemas.openxmlformats.org/drawingml/2006/main">
              <a:ext uri="{FF2B5EF4-FFF2-40B4-BE49-F238E27FC236}">
                <a16:creationId xmlns:a16="http://schemas.microsoft.com/office/drawing/2014/main" id="{B7007E58-7437-430B-B79B-0A03CC3CFA7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10</a:t>
            </a:r>
          </a:p>
        </p:txBody>
      </p:sp>
    </p:spTree>
    <p:extLst>
      <p:ext uri="{BB962C8B-B14F-4D97-AF65-F5344CB8AC3E}">
        <p14:creationId xmlns:p14="http://schemas.microsoft.com/office/powerpoint/2010/main" val="583673187"/>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D637387-E317-4E62-8756-2C74E0E999D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message-passing code</a:t>
            </a:r>
          </a:p>
        </p:txBody>
      </p:sp>
      <p:sp>
        <p:nvSpPr>
          <p:cNvPr id="2" name="body">
            <a:extLst xmlns:a="http://schemas.openxmlformats.org/drawingml/2006/main">
              <a:ext uri="{FF2B5EF4-FFF2-40B4-BE49-F238E27FC236}">
                <a16:creationId xmlns:a16="http://schemas.microsoft.com/office/drawing/2014/main" id="{8604D875-D65C-4C50-9C35-141015C72F18}"/>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36–40</a:t>
            </a:r>
          </a:p>
        </p:txBody>
      </p:sp>
      <p:sp>
        <p:nvSpPr>
          <p:cNvPr id="3" name="verbatim source">
            <a:extLst xmlns:a="http://schemas.openxmlformats.org/drawingml/2006/main">
              <a:ext uri="{FF2B5EF4-FFF2-40B4-BE49-F238E27FC236}">
                <a16:creationId xmlns:a16="http://schemas.microsoft.com/office/drawing/2014/main" id="{0B508601-E4A2-4C5C-A5CA-914CAB3F27AF}"/>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message_logits(state, edges, rules, states):</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local = F.one_hot(state[:, edges], states).float().flatten(-2)</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perception = torch.einsum("bni,bic-&gt;bnc", local, rules["perception"])</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hidden = F.relu(torch.einsum("bnc,bch-&gt;bnh", perception, rules["hidden"]))</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torch.einsum("bnh,bhs-&gt;bns", hidden, rules["output"])</a:t>
            </a:r>
          </a:p>
        </p:txBody>
      </p:sp>
      <p:sp>
        <p:nvSpPr>
          <p:cNvPr id="4" name="body">
            <a:extLst xmlns:a="http://schemas.openxmlformats.org/drawingml/2006/main">
              <a:ext uri="{FF2B5EF4-FFF2-40B4-BE49-F238E27FC236}">
                <a16:creationId xmlns:a16="http://schemas.microsoft.com/office/drawing/2014/main" id="{CC721397-2EB3-4056-80AC-55B9294F9790}"/>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One-hot donor states form an ordered 9q-vector. Frozen perception and hidden/output weights apply the same local rule at every cell.</a:t>
            </a:r>
          </a:p>
        </p:txBody>
      </p:sp>
      <p:sp>
        <p:nvSpPr>
          <p:cNvPr id="5" name="source">
            <a:extLst xmlns:a="http://schemas.openxmlformats.org/drawingml/2006/main">
              <a:ext uri="{FF2B5EF4-FFF2-40B4-BE49-F238E27FC236}">
                <a16:creationId xmlns:a16="http://schemas.microsoft.com/office/drawing/2014/main" id="{741C88C1-19A9-48E5-ACB6-A42340AC70B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EECE1D5A-580E-4990-B0C3-8E54A3611F7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a:t>
            </a:r>
          </a:p>
        </p:txBody>
      </p:sp>
    </p:spTree>
    <p:extLst>
      <p:ext uri="{BB962C8B-B14F-4D97-AF65-F5344CB8AC3E}">
        <p14:creationId xmlns:p14="http://schemas.microsoft.com/office/powerpoint/2010/main" val="1326708514"/>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88D950A-7B4B-4F01-AEF9-51E6C332B65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Grid convolution equals typed message passing</a:t>
            </a:r>
          </a:p>
        </p:txBody>
      </p:sp>
      <p:sp>
        <p:nvSpPr>
          <p:cNvPr id="2" name="equation">
            <a:extLst xmlns:a="http://schemas.openxmlformats.org/drawingml/2006/main">
              <a:ext uri="{FF2B5EF4-FFF2-40B4-BE49-F238E27FC236}">
                <a16:creationId xmlns:a16="http://schemas.microsoft.com/office/drawing/2014/main" id="{50D7EF4A-114F-4585-9288-CA785C761D27}"/>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(W₁uᵢ + b₁)ₕ = b₁,ₕ + Σδ kₕ,δ sᵢ₊δ</a:t>
            </a:r>
          </a:p>
        </p:txBody>
      </p:sp>
      <p:sp>
        <p:nvSpPr>
          <p:cNvPr id="3" name="equation">
            <a:extLst xmlns:a="http://schemas.openxmlformats.org/drawingml/2006/main">
              <a:ext uri="{FF2B5EF4-FFF2-40B4-BE49-F238E27FC236}">
                <a16:creationId xmlns:a16="http://schemas.microsoft.com/office/drawing/2014/main" id="{3FF8442C-3EB0-428F-BB62-032D71FAEECE}"/>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uᵢ = (sᵢ, sπ₁₍ᵢ₎, …, sπ₈₍ᵢ₎)</a:t>
            </a:r>
          </a:p>
        </p:txBody>
      </p:sp>
      <p:sp>
        <p:nvSpPr>
          <p:cNvPr id="4" name="equation">
            <a:extLst xmlns:a="http://schemas.openxmlformats.org/drawingml/2006/main">
              <a:ext uri="{FF2B5EF4-FFF2-40B4-BE49-F238E27FC236}">
                <a16:creationId xmlns:a16="http://schemas.microsoft.com/office/drawing/2014/main" id="{6E18D448-AF4C-4199-9053-ECFEB1AD0B19}"/>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Periodic 3 × 3 cross-correlation uses the same ordered inputs</a:t>
            </a:r>
          </a:p>
        </p:txBody>
      </p:sp>
      <p:sp>
        <p:nvSpPr>
          <p:cNvPr id="5" name="body">
            <a:extLst xmlns:a="http://schemas.openxmlformats.org/drawingml/2006/main">
              <a:ext uri="{FF2B5EF4-FFF2-40B4-BE49-F238E27FC236}">
                <a16:creationId xmlns:a16="http://schemas.microsoft.com/office/drawing/2014/main" id="{40EF6811-6C7E-4C60-90C6-EF6E73275682}"/>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Match kernel offsets to donor slots. The pointwise maps and common tie convention then yield identical logits and states. The repository checks a separate convolution implementation.</a:t>
            </a:r>
          </a:p>
        </p:txBody>
      </p:sp>
      <p:sp>
        <p:nvSpPr>
          <p:cNvPr id="6" name="source">
            <a:extLst xmlns:a="http://schemas.openxmlformats.org/drawingml/2006/main">
              <a:ext uri="{FF2B5EF4-FFF2-40B4-BE49-F238E27FC236}">
                <a16:creationId xmlns:a16="http://schemas.microsoft.com/office/drawing/2014/main" id="{CF59A548-2147-4A09-9D80-F97B13377F7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LaTeX §2 and the independent convolution/message-passing regression</a:t>
            </a:r>
          </a:p>
        </p:txBody>
      </p:sp>
      <p:sp>
        <p:nvSpPr>
          <p:cNvPr id="7" name="body">
            <a:extLst xmlns:a="http://schemas.openxmlformats.org/drawingml/2006/main">
              <a:ext uri="{FF2B5EF4-FFF2-40B4-BE49-F238E27FC236}">
                <a16:creationId xmlns:a16="http://schemas.microsoft.com/office/drawing/2014/main" id="{B0E1FEB2-050F-478D-9EDF-480E54669FE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a:t>
            </a:r>
          </a:p>
        </p:txBody>
      </p:sp>
    </p:spTree>
    <p:extLst>
      <p:ext uri="{BB962C8B-B14F-4D97-AF65-F5344CB8AC3E}">
        <p14:creationId xmlns:p14="http://schemas.microsoft.com/office/powerpoint/2010/main" val="1259216973"/>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90D1D0A-E087-46EF-85E7-D728F9C7E87D}"/>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Relabeling equivariance and swap invariants</a:t>
            </a:r>
          </a:p>
        </p:txBody>
      </p:sp>
      <p:sp>
        <p:nvSpPr>
          <p:cNvPr id="2" name="equation">
            <a:extLst xmlns:a="http://schemas.openxmlformats.org/drawingml/2006/main">
              <a:ext uri="{FF2B5EF4-FFF2-40B4-BE49-F238E27FC236}">
                <a16:creationId xmlns:a16="http://schemas.microsoft.com/office/drawing/2014/main" id="{F535839B-FDC5-4813-B448-EBE627E06664}"/>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Pᵣ1 = 1,   Pᵣᵀ1 = 1,   PᵣᵀPᵣ = I</a:t>
            </a:r>
          </a:p>
        </p:txBody>
      </p:sp>
      <p:sp>
        <p:nvSpPr>
          <p:cNvPr id="3" name="equation">
            <a:extLst xmlns:a="http://schemas.openxmlformats.org/drawingml/2006/main">
              <a:ext uri="{FF2B5EF4-FFF2-40B4-BE49-F238E27FC236}">
                <a16:creationId xmlns:a16="http://schemas.microsoft.com/office/drawing/2014/main" id="{F72BA790-7134-40D6-B71F-F0DB2342853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Fω,ΠG(Πx) = ΠFω,G(x)</a:t>
            </a:r>
          </a:p>
        </p:txBody>
      </p:sp>
      <p:sp>
        <p:nvSpPr>
          <p:cNvPr id="4" name="equation">
            <a:extLst xmlns:a="http://schemas.openxmlformats.org/drawingml/2006/main">
              <a:ext uri="{FF2B5EF4-FFF2-40B4-BE49-F238E27FC236}">
                <a16:creationId xmlns:a16="http://schemas.microsoft.com/office/drawing/2014/main" id="{7A95201D-0A0A-493B-A41F-67B9BB77E313}"/>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(ΠPᵣΠᵀ)(Πx) = ΠPᵣx</a:t>
            </a:r>
          </a:p>
        </p:txBody>
      </p:sp>
      <p:sp>
        <p:nvSpPr>
          <p:cNvPr id="5" name="body">
            <a:extLst xmlns:a="http://schemas.openxmlformats.org/drawingml/2006/main">
              <a:ext uri="{FF2B5EF4-FFF2-40B4-BE49-F238E27FC236}">
                <a16:creationId xmlns:a16="http://schemas.microsoft.com/office/drawing/2014/main" id="{7AD4B449-CA20-4338-A36C-94C0510B5268}"/>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A shared local rule commutes with consistent node relabeling. Swapping two donor slots preserves each typed permutation. Connectivity, self-edge exclusions and serialized-transformer invariance require separate arguments.</a:t>
            </a:r>
          </a:p>
        </p:txBody>
      </p:sp>
      <p:sp>
        <p:nvSpPr>
          <p:cNvPr id="6" name="source">
            <a:extLst xmlns:a="http://schemas.openxmlformats.org/drawingml/2006/main">
              <a:ext uri="{FF2B5EF4-FFF2-40B4-BE49-F238E27FC236}">
                <a16:creationId xmlns:a16="http://schemas.microsoft.com/office/drawing/2014/main" id="{1B12B26C-8463-4497-8ED6-07242D1A98C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Formal checks: graphStep_equivariant and swappedRelation_*</a:t>
            </a:r>
          </a:p>
        </p:txBody>
      </p:sp>
      <p:sp>
        <p:nvSpPr>
          <p:cNvPr id="7" name="body">
            <a:extLst xmlns:a="http://schemas.openxmlformats.org/drawingml/2006/main">
              <a:ext uri="{FF2B5EF4-FFF2-40B4-BE49-F238E27FC236}">
                <a16:creationId xmlns:a16="http://schemas.microsoft.com/office/drawing/2014/main" id="{FE794EC9-B5D3-4A7A-9839-C80ADFD22FE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13</a:t>
            </a:r>
          </a:p>
        </p:txBody>
      </p:sp>
    </p:spTree>
    <p:extLst>
      <p:ext uri="{BB962C8B-B14F-4D97-AF65-F5344CB8AC3E}">
        <p14:creationId xmlns:p14="http://schemas.microsoft.com/office/powerpoint/2010/main" val="1288786576"/>
      </p:ext>
    </p:extLst>
  </p:cSld>
</p:sld>
</file>

<file path=ppt/slides/slide1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714D61C-E3BE-4B66-9183-BF95A867CCD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Exactly solvable diffusion surrogate</a:t>
            </a:r>
          </a:p>
        </p:txBody>
      </p:sp>
      <p:sp>
        <p:nvSpPr>
          <p:cNvPr id="2" name="equation">
            <a:extLst xmlns:a="http://schemas.openxmlformats.org/drawingml/2006/main">
              <a:ext uri="{FF2B5EF4-FFF2-40B4-BE49-F238E27FC236}">
                <a16:creationId xmlns:a16="http://schemas.microsoft.com/office/drawing/2014/main" id="{F7799FDC-5955-44E6-818F-FD92FBEA70C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QG = (I + Σᵣ₌₁⁸ Pᵣ) / 9</a:t>
            </a:r>
          </a:p>
        </p:txBody>
      </p:sp>
      <p:sp>
        <p:nvSpPr>
          <p:cNvPr id="3" name="equation">
            <a:extLst xmlns:a="http://schemas.openxmlformats.org/drawingml/2006/main">
              <a:ext uri="{FF2B5EF4-FFF2-40B4-BE49-F238E27FC236}">
                <a16:creationId xmlns:a16="http://schemas.microsoft.com/office/drawing/2014/main" id="{E62C0AEE-7677-4CA5-A0E3-40A0371501AD}"/>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λab = [(1 + 2cos(2πa/s))(1 + 2cos(2πb/s))] / 9</a:t>
            </a:r>
          </a:p>
        </p:txBody>
      </p:sp>
      <p:sp>
        <p:nvSpPr>
          <p:cNvPr id="4" name="equation">
            <a:extLst xmlns:a="http://schemas.openxmlformats.org/drawingml/2006/main">
              <a:ext uri="{FF2B5EF4-FFF2-40B4-BE49-F238E27FC236}">
                <a16:creationId xmlns:a16="http://schemas.microsoft.com/office/drawing/2014/main" id="{88D4941B-62BC-4127-9CA5-E60F18703EB2}"/>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s = 8:  ρ = (1 + √2)/3 = 0.8047378541</a:t>
            </a:r>
          </a:p>
        </p:txBody>
      </p:sp>
      <p:sp>
        <p:nvSpPr>
          <p:cNvPr id="5" name="equation">
            <a:extLst xmlns:a="http://schemas.openxmlformats.org/drawingml/2006/main">
              <a:ext uri="{FF2B5EF4-FFF2-40B4-BE49-F238E27FC236}">
                <a16:creationId xmlns:a16="http://schemas.microsoft.com/office/drawing/2014/main" id="{CDDD0FA3-9AFF-449A-85F7-8E2798B4F32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‖Qᵗ(x − x̄1)‖₂ ≤ ρᵗ ‖x − x̄1‖₂</a:t>
            </a:r>
          </a:p>
        </p:txBody>
      </p:sp>
      <p:sp>
        <p:nvSpPr>
          <p:cNvPr id="6" name="body">
            <a:extLst xmlns:a="http://schemas.openxmlformats.org/drawingml/2006/main">
              <a:ext uri="{FF2B5EF4-FFF2-40B4-BE49-F238E27FC236}">
                <a16:creationId xmlns:a16="http://schemas.microsoft.com/office/drawing/2014/main" id="{E3613165-EECD-476F-AC6A-0AFB9DA688A5}"/>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bound falls below 0.1 after 11 steps and 0.01 after 22. This linear surrogate has an exact Fourier solution. The nonlinear NCA has different dynamics.</a:t>
            </a:r>
          </a:p>
        </p:txBody>
      </p:sp>
      <p:sp>
        <p:nvSpPr>
          <p:cNvPr id="7" name="source">
            <a:extLst xmlns:a="http://schemas.openxmlformats.org/drawingml/2006/main">
              <a:ext uri="{FF2B5EF4-FFF2-40B4-BE49-F238E27FC236}">
                <a16:creationId xmlns:a16="http://schemas.microsoft.com/office/drawing/2014/main" id="{DDBAA6DF-9A66-4B49-9813-77F8F47B277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Spectral gap 0.1952621459. The spectral derivation remains informal in Lean.</a:t>
            </a:r>
          </a:p>
        </p:txBody>
      </p:sp>
      <p:sp>
        <p:nvSpPr>
          <p:cNvPr id="8" name="body">
            <a:extLst xmlns:a="http://schemas.openxmlformats.org/drawingml/2006/main">
              <a:ext uri="{FF2B5EF4-FFF2-40B4-BE49-F238E27FC236}">
                <a16:creationId xmlns:a16="http://schemas.microsoft.com/office/drawing/2014/main" id="{EA563B27-4CD5-4B55-BF28-E6A8B16C140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14</a:t>
            </a:r>
          </a:p>
        </p:txBody>
      </p:sp>
    </p:spTree>
    <p:extLst>
      <p:ext uri="{BB962C8B-B14F-4D97-AF65-F5344CB8AC3E}">
        <p14:creationId xmlns:p14="http://schemas.microsoft.com/office/powerpoint/2010/main" val="579399754"/>
      </p:ext>
    </p:extLst>
  </p:cSld>
</p:sld>
</file>

<file path=ppt/slides/slide1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479A8C5-9569-466B-A861-6C767C374F9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Degree preservation does not guarantee mixing</a:t>
            </a:r>
          </a:p>
        </p:txBody>
      </p:sp>
      <p:sp>
        <p:nvSpPr>
          <p:cNvPr id="2" name="body">
            <a:extLst xmlns:a="http://schemas.openxmlformats.org/drawingml/2006/main">
              <a:ext uri="{FF2B5EF4-FFF2-40B4-BE49-F238E27FC236}">
                <a16:creationId xmlns:a16="http://schemas.microsoft.com/office/drawing/2014/main" id="{D15D4A91-BE2A-4512-8F2E-0F6D993C7086}"/>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buNone/>
              <a:defRPr sz="2100" b="1">
                <a:solidFill>
                  <a:srgbClr val="38BDF8"/>
                </a:solidFill>
                <a:latin typeface="Calibri"/>
                <a:ea typeface="Calibri"/>
                <a:cs typeface="Calibri"/>
              </a:defRPr>
            </a:lvl1pPr>
            <a:lvl2pPr>
              <a:buNone/>
              <a:defRPr sz="2100" b="1">
                <a:solidFill>
                  <a:srgbClr val="38BDF8"/>
                </a:solidFill>
                <a:latin typeface="Calibri"/>
                <a:ea typeface="Calibri"/>
                <a:cs typeface="Calibri"/>
              </a:defRPr>
            </a:lvl2pPr>
            <a:lvl3pPr>
              <a:buNone/>
              <a:defRPr sz="2100" b="1">
                <a:solidFill>
                  <a:srgbClr val="38BDF8"/>
                </a:solidFill>
                <a:latin typeface="Calibri"/>
                <a:ea typeface="Calibri"/>
                <a:cs typeface="Calibri"/>
              </a:defRPr>
            </a:lvl3pPr>
            <a:lvl4pPr>
              <a:buNone/>
              <a:defRPr sz="2100" b="1">
                <a:solidFill>
                  <a:srgbClr val="38BDF8"/>
                </a:solidFill>
                <a:latin typeface="Calibri"/>
                <a:ea typeface="Calibri"/>
                <a:cs typeface="Calibri"/>
              </a:defRPr>
            </a:lvl4pPr>
            <a:lvl5pPr>
              <a:buNone/>
              <a:defRPr sz="2100" b="1">
                <a:solidFill>
                  <a:srgbClr val="38BDF8"/>
                </a:solidFill>
                <a:latin typeface="Calibri"/>
                <a:ea typeface="Calibri"/>
                <a:cs typeface="Calibri"/>
              </a:defRPr>
            </a:lvl5pPr>
            <a:lvl6pPr>
              <a:buNone/>
              <a:defRPr sz="2100" b="1">
                <a:solidFill>
                  <a:srgbClr val="38BDF8"/>
                </a:solidFill>
                <a:latin typeface="Calibri"/>
                <a:ea typeface="Calibri"/>
                <a:cs typeface="Calibri"/>
              </a:defRPr>
            </a:lvl6pPr>
            <a:lvl7pPr>
              <a:buNone/>
              <a:defRPr sz="2100" b="1">
                <a:solidFill>
                  <a:srgbClr val="38BDF8"/>
                </a:solidFill>
                <a:latin typeface="Calibri"/>
                <a:ea typeface="Calibri"/>
                <a:cs typeface="Calibri"/>
              </a:defRPr>
            </a:lvl7pPr>
            <a:lvl8pPr>
              <a:buNone/>
              <a:defRPr sz="2100" b="1">
                <a:solidFill>
                  <a:srgbClr val="38BDF8"/>
                </a:solidFill>
                <a:latin typeface="Calibri"/>
                <a:ea typeface="Calibri"/>
                <a:cs typeface="Calibri"/>
              </a:defRPr>
            </a:lvl8pPr>
            <a:lvl9pPr>
              <a:buNone/>
              <a:defRPr sz="2100" b="1">
                <a:solidFill>
                  <a:srgbClr val="38BDF8"/>
                </a:solidFill>
                <a:latin typeface="Calibri"/>
                <a:ea typeface="Calibri"/>
                <a:cs typeface="Calibri"/>
              </a:defRPr>
            </a:lvl9pPr>
          </a:lstStyle>
          <a:p xmlns:a="http://schemas.openxmlformats.org/drawingml/2006/main">
            <a:pPr>
              <a:buNone/>
              <a:defRPr sz="2100" b="1">
                <a:solidFill>
                  <a:srgbClr val="38BDF8"/>
                </a:solidFill>
                <a:latin typeface="Calibri"/>
                <a:ea typeface="Calibri"/>
                <a:cs typeface="Calibri"/>
              </a:defRPr>
            </a:pPr>
            <a:r>
              <a:rPr sz="2100" b="1">
                <a:solidFill>
                  <a:srgbClr val="38BDF8"/>
                </a:solidFill>
                <a:latin typeface="Calibri"/>
                <a:ea typeface="Calibri"/>
                <a:cs typeface="Calibri"/>
              </a:rPr>
              <a:t>Disconnected counterexample</a:t>
            </a:r>
          </a:p>
        </p:txBody>
      </p:sp>
      <p:sp>
        <p:nvSpPr>
          <p:cNvPr id="3" name="body">
            <a:extLst xmlns:a="http://schemas.openxmlformats.org/drawingml/2006/main">
              <a:ext uri="{FF2B5EF4-FFF2-40B4-BE49-F238E27FC236}">
                <a16:creationId xmlns:a16="http://schemas.microsoft.com/office/drawing/2014/main" id="{E14F701C-C32C-4C8E-A825-DFD5B0FAFDB5}"/>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buNone/>
              <a:defRPr sz="2100" b="1">
                <a:solidFill>
                  <a:srgbClr val="FBBF24"/>
                </a:solidFill>
                <a:latin typeface="Calibri"/>
                <a:ea typeface="Calibri"/>
                <a:cs typeface="Calibri"/>
              </a:defRPr>
            </a:lvl1pPr>
            <a:lvl2pPr>
              <a:buNone/>
              <a:defRPr sz="2100" b="1">
                <a:solidFill>
                  <a:srgbClr val="FBBF24"/>
                </a:solidFill>
                <a:latin typeface="Calibri"/>
                <a:ea typeface="Calibri"/>
                <a:cs typeface="Calibri"/>
              </a:defRPr>
            </a:lvl2pPr>
            <a:lvl3pPr>
              <a:buNone/>
              <a:defRPr sz="2100" b="1">
                <a:solidFill>
                  <a:srgbClr val="FBBF24"/>
                </a:solidFill>
                <a:latin typeface="Calibri"/>
                <a:ea typeface="Calibri"/>
                <a:cs typeface="Calibri"/>
              </a:defRPr>
            </a:lvl3pPr>
            <a:lvl4pPr>
              <a:buNone/>
              <a:defRPr sz="2100" b="1">
                <a:solidFill>
                  <a:srgbClr val="FBBF24"/>
                </a:solidFill>
                <a:latin typeface="Calibri"/>
                <a:ea typeface="Calibri"/>
                <a:cs typeface="Calibri"/>
              </a:defRPr>
            </a:lvl4pPr>
            <a:lvl5pPr>
              <a:buNone/>
              <a:defRPr sz="2100" b="1">
                <a:solidFill>
                  <a:srgbClr val="FBBF24"/>
                </a:solidFill>
                <a:latin typeface="Calibri"/>
                <a:ea typeface="Calibri"/>
                <a:cs typeface="Calibri"/>
              </a:defRPr>
            </a:lvl5pPr>
            <a:lvl6pPr>
              <a:buNone/>
              <a:defRPr sz="2100" b="1">
                <a:solidFill>
                  <a:srgbClr val="FBBF24"/>
                </a:solidFill>
                <a:latin typeface="Calibri"/>
                <a:ea typeface="Calibri"/>
                <a:cs typeface="Calibri"/>
              </a:defRPr>
            </a:lvl6pPr>
            <a:lvl7pPr>
              <a:buNone/>
              <a:defRPr sz="2100" b="1">
                <a:solidFill>
                  <a:srgbClr val="FBBF24"/>
                </a:solidFill>
                <a:latin typeface="Calibri"/>
                <a:ea typeface="Calibri"/>
                <a:cs typeface="Calibri"/>
              </a:defRPr>
            </a:lvl7pPr>
            <a:lvl8pPr>
              <a:buNone/>
              <a:defRPr sz="2100" b="1">
                <a:solidFill>
                  <a:srgbClr val="FBBF24"/>
                </a:solidFill>
                <a:latin typeface="Calibri"/>
                <a:ea typeface="Calibri"/>
                <a:cs typeface="Calibri"/>
              </a:defRPr>
            </a:lvl8pPr>
            <a:lvl9pPr>
              <a:buNone/>
              <a:defRPr sz="2100" b="1">
                <a:solidFill>
                  <a:srgbClr val="FBBF24"/>
                </a:solidFill>
                <a:latin typeface="Calibri"/>
                <a:ea typeface="Calibri"/>
                <a:cs typeface="Calibri"/>
              </a:defRPr>
            </a:lvl9pPr>
          </a:lstStyle>
          <a:p xmlns:a="http://schemas.openxmlformats.org/drawingml/2006/main">
            <a:pPr>
              <a:buNone/>
              <a:defRPr sz="2100" b="1">
                <a:solidFill>
                  <a:srgbClr val="FBBF24"/>
                </a:solidFill>
                <a:latin typeface="Calibri"/>
                <a:ea typeface="Calibri"/>
                <a:cs typeface="Calibri"/>
              </a:defRPr>
            </a:pPr>
            <a:r>
              <a:rPr sz="2100" b="1">
                <a:solidFill>
                  <a:srgbClr val="FBBF24"/>
                </a:solidFill>
                <a:latin typeface="Calibri"/>
                <a:ea typeface="Calibri"/>
                <a:cs typeface="Calibri"/>
              </a:rPr>
              <a:t>Consequence</a:t>
            </a:r>
          </a:p>
        </p:txBody>
      </p:sp>
      <p:sp>
        <p:nvSpPr>
          <p:cNvPr id="4" name="body">
            <a:extLst xmlns:a="http://schemas.openxmlformats.org/drawingml/2006/main">
              <a:ext uri="{FF2B5EF4-FFF2-40B4-BE49-F238E27FC236}">
                <a16:creationId xmlns:a16="http://schemas.microsoft.com/office/drawing/2014/main" id="{AEB86D89-B6BD-4099-B12D-E0779299FEE8}"/>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Split 64 vertices into two groups of 32.</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Within each group use cyclic offsets ±1, ±2, ±3, ±4.</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Every typed relation is a permutation, with eight distinct non-self donors.</a:t>
            </a:r>
          </a:p>
        </p:txBody>
      </p:sp>
      <p:sp>
        <p:nvSpPr>
          <p:cNvPr id="5" name="body">
            <a:extLst xmlns:a="http://schemas.openxmlformats.org/drawingml/2006/main">
              <a:ext uri="{FF2B5EF4-FFF2-40B4-BE49-F238E27FC236}">
                <a16:creationId xmlns:a16="http://schemas.microsoft.com/office/drawing/2014/main" id="{743E6AF9-6B92-4199-837C-F8142DA690F0}"/>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The graph still has two disconnected components.</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A nonconstant componentwise-constant vector has eigenvalue 1.</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Directed graphs require the mean-zero singular norm ‖QG − J‖₂ for the stated Euclidean bound.</a:t>
            </a:r>
          </a:p>
        </p:txBody>
      </p:sp>
      <p:sp>
        <p:nvSpPr>
          <p:cNvPr id="6" name="source">
            <a:extLst xmlns:a="http://schemas.openxmlformats.org/drawingml/2006/main">
              <a:ext uri="{FF2B5EF4-FFF2-40B4-BE49-F238E27FC236}">
                <a16:creationId xmlns:a16="http://schemas.microsoft.com/office/drawing/2014/main" id="{725A83A5-4021-4748-B5AE-C4D949B09EE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Degree constraints alone do not certify a better diffusion gap or better language transfer.</a:t>
            </a:r>
          </a:p>
        </p:txBody>
      </p:sp>
      <p:sp>
        <p:nvSpPr>
          <p:cNvPr id="7" name="body">
            <a:extLst xmlns:a="http://schemas.openxmlformats.org/drawingml/2006/main">
              <a:ext uri="{FF2B5EF4-FFF2-40B4-BE49-F238E27FC236}">
                <a16:creationId xmlns:a16="http://schemas.microsoft.com/office/drawing/2014/main" id="{1D96F95E-574D-40EF-A936-1BB4B70EE8B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15</a:t>
            </a:r>
          </a:p>
        </p:txBody>
      </p:sp>
    </p:spTree>
    <p:extLst>
      <p:ext uri="{BB962C8B-B14F-4D97-AF65-F5344CB8AC3E}">
        <p14:creationId xmlns:p14="http://schemas.microsoft.com/office/powerpoint/2010/main" val="975680168"/>
      </p:ext>
    </p:extLst>
  </p:cSld>
</p:sld>
</file>

<file path=ppt/slides/slide1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8C1B89A-6C48-4480-B809-C168F4FA08E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Exact perturbation and a logit-margin condition</a:t>
            </a:r>
          </a:p>
        </p:txBody>
      </p:sp>
      <p:sp>
        <p:nvSpPr>
          <p:cNvPr id="2" name="equation">
            <a:extLst xmlns:a="http://schemas.openxmlformats.org/drawingml/2006/main">
              <a:ext uri="{FF2B5EF4-FFF2-40B4-BE49-F238E27FC236}">
                <a16:creationId xmlns:a16="http://schemas.microsoft.com/office/drawing/2014/main" id="{10A0F7EA-DE6F-4620-9A88-8B0CBAF2DDC1}"/>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h = number of changed typed donor slots</a:t>
            </a:r>
          </a:p>
        </p:txBody>
      </p:sp>
      <p:sp>
        <p:nvSpPr>
          <p:cNvPr id="3" name="equation">
            <a:extLst xmlns:a="http://schemas.openxmlformats.org/drawingml/2006/main">
              <a:ext uri="{FF2B5EF4-FFF2-40B4-BE49-F238E27FC236}">
                <a16:creationId xmlns:a16="http://schemas.microsoft.com/office/drawing/2014/main" id="{6457D9C7-6B7A-4064-952B-13AB78612438}"/>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‖SG − S₀‖F² = 2h</a:t>
            </a:r>
          </a:p>
        </p:txBody>
      </p:sp>
      <p:sp>
        <p:nvSpPr>
          <p:cNvPr id="4" name="equation">
            <a:extLst xmlns:a="http://schemas.openxmlformats.org/drawingml/2006/main">
              <a:ext uri="{FF2B5EF4-FFF2-40B4-BE49-F238E27FC236}">
                <a16:creationId xmlns:a16="http://schemas.microsoft.com/office/drawing/2014/main" id="{FB10F900-4A94-44B2-B316-F298003647C2}"/>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E ‖(SG − S₀)X‖₂² = h/2</a:t>
            </a:r>
          </a:p>
        </p:txBody>
      </p:sp>
      <p:sp>
        <p:nvSpPr>
          <p:cNvPr id="5" name="equation">
            <a:extLst xmlns:a="http://schemas.openxmlformats.org/drawingml/2006/main">
              <a:ext uri="{FF2B5EF4-FFF2-40B4-BE49-F238E27FC236}">
                <a16:creationId xmlns:a16="http://schemas.microsoft.com/office/drawing/2014/main" id="{3DB2F999-3E3E-495A-81AB-E336E80A4363}"/>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|m(uG) − m(u₀)| ≤ 2Lm√cᵢ</a:t>
            </a:r>
          </a:p>
        </p:txBody>
      </p:sp>
      <p:sp>
        <p:nvSpPr>
          <p:cNvPr id="6" name="body">
            <a:extLst xmlns:a="http://schemas.openxmlformats.org/drawingml/2006/main">
              <a:ext uri="{FF2B5EF4-FFF2-40B4-BE49-F238E27FC236}">
                <a16:creationId xmlns:a16="http://schemas.microsoft.com/office/drawing/2014/main" id="{A6E6728B-F3A0-4A2F-AA14-393640AFE847}"/>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binary independent-initial-state identity gives 56.5 when the preserved GPU pilot has h = 113. A margin larger than 2Lm√cᵢ preserves that prediction. Later correlated states need a different expectation.</a:t>
            </a:r>
          </a:p>
        </p:txBody>
      </p:sp>
      <p:sp>
        <p:nvSpPr>
          <p:cNvPr id="7" name="source">
            <a:extLst xmlns:a="http://schemas.openxmlformats.org/drawingml/2006/main">
              <a:ext uri="{FF2B5EF4-FFF2-40B4-BE49-F238E27FC236}">
                <a16:creationId xmlns:a16="http://schemas.microsoft.com/office/drawing/2014/main" id="{EBFB41E8-BEB9-4916-B762-1E2EC6B8169A}"/>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The discontinuous argmax map does not inherit a global Lipschitz bound from its logits.</a:t>
            </a:r>
          </a:p>
        </p:txBody>
      </p:sp>
      <p:sp>
        <p:nvSpPr>
          <p:cNvPr id="8" name="body">
            <a:extLst xmlns:a="http://schemas.openxmlformats.org/drawingml/2006/main">
              <a:ext uri="{FF2B5EF4-FFF2-40B4-BE49-F238E27FC236}">
                <a16:creationId xmlns:a16="http://schemas.microsoft.com/office/drawing/2014/main" id="{A312D137-A5A4-484A-A889-A079F6348CA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16</a:t>
            </a:r>
          </a:p>
        </p:txBody>
      </p:sp>
    </p:spTree>
    <p:extLst>
      <p:ext uri="{BB962C8B-B14F-4D97-AF65-F5344CB8AC3E}">
        <p14:creationId xmlns:p14="http://schemas.microsoft.com/office/powerpoint/2010/main" val="51971278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D224D1-3370-4FFE-B7D6-E80EBD2D0CDF}"/>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Information bounds for deterministic trajectories</a:t>
            </a:r>
            <a:endParaRPr sz="3000"/>
          </a:p>
        </p:txBody>
      </p:sp>
      <p:sp>
        <p:nvSpPr>
          <p:cNvPr id="4" name="Entropy 1 card">
            <a:extLst xmlns:a="http://schemas.openxmlformats.org/drawingml/2006/main">
              <a:ext uri="{FF2B5EF4-FFF2-40B4-BE49-F238E27FC236}">
                <a16:creationId xmlns:a16="http://schemas.microsoft.com/office/drawing/2014/main" id="{2CB45931-A3AB-4219-9799-BEA4E7CB9597}"/>
              </a:ext>
            </a:extLst>
          </p:cNvPr>
          <p:cNvSpPr>
            <a:spLocks xmlns:a="http://schemas.openxmlformats.org/drawingml/2006/main" noGrp="1"/>
          </p:cNvSpPr>
          <p:nvPr/>
        </p:nvSpPr>
        <p:spPr>
          <a:xfrm xmlns:a="http://schemas.openxmlformats.org/drawingml/2006/main">
            <a:off x="54864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5" name="Entropy 1 number">
            <a:extLst xmlns:a="http://schemas.openxmlformats.org/drawingml/2006/main">
              <a:ext uri="{FF2B5EF4-FFF2-40B4-BE49-F238E27FC236}">
                <a16:creationId xmlns:a16="http://schemas.microsoft.com/office/drawing/2014/main" id="{23DF0300-5CBD-4CF7-A443-9B6F5514C6A7}"/>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64 bits</a:t>
            </a:r>
            <a:endParaRPr sz="4800"/>
          </a:p>
        </p:txBody>
      </p:sp>
      <p:sp>
        <p:nvSpPr>
          <p:cNvPr id="6" name="Entropy 1 label">
            <a:extLst xmlns:a="http://schemas.openxmlformats.org/drawingml/2006/main">
              <a:ext uri="{FF2B5EF4-FFF2-40B4-BE49-F238E27FC236}">
                <a16:creationId xmlns:a16="http://schemas.microsoft.com/office/drawing/2014/main" id="{7318440B-C03B-4D0A-8A4A-2661FE88FC5F}"/>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Known rule</a:t>
            </a:r>
            <a:endParaRPr sz="1800"/>
          </a:p>
        </p:txBody>
      </p:sp>
      <p:sp>
        <p:nvSpPr>
          <p:cNvPr id="7" name="Entropy 1 detail">
            <a:extLst xmlns:a="http://schemas.openxmlformats.org/drawingml/2006/main">
              <a:ext uri="{FF2B5EF4-FFF2-40B4-BE49-F238E27FC236}">
                <a16:creationId xmlns:a16="http://schemas.microsoft.com/office/drawing/2014/main" id="{926A4955-59D2-4DEC-97D4-1A97BDF6246F}"/>
              </a:ext>
            </a:extLst>
          </p:cNvPr>
          <p:cNvSpPr>
            <a:spLocks xmlns:a="http://schemas.openxmlformats.org/drawingml/2006/main" noGrp="1"/>
          </p:cNvSpPr>
          <p:nvPr/>
        </p:nvSpPr>
        <p:spPr>
          <a:xfrm xmlns:a="http://schemas.openxmlformats.org/drawingml/2006/main">
            <a:off x="82296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H(X(0:T−1) | F,G) = H(X(0) | F,G) ≤ n·log₂q = 64 for 64 binary cells</a:t>
            </a:r>
            <a:endParaRPr sz="1400"/>
          </a:p>
        </p:txBody>
      </p:sp>
      <p:sp>
        <p:nvSpPr>
          <p:cNvPr id="8" name="Entropy 2 card">
            <a:extLst xmlns:a="http://schemas.openxmlformats.org/drawingml/2006/main">
              <a:ext uri="{FF2B5EF4-FFF2-40B4-BE49-F238E27FC236}">
                <a16:creationId xmlns:a16="http://schemas.microsoft.com/office/drawing/2014/main" id="{D6C0B80D-0C8F-49A9-9641-6E4726E6404B}"/>
              </a:ext>
            </a:extLst>
          </p:cNvPr>
          <p:cNvSpPr>
            <a:spLocks xmlns:a="http://schemas.openxmlformats.org/drawingml/2006/main" noGrp="1"/>
          </p:cNvSpPr>
          <p:nvPr/>
        </p:nvSpPr>
        <p:spPr>
          <a:xfrm xmlns:a="http://schemas.openxmlformats.org/drawingml/2006/main">
            <a:off x="429768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9" name="Entropy 2 number">
            <a:extLst xmlns:a="http://schemas.openxmlformats.org/drawingml/2006/main">
              <a:ext uri="{FF2B5EF4-FFF2-40B4-BE49-F238E27FC236}">
                <a16:creationId xmlns:a16="http://schemas.microsoft.com/office/drawing/2014/main" id="{5A6ACBF1-C8C8-4015-8D3E-F6C5289E72AC}"/>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512 bits</a:t>
            </a:r>
            <a:endParaRPr sz="4800"/>
          </a:p>
        </p:txBody>
      </p:sp>
      <p:sp>
        <p:nvSpPr>
          <p:cNvPr id="10" name="Entropy 2 label">
            <a:extLst xmlns:a="http://schemas.openxmlformats.org/drawingml/2006/main">
              <a:ext uri="{FF2B5EF4-FFF2-40B4-BE49-F238E27FC236}">
                <a16:creationId xmlns:a16="http://schemas.microsoft.com/office/drawing/2014/main" id="{A3D45E74-2621-4E6B-9BF3-153FAE68909B}"/>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Unknown rule</a:t>
            </a:r>
            <a:endParaRPr sz="1800"/>
          </a:p>
        </p:txBody>
      </p:sp>
      <p:sp>
        <p:nvSpPr>
          <p:cNvPr id="11" name="Entropy 2 detail">
            <a:extLst xmlns:a="http://schemas.openxmlformats.org/drawingml/2006/main">
              <a:ext uri="{FF2B5EF4-FFF2-40B4-BE49-F238E27FC236}">
                <a16:creationId xmlns:a16="http://schemas.microsoft.com/office/drawing/2014/main" id="{D89CC9FE-879A-4E03-9FE1-C287EBF5D12E}"/>
              </a:ext>
            </a:extLst>
          </p:cNvPr>
          <p:cNvSpPr>
            <a:spLocks xmlns:a="http://schemas.openxmlformats.org/drawingml/2006/main" noGrp="1"/>
          </p:cNvSpPr>
          <p:nvPr/>
        </p:nvSpPr>
        <p:spPr>
          <a:xfrm xmlns:a="http://schemas.openxmlformats.org/drawingml/2006/main">
            <a:off x="457200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H(F | G) ≤ q^(d+1)·log₂q = 2⁹ = 512 (at most 2^512 local rules, d = 8)</a:t>
            </a:r>
            <a:endParaRPr sz="1400"/>
          </a:p>
        </p:txBody>
      </p:sp>
      <p:sp>
        <p:nvSpPr>
          <p:cNvPr id="12" name="Entropy 3 card">
            <a:extLst xmlns:a="http://schemas.openxmlformats.org/drawingml/2006/main">
              <a:ext uri="{FF2B5EF4-FFF2-40B4-BE49-F238E27FC236}">
                <a16:creationId xmlns:a16="http://schemas.microsoft.com/office/drawing/2014/main" id="{97898408-C923-4F8A-BE07-9EBCA9AC2FC5}"/>
              </a:ext>
            </a:extLst>
          </p:cNvPr>
          <p:cNvSpPr>
            <a:spLocks xmlns:a="http://schemas.openxmlformats.org/drawingml/2006/main" noGrp="1"/>
          </p:cNvSpPr>
          <p:nvPr/>
        </p:nvSpPr>
        <p:spPr>
          <a:xfrm xmlns:a="http://schemas.openxmlformats.org/drawingml/2006/main">
            <a:off x="804672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13" name="Entropy 3 number">
            <a:extLst xmlns:a="http://schemas.openxmlformats.org/drawingml/2006/main">
              <a:ext uri="{FF2B5EF4-FFF2-40B4-BE49-F238E27FC236}">
                <a16:creationId xmlns:a16="http://schemas.microsoft.com/office/drawing/2014/main" id="{37028297-E356-4E53-B5BA-CB5ED59B4FB2}"/>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576 bits</a:t>
            </a:r>
            <a:endParaRPr sz="4800"/>
          </a:p>
        </p:txBody>
      </p:sp>
      <p:sp>
        <p:nvSpPr>
          <p:cNvPr id="14" name="Entropy 3 label">
            <a:extLst xmlns:a="http://schemas.openxmlformats.org/drawingml/2006/main">
              <a:ext uri="{FF2B5EF4-FFF2-40B4-BE49-F238E27FC236}">
                <a16:creationId xmlns:a16="http://schemas.microsoft.com/office/drawing/2014/main" id="{6B416D1E-F747-4D56-BBB6-DD18863E73B5}"/>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Total bound</a:t>
            </a:r>
            <a:endParaRPr sz="1800"/>
          </a:p>
        </p:txBody>
      </p:sp>
      <p:sp>
        <p:nvSpPr>
          <p:cNvPr id="15" name="Entropy 3 detail">
            <a:extLst xmlns:a="http://schemas.openxmlformats.org/drawingml/2006/main">
              <a:ext uri="{FF2B5EF4-FFF2-40B4-BE49-F238E27FC236}">
                <a16:creationId xmlns:a16="http://schemas.microsoft.com/office/drawing/2014/main" id="{F1738038-FBD5-43F6-A5A7-CBE7EC60DB3F}"/>
              </a:ext>
            </a:extLst>
          </p:cNvPr>
          <p:cNvSpPr>
            <a:spLocks xmlns:a="http://schemas.openxmlformats.org/drawingml/2006/main" noGrp="1"/>
          </p:cNvSpPr>
          <p:nvPr/>
        </p:nvSpPr>
        <p:spPr>
          <a:xfrm xmlns:a="http://schemas.openxmlformats.org/drawingml/2006/main">
            <a:off x="832104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H(X(0:T−1) | G) ≤ (n + q^(d+1))·log₂q = 64 + 512</a:t>
            </a:r>
            <a:endParaRPr sz="1400"/>
          </a:p>
        </p:txBody>
      </p:sp>
      <p:sp>
        <p:nvSpPr>
          <p:cNvPr id="16" name="Shuffle card">
            <a:extLst xmlns:a="http://schemas.openxmlformats.org/drawingml/2006/main">
              <a:ext uri="{FF2B5EF4-FFF2-40B4-BE49-F238E27FC236}">
                <a16:creationId xmlns:a16="http://schemas.microsoft.com/office/drawing/2014/main" id="{564745FF-FD87-4885-B700-B889301F952A}"/>
              </a:ext>
            </a:extLst>
          </p:cNvPr>
          <p:cNvSpPr>
            <a:spLocks xmlns:a="http://schemas.openxmlformats.org/drawingml/2006/main" noGrp="1"/>
          </p:cNvSpPr>
          <p:nvPr/>
        </p:nvSpPr>
        <p:spPr>
          <a:xfrm xmlns:a="http://schemas.openxmlformats.org/drawingml/2006/main">
            <a:off x="548640" y="4343400"/>
            <a:ext cx="11064240" cy="1828800"/>
          </a:xfrm>
          <a:prstGeom xmlns:a="http://schemas.openxmlformats.org/drawingml/2006/main" prst="roundRect">
            <a:avLst>
              <a:gd name="adj" fmla="val 6000"/>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A149FC08-E63E-4E48-AFBF-A4B4F8F8C2B0}"/>
              </a:ext>
            </a:extLst>
          </p:cNvPr>
          <p:cNvSpPr>
            <a:spLocks xmlns:a="http://schemas.openxmlformats.org/drawingml/2006/main" noGrp="1"/>
          </p:cNvSpPr>
          <p:nvPr/>
        </p:nvSpPr>
        <p:spPr>
          <a:xfrm xmlns:a="http://schemas.openxmlformats.org/drawingml/2006/main">
            <a:off x="822960" y="4480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this does and does not say</a:t>
            </a:r>
            <a:endParaRPr sz="1800"/>
          </a:p>
        </p:txBody>
      </p:sp>
      <p:sp>
        <p:nvSpPr>
          <p:cNvPr id="18" name="Text 15">
            <a:extLst xmlns:a="http://schemas.openxmlformats.org/drawingml/2006/main">
              <a:ext uri="{FF2B5EF4-FFF2-40B4-BE49-F238E27FC236}">
                <a16:creationId xmlns:a16="http://schemas.microsoft.com/office/drawing/2014/main" id="{26AE94DA-91FA-4301-8D17-0D1558F3B176}"/>
              </a:ext>
            </a:extLst>
          </p:cNvPr>
          <p:cNvSpPr>
            <a:spLocks xmlns:a="http://schemas.openxmlformats.org/drawingml/2006/main" noGrp="1"/>
          </p:cNvSpPr>
          <p:nvPr/>
        </p:nvSpPr>
        <p:spPr>
          <a:xfrm xmlns:a="http://schemas.openxmlformats.org/drawingml/2006/main">
            <a:off x="822960" y="4892040"/>
            <a:ext cx="1051560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The synthetic data has a finite, discrete rule space; high marginal entropy alone is not evidence of useful temporal structure</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 frequency-preserving shuffle keeps histograms and markers, so frequency and formatting structure could itself help (open question)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These bounds are LaTeX arguments; they are not formalized in Lean</a:t>
            </a:r>
            <a:endParaRPr sz="1500"/>
          </a:p>
        </p:txBody>
      </p:sp>
      <p:sp>
        <p:nvSpPr>
          <p:cNvPr id="25" name="Slide Number Placeholder 0">
            <a:extLst xmlns:a="http://schemas.openxmlformats.org/drawingml/2006/main">
              <a:ext uri="{FF2B5EF4-FFF2-40B4-BE49-F238E27FC236}">
                <a16:creationId xmlns:a16="http://schemas.microsoft.com/office/drawing/2014/main" id="{9804C07E-1943-4F84-B341-EC4A98416CFA}"/>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14604785"/>
      </p:ext>
    </p:extLst>
  </p:cSld>
</p:sld>
</file>

<file path=ppt/slides/slide1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BDFBCEA-B3B2-4B9D-A0D9-9859B812E8B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Rule uncertainty and stochastic transitions</a:t>
            </a:r>
          </a:p>
        </p:txBody>
      </p:sp>
      <p:sp>
        <p:nvSpPr>
          <p:cNvPr id="2" name="body">
            <a:extLst xmlns:a="http://schemas.openxmlformats.org/drawingml/2006/main">
              <a:ext uri="{FF2B5EF4-FFF2-40B4-BE49-F238E27FC236}">
                <a16:creationId xmlns:a16="http://schemas.microsoft.com/office/drawing/2014/main" id="{9395333A-5B17-4BFA-AA8A-F63E845CEB07}"/>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buNone/>
              <a:defRPr sz="2100" b="1">
                <a:solidFill>
                  <a:srgbClr val="38BDF8"/>
                </a:solidFill>
                <a:latin typeface="Calibri"/>
                <a:ea typeface="Calibri"/>
                <a:cs typeface="Calibri"/>
              </a:defRPr>
            </a:lvl1pPr>
            <a:lvl2pPr>
              <a:buNone/>
              <a:defRPr sz="2100" b="1">
                <a:solidFill>
                  <a:srgbClr val="38BDF8"/>
                </a:solidFill>
                <a:latin typeface="Calibri"/>
                <a:ea typeface="Calibri"/>
                <a:cs typeface="Calibri"/>
              </a:defRPr>
            </a:lvl2pPr>
            <a:lvl3pPr>
              <a:buNone/>
              <a:defRPr sz="2100" b="1">
                <a:solidFill>
                  <a:srgbClr val="38BDF8"/>
                </a:solidFill>
                <a:latin typeface="Calibri"/>
                <a:ea typeface="Calibri"/>
                <a:cs typeface="Calibri"/>
              </a:defRPr>
            </a:lvl3pPr>
            <a:lvl4pPr>
              <a:buNone/>
              <a:defRPr sz="2100" b="1">
                <a:solidFill>
                  <a:srgbClr val="38BDF8"/>
                </a:solidFill>
                <a:latin typeface="Calibri"/>
                <a:ea typeface="Calibri"/>
                <a:cs typeface="Calibri"/>
              </a:defRPr>
            </a:lvl4pPr>
            <a:lvl5pPr>
              <a:buNone/>
              <a:defRPr sz="2100" b="1">
                <a:solidFill>
                  <a:srgbClr val="38BDF8"/>
                </a:solidFill>
                <a:latin typeface="Calibri"/>
                <a:ea typeface="Calibri"/>
                <a:cs typeface="Calibri"/>
              </a:defRPr>
            </a:lvl5pPr>
            <a:lvl6pPr>
              <a:buNone/>
              <a:defRPr sz="2100" b="1">
                <a:solidFill>
                  <a:srgbClr val="38BDF8"/>
                </a:solidFill>
                <a:latin typeface="Calibri"/>
                <a:ea typeface="Calibri"/>
                <a:cs typeface="Calibri"/>
              </a:defRPr>
            </a:lvl6pPr>
            <a:lvl7pPr>
              <a:buNone/>
              <a:defRPr sz="2100" b="1">
                <a:solidFill>
                  <a:srgbClr val="38BDF8"/>
                </a:solidFill>
                <a:latin typeface="Calibri"/>
                <a:ea typeface="Calibri"/>
                <a:cs typeface="Calibri"/>
              </a:defRPr>
            </a:lvl7pPr>
            <a:lvl8pPr>
              <a:buNone/>
              <a:defRPr sz="2100" b="1">
                <a:solidFill>
                  <a:srgbClr val="38BDF8"/>
                </a:solidFill>
                <a:latin typeface="Calibri"/>
                <a:ea typeface="Calibri"/>
                <a:cs typeface="Calibri"/>
              </a:defRPr>
            </a:lvl8pPr>
            <a:lvl9pPr>
              <a:buNone/>
              <a:defRPr sz="2100" b="1">
                <a:solidFill>
                  <a:srgbClr val="38BDF8"/>
                </a:solidFill>
                <a:latin typeface="Calibri"/>
                <a:ea typeface="Calibri"/>
                <a:cs typeface="Calibri"/>
              </a:defRPr>
            </a:lvl9pPr>
          </a:lstStyle>
          <a:p xmlns:a="http://schemas.openxmlformats.org/drawingml/2006/main">
            <a:pPr>
              <a:buNone/>
              <a:defRPr sz="2100" b="1">
                <a:solidFill>
                  <a:srgbClr val="38BDF8"/>
                </a:solidFill>
                <a:latin typeface="Calibri"/>
                <a:ea typeface="Calibri"/>
                <a:cs typeface="Calibri"/>
              </a:defRPr>
            </a:pPr>
            <a:r>
              <a:rPr sz="2100" b="1">
                <a:solidFill>
                  <a:srgbClr val="38BDF8"/>
                </a:solidFill>
                <a:latin typeface="Calibri"/>
                <a:ea typeface="Calibri"/>
                <a:cs typeface="Calibri"/>
              </a:rPr>
              <a:t>Exact truth-table example</a:t>
            </a:r>
          </a:p>
        </p:txBody>
      </p:sp>
      <p:sp>
        <p:nvSpPr>
          <p:cNvPr id="3" name="body">
            <a:extLst xmlns:a="http://schemas.openxmlformats.org/drawingml/2006/main">
              <a:ext uri="{FF2B5EF4-FFF2-40B4-BE49-F238E27FC236}">
                <a16:creationId xmlns:a16="http://schemas.microsoft.com/office/drawing/2014/main" id="{B6174977-0EBA-4578-BAC1-1184AF1E3DCA}"/>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buNone/>
              <a:defRPr sz="2100" b="1">
                <a:solidFill>
                  <a:srgbClr val="FBBF24"/>
                </a:solidFill>
                <a:latin typeface="Calibri"/>
                <a:ea typeface="Calibri"/>
                <a:cs typeface="Calibri"/>
              </a:defRPr>
            </a:lvl1pPr>
            <a:lvl2pPr>
              <a:buNone/>
              <a:defRPr sz="2100" b="1">
                <a:solidFill>
                  <a:srgbClr val="FBBF24"/>
                </a:solidFill>
                <a:latin typeface="Calibri"/>
                <a:ea typeface="Calibri"/>
                <a:cs typeface="Calibri"/>
              </a:defRPr>
            </a:lvl2pPr>
            <a:lvl3pPr>
              <a:buNone/>
              <a:defRPr sz="2100" b="1">
                <a:solidFill>
                  <a:srgbClr val="FBBF24"/>
                </a:solidFill>
                <a:latin typeface="Calibri"/>
                <a:ea typeface="Calibri"/>
                <a:cs typeface="Calibri"/>
              </a:defRPr>
            </a:lvl3pPr>
            <a:lvl4pPr>
              <a:buNone/>
              <a:defRPr sz="2100" b="1">
                <a:solidFill>
                  <a:srgbClr val="FBBF24"/>
                </a:solidFill>
                <a:latin typeface="Calibri"/>
                <a:ea typeface="Calibri"/>
                <a:cs typeface="Calibri"/>
              </a:defRPr>
            </a:lvl4pPr>
            <a:lvl5pPr>
              <a:buNone/>
              <a:defRPr sz="2100" b="1">
                <a:solidFill>
                  <a:srgbClr val="FBBF24"/>
                </a:solidFill>
                <a:latin typeface="Calibri"/>
                <a:ea typeface="Calibri"/>
                <a:cs typeface="Calibri"/>
              </a:defRPr>
            </a:lvl5pPr>
            <a:lvl6pPr>
              <a:buNone/>
              <a:defRPr sz="2100" b="1">
                <a:solidFill>
                  <a:srgbClr val="FBBF24"/>
                </a:solidFill>
                <a:latin typeface="Calibri"/>
                <a:ea typeface="Calibri"/>
                <a:cs typeface="Calibri"/>
              </a:defRPr>
            </a:lvl6pPr>
            <a:lvl7pPr>
              <a:buNone/>
              <a:defRPr sz="2100" b="1">
                <a:solidFill>
                  <a:srgbClr val="FBBF24"/>
                </a:solidFill>
                <a:latin typeface="Calibri"/>
                <a:ea typeface="Calibri"/>
                <a:cs typeface="Calibri"/>
              </a:defRPr>
            </a:lvl7pPr>
            <a:lvl8pPr>
              <a:buNone/>
              <a:defRPr sz="2100" b="1">
                <a:solidFill>
                  <a:srgbClr val="FBBF24"/>
                </a:solidFill>
                <a:latin typeface="Calibri"/>
                <a:ea typeface="Calibri"/>
                <a:cs typeface="Calibri"/>
              </a:defRPr>
            </a:lvl8pPr>
            <a:lvl9pPr>
              <a:buNone/>
              <a:defRPr sz="2100" b="1">
                <a:solidFill>
                  <a:srgbClr val="FBBF24"/>
                </a:solidFill>
                <a:latin typeface="Calibri"/>
                <a:ea typeface="Calibri"/>
                <a:cs typeface="Calibri"/>
              </a:defRPr>
            </a:lvl9pPr>
          </a:lstStyle>
          <a:p xmlns:a="http://schemas.openxmlformats.org/drawingml/2006/main">
            <a:pPr>
              <a:buNone/>
              <a:defRPr sz="2100" b="1">
                <a:solidFill>
                  <a:srgbClr val="FBBF24"/>
                </a:solidFill>
                <a:latin typeface="Calibri"/>
                <a:ea typeface="Calibri"/>
                <a:cs typeface="Calibri"/>
              </a:defRPr>
            </a:pPr>
            <a:r>
              <a:rPr sz="2100" b="1">
                <a:solidFill>
                  <a:srgbClr val="FBBF24"/>
                </a:solidFill>
                <a:latin typeface="Calibri"/>
                <a:ea typeface="Calibri"/>
                <a:cs typeface="Calibri"/>
              </a:rPr>
              <a:t>Stochastic qualification</a:t>
            </a:r>
          </a:p>
        </p:txBody>
      </p:sp>
      <p:sp>
        <p:nvSpPr>
          <p:cNvPr id="4" name="body">
            <a:extLst xmlns:a="http://schemas.openxmlformats.org/drawingml/2006/main">
              <a:ext uri="{FF2B5EF4-FFF2-40B4-BE49-F238E27FC236}">
                <a16:creationId xmlns:a16="http://schemas.microsoft.com/office/drawing/2014/main" id="{351AC86F-84D8-4D97-84D5-60C20BFA323E}"/>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A uniformly sampled binary 9-input truth table has 512 unknown bits.</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D distinct observed queries leave 512 − D unknown bits.</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100 distinct queries leave 412 bits. A new query still has Bayes error 1/2.</a:t>
            </a:r>
          </a:p>
        </p:txBody>
      </p:sp>
      <p:sp>
        <p:nvSpPr>
          <p:cNvPr id="5" name="body">
            <a:extLst xmlns:a="http://schemas.openxmlformats.org/drawingml/2006/main">
              <a:ext uri="{FF2B5EF4-FFF2-40B4-BE49-F238E27FC236}">
                <a16:creationId xmlns:a16="http://schemas.microsoft.com/office/drawing/2014/main" id="{26998E4C-0140-4F5C-9A50-02B94E8B3C44}"/>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H(X⁰:ᵀ⁻¹ | ω,G)</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 H(X⁰ | ω,G)</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  + Σₜ H(Xᵗ⁺¹ | Xᵗ,ω,G)</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Fresh transition randomness contributes entropy. The deterministic 576-bit bound does not apply to the nonzero-temperature categorical sampler.</a:t>
            </a:r>
          </a:p>
        </p:txBody>
      </p:sp>
      <p:sp>
        <p:nvSpPr>
          <p:cNvPr id="6" name="source">
            <a:extLst xmlns:a="http://schemas.openxmlformats.org/drawingml/2006/main">
              <a:ext uri="{FF2B5EF4-FFF2-40B4-BE49-F238E27FC236}">
                <a16:creationId xmlns:a16="http://schemas.microsoft.com/office/drawing/2014/main" id="{2609AA77-4FBF-4B35-A130-56870651489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Uniform truth tables form an analytic example. The actual rule prior comes from sampled neural weights.</a:t>
            </a:r>
          </a:p>
        </p:txBody>
      </p:sp>
      <p:sp>
        <p:nvSpPr>
          <p:cNvPr id="7" name="body">
            <a:extLst xmlns:a="http://schemas.openxmlformats.org/drawingml/2006/main">
              <a:ext uri="{FF2B5EF4-FFF2-40B4-BE49-F238E27FC236}">
                <a16:creationId xmlns:a16="http://schemas.microsoft.com/office/drawing/2014/main" id="{83F757B6-F2B9-4BF2-9022-E02B6FE9F1D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18</a:t>
            </a:r>
          </a:p>
        </p:txBody>
      </p:sp>
    </p:spTree>
    <p:extLst>
      <p:ext uri="{BB962C8B-B14F-4D97-AF65-F5344CB8AC3E}">
        <p14:creationId xmlns:p14="http://schemas.microsoft.com/office/powerpoint/2010/main" val="381090916"/>
      </p:ext>
    </p:extLst>
  </p:cSld>
</p:sld>
</file>

<file path=ppt/slides/slide1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ED35347-5A76-418E-AC49-4ADED9CE9F9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Contextual prediction and the shuffled control</a:t>
            </a:r>
          </a:p>
        </p:txBody>
      </p:sp>
      <p:sp>
        <p:nvSpPr>
          <p:cNvPr id="2" name="equation">
            <a:extLst xmlns:a="http://schemas.openxmlformats.org/drawingml/2006/main">
              <a:ext uri="{FF2B5EF4-FFF2-40B4-BE49-F238E27FC236}">
                <a16:creationId xmlns:a16="http://schemas.microsoft.com/office/drawing/2014/main" id="{7EF433F3-F64E-4087-B0C6-8377533FB5EE}"/>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E[−log qθ(Y|C)] = H(Y|C) + E KL(p(·|C) ∥ qθ(·|C))</a:t>
            </a:r>
          </a:p>
        </p:txBody>
      </p:sp>
      <p:sp>
        <p:nvSpPr>
          <p:cNvPr id="3" name="equation">
            <a:extLst xmlns:a="http://schemas.openxmlformats.org/drawingml/2006/main">
              <a:ext uri="{FF2B5EF4-FFF2-40B4-BE49-F238E27FC236}">
                <a16:creationId xmlns:a16="http://schemas.microsoft.com/office/drawing/2014/main" id="{EAEFCFBE-224E-4467-9F42-01822D9E3CCD}"/>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H(Y) − H(Y|C) = I(Y; C)</a:t>
            </a:r>
          </a:p>
        </p:txBody>
      </p:sp>
      <p:sp>
        <p:nvSpPr>
          <p:cNvPr id="4" name="equation">
            <a:extLst xmlns:a="http://schemas.openxmlformats.org/drawingml/2006/main">
              <a:ext uri="{FF2B5EF4-FFF2-40B4-BE49-F238E27FC236}">
                <a16:creationId xmlns:a16="http://schemas.microsoft.com/office/drawing/2014/main" id="{F10BAF6F-BEF7-464B-A277-ED2779BCEB51}"/>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Cov(Aⱼ,Aₖ) = −p(1 − p)/(M − 1)</a:t>
            </a:r>
          </a:p>
        </p:txBody>
      </p:sp>
      <p:sp>
        <p:nvSpPr>
          <p:cNvPr id="5" name="body">
            <a:extLst xmlns:a="http://schemas.openxmlformats.org/drawingml/2006/main">
              <a:ext uri="{FF2B5EF4-FFF2-40B4-BE49-F238E27FC236}">
                <a16:creationId xmlns:a16="http://schemas.microsoft.com/office/drawing/2014/main" id="{0B2EC1BB-1F76-4AF8-A985-6C4CA999CFDB}"/>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Frequency matching preserves the marginal histogram. A finite permutation retains sampling-without-replacement dependence and marker positions. For M = 256 and p = 1/2, covariance is −1/1020.</a:t>
            </a:r>
          </a:p>
        </p:txBody>
      </p:sp>
      <p:sp>
        <p:nvSpPr>
          <p:cNvPr id="6" name="source">
            <a:extLst xmlns:a="http://schemas.openxmlformats.org/drawingml/2006/main">
              <a:ext uri="{FF2B5EF4-FFF2-40B4-BE49-F238E27FC236}">
                <a16:creationId xmlns:a16="http://schemas.microsoft.com/office/drawing/2014/main" id="{F17EE70F-50F8-455B-A264-1CC5E42FEE2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Matching unigram entropy does not imply equal conditional entropy or zero contextual structure.</a:t>
            </a:r>
          </a:p>
        </p:txBody>
      </p:sp>
      <p:sp>
        <p:nvSpPr>
          <p:cNvPr id="7" name="body">
            <a:extLst xmlns:a="http://schemas.openxmlformats.org/drawingml/2006/main">
              <a:ext uri="{FF2B5EF4-FFF2-40B4-BE49-F238E27FC236}">
                <a16:creationId xmlns:a16="http://schemas.microsoft.com/office/drawing/2014/main" id="{BE98B112-68BB-45A6-8B88-951959E8122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19</a:t>
            </a:r>
          </a:p>
        </p:txBody>
      </p:sp>
    </p:spTree>
    <p:extLst>
      <p:ext uri="{BB962C8B-B14F-4D97-AF65-F5344CB8AC3E}">
        <p14:creationId xmlns:p14="http://schemas.microsoft.com/office/powerpoint/2010/main" val="3101468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B6558F-D7B0-42CE-853F-5F1684F26B70}"/>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Serialization: exact accounting and parent lags</a:t>
            </a:r>
            <a:endParaRPr sz="3000"/>
          </a:p>
        </p:txBody>
      </p:sp>
      <p:sp>
        <p:nvSpPr>
          <p:cNvPr id="4" name="Length card">
            <a:extLst xmlns:a="http://schemas.openxmlformats.org/drawingml/2006/main">
              <a:ext uri="{FF2B5EF4-FFF2-40B4-BE49-F238E27FC236}">
                <a16:creationId xmlns:a16="http://schemas.microsoft.com/office/drawing/2014/main" id="{C7025561-BCDD-49A9-8AFB-F086C4A3ACD7}"/>
              </a:ext>
            </a:extLst>
          </p:cNvPr>
          <p:cNvSpPr>
            <a:spLocks xmlns:a="http://schemas.openxmlformats.org/drawingml/2006/main" noGrp="1"/>
          </p:cNvSpPr>
          <p:nvPr/>
        </p:nvSpPr>
        <p:spPr>
          <a:xfrm xmlns:a="http://schemas.openxmlformats.org/drawingml/2006/main">
            <a:off x="54864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5" name="Length number">
            <a:extLst xmlns:a="http://schemas.openxmlformats.org/drawingml/2006/main">
              <a:ext uri="{FF2B5EF4-FFF2-40B4-BE49-F238E27FC236}">
                <a16:creationId xmlns:a16="http://schemas.microsoft.com/office/drawing/2014/main" id="{D05C2081-8373-4673-B3FB-62E654D2B7E7}"/>
              </a:ext>
            </a:extLst>
          </p:cNvPr>
          <p:cNvSpPr>
            <a:spLocks xmlns:a="http://schemas.openxmlformats.org/drawingml/2006/main" noGrp="1"/>
          </p:cNvSpPr>
          <p:nvPr/>
        </p:nvSpPr>
        <p:spPr>
          <a:xfrm xmlns:a="http://schemas.openxmlformats.org/drawingml/2006/main">
            <a:off x="82296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288</a:t>
            </a:r>
            <a:endParaRPr sz="4800"/>
          </a:p>
        </p:txBody>
      </p:sp>
      <p:sp>
        <p:nvSpPr>
          <p:cNvPr id="6" name="Length label">
            <a:extLst xmlns:a="http://schemas.openxmlformats.org/drawingml/2006/main">
              <a:ext uri="{FF2B5EF4-FFF2-40B4-BE49-F238E27FC236}">
                <a16:creationId xmlns:a16="http://schemas.microsoft.com/office/drawing/2014/main" id="{6B404D14-D31F-47BA-8543-8FB0726EF6B1}"/>
              </a:ext>
            </a:extLst>
          </p:cNvPr>
          <p:cNvSpPr>
            <a:spLocks xmlns:a="http://schemas.openxmlformats.org/drawingml/2006/main" noGrp="1"/>
          </p:cNvSpPr>
          <p:nvPr/>
        </p:nvSpPr>
        <p:spPr>
          <a:xfrm xmlns:a="http://schemas.openxmlformats.org/drawingml/2006/main">
            <a:off x="82296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Sequence length</a:t>
            </a:r>
            <a:endParaRPr sz="1800"/>
          </a:p>
        </p:txBody>
      </p:sp>
      <p:sp>
        <p:nvSpPr>
          <p:cNvPr id="7" name="Length detail">
            <a:extLst xmlns:a="http://schemas.openxmlformats.org/drawingml/2006/main">
              <a:ext uri="{FF2B5EF4-FFF2-40B4-BE49-F238E27FC236}">
                <a16:creationId xmlns:a16="http://schemas.microsoft.com/office/drawing/2014/main" id="{7F53AF18-A6DF-4D6F-95FE-1923AD852581}"/>
              </a:ext>
            </a:extLst>
          </p:cNvPr>
          <p:cNvSpPr>
            <a:spLocks xmlns:a="http://schemas.openxmlformats.org/drawingml/2006/main" noGrp="1"/>
          </p:cNvSpPr>
          <p:nvPr/>
        </p:nvSpPr>
        <p:spPr>
          <a:xfrm xmlns:a="http://schemas.openxmlformats.org/drawingml/2006/main">
            <a:off x="82296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16 frames × (16 patch tokens + 2 markers)</a:t>
            </a:r>
            <a:endParaRPr sz="1400"/>
          </a:p>
        </p:txBody>
      </p:sp>
      <p:sp>
        <p:nvSpPr>
          <p:cNvPr id="8" name="Bound card">
            <a:extLst xmlns:a="http://schemas.openxmlformats.org/drawingml/2006/main">
              <a:ext uri="{FF2B5EF4-FFF2-40B4-BE49-F238E27FC236}">
                <a16:creationId xmlns:a16="http://schemas.microsoft.com/office/drawing/2014/main" id="{7818F762-A7DF-4A72-AAD2-E1964125729B}"/>
              </a:ext>
            </a:extLst>
          </p:cNvPr>
          <p:cNvSpPr>
            <a:spLocks xmlns:a="http://schemas.openxmlformats.org/drawingml/2006/main" noGrp="1"/>
          </p:cNvSpPr>
          <p:nvPr/>
        </p:nvSpPr>
        <p:spPr>
          <a:xfrm xmlns:a="http://schemas.openxmlformats.org/drawingml/2006/main">
            <a:off x="338328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9" name="Bound number">
            <a:extLst xmlns:a="http://schemas.openxmlformats.org/drawingml/2006/main">
              <a:ext uri="{FF2B5EF4-FFF2-40B4-BE49-F238E27FC236}">
                <a16:creationId xmlns:a16="http://schemas.microsoft.com/office/drawing/2014/main" id="{AF913882-6CB8-4096-82B5-C7064E8061E5}"/>
              </a:ext>
            </a:extLst>
          </p:cNvPr>
          <p:cNvSpPr>
            <a:spLocks xmlns:a="http://schemas.openxmlformats.org/drawingml/2006/main" noGrp="1"/>
          </p:cNvSpPr>
          <p:nvPr/>
        </p:nvSpPr>
        <p:spPr>
          <a:xfrm xmlns:a="http://schemas.openxmlformats.org/drawingml/2006/main">
            <a:off x="365760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33</a:t>
            </a:r>
            <a:endParaRPr sz="4800"/>
          </a:p>
        </p:txBody>
      </p:sp>
      <p:sp>
        <p:nvSpPr>
          <p:cNvPr id="10" name="Bound label">
            <a:extLst xmlns:a="http://schemas.openxmlformats.org/drawingml/2006/main">
              <a:ext uri="{FF2B5EF4-FFF2-40B4-BE49-F238E27FC236}">
                <a16:creationId xmlns:a16="http://schemas.microsoft.com/office/drawing/2014/main" id="{AC7F153E-3A5D-41B3-8A8A-0D9708036010}"/>
              </a:ext>
            </a:extLst>
          </p:cNvPr>
          <p:cNvSpPr>
            <a:spLocks xmlns:a="http://schemas.openxmlformats.org/drawingml/2006/main" noGrp="1"/>
          </p:cNvSpPr>
          <p:nvPr/>
        </p:nvSpPr>
        <p:spPr>
          <a:xfrm xmlns:a="http://schemas.openxmlformats.org/drawingml/2006/main">
            <a:off x="365760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Parent-lag bound</a:t>
            </a:r>
            <a:endParaRPr sz="1800"/>
          </a:p>
        </p:txBody>
      </p:sp>
      <p:sp>
        <p:nvSpPr>
          <p:cNvPr id="11" name="Bound detail">
            <a:extLst xmlns:a="http://schemas.openxmlformats.org/drawingml/2006/main">
              <a:ext uri="{FF2B5EF4-FFF2-40B4-BE49-F238E27FC236}">
                <a16:creationId xmlns:a16="http://schemas.microsoft.com/office/drawing/2014/main" id="{12917181-AF0D-484F-AEE7-8EBB4868D836}"/>
              </a:ext>
            </a:extLst>
          </p:cNvPr>
          <p:cNvSpPr>
            <a:spLocks xmlns:a="http://schemas.openxmlformats.org/drawingml/2006/main" noGrp="1"/>
          </p:cNvSpPr>
          <p:nvPr/>
        </p:nvSpPr>
        <p:spPr>
          <a:xfrm xmlns:a="http://schemas.openxmlformats.org/drawingml/2006/main">
            <a:off x="365760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Full-window bound 2P+1 on a 128-token window</a:t>
            </a:r>
            <a:endParaRPr sz="1400"/>
          </a:p>
        </p:txBody>
      </p:sp>
      <p:sp>
        <p:nvSpPr>
          <p:cNvPr id="12" name="Mean card">
            <a:extLst xmlns:a="http://schemas.openxmlformats.org/drawingml/2006/main">
              <a:ext uri="{FF2B5EF4-FFF2-40B4-BE49-F238E27FC236}">
                <a16:creationId xmlns:a16="http://schemas.microsoft.com/office/drawing/2014/main" id="{907640C5-8294-4E1B-8EA9-2605951B81B3}"/>
              </a:ext>
            </a:extLst>
          </p:cNvPr>
          <p:cNvSpPr>
            <a:spLocks xmlns:a="http://schemas.openxmlformats.org/drawingml/2006/main" noGrp="1"/>
          </p:cNvSpPr>
          <p:nvPr/>
        </p:nvSpPr>
        <p:spPr>
          <a:xfrm xmlns:a="http://schemas.openxmlformats.org/drawingml/2006/main">
            <a:off x="621792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3" name="Mean number">
            <a:extLst xmlns:a="http://schemas.openxmlformats.org/drawingml/2006/main">
              <a:ext uri="{FF2B5EF4-FFF2-40B4-BE49-F238E27FC236}">
                <a16:creationId xmlns:a16="http://schemas.microsoft.com/office/drawing/2014/main" id="{245CA591-C8A9-413F-9DBA-83FEF5BEF66A}"/>
              </a:ext>
            </a:extLst>
          </p:cNvPr>
          <p:cNvSpPr>
            <a:spLocks xmlns:a="http://schemas.openxmlformats.org/drawingml/2006/main" noGrp="1"/>
          </p:cNvSpPr>
          <p:nvPr/>
        </p:nvSpPr>
        <p:spPr>
          <a:xfrm xmlns:a="http://schemas.openxmlformats.org/drawingml/2006/main">
            <a:off x="649224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18</a:t>
            </a:r>
            <a:endParaRPr sz="4800"/>
          </a:p>
        </p:txBody>
      </p:sp>
      <p:sp>
        <p:nvSpPr>
          <p:cNvPr id="14" name="Mean label">
            <a:extLst xmlns:a="http://schemas.openxmlformats.org/drawingml/2006/main">
              <a:ext uri="{FF2B5EF4-FFF2-40B4-BE49-F238E27FC236}">
                <a16:creationId xmlns:a16="http://schemas.microsoft.com/office/drawing/2014/main" id="{E7312FA8-4805-4756-BA0C-075B0120134E}"/>
              </a:ext>
            </a:extLst>
          </p:cNvPr>
          <p:cNvSpPr>
            <a:spLocks xmlns:a="http://schemas.openxmlformats.org/drawingml/2006/main" noGrp="1"/>
          </p:cNvSpPr>
          <p:nvPr/>
        </p:nvSpPr>
        <p:spPr>
          <a:xfrm xmlns:a="http://schemas.openxmlformats.org/drawingml/2006/main">
            <a:off x="649224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Mean lag</a:t>
            </a:r>
            <a:endParaRPr sz="1800"/>
          </a:p>
        </p:txBody>
      </p:sp>
      <p:sp>
        <p:nvSpPr>
          <p:cNvPr id="15" name="Mean detail">
            <a:extLst xmlns:a="http://schemas.openxmlformats.org/drawingml/2006/main">
              <a:ext uri="{FF2B5EF4-FFF2-40B4-BE49-F238E27FC236}">
                <a16:creationId xmlns:a16="http://schemas.microsoft.com/office/drawing/2014/main" id="{E932E828-ADEE-44AB-8E3D-8E0BC43E4389}"/>
              </a:ext>
            </a:extLst>
          </p:cNvPr>
          <p:cNvSpPr>
            <a:spLocks xmlns:a="http://schemas.openxmlformats.org/drawingml/2006/main" noGrp="1"/>
          </p:cNvSpPr>
          <p:nvPr/>
        </p:nvSpPr>
        <p:spPr>
          <a:xfrm xmlns:a="http://schemas.openxmlformats.org/drawingml/2006/main">
            <a:off x="649224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Identical for every typed-permutation topology</a:t>
            </a:r>
            <a:endParaRPr sz="1400"/>
          </a:p>
        </p:txBody>
      </p:sp>
      <p:sp>
        <p:nvSpPr>
          <p:cNvPr id="16" name="Variance card">
            <a:extLst xmlns:a="http://schemas.openxmlformats.org/drawingml/2006/main">
              <a:ext uri="{FF2B5EF4-FFF2-40B4-BE49-F238E27FC236}">
                <a16:creationId xmlns:a16="http://schemas.microsoft.com/office/drawing/2014/main" id="{437DF0DD-F029-43B8-888B-A10EC9881908}"/>
              </a:ext>
            </a:extLst>
          </p:cNvPr>
          <p:cNvSpPr>
            <a:spLocks xmlns:a="http://schemas.openxmlformats.org/drawingml/2006/main" noGrp="1"/>
          </p:cNvSpPr>
          <p:nvPr/>
        </p:nvSpPr>
        <p:spPr>
          <a:xfrm xmlns:a="http://schemas.openxmlformats.org/drawingml/2006/main">
            <a:off x="9052560" y="1371600"/>
            <a:ext cx="256032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7" name="Variance number">
            <a:extLst xmlns:a="http://schemas.openxmlformats.org/drawingml/2006/main">
              <a:ext uri="{FF2B5EF4-FFF2-40B4-BE49-F238E27FC236}">
                <a16:creationId xmlns:a16="http://schemas.microsoft.com/office/drawing/2014/main" id="{617095C0-F36B-4D6B-B1CF-631CC007F25B}"/>
              </a:ext>
            </a:extLst>
          </p:cNvPr>
          <p:cNvSpPr>
            <a:spLocks xmlns:a="http://schemas.openxmlformats.org/drawingml/2006/main" noGrp="1"/>
          </p:cNvSpPr>
          <p:nvPr/>
        </p:nvSpPr>
        <p:spPr>
          <a:xfrm xmlns:a="http://schemas.openxmlformats.org/drawingml/2006/main">
            <a:off x="9326880" y="1554480"/>
            <a:ext cx="20116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A78BFA"/>
                </a:solidFill>
                <a:latin typeface="Calibri"/>
                <a:ea typeface="Calibri"/>
                <a:cs typeface="Calibri"/>
              </a:rPr>
              <a:t>19.125</a:t>
            </a:r>
            <a:endParaRPr sz="4800"/>
          </a:p>
        </p:txBody>
      </p:sp>
      <p:sp>
        <p:nvSpPr>
          <p:cNvPr id="18" name="Variance label">
            <a:extLst xmlns:a="http://schemas.openxmlformats.org/drawingml/2006/main">
              <a:ext uri="{FF2B5EF4-FFF2-40B4-BE49-F238E27FC236}">
                <a16:creationId xmlns:a16="http://schemas.microsoft.com/office/drawing/2014/main" id="{ECA88400-00C2-4C00-8AF0-DD1DD1D9DDFA}"/>
              </a:ext>
            </a:extLst>
          </p:cNvPr>
          <p:cNvSpPr>
            <a:spLocks xmlns:a="http://schemas.openxmlformats.org/drawingml/2006/main" noGrp="1"/>
          </p:cNvSpPr>
          <p:nvPr/>
        </p:nvSpPr>
        <p:spPr>
          <a:xfrm xmlns:a="http://schemas.openxmlformats.org/drawingml/2006/main">
            <a:off x="9326880" y="2468880"/>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Lag variance</a:t>
            </a:r>
            <a:endParaRPr sz="1800"/>
          </a:p>
        </p:txBody>
      </p:sp>
      <p:sp>
        <p:nvSpPr>
          <p:cNvPr id="19" name="Variance detail">
            <a:extLst xmlns:a="http://schemas.openxmlformats.org/drawingml/2006/main">
              <a:ext uri="{FF2B5EF4-FFF2-40B4-BE49-F238E27FC236}">
                <a16:creationId xmlns:a16="http://schemas.microsoft.com/office/drawing/2014/main" id="{D401AC82-E517-4C04-9D7B-C8ECB4624EF4}"/>
              </a:ext>
            </a:extLst>
          </p:cNvPr>
          <p:cNvSpPr>
            <a:spLocks xmlns:a="http://schemas.openxmlformats.org/drawingml/2006/main" noGrp="1"/>
          </p:cNvSpPr>
          <p:nvPr/>
        </p:nvSpPr>
        <p:spPr>
          <a:xfrm xmlns:a="http://schemas.openxmlformats.org/drawingml/2006/main">
            <a:off x="9326880" y="288036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153/8 for the grid (LaTeX only)</a:t>
            </a:r>
            <a:endParaRPr sz="1400"/>
          </a:p>
        </p:txBody>
      </p:sp>
      <p:sp>
        <p:nvSpPr>
          <p:cNvPr id="20" name="Encoding card">
            <a:extLst xmlns:a="http://schemas.openxmlformats.org/drawingml/2006/main">
              <a:ext uri="{FF2B5EF4-FFF2-40B4-BE49-F238E27FC236}">
                <a16:creationId xmlns:a16="http://schemas.microsoft.com/office/drawing/2014/main" id="{29511559-9A73-4F48-829C-A197275F1ACF}"/>
              </a:ext>
            </a:extLst>
          </p:cNvPr>
          <p:cNvSpPr>
            <a:spLocks xmlns:a="http://schemas.openxmlformats.org/drawingml/2006/main" noGrp="1"/>
          </p:cNvSpPr>
          <p:nvPr/>
        </p:nvSpPr>
        <p:spPr>
          <a:xfrm xmlns:a="http://schemas.openxmlformats.org/drawingml/2006/main">
            <a:off x="548640" y="3977640"/>
            <a:ext cx="5394960" cy="2194560"/>
          </a:xfrm>
          <a:prstGeom xmlns:a="http://schemas.openxmlformats.org/drawingml/2006/main" prst="roundRect">
            <a:avLst>
              <a:gd name="adj" fmla="val 5000"/>
            </a:avLst>
          </a:prstGeom>
          <a:solidFill xmlns:a="http://schemas.openxmlformats.org/drawingml/2006/main">
            <a:srgbClr val="15233B"/>
          </a:solidFill>
          <a:ln xmlns:a="http://schemas.openxmlformats.org/drawingml/2006/main" w="12700">
            <a:solidFill>
              <a:srgbClr val="15233B"/>
            </a:solidFill>
            <a:prstDash val="solid"/>
          </a:ln>
        </p:spPr>
      </p:sp>
      <p:sp>
        <p:nvSpPr>
          <p:cNvPr id="21" name="Text 18">
            <a:extLst xmlns:a="http://schemas.openxmlformats.org/drawingml/2006/main">
              <a:ext uri="{FF2B5EF4-FFF2-40B4-BE49-F238E27FC236}">
                <a16:creationId xmlns:a16="http://schemas.microsoft.com/office/drawing/2014/main" id="{2FB50E89-4F13-4A56-8C5C-4B7027CAAF97}"/>
              </a:ext>
            </a:extLst>
          </p:cNvPr>
          <p:cNvSpPr>
            <a:spLocks xmlns:a="http://schemas.openxmlformats.org/drawingml/2006/main" noGrp="1"/>
          </p:cNvSpPr>
          <p:nvPr/>
        </p:nvSpPr>
        <p:spPr>
          <a:xfrm xmlns:a="http://schemas.openxmlformats.org/drawingml/2006/main">
            <a:off x="822960" y="41148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Patch encoding</a:t>
            </a:r>
            <a:endParaRPr sz="1800"/>
          </a:p>
        </p:txBody>
      </p:sp>
      <p:sp>
        <p:nvSpPr>
          <p:cNvPr id="22" name="Text 19">
            <a:extLst xmlns:a="http://schemas.openxmlformats.org/drawingml/2006/main">
              <a:ext uri="{FF2B5EF4-FFF2-40B4-BE49-F238E27FC236}">
                <a16:creationId xmlns:a16="http://schemas.microsoft.com/office/drawing/2014/main" id="{20E10643-5632-4E0F-B95F-BC2A4B4468CC}"/>
              </a:ext>
            </a:extLst>
          </p:cNvPr>
          <p:cNvSpPr>
            <a:spLocks xmlns:a="http://schemas.openxmlformats.org/drawingml/2006/main" noGrp="1"/>
          </p:cNvSpPr>
          <p:nvPr/>
        </p:nvSpPr>
        <p:spPr>
          <a:xfrm xmlns:a="http://schemas.openxmlformats.org/drawingml/2006/main">
            <a:off x="822960" y="4526280"/>
            <a:ext cx="484632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2×2 binary patch → token 256 + 1·X00 + 2·X01 + 4·X10 + 8·X11</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16 patches ↔ tokens 256–271; digits recovered exactly (Lean)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Disjoint from the 256 byte tokens</a:t>
            </a:r>
            <a:endParaRPr sz="1500"/>
          </a:p>
        </p:txBody>
      </p:sp>
      <p:sp>
        <p:nvSpPr>
          <p:cNvPr id="23" name="Lag caveat card">
            <a:extLst xmlns:a="http://schemas.openxmlformats.org/drawingml/2006/main">
              <a:ext uri="{FF2B5EF4-FFF2-40B4-BE49-F238E27FC236}">
                <a16:creationId xmlns:a16="http://schemas.microsoft.com/office/drawing/2014/main" id="{EAB6797F-59BE-4C00-A3C5-44684EE9AF62}"/>
              </a:ext>
            </a:extLst>
          </p:cNvPr>
          <p:cNvSpPr>
            <a:spLocks xmlns:a="http://schemas.openxmlformats.org/drawingml/2006/main" noGrp="1"/>
          </p:cNvSpPr>
          <p:nvPr/>
        </p:nvSpPr>
        <p:spPr>
          <a:xfrm xmlns:a="http://schemas.openxmlformats.org/drawingml/2006/main">
            <a:off x="6217920" y="3977640"/>
            <a:ext cx="5394960" cy="2194560"/>
          </a:xfrm>
          <a:prstGeom xmlns:a="http://schemas.openxmlformats.org/drawingml/2006/main" prst="roundRect">
            <a:avLst>
              <a:gd name="adj" fmla="val 5000"/>
            </a:avLst>
          </a:prstGeom>
          <a:solidFill xmlns:a="http://schemas.openxmlformats.org/drawingml/2006/main">
            <a:srgbClr val="15233B"/>
          </a:solidFill>
          <a:ln xmlns:a="http://schemas.openxmlformats.org/drawingml/2006/main" w="12700">
            <a:solidFill>
              <a:srgbClr val="15233B"/>
            </a:solidFill>
            <a:prstDash val="solid"/>
          </a:ln>
        </p:spPr>
      </p:sp>
      <p:sp>
        <p:nvSpPr>
          <p:cNvPr id="24" name="Text 21">
            <a:extLst xmlns:a="http://schemas.openxmlformats.org/drawingml/2006/main">
              <a:ext uri="{FF2B5EF4-FFF2-40B4-BE49-F238E27FC236}">
                <a16:creationId xmlns:a16="http://schemas.microsoft.com/office/drawing/2014/main" id="{7E6D5F30-69CB-4AE6-B826-3015F9BC5A60}"/>
              </a:ext>
            </a:extLst>
          </p:cNvPr>
          <p:cNvSpPr>
            <a:spLocks xmlns:a="http://schemas.openxmlformats.org/drawingml/2006/main" noGrp="1"/>
          </p:cNvSpPr>
          <p:nvPr/>
        </p:nvSpPr>
        <p:spPr>
          <a:xfrm xmlns:a="http://schemas.openxmlformats.org/drawingml/2006/main">
            <a:off x="6492240" y="41148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is and isn't shown</a:t>
            </a:r>
            <a:endParaRPr sz="1800"/>
          </a:p>
        </p:txBody>
      </p:sp>
      <p:sp>
        <p:nvSpPr>
          <p:cNvPr id="25" name="Text 22">
            <a:extLst xmlns:a="http://schemas.openxmlformats.org/drawingml/2006/main">
              <a:ext uri="{FF2B5EF4-FFF2-40B4-BE49-F238E27FC236}">
                <a16:creationId xmlns:a16="http://schemas.microsoft.com/office/drawing/2014/main" id="{05882384-5143-487E-B0A8-E4A5240DC1E6}"/>
              </a:ext>
            </a:extLst>
          </p:cNvPr>
          <p:cNvSpPr>
            <a:spLocks xmlns:a="http://schemas.openxmlformats.org/drawingml/2006/main" noGrp="1"/>
          </p:cNvSpPr>
          <p:nvPr/>
        </p:nvSpPr>
        <p:spPr>
          <a:xfrm xmlns:a="http://schemas.openxmlformats.org/drawingml/2006/main">
            <a:off x="6492240" y="4526280"/>
            <a:ext cx="484632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Mean-lag invariance and window bounds: checked in Lean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Lag variance: informal</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Effect of lags on learning: not measured</a:t>
            </a:r>
            <a:endParaRPr sz="1500"/>
          </a:p>
        </p:txBody>
      </p:sp>
      <p:sp>
        <p:nvSpPr>
          <p:cNvPr id="26" name="Slide Number Placeholder 0">
            <a:extLst xmlns:a="http://schemas.openxmlformats.org/drawingml/2006/main">
              <a:ext uri="{FF2B5EF4-FFF2-40B4-BE49-F238E27FC236}">
                <a16:creationId xmlns:a16="http://schemas.microsoft.com/office/drawing/2014/main" id="{B12402E1-F666-4F28-A858-4993DE3B33EC}"/>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879100"/>
      </p:ext>
    </p:extLst>
  </p:cSld>
</p:sld>
</file>

<file path=ppt/slides/slide2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E2FFB04-6351-42AE-AD57-3BBE7D472ED1}"/>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 decoded categorical patch from the actual dataset</a:t>
            </a:r>
          </a:p>
        </p:txBody>
      </p:sp>
      <p:graphicFrame>
        <p:nvGraphicFramePr>
          <p:cNvPr id="2" name="">
            <a:extLst xmlns:a="http://schemas.openxmlformats.org/drawingml/2006/main">
              <a:ext uri="{FF2B5EF4-FFF2-40B4-BE49-F238E27FC236}">
                <a16:creationId xmlns:a16="http://schemas.microsoft.com/office/drawing/2014/main" id="{CA894D37-6A61-40E3-A41A-7A190008AEA2}"/>
              </a:ext>
            </a:extLst>
          </p:cNvPr>
          <p:cNvGraphicFramePr/>
          <p:nvPr/>
        </p:nvGraphicFramePr>
        <p:xfrm>
          <a:off xmlns:a="http://schemas.openxmlformats.org/drawingml/2006/main" x="762000" y="1695450"/>
          <a:ext xmlns:a="http://schemas.openxmlformats.org/drawingml/2006/main" cx="2952750" cy="2571750"/>
        </p:xfrm>
        <a:graphic xmlns:a="http://schemas.openxmlformats.org/drawingml/2006/main">
          <a:graphicData uri="http://schemas.openxmlformats.org/drawingml/2006/table">
            <a:tbl>
              <a:tblPr/>
              <a:tblGrid>
                <a:gridCol w="1476375"/>
                <a:gridCol w="1476375"/>
              </a:tblGrid>
              <a:tr h="1285875">
                <a:tc>
                  <a:txBody>
                    <a:bodyPr wrap="square" lIns="95250" tIns="95250" rIns="95250" bIns="95250"/>
                    <a:lstStyle/>
                    <a:p>
                      <a:r>
                        <a:rPr sz="4725" b="1">
                          <a:solidFill>
                            <a:srgbClr val="F1F5F9"/>
                          </a:solidFill>
                          <a:latin typeface="Calibri"/>
                          <a:ea typeface="Calibri"/>
                          <a:cs typeface="Calibri"/>
                        </a:rPr>
                        <a:t>7</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4725" b="1">
                          <a:solidFill>
                            <a:srgbClr val="F1F5F9"/>
                          </a:solidFill>
                          <a:latin typeface="Calibri"/>
                          <a:ea typeface="Calibri"/>
                          <a:cs typeface="Calibri"/>
                        </a:rPr>
                        <a:t>2</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1285875">
                <a:tc>
                  <a:txBody>
                    <a:bodyPr wrap="square" lIns="95250" tIns="95250" rIns="95250" bIns="95250"/>
                    <a:lstStyle/>
                    <a:p>
                      <a:r>
                        <a:rPr sz="4725" b="0">
                          <a:solidFill>
                            <a:srgbClr val="F1F5F9"/>
                          </a:solidFill>
                          <a:latin typeface="Calibri"/>
                          <a:ea typeface="Calibri"/>
                          <a:cs typeface="Calibri"/>
                        </a:rPr>
                        <a:t>5</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4725" b="0">
                          <a:solidFill>
                            <a:srgbClr val="F1F5F9"/>
                          </a:solidFill>
                          <a:latin typeface="Calibri"/>
                          <a:ea typeface="Calibri"/>
                          <a:cs typeface="Calibri"/>
                        </a:rPr>
                        <a:t>6</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1024C866-34E4-49D4-B394-E34FC7C1E6F1}"/>
              </a:ext>
            </a:extLst>
          </p:cNvPr>
          <p:cNvSpPr>
            <a:spLocks xmlns:a="http://schemas.openxmlformats.org/drawingml/2006/main" noGrp="1"/>
          </p:cNvSpPr>
          <p:nvPr/>
        </p:nvSpPr>
        <p:spPr>
          <a:xfrm xmlns:a="http://schemas.openxmlformats.org/drawingml/2006/main">
            <a:off x="4476750" y="18669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38BDF8"/>
                </a:solidFill>
                <a:latin typeface="Calibri"/>
                <a:ea typeface="Calibri"/>
                <a:cs typeface="Calibri"/>
              </a:defRPr>
            </a:defPPr>
            <a:lvl1pPr>
              <a:buNone/>
              <a:defRPr sz="2550" b="0">
                <a:solidFill>
                  <a:srgbClr val="38BDF8"/>
                </a:solidFill>
                <a:latin typeface="Calibri"/>
                <a:ea typeface="Calibri"/>
                <a:cs typeface="Calibri"/>
              </a:defRPr>
            </a:lvl1pPr>
            <a:lvl2pPr>
              <a:buNone/>
              <a:defRPr sz="2550" b="0">
                <a:solidFill>
                  <a:srgbClr val="38BDF8"/>
                </a:solidFill>
                <a:latin typeface="Calibri"/>
                <a:ea typeface="Calibri"/>
                <a:cs typeface="Calibri"/>
              </a:defRPr>
            </a:lvl2pPr>
            <a:lvl3pPr>
              <a:buNone/>
              <a:defRPr sz="2550" b="0">
                <a:solidFill>
                  <a:srgbClr val="38BDF8"/>
                </a:solidFill>
                <a:latin typeface="Calibri"/>
                <a:ea typeface="Calibri"/>
                <a:cs typeface="Calibri"/>
              </a:defRPr>
            </a:lvl3pPr>
            <a:lvl4pPr>
              <a:buNone/>
              <a:defRPr sz="2550" b="0">
                <a:solidFill>
                  <a:srgbClr val="38BDF8"/>
                </a:solidFill>
                <a:latin typeface="Calibri"/>
                <a:ea typeface="Calibri"/>
                <a:cs typeface="Calibri"/>
              </a:defRPr>
            </a:lvl4pPr>
            <a:lvl5pPr>
              <a:buNone/>
              <a:defRPr sz="2550" b="0">
                <a:solidFill>
                  <a:srgbClr val="38BDF8"/>
                </a:solidFill>
                <a:latin typeface="Calibri"/>
                <a:ea typeface="Calibri"/>
                <a:cs typeface="Calibri"/>
              </a:defRPr>
            </a:lvl5pPr>
            <a:lvl6pPr>
              <a:buNone/>
              <a:defRPr sz="2550" b="0">
                <a:solidFill>
                  <a:srgbClr val="38BDF8"/>
                </a:solidFill>
                <a:latin typeface="Calibri"/>
                <a:ea typeface="Calibri"/>
                <a:cs typeface="Calibri"/>
              </a:defRPr>
            </a:lvl6pPr>
            <a:lvl7pPr>
              <a:buNone/>
              <a:defRPr sz="2550" b="0">
                <a:solidFill>
                  <a:srgbClr val="38BDF8"/>
                </a:solidFill>
                <a:latin typeface="Calibri"/>
                <a:ea typeface="Calibri"/>
                <a:cs typeface="Calibri"/>
              </a:defRPr>
            </a:lvl7pPr>
            <a:lvl8pPr>
              <a:buNone/>
              <a:defRPr sz="2550" b="0">
                <a:solidFill>
                  <a:srgbClr val="38BDF8"/>
                </a:solidFill>
                <a:latin typeface="Calibri"/>
                <a:ea typeface="Calibri"/>
                <a:cs typeface="Calibri"/>
              </a:defRPr>
            </a:lvl8pPr>
            <a:lvl9pPr>
              <a:buNone/>
              <a:defRPr sz="2550" b="0">
                <a:solidFill>
                  <a:srgbClr val="38BDF8"/>
                </a:solidFill>
                <a:latin typeface="Calibri"/>
                <a:ea typeface="Calibri"/>
                <a:cs typeface="Calibri"/>
              </a:defRPr>
            </a:lvl9pPr>
          </a:lstStyle>
          <a:p xmlns:a="http://schemas.openxmlformats.org/drawingml/2006/main">
            <a:pPr>
              <a:buNone/>
              <a:defRPr sz="2550" b="0">
                <a:solidFill>
                  <a:srgbClr val="38BDF8"/>
                </a:solidFill>
                <a:latin typeface="Calibri"/>
                <a:ea typeface="Calibri"/>
                <a:cs typeface="Calibri"/>
              </a:defRPr>
            </a:pPr>
            <a:r>
              <a:rPr sz="2550" b="0">
                <a:solidFill>
                  <a:srgbClr val="38BDF8"/>
                </a:solidFill>
                <a:latin typeface="Calibri"/>
                <a:ea typeface="Calibri"/>
                <a:cs typeface="Calibri"/>
              </a:rPr>
              <a:t>token = 7 + 10·2 + 100·5 + 1000·6</a:t>
            </a:r>
          </a:p>
        </p:txBody>
      </p:sp>
      <p:sp>
        <p:nvSpPr>
          <p:cNvPr id="4" name="body">
            <a:extLst xmlns:a="http://schemas.openxmlformats.org/drawingml/2006/main">
              <a:ext uri="{FF2B5EF4-FFF2-40B4-BE49-F238E27FC236}">
                <a16:creationId xmlns:a16="http://schemas.microsoft.com/office/drawing/2014/main" id="{66A936CD-2AF2-4C1C-966C-C94143CB3224}"/>
              </a:ext>
            </a:extLst>
          </p:cNvPr>
          <p:cNvSpPr>
            <a:spLocks xmlns:a="http://schemas.openxmlformats.org/drawingml/2006/main" noGrp="1"/>
          </p:cNvSpPr>
          <p:nvPr/>
        </p:nvSpPr>
        <p:spPr>
          <a:xfrm xmlns:a="http://schemas.openxmlformats.org/drawingml/2006/main">
            <a:off x="4476750" y="28575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BBF24"/>
                </a:solidFill>
                <a:latin typeface="Calibri"/>
                <a:ea typeface="Calibri"/>
                <a:cs typeface="Calibri"/>
              </a:defRPr>
            </a:defPPr>
            <a:lvl1pPr>
              <a:buNone/>
              <a:defRPr sz="3375" b="1">
                <a:solidFill>
                  <a:srgbClr val="FBBF24"/>
                </a:solidFill>
                <a:latin typeface="Calibri"/>
                <a:ea typeface="Calibri"/>
                <a:cs typeface="Calibri"/>
              </a:defRPr>
            </a:lvl1pPr>
            <a:lvl2pPr>
              <a:buNone/>
              <a:defRPr sz="3375" b="1">
                <a:solidFill>
                  <a:srgbClr val="FBBF24"/>
                </a:solidFill>
                <a:latin typeface="Calibri"/>
                <a:ea typeface="Calibri"/>
                <a:cs typeface="Calibri"/>
              </a:defRPr>
            </a:lvl2pPr>
            <a:lvl3pPr>
              <a:buNone/>
              <a:defRPr sz="3375" b="1">
                <a:solidFill>
                  <a:srgbClr val="FBBF24"/>
                </a:solidFill>
                <a:latin typeface="Calibri"/>
                <a:ea typeface="Calibri"/>
                <a:cs typeface="Calibri"/>
              </a:defRPr>
            </a:lvl3pPr>
            <a:lvl4pPr>
              <a:buNone/>
              <a:defRPr sz="3375" b="1">
                <a:solidFill>
                  <a:srgbClr val="FBBF24"/>
                </a:solidFill>
                <a:latin typeface="Calibri"/>
                <a:ea typeface="Calibri"/>
                <a:cs typeface="Calibri"/>
              </a:defRPr>
            </a:lvl4pPr>
            <a:lvl5pPr>
              <a:buNone/>
              <a:defRPr sz="3375" b="1">
                <a:solidFill>
                  <a:srgbClr val="FBBF24"/>
                </a:solidFill>
                <a:latin typeface="Calibri"/>
                <a:ea typeface="Calibri"/>
                <a:cs typeface="Calibri"/>
              </a:defRPr>
            </a:lvl5pPr>
            <a:lvl6pPr>
              <a:buNone/>
              <a:defRPr sz="3375" b="1">
                <a:solidFill>
                  <a:srgbClr val="FBBF24"/>
                </a:solidFill>
                <a:latin typeface="Calibri"/>
                <a:ea typeface="Calibri"/>
                <a:cs typeface="Calibri"/>
              </a:defRPr>
            </a:lvl6pPr>
            <a:lvl7pPr>
              <a:buNone/>
              <a:defRPr sz="3375" b="1">
                <a:solidFill>
                  <a:srgbClr val="FBBF24"/>
                </a:solidFill>
                <a:latin typeface="Calibri"/>
                <a:ea typeface="Calibri"/>
                <a:cs typeface="Calibri"/>
              </a:defRPr>
            </a:lvl7pPr>
            <a:lvl8pPr>
              <a:buNone/>
              <a:defRPr sz="3375" b="1">
                <a:solidFill>
                  <a:srgbClr val="FBBF24"/>
                </a:solidFill>
                <a:latin typeface="Calibri"/>
                <a:ea typeface="Calibri"/>
                <a:cs typeface="Calibri"/>
              </a:defRPr>
            </a:lvl8pPr>
            <a:lvl9pPr>
              <a:buNone/>
              <a:defRPr sz="3375" b="1">
                <a:solidFill>
                  <a:srgbClr val="FBBF24"/>
                </a:solidFill>
                <a:latin typeface="Calibri"/>
                <a:ea typeface="Calibri"/>
                <a:cs typeface="Calibri"/>
              </a:defRPr>
            </a:lvl9pPr>
          </a:lstStyle>
          <a:p xmlns:a="http://schemas.openxmlformats.org/drawingml/2006/main">
            <a:pPr>
              <a:buNone/>
              <a:defRPr sz="3375" b="1">
                <a:solidFill>
                  <a:srgbClr val="FBBF24"/>
                </a:solidFill>
                <a:latin typeface="Calibri"/>
                <a:ea typeface="Calibri"/>
                <a:cs typeface="Calibri"/>
              </a:defRPr>
            </a:pPr>
            <a:r>
              <a:rPr sz="3375" b="1">
                <a:solidFill>
                  <a:srgbClr val="FBBF24"/>
                </a:solidFill>
                <a:latin typeface="Calibri"/>
                <a:ea typeface="Calibri"/>
                <a:cs typeface="Calibri"/>
              </a:rPr>
              <a:t>token = 6527</a:t>
            </a:r>
          </a:p>
        </p:txBody>
      </p:sp>
      <p:sp>
        <p:nvSpPr>
          <p:cNvPr id="5" name="body">
            <a:extLst xmlns:a="http://schemas.openxmlformats.org/drawingml/2006/main">
              <a:ext uri="{FF2B5EF4-FFF2-40B4-BE49-F238E27FC236}">
                <a16:creationId xmlns:a16="http://schemas.microsoft.com/office/drawing/2014/main" id="{E6DA671D-9166-4416-A94E-C405D09AE4A8}"/>
              </a:ext>
            </a:extLst>
          </p:cNvPr>
          <p:cNvSpPr>
            <a:spLocks xmlns:a="http://schemas.openxmlformats.org/drawingml/2006/main" noGrp="1"/>
          </p:cNvSpPr>
          <p:nvPr/>
        </p:nvSpPr>
        <p:spPr>
          <a:xfrm xmlns:a="http://schemas.openxmlformats.org/drawingml/2006/main">
            <a:off x="4476750" y="3914775"/>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Repeated base-10 division recovers every cell.</a:t>
            </a:r>
          </a:p>
          <a:p xmlns:a="http://schemas.openxmlformats.org/drawingml/2006/main">
            <a:r>
              <a:t/>
            </a:r>
          </a:p>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10⁴ patch symbols plus two frame markers give vocabulary 10,002. A 12 × 12 frame contains 36 patches and 38 tokens.</a:t>
            </a:r>
          </a:p>
        </p:txBody>
      </p:sp>
      <p:sp>
        <p:nvSpPr>
          <p:cNvPr id="6" name="source">
            <a:extLst xmlns:a="http://schemas.openxmlformats.org/drawingml/2006/main">
              <a:ext uri="{FF2B5EF4-FFF2-40B4-BE49-F238E27FC236}">
                <a16:creationId xmlns:a16="http://schemas.microsoft.com/office/drawing/2014/main" id="{019D7732-0B38-4718-A25E-143111DCA5AE}"/>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Saved v2 held-out-rule data. Cell arrangement and token value are decoded, not a new rollout.</a:t>
            </a:r>
          </a:p>
        </p:txBody>
      </p:sp>
      <p:sp>
        <p:nvSpPr>
          <p:cNvPr id="7" name="body">
            <a:extLst xmlns:a="http://schemas.openxmlformats.org/drawingml/2006/main">
              <a:ext uri="{FF2B5EF4-FFF2-40B4-BE49-F238E27FC236}">
                <a16:creationId xmlns:a16="http://schemas.microsoft.com/office/drawing/2014/main" id="{3337B25C-8FFE-4206-ABB0-8D3BF23F5F5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21</a:t>
            </a:r>
          </a:p>
        </p:txBody>
      </p:sp>
    </p:spTree>
    <p:extLst>
      <p:ext uri="{BB962C8B-B14F-4D97-AF65-F5344CB8AC3E}">
        <p14:creationId xmlns:p14="http://schemas.microsoft.com/office/powerpoint/2010/main" val="699398234"/>
      </p:ext>
    </p:extLst>
  </p:cSld>
</p:sld>
</file>

<file path=ppt/slides/slide2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C16AF07-BB31-4116-A009-41A078B88BE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2 × 2 patch-token encoding</a:t>
            </a:r>
          </a:p>
        </p:txBody>
      </p:sp>
      <p:sp>
        <p:nvSpPr>
          <p:cNvPr id="2" name="body">
            <a:extLst xmlns:a="http://schemas.openxmlformats.org/drawingml/2006/main">
              <a:ext uri="{FF2B5EF4-FFF2-40B4-BE49-F238E27FC236}">
                <a16:creationId xmlns:a16="http://schemas.microsoft.com/office/drawing/2014/main" id="{20661AD1-8514-4B9B-9BA1-9FDEA6DD8E2B}"/>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76–81</a:t>
            </a:r>
          </a:p>
        </p:txBody>
      </p:sp>
      <p:sp>
        <p:nvSpPr>
          <p:cNvPr id="3" name="verbatim source">
            <a:extLst xmlns:a="http://schemas.openxmlformats.org/drawingml/2006/main">
              <a:ext uri="{FF2B5EF4-FFF2-40B4-BE49-F238E27FC236}">
                <a16:creationId xmlns:a16="http://schemas.microsoft.com/office/drawing/2014/main" id="{24A468F2-8E11-45A4-B5F8-C5D6B2F19CB5}"/>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88" b="0">
                <a:solidFill>
                  <a:srgbClr val="F1F5F9"/>
                </a:solidFill>
                <a:latin typeface="Courier New"/>
                <a:ea typeface="Courier New"/>
                <a:cs typeface="Courier New"/>
              </a:defRPr>
            </a:defPPr>
            <a:lvl1pPr>
              <a:buNone/>
              <a:defRPr sz="1388" b="0">
                <a:solidFill>
                  <a:srgbClr val="F1F5F9"/>
                </a:solidFill>
                <a:latin typeface="Courier New"/>
                <a:ea typeface="Courier New"/>
                <a:cs typeface="Courier New"/>
              </a:defRPr>
            </a:lvl1pPr>
            <a:lvl2pPr>
              <a:buNone/>
              <a:defRPr sz="1388" b="0">
                <a:solidFill>
                  <a:srgbClr val="F1F5F9"/>
                </a:solidFill>
                <a:latin typeface="Courier New"/>
                <a:ea typeface="Courier New"/>
                <a:cs typeface="Courier New"/>
              </a:defRPr>
            </a:lvl2pPr>
            <a:lvl3pPr>
              <a:buNone/>
              <a:defRPr sz="1388" b="0">
                <a:solidFill>
                  <a:srgbClr val="F1F5F9"/>
                </a:solidFill>
                <a:latin typeface="Courier New"/>
                <a:ea typeface="Courier New"/>
                <a:cs typeface="Courier New"/>
              </a:defRPr>
            </a:lvl3pPr>
            <a:lvl4pPr>
              <a:buNone/>
              <a:defRPr sz="1388" b="0">
                <a:solidFill>
                  <a:srgbClr val="F1F5F9"/>
                </a:solidFill>
                <a:latin typeface="Courier New"/>
                <a:ea typeface="Courier New"/>
                <a:cs typeface="Courier New"/>
              </a:defRPr>
            </a:lvl4pPr>
            <a:lvl5pPr>
              <a:buNone/>
              <a:defRPr sz="1388" b="0">
                <a:solidFill>
                  <a:srgbClr val="F1F5F9"/>
                </a:solidFill>
                <a:latin typeface="Courier New"/>
                <a:ea typeface="Courier New"/>
                <a:cs typeface="Courier New"/>
              </a:defRPr>
            </a:lvl5pPr>
            <a:lvl6pPr>
              <a:buNone/>
              <a:defRPr sz="1388" b="0">
                <a:solidFill>
                  <a:srgbClr val="F1F5F9"/>
                </a:solidFill>
                <a:latin typeface="Courier New"/>
                <a:ea typeface="Courier New"/>
                <a:cs typeface="Courier New"/>
              </a:defRPr>
            </a:lvl6pPr>
            <a:lvl7pPr>
              <a:buNone/>
              <a:defRPr sz="1388" b="0">
                <a:solidFill>
                  <a:srgbClr val="F1F5F9"/>
                </a:solidFill>
                <a:latin typeface="Courier New"/>
                <a:ea typeface="Courier New"/>
                <a:cs typeface="Courier New"/>
              </a:defRPr>
            </a:lvl7pPr>
            <a:lvl8pPr>
              <a:buNone/>
              <a:defRPr sz="1388" b="0">
                <a:solidFill>
                  <a:srgbClr val="F1F5F9"/>
                </a:solidFill>
                <a:latin typeface="Courier New"/>
                <a:ea typeface="Courier New"/>
                <a:cs typeface="Courier New"/>
              </a:defRPr>
            </a:lvl8pPr>
            <a:lvl9pPr>
              <a:buNone/>
              <a:defRPr sz="1388" b="0">
                <a:solidFill>
                  <a:srgbClr val="F1F5F9"/>
                </a:solidFill>
                <a:latin typeface="Courier New"/>
                <a:ea typeface="Courier New"/>
                <a:cs typeface="Courier New"/>
              </a:defRPr>
            </a:lvl9pPr>
          </a:lstStyle>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def encode_frames(frames, side, states):</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x = frames.reshape(*frames.shape[:-1], side, side)</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patches = (x[..., 0::2, 0::2]+states*x[..., 0::2, 1::2]</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+states**2*x[..., 1::2, 0::2]+states**3*x[..., 1::2, 1::2]).flatten(-2)</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start = torch.full((*patches.shape[:-1], 1), states**4, dtype=torch.long, device=frames.device)</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return torch.cat((start, patches, start+1), -1).flatten(1)</a:t>
            </a:r>
          </a:p>
        </p:txBody>
      </p:sp>
      <p:sp>
        <p:nvSpPr>
          <p:cNvPr id="4" name="body">
            <a:extLst xmlns:a="http://schemas.openxmlformats.org/drawingml/2006/main">
              <a:ext uri="{FF2B5EF4-FFF2-40B4-BE49-F238E27FC236}">
                <a16:creationId xmlns:a16="http://schemas.microsoft.com/office/drawing/2014/main" id="{934A2CCE-B248-445F-9226-CCDDAC455E3B}"/>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four positions receive powers 1, q, q² and q³. Frame markers follow the patch vocabulary and are distinct from all patch IDs.</a:t>
            </a:r>
          </a:p>
        </p:txBody>
      </p:sp>
      <p:sp>
        <p:nvSpPr>
          <p:cNvPr id="5" name="source">
            <a:extLst xmlns:a="http://schemas.openxmlformats.org/drawingml/2006/main">
              <a:ext uri="{FF2B5EF4-FFF2-40B4-BE49-F238E27FC236}">
                <a16:creationId xmlns:a16="http://schemas.microsoft.com/office/drawing/2014/main" id="{72C8EBB5-73AC-4DD9-9267-FE50FC06C8E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4D9D6AF7-2FB7-438F-A3C1-8A686008936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22</a:t>
            </a:r>
          </a:p>
        </p:txBody>
      </p:sp>
    </p:spTree>
    <p:extLst>
      <p:ext uri="{BB962C8B-B14F-4D97-AF65-F5344CB8AC3E}">
        <p14:creationId xmlns:p14="http://schemas.microsoft.com/office/powerpoint/2010/main" val="1407590607"/>
      </p:ext>
    </p:extLst>
  </p:cSld>
</p:sld>
</file>

<file path=ppt/slides/slide2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C216234-546E-4229-94A5-59A90F28E0F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Parent visibility and crop boundaries</a:t>
            </a:r>
          </a:p>
        </p:txBody>
      </p:sp>
      <p:sp>
        <p:nvSpPr>
          <p:cNvPr id="2" name="equation">
            <a:extLst xmlns:a="http://schemas.openxmlformats.org/drawingml/2006/main">
              <a:ext uri="{FF2B5EF4-FFF2-40B4-BE49-F238E27FC236}">
                <a16:creationId xmlns:a16="http://schemas.microsoft.com/office/drawing/2014/main" id="{1E5C780E-6A4F-4900-863B-A85375FEE859}"/>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j(t,p) = t(P + 2) + 1 + p</a:t>
            </a:r>
          </a:p>
        </p:txBody>
      </p:sp>
      <p:sp>
        <p:nvSpPr>
          <p:cNvPr id="3" name="equation">
            <a:extLst xmlns:a="http://schemas.openxmlformats.org/drawingml/2006/main">
              <a:ext uri="{FF2B5EF4-FFF2-40B4-BE49-F238E27FC236}">
                <a16:creationId xmlns:a16="http://schemas.microsoft.com/office/drawing/2014/main" id="{24DF0274-F8F6-4671-ACFE-EE64823726C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D(p,r) = (P + 2) + p − r</a:t>
            </a:r>
          </a:p>
        </p:txBody>
      </p:sp>
      <p:sp>
        <p:nvSpPr>
          <p:cNvPr id="4" name="equation">
            <a:extLst xmlns:a="http://schemas.openxmlformats.org/drawingml/2006/main">
              <a:ext uri="{FF2B5EF4-FFF2-40B4-BE49-F238E27FC236}">
                <a16:creationId xmlns:a16="http://schemas.microsoft.com/office/drawing/2014/main" id="{895EFBF9-626D-438A-B094-CA1F7C0FE2D8}"/>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3 ≤ D(p,r) ≤ 2P + 1</a:t>
            </a:r>
          </a:p>
        </p:txBody>
      </p:sp>
      <p:sp>
        <p:nvSpPr>
          <p:cNvPr id="5" name="equation">
            <a:extLst xmlns:a="http://schemas.openxmlformats.org/drawingml/2006/main">
              <a:ext uri="{FF2B5EF4-FFF2-40B4-BE49-F238E27FC236}">
                <a16:creationId xmlns:a16="http://schemas.microsoft.com/office/drawing/2014/main" id="{C180C08F-6021-4962-B44B-C9D1BBA0085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Binary: 33 tokens     Categorical: 73 tokens</a:t>
            </a:r>
          </a:p>
        </p:txBody>
      </p:sp>
      <p:sp>
        <p:nvSpPr>
          <p:cNvPr id="6" name="body">
            <a:extLst xmlns:a="http://schemas.openxmlformats.org/drawingml/2006/main">
              <a:ext uri="{FF2B5EF4-FFF2-40B4-BE49-F238E27FC236}">
                <a16:creationId xmlns:a16="http://schemas.microsoft.com/office/drawing/2014/main" id="{C7D83FE9-B187-47E3-84E6-B51382576C3F}"/>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A complete preceding window can contain every one-step parent. A target near a crop boundary has only its available prefix. Binary offsets 33…128 give 96 qualifying positions, with patch membership depending on frame offset.</a:t>
            </a:r>
          </a:p>
        </p:txBody>
      </p:sp>
      <p:sp>
        <p:nvSpPr>
          <p:cNvPr id="7" name="source">
            <a:extLst xmlns:a="http://schemas.openxmlformats.org/drawingml/2006/main">
              <a:ext uri="{FF2B5EF4-FFF2-40B4-BE49-F238E27FC236}">
                <a16:creationId xmlns:a16="http://schemas.microsoft.com/office/drawing/2014/main" id="{B9FA0E09-90AE-4084-B186-8E380A514CA6}"/>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Visibility is a geometric guarantee. It does not establish learned parent selection or rule inference.</a:t>
            </a:r>
          </a:p>
        </p:txBody>
      </p:sp>
      <p:sp>
        <p:nvSpPr>
          <p:cNvPr id="8" name="body">
            <a:extLst xmlns:a="http://schemas.openxmlformats.org/drawingml/2006/main">
              <a:ext uri="{FF2B5EF4-FFF2-40B4-BE49-F238E27FC236}">
                <a16:creationId xmlns:a16="http://schemas.microsoft.com/office/drawing/2014/main" id="{B92D02CD-0486-4358-9D4A-7DB2421A806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23</a:t>
            </a:r>
          </a:p>
        </p:txBody>
      </p:sp>
    </p:spTree>
    <p:extLst>
      <p:ext uri="{BB962C8B-B14F-4D97-AF65-F5344CB8AC3E}">
        <p14:creationId xmlns:p14="http://schemas.microsoft.com/office/powerpoint/2010/main" val="1679952956"/>
      </p:ext>
    </p:extLst>
  </p:cSld>
</p:sld>
</file>

<file path=ppt/slides/slide2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AE3BFEF-91DD-4D83-9DA0-D121CA2CFDD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Mean lag is fixed while dispersion can change</a:t>
            </a:r>
          </a:p>
        </p:txBody>
      </p:sp>
      <p:sp>
        <p:nvSpPr>
          <p:cNvPr id="2" name="equation">
            <a:extLst xmlns:a="http://schemas.openxmlformats.org/drawingml/2006/main">
              <a:ext uri="{FF2B5EF4-FFF2-40B4-BE49-F238E27FC236}">
                <a16:creationId xmlns:a16="http://schemas.microsoft.com/office/drawing/2014/main" id="{95C5CDDE-52FE-4A88-8EEC-C026614F35A1}"/>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E[D] = ℓ + E[p(i)] − E[p(J)] = ℓ</a:t>
            </a:r>
          </a:p>
        </p:txBody>
      </p:sp>
      <p:sp>
        <p:nvSpPr>
          <p:cNvPr id="3" name="equation">
            <a:extLst xmlns:a="http://schemas.openxmlformats.org/drawingml/2006/main">
              <a:ext uri="{FF2B5EF4-FFF2-40B4-BE49-F238E27FC236}">
                <a16:creationId xmlns:a16="http://schemas.microsoft.com/office/drawing/2014/main" id="{0DA86193-3120-4911-A649-C1B9AF5B13F7}"/>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Var(D) = 2Var(p) − 2Cov(p(i),p(J))</a:t>
            </a:r>
          </a:p>
        </p:txBody>
      </p:sp>
      <p:sp>
        <p:nvSpPr>
          <p:cNvPr id="4" name="equation">
            <a:extLst xmlns:a="http://schemas.openxmlformats.org/drawingml/2006/main">
              <a:ext uri="{FF2B5EF4-FFF2-40B4-BE49-F238E27FC236}">
                <a16:creationId xmlns:a16="http://schemas.microsoft.com/office/drawing/2014/main" id="{C0A4F283-4E0B-41B3-9399-A2A9EFF0DDBE}"/>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Binary grid variance = 153/8 = 19.125</a:t>
            </a:r>
          </a:p>
        </p:txBody>
      </p:sp>
      <p:sp>
        <p:nvSpPr>
          <p:cNvPr id="5" name="equation">
            <a:extLst xmlns:a="http://schemas.openxmlformats.org/drawingml/2006/main">
              <a:ext uri="{FF2B5EF4-FFF2-40B4-BE49-F238E27FC236}">
                <a16:creationId xmlns:a16="http://schemas.microsoft.com/office/drawing/2014/main" id="{55AC96FA-6864-4CBE-BF3E-46EDB20FC40E}"/>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Uniform non-self comparison = 2720/63 ≈ 43.1746</a:t>
            </a:r>
          </a:p>
        </p:txBody>
      </p:sp>
      <p:sp>
        <p:nvSpPr>
          <p:cNvPr id="6" name="body">
            <a:extLst xmlns:a="http://schemas.openxmlformats.org/drawingml/2006/main">
              <a:ext uri="{FF2B5EF4-FFF2-40B4-BE49-F238E27FC236}">
                <a16:creationId xmlns:a16="http://schemas.microsoft.com/office/drawing/2014/main" id="{071C9C3E-305C-4A91-9279-E2D8715DC1C3}"/>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Every typed permutation makes both endpoints uniform. Rewiring leaves mean lag exactly 18 in the binary setting. The uniform non-self comparison is an idealized law, separate from the measured partial-swap topology.</a:t>
            </a:r>
          </a:p>
        </p:txBody>
      </p:sp>
      <p:sp>
        <p:nvSpPr>
          <p:cNvPr id="7" name="source">
            <a:extLst xmlns:a="http://schemas.openxmlformats.org/drawingml/2006/main">
              <a:ext uri="{FF2B5EF4-FFF2-40B4-BE49-F238E27FC236}">
                <a16:creationId xmlns:a16="http://schemas.microsoft.com/office/drawing/2014/main" id="{D2BE19A1-6B27-48C9-A3FB-8A167401A04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Mean/total lag: checked in Lean. Variance and its consequences for learning: informal/open.</a:t>
            </a:r>
          </a:p>
        </p:txBody>
      </p:sp>
      <p:sp>
        <p:nvSpPr>
          <p:cNvPr id="8" name="body">
            <a:extLst xmlns:a="http://schemas.openxmlformats.org/drawingml/2006/main">
              <a:ext uri="{FF2B5EF4-FFF2-40B4-BE49-F238E27FC236}">
                <a16:creationId xmlns:a16="http://schemas.microsoft.com/office/drawing/2014/main" id="{2B5621AF-6DA2-470B-ADC7-B4E04C20A83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24</a:t>
            </a:r>
          </a:p>
        </p:txBody>
      </p:sp>
    </p:spTree>
    <p:extLst>
      <p:ext uri="{BB962C8B-B14F-4D97-AF65-F5344CB8AC3E}">
        <p14:creationId xmlns:p14="http://schemas.microsoft.com/office/powerpoint/2010/main" val="1738983583"/>
      </p:ext>
    </p:extLst>
  </p:cSld>
</p:sld>
</file>

<file path=ppt/slides/slide2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03AE85C-2270-4F08-BE49-52FA7DFA107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synthetic target mask</a:t>
            </a:r>
          </a:p>
        </p:txBody>
      </p:sp>
      <p:sp>
        <p:nvSpPr>
          <p:cNvPr id="2" name="body">
            <a:extLst xmlns:a="http://schemas.openxmlformats.org/drawingml/2006/main">
              <a:ext uri="{FF2B5EF4-FFF2-40B4-BE49-F238E27FC236}">
                <a16:creationId xmlns:a16="http://schemas.microsoft.com/office/drawing/2014/main" id="{C51FD887-3E6A-415B-8531-72546212F515}"/>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157–164</a:t>
            </a:r>
          </a:p>
        </p:txBody>
      </p:sp>
      <p:sp>
        <p:nvSpPr>
          <p:cNvPr id="3" name="verbatim source">
            <a:extLst xmlns:a="http://schemas.openxmlformats.org/drawingml/2006/main">
              <a:ext uri="{FF2B5EF4-FFF2-40B4-BE49-F238E27FC236}">
                <a16:creationId xmlns:a16="http://schemas.microsoft.com/office/drawing/2014/main" id="{A2FACD22-CA15-4BC7-8DA8-B98367F1E900}"/>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1F5F9"/>
                </a:solidFill>
                <a:latin typeface="Courier New"/>
                <a:ea typeface="Courier New"/>
                <a:cs typeface="Courier New"/>
              </a:defRPr>
            </a:defPPr>
            <a:lvl1pPr>
              <a:buNone/>
              <a:defRPr sz="1575" b="0">
                <a:solidFill>
                  <a:srgbClr val="F1F5F9"/>
                </a:solidFill>
                <a:latin typeface="Courier New"/>
                <a:ea typeface="Courier New"/>
                <a:cs typeface="Courier New"/>
              </a:defRPr>
            </a:lvl1pPr>
            <a:lvl2pPr>
              <a:buNone/>
              <a:defRPr sz="1575" b="0">
                <a:solidFill>
                  <a:srgbClr val="F1F5F9"/>
                </a:solidFill>
                <a:latin typeface="Courier New"/>
                <a:ea typeface="Courier New"/>
                <a:cs typeface="Courier New"/>
              </a:defRPr>
            </a:lvl2pPr>
            <a:lvl3pPr>
              <a:buNone/>
              <a:defRPr sz="1575" b="0">
                <a:solidFill>
                  <a:srgbClr val="F1F5F9"/>
                </a:solidFill>
                <a:latin typeface="Courier New"/>
                <a:ea typeface="Courier New"/>
                <a:cs typeface="Courier New"/>
              </a:defRPr>
            </a:lvl3pPr>
            <a:lvl4pPr>
              <a:buNone/>
              <a:defRPr sz="1575" b="0">
                <a:solidFill>
                  <a:srgbClr val="F1F5F9"/>
                </a:solidFill>
                <a:latin typeface="Courier New"/>
                <a:ea typeface="Courier New"/>
                <a:cs typeface="Courier New"/>
              </a:defRPr>
            </a:lvl4pPr>
            <a:lvl5pPr>
              <a:buNone/>
              <a:defRPr sz="1575" b="0">
                <a:solidFill>
                  <a:srgbClr val="F1F5F9"/>
                </a:solidFill>
                <a:latin typeface="Courier New"/>
                <a:ea typeface="Courier New"/>
                <a:cs typeface="Courier New"/>
              </a:defRPr>
            </a:lvl5pPr>
            <a:lvl6pPr>
              <a:buNone/>
              <a:defRPr sz="1575" b="0">
                <a:solidFill>
                  <a:srgbClr val="F1F5F9"/>
                </a:solidFill>
                <a:latin typeface="Courier New"/>
                <a:ea typeface="Courier New"/>
                <a:cs typeface="Courier New"/>
              </a:defRPr>
            </a:lvl6pPr>
            <a:lvl7pPr>
              <a:buNone/>
              <a:defRPr sz="1575" b="0">
                <a:solidFill>
                  <a:srgbClr val="F1F5F9"/>
                </a:solidFill>
                <a:latin typeface="Courier New"/>
                <a:ea typeface="Courier New"/>
                <a:cs typeface="Courier New"/>
              </a:defRPr>
            </a:lvl7pPr>
            <a:lvl8pPr>
              <a:buNone/>
              <a:defRPr sz="1575" b="0">
                <a:solidFill>
                  <a:srgbClr val="F1F5F9"/>
                </a:solidFill>
                <a:latin typeface="Courier New"/>
                <a:ea typeface="Courier New"/>
                <a:cs typeface="Courier New"/>
              </a:defRPr>
            </a:lvl8pPr>
            <a:lvl9pPr>
              <a:buNone/>
              <a:defRPr sz="1575" b="0">
                <a:solidFill>
                  <a:srgbClr val="F1F5F9"/>
                </a:solidFill>
                <a:latin typeface="Courier New"/>
                <a:ea typeface="Courier New"/>
                <a:cs typeface="Courier New"/>
              </a:defRPr>
            </a:lvl9pPr>
          </a:lstStyle>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def targets(tokens, c, patch_only=False):</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 = tokens[:, 1:].clone()</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absolute = torch.arange(1, tokens.shape[1], device=tokens.device)</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mask = absolute &lt; frame_length(c)</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 mask] = -100</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if patch_only:</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labels[labels &gt;= c["nca"]["states"]**4] = -100</a:t>
            </a:r>
          </a:p>
          <a:p xmlns:a="http://schemas.openxmlformats.org/drawingml/2006/main">
            <a:pPr>
              <a:buNone/>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return labels</a:t>
            </a:r>
          </a:p>
        </p:txBody>
      </p:sp>
      <p:sp>
        <p:nvSpPr>
          <p:cNvPr id="4" name="body">
            <a:extLst xmlns:a="http://schemas.openxmlformats.org/drawingml/2006/main">
              <a:ext uri="{FF2B5EF4-FFF2-40B4-BE49-F238E27FC236}">
                <a16:creationId xmlns:a16="http://schemas.microsoft.com/office/drawing/2014/main" id="{0CA59669-610C-4225-B558-6B9B788C7C85}"/>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first frame supplies context and contributes no targets. Synthetic evaluation separately reports patch-only loss so predictable markers cannot establish the gate.</a:t>
            </a:r>
          </a:p>
        </p:txBody>
      </p:sp>
      <p:sp>
        <p:nvSpPr>
          <p:cNvPr id="5" name="source">
            <a:extLst xmlns:a="http://schemas.openxmlformats.org/drawingml/2006/main">
              <a:ext uri="{FF2B5EF4-FFF2-40B4-BE49-F238E27FC236}">
                <a16:creationId xmlns:a16="http://schemas.microsoft.com/office/drawing/2014/main" id="{948DB04C-51D2-4050-8EED-3E96973B069F}"/>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5F220C13-AEFA-4390-9AEE-5306D170A6E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25</a:t>
            </a:r>
          </a:p>
        </p:txBody>
      </p:sp>
    </p:spTree>
    <p:extLst>
      <p:ext uri="{BB962C8B-B14F-4D97-AF65-F5344CB8AC3E}">
        <p14:creationId xmlns:p14="http://schemas.microsoft.com/office/powerpoint/2010/main" val="110573043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8F44B0-6A11-4733-A250-E989E0E1B0A8}"/>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Transfer mathematics and an exact convergence example</a:t>
            </a:r>
            <a:endParaRPr sz="3000"/>
          </a:p>
        </p:txBody>
      </p:sp>
      <p:sp>
        <p:nvSpPr>
          <p:cNvPr id="4" name="Reset card">
            <a:extLst xmlns:a="http://schemas.openxmlformats.org/drawingml/2006/main">
              <a:ext uri="{FF2B5EF4-FFF2-40B4-BE49-F238E27FC236}">
                <a16:creationId xmlns:a16="http://schemas.microsoft.com/office/drawing/2014/main" id="{96994B58-F8D7-4BFA-BE29-6CCDCF273C3B}"/>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0BA39B3C-6789-44F4-9D1F-F69DFE825F46}"/>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Head reset and descent (§5)</a:t>
            </a:r>
            <a:endParaRPr sz="1800"/>
          </a:p>
        </p:txBody>
      </p:sp>
      <p:sp>
        <p:nvSpPr>
          <p:cNvPr id="6" name="Text 3">
            <a:extLst xmlns:a="http://schemas.openxmlformats.org/drawingml/2006/main">
              <a:ext uri="{FF2B5EF4-FFF2-40B4-BE49-F238E27FC236}">
                <a16:creationId xmlns:a16="http://schemas.microsoft.com/office/drawing/2014/main" id="{2862BDB1-81E1-434F-98B4-82F83197E8A0}"/>
              </a:ext>
            </a:extLst>
          </p:cNvPr>
          <p:cNvSpPr>
            <a:spLocks xmlns:a="http://schemas.openxmlformats.org/drawingml/2006/main" noGrp="1"/>
          </p:cNvSpPr>
          <p:nvPr/>
        </p:nvSpPr>
        <p:spPr>
          <a:xfrm xmlns:a="http://schemas.openxmlformats.org/drawingml/2006/main">
            <a:off x="82296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Only the backbone transfers; embeddings and head are reset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Product reset preserves the backbone and replaces the head (Lean)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Sufficient descent: g·δ &lt; −R, where R is the Taylor remainder</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Lean takes the Taylor bound as an explicit hypothesis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A toy Hessian example shows a ranking reversal</a:t>
            </a:r>
            <a:endParaRPr sz="1800"/>
          </a:p>
        </p:txBody>
      </p:sp>
      <p:sp>
        <p:nvSpPr>
          <p:cNvPr id="7" name="Toy model card">
            <a:extLst xmlns:a="http://schemas.openxmlformats.org/drawingml/2006/main">
              <a:ext uri="{FF2B5EF4-FFF2-40B4-BE49-F238E27FC236}">
                <a16:creationId xmlns:a16="http://schemas.microsoft.com/office/drawing/2014/main" id="{5F4B9F2A-C238-4096-BEF7-6DCF4B668897}"/>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B4EA8263-3CB2-4535-B817-4AADF41EC1D0}"/>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Toy quadratic, H = diag(1, 10), α = 0.05 (§6)</a:t>
            </a:r>
            <a:endParaRPr sz="1800"/>
          </a:p>
        </p:txBody>
      </p:sp>
      <p:sp>
        <p:nvSpPr>
          <p:cNvPr id="9" name="Text 6">
            <a:extLst xmlns:a="http://schemas.openxmlformats.org/drawingml/2006/main">
              <a:ext uri="{FF2B5EF4-FFF2-40B4-BE49-F238E27FC236}">
                <a16:creationId xmlns:a16="http://schemas.microsoft.com/office/drawing/2014/main" id="{DAE52274-45CE-466D-AD3C-574C1385BE7F}"/>
              </a:ext>
            </a:extLst>
          </p:cNvPr>
          <p:cNvSpPr>
            <a:spLocks xmlns:a="http://schemas.openxmlformats.org/drawingml/2006/main" noGrp="1"/>
          </p:cNvSpPr>
          <p:nvPr/>
        </p:nvSpPr>
        <p:spPr>
          <a:xfrm xmlns:a="http://schemas.openxmlformats.org/drawingml/2006/main">
            <a:off x="649224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Contraction: slow 0.95, fast 0.50</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Scratch (1, 1) reaches ε = 0.01 at step 39</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Transferred (½, 1) reaches it at step 25: 39/25 = 1.56×</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Total speedup with K synthetic updates: 39/(K+25)</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K = 100 (409,600 tokens) gives 0.31×; break-even needs K &lt; 14</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Exact first hits at 39 and 25 are checked in Lean</a:t>
            </a:r>
            <a:endParaRPr sz="1800"/>
          </a:p>
        </p:txBody>
      </p:sp>
      <p:sp>
        <p:nvSpPr>
          <p:cNvPr id="25" name="Slide Number Placeholder 0">
            <a:extLst xmlns:a="http://schemas.openxmlformats.org/drawingml/2006/main">
              <a:ext uri="{FF2B5EF4-FFF2-40B4-BE49-F238E27FC236}">
                <a16:creationId xmlns:a16="http://schemas.microsoft.com/office/drawing/2014/main" id="{77E8C781-DC58-4207-90CA-727BE7421571}"/>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496012602"/>
      </p:ext>
    </p:extLst>
  </p:cSld>
</p:sld>
</file>

<file path=ppt/slides/slide2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5BC7658-25E2-4CBD-9C6B-7355A2FA08BD}"/>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stage-boundary transfer code</a:t>
            </a:r>
          </a:p>
        </p:txBody>
      </p:sp>
      <p:sp>
        <p:nvSpPr>
          <p:cNvPr id="2" name="body">
            <a:extLst xmlns:a="http://schemas.openxmlformats.org/drawingml/2006/main">
              <a:ext uri="{FF2B5EF4-FFF2-40B4-BE49-F238E27FC236}">
                <a16:creationId xmlns:a16="http://schemas.microsoft.com/office/drawing/2014/main" id="{F339D0BB-D132-4EE3-A41C-4CDC2EFD5D2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transfer_v2/model.py   lines 92–97</a:t>
            </a:r>
          </a:p>
        </p:txBody>
      </p:sp>
      <p:sp>
        <p:nvSpPr>
          <p:cNvPr id="3" name="verbatim source">
            <a:extLst xmlns:a="http://schemas.openxmlformats.org/drawingml/2006/main">
              <a:ext uri="{FF2B5EF4-FFF2-40B4-BE49-F238E27FC236}">
                <a16:creationId xmlns:a16="http://schemas.microsoft.com/office/drawing/2014/main" id="{0B4EE881-0901-4B89-8DA9-8D42B59DE337}"/>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language_model(c, vocab, seed, ppt_state=None):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model = LM(c["model"], vocab, core_seed=seed, head_seed=seed+100_000)</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ppt_state is not None: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 Never transfer synthetic embeddings, optimizer moments, or scheduler.</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model.core.load_state_dict(ppt_state, strict=True)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model</a:t>
            </a:r>
          </a:p>
        </p:txBody>
      </p:sp>
      <p:sp>
        <p:nvSpPr>
          <p:cNvPr id="4" name="body">
            <a:extLst xmlns:a="http://schemas.openxmlformats.org/drawingml/2006/main">
              <a:ext uri="{FF2B5EF4-FFF2-40B4-BE49-F238E27FC236}">
                <a16:creationId xmlns:a16="http://schemas.microsoft.com/office/drawing/2014/main" id="{A4B8A66A-567F-41E3-9DC9-2DACA12ECD3C}"/>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Only the saved synthetic backbone loads into a newly initialized language model. The tied language table is common across arms. Optimizer moments and the scheduler start fresh.</a:t>
            </a:r>
          </a:p>
        </p:txBody>
      </p:sp>
      <p:sp>
        <p:nvSpPr>
          <p:cNvPr id="5" name="source">
            <a:extLst xmlns:a="http://schemas.openxmlformats.org/drawingml/2006/main">
              <a:ext uri="{FF2B5EF4-FFF2-40B4-BE49-F238E27FC236}">
                <a16:creationId xmlns:a16="http://schemas.microsoft.com/office/drawing/2014/main" id="{9717488A-E21E-434F-9418-165F7552785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79697B11-8686-4860-9807-4F7DF884CC2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27</a:t>
            </a:r>
          </a:p>
        </p:txBody>
      </p:sp>
    </p:spTree>
    <p:extLst>
      <p:ext uri="{BB962C8B-B14F-4D97-AF65-F5344CB8AC3E}">
        <p14:creationId xmlns:p14="http://schemas.microsoft.com/office/powerpoint/2010/main" val="1297917653"/>
      </p:ext>
    </p:extLst>
  </p:cSld>
</p:sld>
</file>

<file path=ppt/slides/slide2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EACC14E-0D3B-4F9E-BD5C-BA714CC4B54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Taylor derivation for backbone transfer</a:t>
            </a:r>
          </a:p>
        </p:txBody>
      </p:sp>
      <p:sp>
        <p:nvSpPr>
          <p:cNvPr id="2" name="equation">
            <a:extLst xmlns:a="http://schemas.openxmlformats.org/drawingml/2006/main">
              <a:ext uri="{FF2B5EF4-FFF2-40B4-BE49-F238E27FC236}">
                <a16:creationId xmlns:a16="http://schemas.microsoft.com/office/drawing/2014/main" id="{E7EFB78B-B3CE-4126-8081-9F4A7D25CE2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f(B₀ + δ) − f(B₀) = gᵀδ + R</a:t>
            </a:r>
          </a:p>
        </p:txBody>
      </p:sp>
      <p:sp>
        <p:nvSpPr>
          <p:cNvPr id="3" name="equation">
            <a:extLst xmlns:a="http://schemas.openxmlformats.org/drawingml/2006/main">
              <a:ext uri="{FF2B5EF4-FFF2-40B4-BE49-F238E27FC236}">
                <a16:creationId xmlns:a16="http://schemas.microsoft.com/office/drawing/2014/main" id="{C7BFB656-9FB2-4340-ACCE-2A70BB6AAA1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R = ∫₀¹ (1 − t) δᵀ∇²f(B₀ + tδ)δ dt</a:t>
            </a:r>
          </a:p>
        </p:txBody>
      </p:sp>
      <p:sp>
        <p:nvSpPr>
          <p:cNvPr id="4" name="equation">
            <a:extLst xmlns:a="http://schemas.openxmlformats.org/drawingml/2006/main">
              <a:ext uri="{FF2B5EF4-FFF2-40B4-BE49-F238E27FC236}">
                <a16:creationId xmlns:a16="http://schemas.microsoft.com/office/drawing/2014/main" id="{4ED7E2AB-2ABC-461E-9179-1E5731785795}"/>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|R| ≤ (L/2) ‖δ‖²</a:t>
            </a:r>
          </a:p>
        </p:txBody>
      </p:sp>
      <p:sp>
        <p:nvSpPr>
          <p:cNvPr id="5" name="equation">
            <a:extLst xmlns:a="http://schemas.openxmlformats.org/drawingml/2006/main">
              <a:ext uri="{FF2B5EF4-FFF2-40B4-BE49-F238E27FC236}">
                <a16:creationId xmlns:a16="http://schemas.microsoft.com/office/drawing/2014/main" id="{0F94AD92-022C-4B1B-AEB5-1E792A906FF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−gᵀδ &gt; (L/2) ‖δ‖²  implies  f(B₀ + δ) &lt; f(B₀)</a:t>
            </a:r>
          </a:p>
        </p:txBody>
      </p:sp>
      <p:sp>
        <p:nvSpPr>
          <p:cNvPr id="6" name="body">
            <a:extLst xmlns:a="http://schemas.openxmlformats.org/drawingml/2006/main">
              <a:ext uri="{FF2B5EF4-FFF2-40B4-BE49-F238E27FC236}">
                <a16:creationId xmlns:a16="http://schemas.microsoft.com/office/drawing/2014/main" id="{C1D9695D-3C7C-4C6E-B9BC-8302355AFB76}"/>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Assume local L-smoothness on the segment. The integral proof and calculus remain in LaTeX. Lean verifies the algebraic implication with the Taylor bound supplied as an explicit hypothesis.</a:t>
            </a:r>
          </a:p>
        </p:txBody>
      </p:sp>
      <p:sp>
        <p:nvSpPr>
          <p:cNvPr id="7" name="source">
            <a:extLst xmlns:a="http://schemas.openxmlformats.org/drawingml/2006/main">
              <a:ext uri="{FF2B5EF4-FFF2-40B4-BE49-F238E27FC236}">
                <a16:creationId xmlns:a16="http://schemas.microsoft.com/office/drawing/2014/main" id="{7A84122F-4E22-4DEA-9A11-B5036E229C8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This condition is sufficient and local. It has not been measured for the transformer.</a:t>
            </a:r>
          </a:p>
        </p:txBody>
      </p:sp>
      <p:sp>
        <p:nvSpPr>
          <p:cNvPr id="8" name="body">
            <a:extLst xmlns:a="http://schemas.openxmlformats.org/drawingml/2006/main">
              <a:ext uri="{FF2B5EF4-FFF2-40B4-BE49-F238E27FC236}">
                <a16:creationId xmlns:a16="http://schemas.microsoft.com/office/drawing/2014/main" id="{DD75A4E5-5ADC-4AF2-9733-8F270970D39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28</a:t>
            </a:r>
          </a:p>
        </p:txBody>
      </p:sp>
    </p:spTree>
    <p:extLst>
      <p:ext uri="{BB962C8B-B14F-4D97-AF65-F5344CB8AC3E}">
        <p14:creationId xmlns:p14="http://schemas.microsoft.com/office/powerpoint/2010/main" val="300323130"/>
      </p:ext>
    </p:extLst>
  </p:cSld>
</p:sld>
</file>

<file path=ppt/slides/slide2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DFF31B4-7391-4847-82C4-1BA1F5AD886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Worked gradient-alignment calculation</a:t>
            </a:r>
          </a:p>
        </p:txBody>
      </p:sp>
      <p:sp>
        <p:nvSpPr>
          <p:cNvPr id="2" name="equation">
            <a:extLst xmlns:a="http://schemas.openxmlformats.org/drawingml/2006/main">
              <a:ext uri="{FF2B5EF4-FFF2-40B4-BE49-F238E27FC236}">
                <a16:creationId xmlns:a16="http://schemas.microsoft.com/office/drawing/2014/main" id="{E9626AE0-690A-49F4-9ABB-D13F6C1999A3}"/>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f(b) = ½(b − b*)ᵀ(4I)(b − b*)</a:t>
            </a:r>
          </a:p>
        </p:txBody>
      </p:sp>
      <p:sp>
        <p:nvSpPr>
          <p:cNvPr id="3" name="equation">
            <a:extLst xmlns:a="http://schemas.openxmlformats.org/drawingml/2006/main">
              <a:ext uri="{FF2B5EF4-FFF2-40B4-BE49-F238E27FC236}">
                <a16:creationId xmlns:a16="http://schemas.microsoft.com/office/drawing/2014/main" id="{17C65356-1A70-4446-A31F-28D471A5E8D2}"/>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b* = (−1/2, −1/4),   b₀ = (0,0),   g = (2,1)</a:t>
            </a:r>
          </a:p>
        </p:txBody>
      </p:sp>
      <p:sp>
        <p:nvSpPr>
          <p:cNvPr id="4" name="equation">
            <a:extLst xmlns:a="http://schemas.openxmlformats.org/drawingml/2006/main">
              <a:ext uri="{FF2B5EF4-FFF2-40B4-BE49-F238E27FC236}">
                <a16:creationId xmlns:a16="http://schemas.microsoft.com/office/drawing/2014/main" id="{BD4D6E38-67EE-40D4-97B4-078F678F217B}"/>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η = 0.1,   gG = (1,1),   ggrid = (−1,1)</a:t>
            </a:r>
          </a:p>
        </p:txBody>
      </p:sp>
      <p:sp>
        <p:nvSpPr>
          <p:cNvPr id="5" name="equation">
            <a:extLst xmlns:a="http://schemas.openxmlformats.org/drawingml/2006/main">
              <a:ext uri="{FF2B5EF4-FFF2-40B4-BE49-F238E27FC236}">
                <a16:creationId xmlns:a16="http://schemas.microsoft.com/office/drawing/2014/main" id="{83D3B82D-1B8F-4734-ABC5-E3312922B3DC}"/>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ΔfG = −0.26,   Δfgrid = +0.14</a:t>
            </a:r>
          </a:p>
        </p:txBody>
      </p:sp>
      <p:sp>
        <p:nvSpPr>
          <p:cNvPr id="6" name="body">
            <a:extLst xmlns:a="http://schemas.openxmlformats.org/drawingml/2006/main">
              <a:ext uri="{FF2B5EF4-FFF2-40B4-BE49-F238E27FC236}">
                <a16:creationId xmlns:a16="http://schemas.microsoft.com/office/drawing/2014/main" id="{85060A39-99D7-4149-8CDC-D1A2B882F1F5}"/>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Initial loss 0.625 becomes 0.365 or 0.765. Equal update norms and counts allow opposite outcomes. These specified gradients are a constructed calculation, not measurements of graph or grid gradients.</a:t>
            </a:r>
          </a:p>
        </p:txBody>
      </p:sp>
      <p:sp>
        <p:nvSpPr>
          <p:cNvPr id="7" name="source">
            <a:extLst xmlns:a="http://schemas.openxmlformats.org/drawingml/2006/main">
              <a:ext uri="{FF2B5EF4-FFF2-40B4-BE49-F238E27FC236}">
                <a16:creationId xmlns:a16="http://schemas.microsoft.com/office/drawing/2014/main" id="{659668E2-E014-4DF1-AF70-0FB8C71990E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Actual Adam updates also include preconditioning, clipping, weight decay and momentum.</a:t>
            </a:r>
          </a:p>
        </p:txBody>
      </p:sp>
      <p:sp>
        <p:nvSpPr>
          <p:cNvPr id="8" name="body">
            <a:extLst xmlns:a="http://schemas.openxmlformats.org/drawingml/2006/main">
              <a:ext uri="{FF2B5EF4-FFF2-40B4-BE49-F238E27FC236}">
                <a16:creationId xmlns:a16="http://schemas.microsoft.com/office/drawing/2014/main" id="{2CD70773-E975-4BD7-8FEB-62B285C9CF6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29</a:t>
            </a:r>
          </a:p>
        </p:txBody>
      </p:sp>
    </p:spTree>
    <p:extLst>
      <p:ext uri="{BB962C8B-B14F-4D97-AF65-F5344CB8AC3E}">
        <p14:creationId xmlns:p14="http://schemas.microsoft.com/office/powerpoint/2010/main" val="1500432906"/>
      </p:ext>
    </p:extLst>
  </p:cSld>
</p:sld>
</file>

<file path=ppt/slides/slide3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C8825AB-54F0-4D49-9B51-89C7EA78FBA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Exact topology-to-target surrogate</a:t>
            </a:r>
          </a:p>
        </p:txBody>
      </p:sp>
      <p:sp>
        <p:nvSpPr>
          <p:cNvPr id="2" name="equation">
            <a:extLst xmlns:a="http://schemas.openxmlformats.org/drawingml/2006/main">
              <a:ext uri="{FF2B5EF4-FFF2-40B4-BE49-F238E27FC236}">
                <a16:creationId xmlns:a16="http://schemas.microsoft.com/office/drawing/2014/main" id="{3C8F2957-8117-41AE-A224-3AC7EF205699}"/>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AG = (1/d)ΣᵣPᵣ,   E[xxᵀ] = I,   yG = AGx</a:t>
            </a:r>
          </a:p>
        </p:txBody>
      </p:sp>
      <p:sp>
        <p:nvSpPr>
          <p:cNvPr id="3" name="equation">
            <a:extLst xmlns:a="http://schemas.openxmlformats.org/drawingml/2006/main">
              <a:ext uri="{FF2B5EF4-FFF2-40B4-BE49-F238E27FC236}">
                <a16:creationId xmlns:a16="http://schemas.microsoft.com/office/drawing/2014/main" id="{9F1E6853-D1EA-494A-887D-C4058AA3C7D1}"/>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Lsyn(M) = ½ E‖(M − AG)x‖² = ½‖M − AG‖F²</a:t>
            </a:r>
          </a:p>
        </p:txBody>
      </p:sp>
      <p:sp>
        <p:nvSpPr>
          <p:cNvPr id="4" name="equation">
            <a:extLst xmlns:a="http://schemas.openxmlformats.org/drawingml/2006/main">
              <a:ext uri="{FF2B5EF4-FFF2-40B4-BE49-F238E27FC236}">
                <a16:creationId xmlns:a16="http://schemas.microsoft.com/office/drawing/2014/main" id="{040823C5-E0B9-4F3B-96F4-9C5731D61A56}"/>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MG = γAG,   γ = 1 − (1 − η)ᴷ</a:t>
            </a:r>
          </a:p>
        </p:txBody>
      </p:sp>
      <p:sp>
        <p:nvSpPr>
          <p:cNvPr id="5" name="equation">
            <a:extLst xmlns:a="http://schemas.openxmlformats.org/drawingml/2006/main">
              <a:ext uri="{FF2B5EF4-FFF2-40B4-BE49-F238E27FC236}">
                <a16:creationId xmlns:a16="http://schemas.microsoft.com/office/drawing/2014/main" id="{6DD0F6EC-6138-4233-8604-0FBB30BA49CF}"/>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ΔLtarget = (γ²/2)‖AG‖F² − γ⟨AG,C⟩F</a:t>
            </a:r>
          </a:p>
        </p:txBody>
      </p:sp>
      <p:sp>
        <p:nvSpPr>
          <p:cNvPr id="6" name="body">
            <a:extLst xmlns:a="http://schemas.openxmlformats.org/drawingml/2006/main">
              <a:ext uri="{FF2B5EF4-FFF2-40B4-BE49-F238E27FC236}">
                <a16:creationId xmlns:a16="http://schemas.microsoft.com/office/drawing/2014/main" id="{4603C008-7E7B-4D2C-A908-4977767D214A}"/>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For equal degree with distinct neighbors, ‖AG‖F² = n/d. Graph versus grid depends on target overlap ⟨AG − A₀,C⟩F. Topology alone does not determine the favorable sign.</a:t>
            </a:r>
          </a:p>
        </p:txBody>
      </p:sp>
      <p:sp>
        <p:nvSpPr>
          <p:cNvPr id="7" name="source">
            <a:extLst xmlns:a="http://schemas.openxmlformats.org/drawingml/2006/main">
              <a:ext uri="{FF2B5EF4-FFF2-40B4-BE49-F238E27FC236}">
                <a16:creationId xmlns:a16="http://schemas.microsoft.com/office/drawing/2014/main" id="{5675445C-67A7-40E2-AF95-A6AB4AEDCCF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Lean covers finite-coordinate algebra and the scalar recurrence. The expectation/covariance reduction remains informal.</a:t>
            </a:r>
          </a:p>
        </p:txBody>
      </p:sp>
      <p:sp>
        <p:nvSpPr>
          <p:cNvPr id="8" name="body">
            <a:extLst xmlns:a="http://schemas.openxmlformats.org/drawingml/2006/main">
              <a:ext uri="{FF2B5EF4-FFF2-40B4-BE49-F238E27FC236}">
                <a16:creationId xmlns:a16="http://schemas.microsoft.com/office/drawing/2014/main" id="{E8D115FD-B964-40EE-80C0-CE3108E5807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30</a:t>
            </a:r>
          </a:p>
        </p:txBody>
      </p:sp>
    </p:spTree>
    <p:extLst>
      <p:ext uri="{BB962C8B-B14F-4D97-AF65-F5344CB8AC3E}">
        <p14:creationId xmlns:p14="http://schemas.microsoft.com/office/powerpoint/2010/main" val="2067785574"/>
      </p:ext>
    </p:extLst>
  </p:cSld>
</p:sld>
</file>

<file path=ppt/slides/slide3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9D43BD0-FEDE-4C9E-9D20-5BB3035697D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 six-node numerical topology example</a:t>
            </a:r>
          </a:p>
        </p:txBody>
      </p:sp>
      <p:graphicFrame>
        <p:nvGraphicFramePr>
          <p:cNvPr id="2" name="">
            <a:extLst xmlns:a="http://schemas.openxmlformats.org/drawingml/2006/main">
              <a:ext uri="{FF2B5EF4-FFF2-40B4-BE49-F238E27FC236}">
                <a16:creationId xmlns:a16="http://schemas.microsoft.com/office/drawing/2014/main" id="{B3938DD8-79C1-4D37-84E0-94EFE722BABA}"/>
              </a:ext>
            </a:extLst>
          </p:cNvPr>
          <p:cNvGraphicFramePr/>
          <p:nvPr/>
        </p:nvGraphicFramePr>
        <p:xfrm>
          <a:off xmlns:a="http://schemas.openxmlformats.org/drawingml/2006/main" x="590550" y="1543050"/>
          <a:ext xmlns:a="http://schemas.openxmlformats.org/drawingml/2006/main" cx="10572750" cy="2667000"/>
        </p:xfrm>
        <a:graphic xmlns:a="http://schemas.openxmlformats.org/drawingml/2006/main">
          <a:graphicData uri="http://schemas.openxmlformats.org/drawingml/2006/table">
            <a:tbl>
              <a:tblPr/>
              <a:tblGrid>
                <a:gridCol w="7905750"/>
                <a:gridCol w="2667000"/>
              </a:tblGrid>
              <a:tr h="666750">
                <a:tc>
                  <a:txBody>
                    <a:bodyPr wrap="square" lIns="95250" tIns="95250" rIns="95250" bIns="95250"/>
                    <a:lstStyle/>
                    <a:p>
                      <a:r>
                        <a:rPr sz="2175" b="1">
                          <a:solidFill>
                            <a:srgbClr val="F1F5F9"/>
                          </a:solidFill>
                          <a:latin typeface="Calibri"/>
                          <a:ea typeface="Calibri"/>
                          <a:cs typeface="Calibri"/>
                        </a:rPr>
                        <a:t>Initialization for target C = AG</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2175" b="1">
                          <a:solidFill>
                            <a:srgbClr val="F1F5F9"/>
                          </a:solidFill>
                          <a:latin typeface="Calibri"/>
                          <a:ea typeface="Calibri"/>
                          <a:cs typeface="Calibri"/>
                        </a:rPr>
                        <a:t>Target loss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2175" b="0">
                          <a:solidFill>
                            <a:srgbClr val="F1F5F9"/>
                          </a:solidFill>
                          <a:latin typeface="Calibri"/>
                          <a:ea typeface="Calibri"/>
                          <a:cs typeface="Calibri"/>
                        </a:rPr>
                        <a:t>Scratch M = 0</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2175" b="0">
                          <a:solidFill>
                            <a:srgbClr val="F1F5F9"/>
                          </a:solidFill>
                          <a:latin typeface="Calibri"/>
                          <a:ea typeface="Calibri"/>
                          <a:cs typeface="Calibri"/>
                        </a:rPr>
                        <a:t>1.500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2175" b="0">
                          <a:solidFill>
                            <a:srgbClr val="F1F5F9"/>
                          </a:solidFill>
                          <a:latin typeface="Calibri"/>
                          <a:ea typeface="Calibri"/>
                          <a:cs typeface="Calibri"/>
                        </a:rPr>
                        <a:t>One step on graph offsets ±2</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2175" b="0">
                          <a:solidFill>
                            <a:srgbClr val="F1F5F9"/>
                          </a:solidFill>
                          <a:latin typeface="Calibri"/>
                          <a:ea typeface="Calibri"/>
                          <a:cs typeface="Calibri"/>
                        </a:rPr>
                        <a:t>0.375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2175" b="0">
                          <a:solidFill>
                            <a:srgbClr val="F1F5F9"/>
                          </a:solidFill>
                          <a:latin typeface="Calibri"/>
                          <a:ea typeface="Calibri"/>
                          <a:cs typeface="Calibri"/>
                        </a:rPr>
                        <a:t>One step on cycle offsets ±1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2175" b="0">
                          <a:solidFill>
                            <a:srgbClr val="F1F5F9"/>
                          </a:solidFill>
                          <a:latin typeface="Calibri"/>
                          <a:ea typeface="Calibri"/>
                          <a:cs typeface="Calibri"/>
                        </a:rPr>
                        <a:t>1.875</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85B32D29-42FB-46C6-B366-9B9FBEC11B98}"/>
              </a:ext>
            </a:extLst>
          </p:cNvPr>
          <p:cNvSpPr>
            <a:spLocks xmlns:a="http://schemas.openxmlformats.org/drawingml/2006/main" noGrp="1"/>
          </p:cNvSpPr>
          <p:nvPr/>
        </p:nvSpPr>
        <p:spPr>
          <a:xfrm xmlns:a="http://schemas.openxmlformats.org/drawingml/2006/main">
            <a:off x="609600" y="469582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buNone/>
              <a:defRPr sz="2100" b="0">
                <a:solidFill>
                  <a:srgbClr val="F1F5F9"/>
                </a:solidFill>
                <a:latin typeface="Calibri"/>
                <a:ea typeface="Calibri"/>
                <a:cs typeface="Calibri"/>
              </a:defRPr>
            </a:lvl1pPr>
            <a:lvl2pPr>
              <a:buNone/>
              <a:defRPr sz="2100" b="0">
                <a:solidFill>
                  <a:srgbClr val="F1F5F9"/>
                </a:solidFill>
                <a:latin typeface="Calibri"/>
                <a:ea typeface="Calibri"/>
                <a:cs typeface="Calibri"/>
              </a:defRPr>
            </a:lvl2pPr>
            <a:lvl3pPr>
              <a:buNone/>
              <a:defRPr sz="2100" b="0">
                <a:solidFill>
                  <a:srgbClr val="F1F5F9"/>
                </a:solidFill>
                <a:latin typeface="Calibri"/>
                <a:ea typeface="Calibri"/>
                <a:cs typeface="Calibri"/>
              </a:defRPr>
            </a:lvl3pPr>
            <a:lvl4pPr>
              <a:buNone/>
              <a:defRPr sz="2100" b="0">
                <a:solidFill>
                  <a:srgbClr val="F1F5F9"/>
                </a:solidFill>
                <a:latin typeface="Calibri"/>
                <a:ea typeface="Calibri"/>
                <a:cs typeface="Calibri"/>
              </a:defRPr>
            </a:lvl4pPr>
            <a:lvl5pPr>
              <a:buNone/>
              <a:defRPr sz="2100" b="0">
                <a:solidFill>
                  <a:srgbClr val="F1F5F9"/>
                </a:solidFill>
                <a:latin typeface="Calibri"/>
                <a:ea typeface="Calibri"/>
                <a:cs typeface="Calibri"/>
              </a:defRPr>
            </a:lvl5pPr>
            <a:lvl6pPr>
              <a:buNone/>
              <a:defRPr sz="2100" b="0">
                <a:solidFill>
                  <a:srgbClr val="F1F5F9"/>
                </a:solidFill>
                <a:latin typeface="Calibri"/>
                <a:ea typeface="Calibri"/>
                <a:cs typeface="Calibri"/>
              </a:defRPr>
            </a:lvl6pPr>
            <a:lvl7pPr>
              <a:buNone/>
              <a:defRPr sz="2100" b="0">
                <a:solidFill>
                  <a:srgbClr val="F1F5F9"/>
                </a:solidFill>
                <a:latin typeface="Calibri"/>
                <a:ea typeface="Calibri"/>
                <a:cs typeface="Calibri"/>
              </a:defRPr>
            </a:lvl7pPr>
            <a:lvl8pPr>
              <a:buNone/>
              <a:defRPr sz="2100" b="0">
                <a:solidFill>
                  <a:srgbClr val="F1F5F9"/>
                </a:solidFill>
                <a:latin typeface="Calibri"/>
                <a:ea typeface="Calibri"/>
                <a:cs typeface="Calibri"/>
              </a:defRPr>
            </a:lvl8pPr>
            <a:lvl9pPr>
              <a:buNone/>
              <a:defRPr sz="2100" b="0">
                <a:solidFill>
                  <a:srgbClr val="F1F5F9"/>
                </a:solidFill>
                <a:latin typeface="Calibri"/>
                <a:ea typeface="Calibri"/>
                <a:cs typeface="Calibri"/>
              </a:defRPr>
            </a:lvl9pPr>
          </a:lstStyle>
          <a:p xmlns:a="http://schemas.openxmlformats.org/drawingml/2006/main">
            <a:pPr>
              <a:buNone/>
              <a:defRPr sz="2100" b="0">
                <a:solidFill>
                  <a:srgbClr val="F1F5F9"/>
                </a:solidFill>
                <a:latin typeface="Calibri"/>
                <a:ea typeface="Calibri"/>
                <a:cs typeface="Calibri"/>
              </a:defRPr>
            </a:pPr>
            <a:r>
              <a:rPr sz="2100" b="0">
                <a:solidFill>
                  <a:srgbClr val="F1F5F9"/>
                </a:solidFill>
                <a:latin typeface="Calibri"/>
                <a:ea typeface="Calibri"/>
                <a:cs typeface="Calibri"/>
              </a:rPr>
              <a:t>n = 6, d = 2, η = 1/2. Both operators have squared Frobenius norm 3 and disjoint supports. Choosing C = A₀ reverses which synthetic task helps.</a:t>
            </a:r>
          </a:p>
        </p:txBody>
      </p:sp>
      <p:sp>
        <p:nvSpPr>
          <p:cNvPr id="4" name="source">
            <a:extLst xmlns:a="http://schemas.openxmlformats.org/drawingml/2006/main">
              <a:ext uri="{FF2B5EF4-FFF2-40B4-BE49-F238E27FC236}">
                <a16:creationId xmlns:a16="http://schemas.microsoft.com/office/drawing/2014/main" id="{0F079E9B-AAB2-45A0-B9DF-D39A4C8B41E0}"/>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A constructed linear mechanism. The disconnected two-triangle graph helps only because the target matches it.</a:t>
            </a:r>
          </a:p>
        </p:txBody>
      </p:sp>
      <p:sp>
        <p:nvSpPr>
          <p:cNvPr id="5" name="body">
            <a:extLst xmlns:a="http://schemas.openxmlformats.org/drawingml/2006/main">
              <a:ext uri="{FF2B5EF4-FFF2-40B4-BE49-F238E27FC236}">
                <a16:creationId xmlns:a16="http://schemas.microsoft.com/office/drawing/2014/main" id="{F9EAEEF4-660A-43BC-A018-34E8ED8CF2D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31</a:t>
            </a:r>
          </a:p>
        </p:txBody>
      </p:sp>
    </p:spTree>
    <p:extLst>
      <p:ext uri="{BB962C8B-B14F-4D97-AF65-F5344CB8AC3E}">
        <p14:creationId xmlns:p14="http://schemas.microsoft.com/office/powerpoint/2010/main" val="1990811049"/>
      </p:ext>
    </p:extLst>
  </p:cSld>
</p:sld>
</file>

<file path=ppt/slides/slide3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F5A9F36-58B8-4665-BC26-DF2A6E52969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Quadratic convergence and ranking reversal</a:t>
            </a:r>
          </a:p>
        </p:txBody>
      </p:sp>
      <p:sp>
        <p:nvSpPr>
          <p:cNvPr id="2" name="equation">
            <a:extLst xmlns:a="http://schemas.openxmlformats.org/drawingml/2006/main">
              <a:ext uri="{FF2B5EF4-FFF2-40B4-BE49-F238E27FC236}">
                <a16:creationId xmlns:a16="http://schemas.microsoft.com/office/drawing/2014/main" id="{82EB19D0-0DB5-419F-AA10-D550FD886D6B}"/>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eₙ = (I − αH)ⁿe₀</a:t>
            </a:r>
          </a:p>
        </p:txBody>
      </p:sp>
      <p:sp>
        <p:nvSpPr>
          <p:cNvPr id="3" name="equation">
            <a:extLst xmlns:a="http://schemas.openxmlformats.org/drawingml/2006/main">
              <a:ext uri="{FF2B5EF4-FFF2-40B4-BE49-F238E27FC236}">
                <a16:creationId xmlns:a16="http://schemas.microsoft.com/office/drawing/2014/main" id="{C0A11FC3-39EB-4DA1-9059-AB5D890646F6}"/>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fₙ − f* = ½Σⱼ λⱼ(1 − αλⱼ)²ⁿcⱼ²</a:t>
            </a:r>
          </a:p>
        </p:txBody>
      </p:sp>
      <p:sp>
        <p:nvSpPr>
          <p:cNvPr id="4" name="equation">
            <a:extLst xmlns:a="http://schemas.openxmlformats.org/drawingml/2006/main">
              <a:ext uri="{FF2B5EF4-FFF2-40B4-BE49-F238E27FC236}">
                <a16:creationId xmlns:a16="http://schemas.microsoft.com/office/drawing/2014/main" id="{BDC603D8-68B6-4ABA-A6D1-E4AC67F2F8CE}"/>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H = diag(1,100), α = 0.01</a:t>
            </a:r>
          </a:p>
        </p:txBody>
      </p:sp>
      <p:sp>
        <p:nvSpPr>
          <p:cNvPr id="5" name="equation">
            <a:extLst xmlns:a="http://schemas.openxmlformats.org/drawingml/2006/main">
              <a:ext uri="{FF2B5EF4-FFF2-40B4-BE49-F238E27FC236}">
                <a16:creationId xmlns:a16="http://schemas.microsoft.com/office/drawing/2014/main" id="{01BC9AE9-5B1B-4DBD-9CBF-5A56EE38036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Scratch: 2.5 → 0.49005     Transferred: 2.0 → 1.9602</a:t>
            </a:r>
          </a:p>
        </p:txBody>
      </p:sp>
      <p:sp>
        <p:nvSpPr>
          <p:cNvPr id="6" name="body">
            <a:extLst xmlns:a="http://schemas.openxmlformats.org/drawingml/2006/main">
              <a:ext uri="{FF2B5EF4-FFF2-40B4-BE49-F238E27FC236}">
                <a16:creationId xmlns:a16="http://schemas.microsoft.com/office/drawing/2014/main" id="{5DC012C5-2CC7-4B2E-BAA0-83BC4515A656}"/>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transferred point initially looks better but carries more slow-mode error. After one common step the ranking reverses. Mode-wise coefficient dominance is stronger than smaller total initial loss.</a:t>
            </a:r>
          </a:p>
        </p:txBody>
      </p:sp>
      <p:sp>
        <p:nvSpPr>
          <p:cNvPr id="7" name="source">
            <a:extLst xmlns:a="http://schemas.openxmlformats.org/drawingml/2006/main">
              <a:ext uri="{FF2B5EF4-FFF2-40B4-BE49-F238E27FC236}">
                <a16:creationId xmlns:a16="http://schemas.microsoft.com/office/drawing/2014/main" id="{889DDE62-527C-4A38-BC11-C9CE9FEF6AB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Exact quadratic calculations. Full Hessian diagonalization remains outside the Lean project.</a:t>
            </a:r>
          </a:p>
        </p:txBody>
      </p:sp>
      <p:sp>
        <p:nvSpPr>
          <p:cNvPr id="8" name="body">
            <a:extLst xmlns:a="http://schemas.openxmlformats.org/drawingml/2006/main">
              <a:ext uri="{FF2B5EF4-FFF2-40B4-BE49-F238E27FC236}">
                <a16:creationId xmlns:a16="http://schemas.microsoft.com/office/drawing/2014/main" id="{76644CEA-61FD-458C-B904-A6A75014485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32</a:t>
            </a:r>
          </a:p>
        </p:txBody>
      </p:sp>
    </p:spTree>
    <p:extLst>
      <p:ext uri="{BB962C8B-B14F-4D97-AF65-F5344CB8AC3E}">
        <p14:creationId xmlns:p14="http://schemas.microsoft.com/office/powerpoint/2010/main" val="771344448"/>
      </p:ext>
    </p:extLst>
  </p:cSld>
</p:sld>
</file>

<file path=ppt/slides/slide3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82BA4B-E201-4631-9E3A-57DC0264840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Closed-form toy loss curves</a:t>
            </a:r>
          </a:p>
        </p:txBody>
      </p:sp>
      <p:graphicFrame>
        <p:nvGraphicFramePr>
          <p:cNvPr id="2" name="Chart">
            <a:extLst xmlns:a="http://schemas.openxmlformats.org/drawingml/2006/main">
              <a:ext uri="{FF2B5EF4-FFF2-40B4-BE49-F238E27FC236}">
                <a16:creationId xmlns:a16="http://schemas.microsoft.com/office/drawing/2014/main" id="{CBA28344-9935-4CA2-A283-FC31BD26B726}"/>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85a6bfc0231e4a33"/>
          </a:graphicData>
        </a:graphic>
      </p:graphicFrame>
      <p:sp>
        <p:nvSpPr>
          <p:cNvPr id="3" name="source">
            <a:extLst xmlns:a="http://schemas.openxmlformats.org/drawingml/2006/main">
              <a:ext uri="{FF2B5EF4-FFF2-40B4-BE49-F238E27FC236}">
                <a16:creationId xmlns:a16="http://schemas.microsoft.com/office/drawing/2014/main" id="{71A7B47C-004B-486F-B6B8-05B73BDAE22A}"/>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H = diag(1,10), α = 0.05. Closed-form chart values use 12 significant digits. No simulation or empirical fit.</a:t>
            </a:r>
          </a:p>
        </p:txBody>
      </p:sp>
      <p:sp>
        <p:nvSpPr>
          <p:cNvPr id="4" name="body">
            <a:extLst xmlns:a="http://schemas.openxmlformats.org/drawingml/2006/main">
              <a:ext uri="{FF2B5EF4-FFF2-40B4-BE49-F238E27FC236}">
                <a16:creationId xmlns:a16="http://schemas.microsoft.com/office/drawing/2014/main" id="{6F95AB80-BD5D-4A0F-8CED-CCCA838514E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33</a:t>
            </a:r>
          </a:p>
        </p:txBody>
      </p:sp>
    </p:spTree>
    <p:extLst>
      <p:ext uri="{BB962C8B-B14F-4D97-AF65-F5344CB8AC3E}">
        <p14:creationId xmlns:p14="http://schemas.microsoft.com/office/powerpoint/2010/main" val="1849525865"/>
      </p:ext>
    </p:extLst>
  </p:cSld>
</p:sld>
</file>

<file path=ppt/slides/slide3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ACACB-6DF4-4277-B98C-846E6E73479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Exact numerical first hits</a:t>
            </a:r>
          </a:p>
        </p:txBody>
      </p:sp>
      <p:graphicFrame>
        <p:nvGraphicFramePr>
          <p:cNvPr id="2" name="">
            <a:extLst xmlns:a="http://schemas.openxmlformats.org/drawingml/2006/main">
              <a:ext uri="{FF2B5EF4-FFF2-40B4-BE49-F238E27FC236}">
                <a16:creationId xmlns:a16="http://schemas.microsoft.com/office/drawing/2014/main" id="{A01F872C-109C-4B53-92C4-89F78BC44745}"/>
              </a:ext>
            </a:extLst>
          </p:cNvPr>
          <p:cNvGraphicFramePr/>
          <p:nvPr/>
        </p:nvGraphicFramePr>
        <p:xfrm>
          <a:off xmlns:a="http://schemas.openxmlformats.org/drawingml/2006/main" x="590550" y="1457325"/>
          <a:ext xmlns:a="http://schemas.openxmlformats.org/drawingml/2006/main" cx="10953750" cy="3238500"/>
        </p:xfrm>
        <a:graphic xmlns:a="http://schemas.openxmlformats.org/drawingml/2006/main">
          <a:graphicData uri="http://schemas.openxmlformats.org/drawingml/2006/table">
            <a:tbl>
              <a:tblPr/>
              <a:tblGrid>
                <a:gridCol w="2381250"/>
                <a:gridCol w="1524000"/>
                <a:gridCol w="4381500"/>
                <a:gridCol w="2667000"/>
              </a:tblGrid>
              <a:tr h="647700">
                <a:tc>
                  <a:txBody>
                    <a:bodyPr wrap="square" lIns="95250" tIns="95250" rIns="95250" bIns="95250"/>
                    <a:lstStyle/>
                    <a:p>
                      <a:r>
                        <a:rPr sz="1875" b="1">
                          <a:solidFill>
                            <a:srgbClr val="F1F5F9"/>
                          </a:solidFill>
                          <a:latin typeface="Calibri"/>
                          <a:ea typeface="Calibri"/>
                          <a:cs typeface="Calibri"/>
                        </a:rPr>
                        <a:t>Initialization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Update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Exact-expression value, rounded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Crosses 0.01?</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47700">
                <a:tc>
                  <a:txBody>
                    <a:bodyPr wrap="square" lIns="95250" tIns="95250" rIns="95250" bIns="95250"/>
                    <a:lstStyle/>
                    <a:p>
                      <a:r>
                        <a:rPr sz="1875" b="0">
                          <a:solidFill>
                            <a:srgbClr val="F1F5F9"/>
                          </a:solidFill>
                          <a:latin typeface="Calibri"/>
                          <a:ea typeface="Calibri"/>
                          <a:cs typeface="Calibri"/>
                        </a:rPr>
                        <a:t>Scratch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38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0.01013827358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No</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7700">
                <a:tc>
                  <a:txBody>
                    <a:bodyPr wrap="square" lIns="95250" tIns="95250" rIns="95250" bIns="95250"/>
                    <a:lstStyle/>
                    <a:p>
                      <a:r>
                        <a:rPr sz="1875" b="0">
                          <a:solidFill>
                            <a:srgbClr val="F1F5F9"/>
                          </a:solidFill>
                          <a:latin typeface="Calibri"/>
                          <a:ea typeface="Calibri"/>
                          <a:cs typeface="Calibri"/>
                        </a:rPr>
                        <a:t>Scratch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39</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0.00914979190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Yes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7700">
                <a:tc>
                  <a:txBody>
                    <a:bodyPr wrap="square" lIns="95250" tIns="95250" rIns="95250" bIns="95250"/>
                    <a:lstStyle/>
                    <a:p>
                      <a:r>
                        <a:rPr sz="1875" b="0">
                          <a:solidFill>
                            <a:srgbClr val="F1F5F9"/>
                          </a:solidFill>
                          <a:latin typeface="Calibri"/>
                          <a:ea typeface="Calibri"/>
                          <a:cs typeface="Calibri"/>
                        </a:rPr>
                        <a:t>Transferred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24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0.01065719879</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No</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7700">
                <a:tc>
                  <a:txBody>
                    <a:bodyPr wrap="square" lIns="95250" tIns="95250" rIns="95250" bIns="95250"/>
                    <a:lstStyle/>
                    <a:p>
                      <a:r>
                        <a:rPr sz="1875" b="0">
                          <a:solidFill>
                            <a:srgbClr val="F1F5F9"/>
                          </a:solidFill>
                          <a:latin typeface="Calibri"/>
                          <a:ea typeface="Calibri"/>
                          <a:cs typeface="Calibri"/>
                        </a:rPr>
                        <a:t>Transferred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25</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0.00961812191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Yes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9224AF0E-E9CD-4418-A982-B3C727BC1D43}"/>
              </a:ext>
            </a:extLst>
          </p:cNvPr>
          <p:cNvSpPr>
            <a:spLocks xmlns:a="http://schemas.openxmlformats.org/drawingml/2006/main" noGrp="1"/>
          </p:cNvSpPr>
          <p:nvPr/>
        </p:nvSpPr>
        <p:spPr>
          <a:xfrm xmlns:a="http://schemas.openxmlformats.org/drawingml/2006/main">
            <a:off x="619125" y="51339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buNone/>
              <a:defRPr sz="2100" b="0">
                <a:solidFill>
                  <a:srgbClr val="F1F5F9"/>
                </a:solidFill>
                <a:latin typeface="Calibri"/>
                <a:ea typeface="Calibri"/>
                <a:cs typeface="Calibri"/>
              </a:defRPr>
            </a:lvl1pPr>
            <a:lvl2pPr>
              <a:buNone/>
              <a:defRPr sz="2100" b="0">
                <a:solidFill>
                  <a:srgbClr val="F1F5F9"/>
                </a:solidFill>
                <a:latin typeface="Calibri"/>
                <a:ea typeface="Calibri"/>
                <a:cs typeface="Calibri"/>
              </a:defRPr>
            </a:lvl2pPr>
            <a:lvl3pPr>
              <a:buNone/>
              <a:defRPr sz="2100" b="0">
                <a:solidFill>
                  <a:srgbClr val="F1F5F9"/>
                </a:solidFill>
                <a:latin typeface="Calibri"/>
                <a:ea typeface="Calibri"/>
                <a:cs typeface="Calibri"/>
              </a:defRPr>
            </a:lvl3pPr>
            <a:lvl4pPr>
              <a:buNone/>
              <a:defRPr sz="2100" b="0">
                <a:solidFill>
                  <a:srgbClr val="F1F5F9"/>
                </a:solidFill>
                <a:latin typeface="Calibri"/>
                <a:ea typeface="Calibri"/>
                <a:cs typeface="Calibri"/>
              </a:defRPr>
            </a:lvl4pPr>
            <a:lvl5pPr>
              <a:buNone/>
              <a:defRPr sz="2100" b="0">
                <a:solidFill>
                  <a:srgbClr val="F1F5F9"/>
                </a:solidFill>
                <a:latin typeface="Calibri"/>
                <a:ea typeface="Calibri"/>
                <a:cs typeface="Calibri"/>
              </a:defRPr>
            </a:lvl5pPr>
            <a:lvl6pPr>
              <a:buNone/>
              <a:defRPr sz="2100" b="0">
                <a:solidFill>
                  <a:srgbClr val="F1F5F9"/>
                </a:solidFill>
                <a:latin typeface="Calibri"/>
                <a:ea typeface="Calibri"/>
                <a:cs typeface="Calibri"/>
              </a:defRPr>
            </a:lvl6pPr>
            <a:lvl7pPr>
              <a:buNone/>
              <a:defRPr sz="2100" b="0">
                <a:solidFill>
                  <a:srgbClr val="F1F5F9"/>
                </a:solidFill>
                <a:latin typeface="Calibri"/>
                <a:ea typeface="Calibri"/>
                <a:cs typeface="Calibri"/>
              </a:defRPr>
            </a:lvl7pPr>
            <a:lvl8pPr>
              <a:buNone/>
              <a:defRPr sz="2100" b="0">
                <a:solidFill>
                  <a:srgbClr val="F1F5F9"/>
                </a:solidFill>
                <a:latin typeface="Calibri"/>
                <a:ea typeface="Calibri"/>
                <a:cs typeface="Calibri"/>
              </a:defRPr>
            </a:lvl8pPr>
            <a:lvl9pPr>
              <a:buNone/>
              <a:defRPr sz="2100" b="0">
                <a:solidFill>
                  <a:srgbClr val="F1F5F9"/>
                </a:solidFill>
                <a:latin typeface="Calibri"/>
                <a:ea typeface="Calibri"/>
                <a:cs typeface="Calibri"/>
              </a:defRPr>
            </a:lvl9pPr>
          </a:lstStyle>
          <a:p xmlns:a="http://schemas.openxmlformats.org/drawingml/2006/main">
            <a:pPr>
              <a:buNone/>
              <a:defRPr sz="2100" b="0">
                <a:solidFill>
                  <a:srgbClr val="F1F5F9"/>
                </a:solidFill>
                <a:latin typeface="Calibri"/>
                <a:ea typeface="Calibri"/>
                <a:cs typeface="Calibri"/>
              </a:defRPr>
            </a:pPr>
            <a:r>
              <a:rPr sz="2100" b="0">
                <a:solidFill>
                  <a:srgbClr val="F1F5F9"/>
                </a:solidFill>
                <a:latin typeface="Calibri"/>
                <a:ea typeface="Calibri"/>
                <a:cs typeface="Calibri"/>
              </a:rPr>
              <a:t>Both loss sequences are monotone. The neighboring inequalities exclude every earlier natural step. Lean checks first hits 39 and 25, giving 39/25 = 1.56×.</a:t>
            </a:r>
          </a:p>
        </p:txBody>
      </p:sp>
      <p:sp>
        <p:nvSpPr>
          <p:cNvPr id="4" name="body">
            <a:extLst xmlns:a="http://schemas.openxmlformats.org/drawingml/2006/main">
              <a:ext uri="{FF2B5EF4-FFF2-40B4-BE49-F238E27FC236}">
                <a16:creationId xmlns:a16="http://schemas.microsoft.com/office/drawing/2014/main" id="{B4E12A19-9924-4919-BBB9-093A4B0E3D5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34</a:t>
            </a:r>
          </a:p>
        </p:txBody>
      </p:sp>
    </p:spTree>
    <p:extLst>
      <p:ext uri="{BB962C8B-B14F-4D97-AF65-F5344CB8AC3E}">
        <p14:creationId xmlns:p14="http://schemas.microsoft.com/office/powerpoint/2010/main" val="117825929"/>
      </p:ext>
    </p:extLst>
  </p:cSld>
</p:sld>
</file>

<file path=ppt/slides/slide3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81A9578-285D-4FC3-9E0C-3C1C5245950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Break-even derivation and numerical costs</a:t>
            </a:r>
          </a:p>
        </p:txBody>
      </p:sp>
      <p:sp>
        <p:nvSpPr>
          <p:cNvPr id="2" name="equation">
            <a:extLst xmlns:a="http://schemas.openxmlformats.org/drawingml/2006/main">
              <a:ext uri="{FF2B5EF4-FFF2-40B4-BE49-F238E27FC236}">
                <a16:creationId xmlns:a16="http://schemas.microsoft.com/office/drawing/2014/main" id="{CB186806-4CDB-4BFA-A155-7482703BAC64}"/>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Ctotal = Cgen + cpptK + clangNG</a:t>
            </a:r>
          </a:p>
        </p:txBody>
      </p:sp>
      <p:sp>
        <p:nvSpPr>
          <p:cNvPr id="3" name="equation">
            <a:extLst xmlns:a="http://schemas.openxmlformats.org/drawingml/2006/main">
              <a:ext uri="{FF2B5EF4-FFF2-40B4-BE49-F238E27FC236}">
                <a16:creationId xmlns:a16="http://schemas.microsoft.com/office/drawing/2014/main" id="{A17DD4E2-242D-43C3-A9F1-2DC28C8798CF}"/>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clang₀N₀ − clangGNG &gt; Cgen + cpptK</a:t>
            </a:r>
          </a:p>
        </p:txBody>
      </p:sp>
      <p:sp>
        <p:nvSpPr>
          <p:cNvPr id="4" name="equation">
            <a:extLst xmlns:a="http://schemas.openxmlformats.org/drawingml/2006/main">
              <a:ext uri="{FF2B5EF4-FFF2-40B4-BE49-F238E27FC236}">
                <a16:creationId xmlns:a16="http://schemas.microsoft.com/office/drawing/2014/main" id="{128F5150-1DDC-4403-B602-D556B88A28E4}"/>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Equal-cost toy:  Stotal = 39/(K + 25)</a:t>
            </a:r>
          </a:p>
        </p:txBody>
      </p:sp>
      <p:sp>
        <p:nvSpPr>
          <p:cNvPr id="5" name="equation">
            <a:extLst xmlns:a="http://schemas.openxmlformats.org/drawingml/2006/main">
              <a:ext uri="{FF2B5EF4-FFF2-40B4-BE49-F238E27FC236}">
                <a16:creationId xmlns:a16="http://schemas.microsoft.com/office/drawing/2014/main" id="{00C37A0A-1738-4ED1-AA01-19B3D41B439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K = 10: 1.1143×       K = 20: 0.8667×</a:t>
            </a:r>
          </a:p>
        </p:txBody>
      </p:sp>
      <p:sp>
        <p:nvSpPr>
          <p:cNvPr id="6" name="body">
            <a:extLst xmlns:a="http://schemas.openxmlformats.org/drawingml/2006/main">
              <a:ext uri="{FF2B5EF4-FFF2-40B4-BE49-F238E27FC236}">
                <a16:creationId xmlns:a16="http://schemas.microsoft.com/office/drawing/2014/main" id="{90A119AF-0E5C-4201-AE97-3C38CD0BEA7F}"/>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same 1.56× language-stage gain can create a total gain or loss. With K = 10, generation must cost less than four language-step units to retain a strict benefit. Caching changes amortization, not the initial expense.</a:t>
            </a:r>
          </a:p>
        </p:txBody>
      </p:sp>
      <p:sp>
        <p:nvSpPr>
          <p:cNvPr id="7" name="source">
            <a:extLst xmlns:a="http://schemas.openxmlformats.org/drawingml/2006/main">
              <a:ext uri="{FF2B5EF4-FFF2-40B4-BE49-F238E27FC236}">
                <a16:creationId xmlns:a16="http://schemas.microsoft.com/office/drawing/2014/main" id="{60A591B5-9E91-4D15-AA93-88DFDCF053C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The measured v2 cumulative ratios use returned GPU clocks, not these toy step costs.</a:t>
            </a:r>
          </a:p>
        </p:txBody>
      </p:sp>
      <p:sp>
        <p:nvSpPr>
          <p:cNvPr id="8" name="body">
            <a:extLst xmlns:a="http://schemas.openxmlformats.org/drawingml/2006/main">
              <a:ext uri="{FF2B5EF4-FFF2-40B4-BE49-F238E27FC236}">
                <a16:creationId xmlns:a16="http://schemas.microsoft.com/office/drawing/2014/main" id="{3CD29F27-6D77-4018-8D25-E5CC11545C0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35</a:t>
            </a:r>
          </a:p>
        </p:txBody>
      </p:sp>
    </p:spTree>
    <p:extLst>
      <p:ext uri="{BB962C8B-B14F-4D97-AF65-F5344CB8AC3E}">
        <p14:creationId xmlns:p14="http://schemas.microsoft.com/office/powerpoint/2010/main" val="632864920"/>
      </p:ext>
    </p:extLst>
  </p:cSld>
</p:sld>
</file>

<file path=ppt/slides/slide3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5626E5-DFA9-49AC-B7DE-26B937C79AF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Parameter and token arithmetic</a:t>
            </a:r>
          </a:p>
        </p:txBody>
      </p:sp>
      <p:graphicFrame>
        <p:nvGraphicFramePr>
          <p:cNvPr id="2" name="">
            <a:extLst xmlns:a="http://schemas.openxmlformats.org/drawingml/2006/main">
              <a:ext uri="{FF2B5EF4-FFF2-40B4-BE49-F238E27FC236}">
                <a16:creationId xmlns:a16="http://schemas.microsoft.com/office/drawing/2014/main" id="{4B9EE988-F191-4F2B-A36D-67E20337FFB7}"/>
              </a:ext>
            </a:extLst>
          </p:cNvPr>
          <p:cNvGraphicFramePr/>
          <p:nvPr/>
        </p:nvGraphicFramePr>
        <p:xfrm>
          <a:off xmlns:a="http://schemas.openxmlformats.org/drawingml/2006/main" x="590550" y="1457325"/>
          <a:ext xmlns:a="http://schemas.openxmlformats.org/drawingml/2006/main" cx="10953750" cy="3857625"/>
        </p:xfrm>
        <a:graphic xmlns:a="http://schemas.openxmlformats.org/drawingml/2006/main">
          <a:graphicData uri="http://schemas.openxmlformats.org/drawingml/2006/table">
            <a:tbl>
              <a:tblPr/>
              <a:tblGrid>
                <a:gridCol w="3143250"/>
                <a:gridCol w="3524250"/>
                <a:gridCol w="4286250"/>
              </a:tblGrid>
              <a:tr h="642938">
                <a:tc>
                  <a:txBody>
                    <a:bodyPr wrap="square" lIns="95250" tIns="95250" rIns="95250" bIns="95250"/>
                    <a:lstStyle/>
                    <a:p>
                      <a:r>
                        <a:rPr sz="1725" b="1">
                          <a:solidFill>
                            <a:srgbClr val="F1F5F9"/>
                          </a:solidFill>
                          <a:latin typeface="Calibri"/>
                          <a:ea typeface="Calibri"/>
                          <a:cs typeface="Calibri"/>
                        </a:rPr>
                        <a:t>Quantity</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Historical binary pilot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Categorical v2</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42938">
                <a:tc>
                  <a:txBody>
                    <a:bodyPr wrap="square" lIns="95250" tIns="95250" rIns="95250" bIns="95250"/>
                    <a:lstStyle/>
                    <a:p>
                      <a:r>
                        <a:rPr sz="1725" b="0">
                          <a:solidFill>
                            <a:srgbClr val="F1F5F9"/>
                          </a:solidFill>
                          <a:latin typeface="Calibri"/>
                          <a:ea typeface="Calibri"/>
                          <a:cs typeface="Calibri"/>
                        </a:rPr>
                        <a:t>Backbone blocks / width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 / 192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6 / 192</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2938">
                <a:tc>
                  <a:txBody>
                    <a:bodyPr wrap="square" lIns="95250" tIns="95250" rIns="95250" bIns="95250"/>
                    <a:lstStyle/>
                    <a:p>
                      <a:r>
                        <a:rPr sz="1725" b="0">
                          <a:solidFill>
                            <a:srgbClr val="F1F5F9"/>
                          </a:solidFill>
                          <a:latin typeface="Calibri"/>
                          <a:ea typeface="Calibri"/>
                          <a:cs typeface="Calibri"/>
                        </a:rPr>
                        <a:t>Context / vocabulary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128 / 274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1024 / 10,002 synthetic; 50,257 text</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2938">
                <a:tc>
                  <a:txBody>
                    <a:bodyPr wrap="square" lIns="95250" tIns="95250" rIns="95250" bIns="95250"/>
                    <a:lstStyle/>
                    <a:p>
                      <a:r>
                        <a:rPr sz="1725" b="0">
                          <a:solidFill>
                            <a:srgbClr val="F1F5F9"/>
                          </a:solidFill>
                          <a:latin typeface="Calibri"/>
                          <a:ea typeface="Calibri"/>
                          <a:cs typeface="Calibri"/>
                        </a:rPr>
                        <a:t>Trainable model parameters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1,857,024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4,577,088 synthetic; 12,306,048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2938">
                <a:tc>
                  <a:txBody>
                    <a:bodyPr wrap="square" lIns="95250" tIns="95250" rIns="95250" bIns="95250"/>
                    <a:lstStyle/>
                    <a:p>
                      <a:r>
                        <a:rPr sz="1725" b="0">
                          <a:solidFill>
                            <a:srgbClr val="F1F5F9"/>
                          </a:solidFill>
                          <a:latin typeface="Calibri"/>
                          <a:ea typeface="Calibri"/>
                          <a:cs typeface="Calibri"/>
                        </a:rPr>
                        <a:t>Input tokens per update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32 × 128 = 4096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2 × 2 × 1024 = 4096</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2938">
                <a:tc>
                  <a:txBody>
                    <a:bodyPr wrap="square" lIns="95250" tIns="95250" rIns="95250" bIns="95250"/>
                    <a:lstStyle/>
                    <a:p>
                      <a:r>
                        <a:rPr sz="1725" b="0">
                          <a:solidFill>
                            <a:srgbClr val="F1F5F9"/>
                          </a:solidFill>
                          <a:latin typeface="Calibri"/>
                          <a:ea typeface="Calibri"/>
                          <a:cs typeface="Calibri"/>
                        </a:rPr>
                        <a:t>Budget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100 synthetic + 900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1000 synthetic + 2000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18FBCE70-AA0A-42EB-8FC5-6279EF2966B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Historical formula: VD + WD + L(12D² + 13D) + 2D. It does not describe the RoPE/RMSNorm/SwiGLU architecture.</a:t>
            </a:r>
          </a:p>
        </p:txBody>
      </p:sp>
      <p:sp>
        <p:nvSpPr>
          <p:cNvPr id="4" name="body">
            <a:extLst xmlns:a="http://schemas.openxmlformats.org/drawingml/2006/main">
              <a:ext uri="{FF2B5EF4-FFF2-40B4-BE49-F238E27FC236}">
                <a16:creationId xmlns:a16="http://schemas.microsoft.com/office/drawing/2014/main" id="{0F223F00-F0F7-4C64-949D-23CC17C2DAF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36</a:t>
            </a:r>
          </a:p>
        </p:txBody>
      </p:sp>
    </p:spTree>
    <p:extLst>
      <p:ext uri="{BB962C8B-B14F-4D97-AF65-F5344CB8AC3E}">
        <p14:creationId xmlns:p14="http://schemas.microsoft.com/office/powerpoint/2010/main" val="95354168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AC9B5D-DE08-489D-8903-25641E437DD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Lean 4: verified coverage and explicit boundaries</a:t>
            </a:r>
            <a:endParaRPr sz="3000"/>
          </a:p>
        </p:txBody>
      </p:sp>
      <p:sp>
        <p:nvSpPr>
          <p:cNvPr id="4" name="Lean text card">
            <a:extLst xmlns:a="http://schemas.openxmlformats.org/drawingml/2006/main">
              <a:ext uri="{FF2B5EF4-FFF2-40B4-BE49-F238E27FC236}">
                <a16:creationId xmlns:a16="http://schemas.microsoft.com/office/drawing/2014/main" id="{639E3228-9654-433A-923C-A0E60B3132D7}"/>
              </a:ext>
            </a:extLst>
          </p:cNvPr>
          <p:cNvSpPr>
            <a:spLocks xmlns:a="http://schemas.openxmlformats.org/drawingml/2006/main" noGrp="1"/>
          </p:cNvSpPr>
          <p:nvPr/>
        </p:nvSpPr>
        <p:spPr>
          <a:xfrm xmlns:a="http://schemas.openxmlformats.org/drawingml/2006/main">
            <a:off x="548640" y="1371600"/>
            <a:ext cx="5852160" cy="4800600"/>
          </a:xfrm>
          <a:prstGeom xmlns:a="http://schemas.openxmlformats.org/drawingml/2006/main" prst="roundRect">
            <a:avLst>
              <a:gd name="adj" fmla="val 2286"/>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443EEDA5-3E37-42EF-8D65-FA46B8920FDB}"/>
              </a:ext>
            </a:extLst>
          </p:cNvPr>
          <p:cNvSpPr>
            <a:spLocks xmlns:a="http://schemas.openxmlformats.org/drawingml/2006/main" noGrp="1"/>
          </p:cNvSpPr>
          <p:nvPr/>
        </p:nvSpPr>
        <p:spPr>
          <a:xfrm xmlns:a="http://schemas.openxmlformats.org/drawingml/2006/main">
            <a:off x="822960" y="1508760"/>
            <a:ext cx="5303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3"/>
                </a:solidFill>
                <a:latin typeface="Calibri"/>
                <a:ea typeface="Calibri"/>
                <a:cs typeface="Calibri"/>
              </a:rPr>
              <a:t>Checked in Lean</a:t>
            </a:r>
            <a:endParaRPr sz="1800"/>
          </a:p>
        </p:txBody>
      </p:sp>
      <p:sp>
        <p:nvSpPr>
          <p:cNvPr id="6" name="Text 3">
            <a:extLst xmlns:a="http://schemas.openxmlformats.org/drawingml/2006/main">
              <a:ext uri="{FF2B5EF4-FFF2-40B4-BE49-F238E27FC236}">
                <a16:creationId xmlns:a16="http://schemas.microsoft.com/office/drawing/2014/main" id="{E7B2E2B5-836C-4867-B87F-0717F288A401}"/>
              </a:ext>
            </a:extLst>
          </p:cNvPr>
          <p:cNvSpPr>
            <a:spLocks xmlns:a="http://schemas.openxmlformats.org/drawingml/2006/main" noGrp="1"/>
          </p:cNvSpPr>
          <p:nvPr/>
        </p:nvSpPr>
        <p:spPr>
          <a:xfrm xmlns:a="http://schemas.openxmlformats.org/drawingml/2006/main">
            <a:off x="822960" y="1920240"/>
            <a:ext cx="53035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Graph relabeling equivariance; typed permutation preserved by swaps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Mean and total serialization-lag invariance</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Binary patch range, injectivity, digit recovery</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Head-reset identities; algebra of an assumed Taylor bound</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Scalar and diagonal recurrences; ranking reversal</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Exact first hits at steps 39 and 25</a:t>
            </a:r>
            <a:endParaRPr sz="1400"/>
          </a:p>
        </p:txBody>
      </p:sp>
      <p:sp>
        <p:nvSpPr>
          <p:cNvPr id="7" name="Text 4">
            <a:extLst xmlns:a="http://schemas.openxmlformats.org/drawingml/2006/main">
              <a:ext uri="{FF2B5EF4-FFF2-40B4-BE49-F238E27FC236}">
                <a16:creationId xmlns:a16="http://schemas.microsoft.com/office/drawing/2014/main" id="{C013D9FB-B1D9-4DCE-B262-D3F8CF022D49}"/>
              </a:ext>
            </a:extLst>
          </p:cNvPr>
          <p:cNvSpPr>
            <a:spLocks xmlns:a="http://schemas.openxmlformats.org/drawingml/2006/main" noGrp="1"/>
          </p:cNvSpPr>
          <p:nvPr/>
        </p:nvSpPr>
        <p:spPr>
          <a:xfrm xmlns:a="http://schemas.openxmlformats.org/drawingml/2006/main">
            <a:off x="822960" y="4251960"/>
            <a:ext cx="5303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4"/>
                </a:solidFill>
                <a:latin typeface="Calibri"/>
                <a:ea typeface="Calibri"/>
                <a:cs typeface="Calibri"/>
              </a:rPr>
              <a:t>Not formalized</a:t>
            </a:r>
            <a:endParaRPr sz="1800"/>
          </a:p>
        </p:txBody>
      </p:sp>
      <p:sp>
        <p:nvSpPr>
          <p:cNvPr id="8" name="Text 5">
            <a:extLst xmlns:a="http://schemas.openxmlformats.org/drawingml/2006/main">
              <a:ext uri="{FF2B5EF4-FFF2-40B4-BE49-F238E27FC236}">
                <a16:creationId xmlns:a16="http://schemas.microsoft.com/office/drawing/2014/main" id="{38B0DCCF-AA65-4F32-978A-86D1F3A634C5}"/>
              </a:ext>
            </a:extLst>
          </p:cNvPr>
          <p:cNvSpPr>
            <a:spLocks xmlns:a="http://schemas.openxmlformats.org/drawingml/2006/main" noGrp="1"/>
          </p:cNvSpPr>
          <p:nvPr/>
        </p:nvSpPr>
        <p:spPr>
          <a:xfrm xmlns:a="http://schemas.openxmlformats.org/drawingml/2006/main">
            <a:off x="822960" y="4663440"/>
            <a:ext cx="5303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Entropy bounds and spectral argument</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Taylor remainder estimates from smoothness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Any empirical transfer effect</a:t>
            </a:r>
            <a:endParaRPr sz="1400"/>
          </a:p>
        </p:txBody>
      </p:sp>
      <p:sp>
        <p:nvSpPr>
          <p:cNvPr id="9" name="Text 6">
            <a:extLst xmlns:a="http://schemas.openxmlformats.org/drawingml/2006/main">
              <a:ext uri="{FF2B5EF4-FFF2-40B4-BE49-F238E27FC236}">
                <a16:creationId xmlns:a16="http://schemas.microsoft.com/office/drawing/2014/main" id="{41144757-3F6E-4C25-A8DE-09F7DB610618}"/>
              </a:ext>
            </a:extLst>
          </p:cNvPr>
          <p:cNvSpPr>
            <a:spLocks xmlns:a="http://schemas.openxmlformats.org/drawingml/2006/main" noGrp="1"/>
          </p:cNvSpPr>
          <p:nvPr/>
        </p:nvSpPr>
        <p:spPr>
          <a:xfrm xmlns:a="http://schemas.openxmlformats.org/drawingml/2006/main">
            <a:off x="822960" y="5715000"/>
            <a:ext cx="5303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2"/>
                </a:solidFill>
                <a:latin typeface="Calibri"/>
                <a:ea typeface="Calibri"/>
                <a:cs typeface="Calibri"/>
              </a:rPr>
              <a:t>44 named statements incl. lemmas · Lean 4.35.0 + Mathlib · axioms: propext, Classical.choice, Quot.sound · no local lake build claimed</a:t>
            </a:r>
            <a:endParaRPr sz="1100"/>
          </a:p>
        </p:txBody>
      </p:sp>
      <p:pic>
        <p:nvPicPr>
          <p:cNvPr id="10" name="Image 0">
            <a:extLst xmlns:a="http://schemas.openxmlformats.org/drawingml/2006/main">
              <a:ext uri="{FF2B5EF4-FFF2-40B4-BE49-F238E27FC236}">
                <a16:creationId xmlns:a16="http://schemas.microsoft.com/office/drawing/2014/main" id="{526D7D78-1711-4A03-AC61-7154BBB507EC}"/>
              </a:ext>
            </a:extLst>
          </p:cNvPr>
          <p:cNvPicPr>
            <a:picLocks xmlns:a="http://schemas.openxmlformats.org/drawingml/2006/main" noChangeAspect="1"/>
          </p:cNvPicPr>
          <p:nvPr/>
        </p:nvPicPr>
        <p:blipFill>
          <a:blip xmlns:r="http://schemas.openxmlformats.org/officeDocument/2006/relationships" xmlns:a="http://schemas.openxmlformats.org/drawingml/2006/main" r:embed="Rcb7612927c2149ca"/>
          <a:stretch xmlns:a="http://schemas.openxmlformats.org/drawingml/2006/main">
            <a:fillRect l="0" t="0" r="0" b="0"/>
          </a:stretch>
        </p:blipFill>
        <p:spPr>
          <a:xfrm xmlns:a="http://schemas.openxmlformats.org/drawingml/2006/main">
            <a:off x="6629400" y="1387316"/>
            <a:ext cx="4983480" cy="2803208"/>
          </a:xfrm>
          <a:prstGeom xmlns:a="http://schemas.openxmlformats.org/drawingml/2006/main" prst="rect">
            <a:avLst/>
          </a:prstGeom>
        </p:spPr>
      </p:pic>
      <p:sp>
        <p:nvSpPr>
          <p:cNvPr id="11" name="Trust card">
            <a:extLst xmlns:a="http://schemas.openxmlformats.org/drawingml/2006/main">
              <a:ext uri="{FF2B5EF4-FFF2-40B4-BE49-F238E27FC236}">
                <a16:creationId xmlns:a16="http://schemas.microsoft.com/office/drawing/2014/main" id="{E4765178-1015-47F6-AB41-342070003999}"/>
              </a:ext>
            </a:extLst>
          </p:cNvPr>
          <p:cNvSpPr>
            <a:spLocks xmlns:a="http://schemas.openxmlformats.org/drawingml/2006/main" noGrp="1"/>
          </p:cNvSpPr>
          <p:nvPr/>
        </p:nvSpPr>
        <p:spPr>
          <a:xfrm xmlns:a="http://schemas.openxmlformats.org/drawingml/2006/main">
            <a:off x="6629400" y="4434840"/>
            <a:ext cx="4983480" cy="1737360"/>
          </a:xfrm>
          <a:prstGeom xmlns:a="http://schemas.openxmlformats.org/drawingml/2006/main" prst="roundRect">
            <a:avLst>
              <a:gd name="adj" fmla="val 6316"/>
            </a:avLst>
          </a:prstGeom>
          <a:solidFill xmlns:a="http://schemas.openxmlformats.org/drawingml/2006/main">
            <a:srgbClr val="15233B"/>
          </a:solidFill>
          <a:ln xmlns:a="http://schemas.openxmlformats.org/drawingml/2006/main" w="12700">
            <a:solidFill>
              <a:srgbClr val="15233B"/>
            </a:solidFill>
            <a:prstDash val="solid"/>
          </a:ln>
        </p:spPr>
      </p:sp>
      <p:sp>
        <p:nvSpPr>
          <p:cNvPr id="12" name="Text 8">
            <a:extLst xmlns:a="http://schemas.openxmlformats.org/drawingml/2006/main">
              <a:ext uri="{FF2B5EF4-FFF2-40B4-BE49-F238E27FC236}">
                <a16:creationId xmlns:a16="http://schemas.microsoft.com/office/drawing/2014/main" id="{C01C0F52-708A-4D25-B2B5-FCAD43EFF323}"/>
              </a:ext>
            </a:extLst>
          </p:cNvPr>
          <p:cNvSpPr>
            <a:spLocks xmlns:a="http://schemas.openxmlformats.org/drawingml/2006/main" noGrp="1"/>
          </p:cNvSpPr>
          <p:nvPr/>
        </p:nvSpPr>
        <p:spPr>
          <a:xfrm xmlns:a="http://schemas.openxmlformats.org/drawingml/2006/main">
            <a:off x="6858000" y="457200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Trust boundary</a:t>
            </a:r>
            <a:endParaRPr sz="1800"/>
          </a:p>
        </p:txBody>
      </p:sp>
      <p:sp>
        <p:nvSpPr>
          <p:cNvPr id="13" name="Text 9">
            <a:extLst xmlns:a="http://schemas.openxmlformats.org/drawingml/2006/main">
              <a:ext uri="{FF2B5EF4-FFF2-40B4-BE49-F238E27FC236}">
                <a16:creationId xmlns:a16="http://schemas.microsoft.com/office/drawing/2014/main" id="{FE3A0472-C4FF-4587-974B-4C09BE4A7C3E}"/>
              </a:ext>
            </a:extLst>
          </p:cNvPr>
          <p:cNvSpPr>
            <a:spLocks xmlns:a="http://schemas.openxmlformats.org/drawingml/2006/main" noGrp="1"/>
          </p:cNvSpPr>
          <p:nvPr/>
        </p:nvSpPr>
        <p:spPr>
          <a:xfrm xmlns:a="http://schemas.openxmlformats.org/drawingml/2006/main">
            <a:off x="6858000" y="4983480"/>
            <a:ext cx="45262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A supplied inequality is a theorem hypothesis, not proof that the real model satisfies it. The 44 statements are not 44 independent research claims.</a:t>
            </a:r>
            <a:endParaRPr sz="1400"/>
          </a:p>
        </p:txBody>
      </p:sp>
      <p:sp>
        <p:nvSpPr>
          <p:cNvPr id="25" name="Slide Number Placeholder 0">
            <a:extLst xmlns:a="http://schemas.openxmlformats.org/drawingml/2006/main">
              <a:ext uri="{FF2B5EF4-FFF2-40B4-BE49-F238E27FC236}">
                <a16:creationId xmlns:a16="http://schemas.microsoft.com/office/drawing/2014/main" id="{85559B26-99C4-4E5B-B5C6-AE2E2B75E306}"/>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1333242789"/>
      </p:ext>
    </p:extLst>
  </p:cSld>
</p:sld>
</file>

<file path=ppt/slides/slide3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1439AF-B725-4C34-A2F2-A8A674578A8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An actual Lean equivariance proof</a:t>
            </a:r>
          </a:p>
        </p:txBody>
      </p:sp>
      <p:sp>
        <p:nvSpPr>
          <p:cNvPr id="2" name="body">
            <a:extLst xmlns:a="http://schemas.openxmlformats.org/drawingml/2006/main">
              <a:ext uri="{FF2B5EF4-FFF2-40B4-BE49-F238E27FC236}">
                <a16:creationId xmlns:a16="http://schemas.microsoft.com/office/drawing/2014/main" id="{CB357FB3-CBF1-43E1-91C5-BC9F1C30BAAD}"/>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proofs/lean/GraphNCA/Graph.lean   lines 19–24</a:t>
            </a:r>
          </a:p>
        </p:txBody>
      </p:sp>
      <p:sp>
        <p:nvSpPr>
          <p:cNvPr id="3" name="verbatim source">
            <a:extLst xmlns:a="http://schemas.openxmlformats.org/drawingml/2006/main">
              <a:ext uri="{FF2B5EF4-FFF2-40B4-BE49-F238E27FC236}">
                <a16:creationId xmlns:a16="http://schemas.microsoft.com/office/drawing/2014/main" id="{519DAF2D-0D45-468E-8041-2B9F4BA3E831}"/>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theorem graphStep_equivariant {V R S : Type*} (σ : Equiv.Perm V)</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(neighbors : R → V → V) (rule : S → (R → S) → S) (x : V → S) :</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graphStep (relabelNeighbors σ neighbors) rule (relabelState σ x) =</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relabelState σ (graphStep neighbors rule x) := by</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funext i</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simp [graphStep, relabelNeighbors, relabelState]</a:t>
            </a:r>
          </a:p>
        </p:txBody>
      </p:sp>
      <p:sp>
        <p:nvSpPr>
          <p:cNvPr id="4" name="body">
            <a:extLst xmlns:a="http://schemas.openxmlformats.org/drawingml/2006/main">
              <a:ext uri="{FF2B5EF4-FFF2-40B4-BE49-F238E27FC236}">
                <a16:creationId xmlns:a16="http://schemas.microsoft.com/office/drawing/2014/main" id="{C5380289-82C0-4B74-9527-9A863B22B237}"/>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Lean reduces consistent state and neighbor relabeling to the same shared local computation. This theorem proves the statement under its declared definitions and types.</a:t>
            </a:r>
          </a:p>
        </p:txBody>
      </p:sp>
      <p:sp>
        <p:nvSpPr>
          <p:cNvPr id="5" name="source">
            <a:extLst xmlns:a="http://schemas.openxmlformats.org/drawingml/2006/main">
              <a:ext uri="{FF2B5EF4-FFF2-40B4-BE49-F238E27FC236}">
                <a16:creationId xmlns:a16="http://schemas.microsoft.com/office/drawing/2014/main" id="{2D3D5361-CAF3-43B6-89FD-880F73477EB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84103A87-DC3E-47D2-B9C3-39BE61270F7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38</a:t>
            </a:r>
          </a:p>
        </p:txBody>
      </p:sp>
    </p:spTree>
    <p:extLst>
      <p:ext uri="{BB962C8B-B14F-4D97-AF65-F5344CB8AC3E}">
        <p14:creationId xmlns:p14="http://schemas.microsoft.com/office/powerpoint/2010/main" val="814568539"/>
      </p:ext>
    </p:extLst>
  </p:cSld>
</p:sld>
</file>

<file path=ppt/slides/slide3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3E97440-1A77-4C37-948E-94770C28C35B}"/>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An actual Lean first-hit proof</a:t>
            </a:r>
          </a:p>
        </p:txBody>
      </p:sp>
      <p:sp>
        <p:nvSpPr>
          <p:cNvPr id="2" name="body">
            <a:extLst xmlns:a="http://schemas.openxmlformats.org/drawingml/2006/main">
              <a:ext uri="{FF2B5EF4-FFF2-40B4-BE49-F238E27FC236}">
                <a16:creationId xmlns:a16="http://schemas.microsoft.com/office/drawing/2014/main" id="{7844BE24-0C7C-4969-8F94-8D6F871F5AF4}"/>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proofs/lean/GraphNCA/Numerics.lean   lines 60–66</a:t>
            </a:r>
          </a:p>
        </p:txBody>
      </p:sp>
      <p:sp>
        <p:nvSpPr>
          <p:cNvPr id="3" name="verbatim source">
            <a:extLst xmlns:a="http://schemas.openxmlformats.org/drawingml/2006/main">
              <a:ext uri="{FF2B5EF4-FFF2-40B4-BE49-F238E27FC236}">
                <a16:creationId xmlns:a16="http://schemas.microsoft.com/office/drawing/2014/main" id="{5AD1D8FF-82EF-493F-A8E9-0D2FDE3E7A12}"/>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theorem transferred_first_hit :</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transferredToyLoss 25 ≤ (1 / 100 : ℚ) ∧</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 n : ℕ, n &lt; 25 → (1 / 100 : ℚ) &lt; transferredToyLoss n := by</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refine ⟨le_of_lt transferredToyLoss_at_25, ?_⟩</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intro n hn</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have hle : n ≤ 24 := by omega</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exact lt_of_lt_of_le transferredToyLoss_at_24 (transferredToyLoss_antitone hle)</a:t>
            </a:r>
          </a:p>
        </p:txBody>
      </p:sp>
      <p:sp>
        <p:nvSpPr>
          <p:cNvPr id="4" name="body">
            <a:extLst xmlns:a="http://schemas.openxmlformats.org/drawingml/2006/main">
              <a:ext uri="{FF2B5EF4-FFF2-40B4-BE49-F238E27FC236}">
                <a16:creationId xmlns:a16="http://schemas.microsoft.com/office/drawing/2014/main" id="{C33AB139-4B45-42B1-A2B7-101F6E31676A}"/>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proof combines a checked boundary inequality with monotonicity and a natural-number bound. These are rational toy-loss statements, separate from GPU validation curves.</a:t>
            </a:r>
          </a:p>
        </p:txBody>
      </p:sp>
      <p:sp>
        <p:nvSpPr>
          <p:cNvPr id="5" name="source">
            <a:extLst xmlns:a="http://schemas.openxmlformats.org/drawingml/2006/main">
              <a:ext uri="{FF2B5EF4-FFF2-40B4-BE49-F238E27FC236}">
                <a16:creationId xmlns:a16="http://schemas.microsoft.com/office/drawing/2014/main" id="{1900F0E0-E974-4C8C-B19E-140F343BA4DF}"/>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E8B35BC5-B8AC-4BF8-8E1B-3258290B41E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39</a:t>
            </a:r>
          </a:p>
        </p:txBody>
      </p:sp>
    </p:spTree>
    <p:extLst>
      <p:ext uri="{BB962C8B-B14F-4D97-AF65-F5344CB8AC3E}">
        <p14:creationId xmlns:p14="http://schemas.microsoft.com/office/powerpoint/2010/main" val="434022178"/>
      </p:ext>
    </p:extLst>
  </p:cSld>
</p:sld>
</file>

<file path=ppt/slides/slide4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A10820E-5486-4FEB-B067-E7E77824868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Formal proof failures, corrections and trust</a:t>
            </a:r>
          </a:p>
        </p:txBody>
      </p:sp>
      <p:sp>
        <p:nvSpPr>
          <p:cNvPr id="2" name="body">
            <a:extLst xmlns:a="http://schemas.openxmlformats.org/drawingml/2006/main">
              <a:ext uri="{FF2B5EF4-FFF2-40B4-BE49-F238E27FC236}">
                <a16:creationId xmlns:a16="http://schemas.microsoft.com/office/drawing/2014/main" id="{0C809957-80BA-4C37-B500-BCD3DAFFE39F}"/>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buNone/>
              <a:defRPr sz="2100" b="1">
                <a:solidFill>
                  <a:srgbClr val="38BDF8"/>
                </a:solidFill>
                <a:latin typeface="Calibri"/>
                <a:ea typeface="Calibri"/>
                <a:cs typeface="Calibri"/>
              </a:defRPr>
            </a:lvl1pPr>
            <a:lvl2pPr>
              <a:buNone/>
              <a:defRPr sz="2100" b="1">
                <a:solidFill>
                  <a:srgbClr val="38BDF8"/>
                </a:solidFill>
                <a:latin typeface="Calibri"/>
                <a:ea typeface="Calibri"/>
                <a:cs typeface="Calibri"/>
              </a:defRPr>
            </a:lvl2pPr>
            <a:lvl3pPr>
              <a:buNone/>
              <a:defRPr sz="2100" b="1">
                <a:solidFill>
                  <a:srgbClr val="38BDF8"/>
                </a:solidFill>
                <a:latin typeface="Calibri"/>
                <a:ea typeface="Calibri"/>
                <a:cs typeface="Calibri"/>
              </a:defRPr>
            </a:lvl3pPr>
            <a:lvl4pPr>
              <a:buNone/>
              <a:defRPr sz="2100" b="1">
                <a:solidFill>
                  <a:srgbClr val="38BDF8"/>
                </a:solidFill>
                <a:latin typeface="Calibri"/>
                <a:ea typeface="Calibri"/>
                <a:cs typeface="Calibri"/>
              </a:defRPr>
            </a:lvl4pPr>
            <a:lvl5pPr>
              <a:buNone/>
              <a:defRPr sz="2100" b="1">
                <a:solidFill>
                  <a:srgbClr val="38BDF8"/>
                </a:solidFill>
                <a:latin typeface="Calibri"/>
                <a:ea typeface="Calibri"/>
                <a:cs typeface="Calibri"/>
              </a:defRPr>
            </a:lvl5pPr>
            <a:lvl6pPr>
              <a:buNone/>
              <a:defRPr sz="2100" b="1">
                <a:solidFill>
                  <a:srgbClr val="38BDF8"/>
                </a:solidFill>
                <a:latin typeface="Calibri"/>
                <a:ea typeface="Calibri"/>
                <a:cs typeface="Calibri"/>
              </a:defRPr>
            </a:lvl6pPr>
            <a:lvl7pPr>
              <a:buNone/>
              <a:defRPr sz="2100" b="1">
                <a:solidFill>
                  <a:srgbClr val="38BDF8"/>
                </a:solidFill>
                <a:latin typeface="Calibri"/>
                <a:ea typeface="Calibri"/>
                <a:cs typeface="Calibri"/>
              </a:defRPr>
            </a:lvl7pPr>
            <a:lvl8pPr>
              <a:buNone/>
              <a:defRPr sz="2100" b="1">
                <a:solidFill>
                  <a:srgbClr val="38BDF8"/>
                </a:solidFill>
                <a:latin typeface="Calibri"/>
                <a:ea typeface="Calibri"/>
                <a:cs typeface="Calibri"/>
              </a:defRPr>
            </a:lvl8pPr>
            <a:lvl9pPr>
              <a:buNone/>
              <a:defRPr sz="2100" b="1">
                <a:solidFill>
                  <a:srgbClr val="38BDF8"/>
                </a:solidFill>
                <a:latin typeface="Calibri"/>
                <a:ea typeface="Calibri"/>
                <a:cs typeface="Calibri"/>
              </a:defRPr>
            </a:lvl9pPr>
          </a:lstStyle>
          <a:p xmlns:a="http://schemas.openxmlformats.org/drawingml/2006/main">
            <a:pPr>
              <a:buNone/>
              <a:defRPr sz="2100" b="1">
                <a:solidFill>
                  <a:srgbClr val="38BDF8"/>
                </a:solidFill>
                <a:latin typeface="Calibri"/>
                <a:ea typeface="Calibri"/>
                <a:cs typeface="Calibri"/>
              </a:defRPr>
            </a:pPr>
            <a:r>
              <a:rPr sz="2100" b="1">
                <a:solidFill>
                  <a:srgbClr val="38BDF8"/>
                </a:solidFill>
                <a:latin typeface="Calibri"/>
                <a:ea typeface="Calibri"/>
                <a:cs typeface="Calibri"/>
              </a:rPr>
              <a:t>Retained first full check</a:t>
            </a:r>
          </a:p>
        </p:txBody>
      </p:sp>
      <p:sp>
        <p:nvSpPr>
          <p:cNvPr id="3" name="body">
            <a:extLst xmlns:a="http://schemas.openxmlformats.org/drawingml/2006/main">
              <a:ext uri="{FF2B5EF4-FFF2-40B4-BE49-F238E27FC236}">
                <a16:creationId xmlns:a16="http://schemas.microsoft.com/office/drawing/2014/main" id="{A8E379C7-5C8B-46E3-922B-437BB9FFE360}"/>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buNone/>
              <a:defRPr sz="2100" b="1">
                <a:solidFill>
                  <a:srgbClr val="FBBF24"/>
                </a:solidFill>
                <a:latin typeface="Calibri"/>
                <a:ea typeface="Calibri"/>
                <a:cs typeface="Calibri"/>
              </a:defRPr>
            </a:lvl1pPr>
            <a:lvl2pPr>
              <a:buNone/>
              <a:defRPr sz="2100" b="1">
                <a:solidFill>
                  <a:srgbClr val="FBBF24"/>
                </a:solidFill>
                <a:latin typeface="Calibri"/>
                <a:ea typeface="Calibri"/>
                <a:cs typeface="Calibri"/>
              </a:defRPr>
            </a:lvl2pPr>
            <a:lvl3pPr>
              <a:buNone/>
              <a:defRPr sz="2100" b="1">
                <a:solidFill>
                  <a:srgbClr val="FBBF24"/>
                </a:solidFill>
                <a:latin typeface="Calibri"/>
                <a:ea typeface="Calibri"/>
                <a:cs typeface="Calibri"/>
              </a:defRPr>
            </a:lvl3pPr>
            <a:lvl4pPr>
              <a:buNone/>
              <a:defRPr sz="2100" b="1">
                <a:solidFill>
                  <a:srgbClr val="FBBF24"/>
                </a:solidFill>
                <a:latin typeface="Calibri"/>
                <a:ea typeface="Calibri"/>
                <a:cs typeface="Calibri"/>
              </a:defRPr>
            </a:lvl4pPr>
            <a:lvl5pPr>
              <a:buNone/>
              <a:defRPr sz="2100" b="1">
                <a:solidFill>
                  <a:srgbClr val="FBBF24"/>
                </a:solidFill>
                <a:latin typeface="Calibri"/>
                <a:ea typeface="Calibri"/>
                <a:cs typeface="Calibri"/>
              </a:defRPr>
            </a:lvl5pPr>
            <a:lvl6pPr>
              <a:buNone/>
              <a:defRPr sz="2100" b="1">
                <a:solidFill>
                  <a:srgbClr val="FBBF24"/>
                </a:solidFill>
                <a:latin typeface="Calibri"/>
                <a:ea typeface="Calibri"/>
                <a:cs typeface="Calibri"/>
              </a:defRPr>
            </a:lvl6pPr>
            <a:lvl7pPr>
              <a:buNone/>
              <a:defRPr sz="2100" b="1">
                <a:solidFill>
                  <a:srgbClr val="FBBF24"/>
                </a:solidFill>
                <a:latin typeface="Calibri"/>
                <a:ea typeface="Calibri"/>
                <a:cs typeface="Calibri"/>
              </a:defRPr>
            </a:lvl7pPr>
            <a:lvl8pPr>
              <a:buNone/>
              <a:defRPr sz="2100" b="1">
                <a:solidFill>
                  <a:srgbClr val="FBBF24"/>
                </a:solidFill>
                <a:latin typeface="Calibri"/>
                <a:ea typeface="Calibri"/>
                <a:cs typeface="Calibri"/>
              </a:defRPr>
            </a:lvl8pPr>
            <a:lvl9pPr>
              <a:buNone/>
              <a:defRPr sz="2100" b="1">
                <a:solidFill>
                  <a:srgbClr val="FBBF24"/>
                </a:solidFill>
                <a:latin typeface="Calibri"/>
                <a:ea typeface="Calibri"/>
                <a:cs typeface="Calibri"/>
              </a:defRPr>
            </a:lvl9pPr>
          </a:lstStyle>
          <a:p xmlns:a="http://schemas.openxmlformats.org/drawingml/2006/main">
            <a:pPr>
              <a:buNone/>
              <a:defRPr sz="2100" b="1">
                <a:solidFill>
                  <a:srgbClr val="FBBF24"/>
                </a:solidFill>
                <a:latin typeface="Calibri"/>
                <a:ea typeface="Calibri"/>
                <a:cs typeface="Calibri"/>
              </a:defRPr>
            </a:pPr>
            <a:r>
              <a:rPr sz="2100" b="1">
                <a:solidFill>
                  <a:srgbClr val="FBBF24"/>
                </a:solidFill>
                <a:latin typeface="Calibri"/>
                <a:ea typeface="Calibri"/>
                <a:cs typeface="Calibri"/>
              </a:rPr>
              <a:t>Final scope</a:t>
            </a:r>
          </a:p>
        </p:txBody>
      </p:sp>
      <p:sp>
        <p:nvSpPr>
          <p:cNvPr id="4" name="body">
            <a:extLst xmlns:a="http://schemas.openxmlformats.org/drawingml/2006/main">
              <a:ext uri="{FF2B5EF4-FFF2-40B4-BE49-F238E27FC236}">
                <a16:creationId xmlns:a16="http://schemas.microsoft.com/office/drawing/2014/main" id="{1E521459-2ED4-4767-AA01-7F7AC3194951}"/>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Three real-valued definitions lacked noncomputable annotations.</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The two-mode expression left an algebraic goal and exposed sorryAx in the failed record.</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The corrected definitions and ring proof passed the complete browser bundle.</a:t>
            </a:r>
          </a:p>
        </p:txBody>
      </p:sp>
      <p:sp>
        <p:nvSpPr>
          <p:cNvPr id="5" name="body">
            <a:extLst xmlns:a="http://schemas.openxmlformats.org/drawingml/2006/main">
              <a:ext uri="{FF2B5EF4-FFF2-40B4-BE49-F238E27FC236}">
                <a16:creationId xmlns:a16="http://schemas.microsoft.com/office/drawing/2014/main" id="{4C43B608-CD5F-4E1F-95B9-A698190955F1}"/>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44 statements in Lean 4.35.0 with Mathlib.</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Every theorem depends only on a subset of propext, Classical.choice and Quot.sound, or no axioms.</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Local Lake build and remote CI remain unrun.</a:t>
            </a:r>
          </a:p>
        </p:txBody>
      </p:sp>
      <p:sp>
        <p:nvSpPr>
          <p:cNvPr id="6" name="source">
            <a:extLst xmlns:a="http://schemas.openxmlformats.org/drawingml/2006/main">
              <a:ext uri="{FF2B5EF4-FFF2-40B4-BE49-F238E27FC236}">
                <a16:creationId xmlns:a16="http://schemas.microsoft.com/office/drawing/2014/main" id="{F40F999A-F87A-4342-8828-6D4932727FA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Failed records stay append-only. A completion marker alone does not establish an error-free file.</a:t>
            </a:r>
          </a:p>
        </p:txBody>
      </p:sp>
      <p:sp>
        <p:nvSpPr>
          <p:cNvPr id="7" name="body">
            <a:extLst xmlns:a="http://schemas.openxmlformats.org/drawingml/2006/main">
              <a:ext uri="{FF2B5EF4-FFF2-40B4-BE49-F238E27FC236}">
                <a16:creationId xmlns:a16="http://schemas.microsoft.com/office/drawing/2014/main" id="{FB3D5BAC-C1A3-4A33-B887-410504DB288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40</a:t>
            </a:r>
          </a:p>
        </p:txBody>
      </p:sp>
    </p:spTree>
    <p:extLst>
      <p:ext uri="{BB962C8B-B14F-4D97-AF65-F5344CB8AC3E}">
        <p14:creationId xmlns:p14="http://schemas.microsoft.com/office/powerpoint/2010/main" val="122043897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546300-4924-4630-96CD-0C7940B8E8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Historical pilot 1 and its exposure confound</a:t>
            </a:r>
            <a:endParaRPr sz="3000"/>
          </a:p>
        </p:txBody>
      </p:sp>
      <p:graphicFrame>
        <p:nvGraphicFramePr>
          <p:cNvPr id="5" name="Table 0">
            <a:extLst xmlns:a="http://schemas.openxmlformats.org/drawingml/2006/main">
              <a:ext uri="{FF2B5EF4-FFF2-40B4-BE49-F238E27FC236}">
                <a16:creationId xmlns:a16="http://schemas.microsoft.com/office/drawing/2014/main" id="{87AE030B-9F9D-46D5-811A-6F1136658511}"/>
              </a:ext>
            </a:extLst>
          </p:cNvPr>
          <p:cNvGraphicFramePr/>
          <p:nvPr/>
        </p:nvGraphicFramePr>
        <p:xfrm>
          <a:off xmlns:a="http://schemas.openxmlformats.org/drawingml/2006/main" x="548640" y="1371600"/>
          <a:ext xmlns:a="http://schemas.openxmlformats.org/drawingml/2006/main" cx="11064240" cy="914400"/>
        </p:xfrm>
        <a:graphic xmlns:a="http://schemas.openxmlformats.org/drawingml/2006/main">
          <a:graphicData uri="http://schemas.openxmlformats.org/drawingml/2006/table">
            <a:tbl>
              <a:tblPr/>
              <a:tblGrid>
                <a:gridCol w="2286000"/>
                <a:gridCol w="2286000"/>
                <a:gridCol w="2103120"/>
                <a:gridCol w="2103120"/>
                <a:gridCol w="2286000"/>
              </a:tblGrid>
              <a:tr h="411480">
                <a:tc>
                  <a:txBody>
                    <a:bodyPr/>
                    <a:lstStyle/>
                    <a:p>
                      <a:pPr marL="0" indent="0">
                        <a:buNone/>
                      </a:pPr>
                      <a:r>
                        <a:rPr sz="1400" b="1">
                          <a:solidFill>
                            <a:srgbClr val="F1F5F9"/>
                          </a:solidFill>
                          <a:latin typeface="Calibri"/>
                          <a:ea typeface="Calibri"/>
                          <a:cs typeface="Calibri"/>
                        </a:rPr>
                        <a:t>Arm</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Test NLL (nats/byte)</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Byte perplexity</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Seconds to target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Total tokens to target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r>
              <a:tr h="411480">
                <a:tc>
                  <a:txBody>
                    <a:bodyPr/>
                    <a:lstStyle/>
                    <a:p>
                      <a:pPr marL="0" indent="0">
                        <a:buNone/>
                      </a:pPr>
                      <a:r>
                        <a:rPr sz="1400">
                          <a:solidFill>
                            <a:srgbClr val="F1F5F9"/>
                          </a:solidFill>
                          <a:latin typeface="Calibri"/>
                          <a:ea typeface="Calibri"/>
                          <a:cs typeface="Calibri"/>
                        </a:rPr>
                        <a:t>scratch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1.8828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6.572</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6.117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819,200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411480">
                <a:tc>
                  <a:txBody>
                    <a:bodyPr/>
                    <a:lstStyle/>
                    <a:p>
                      <a:pPr marL="0" indent="0">
                        <a:buNone/>
                      </a:pPr>
                      <a:r>
                        <a:rPr sz="1400">
                          <a:solidFill>
                            <a:srgbClr val="F1F5F9"/>
                          </a:solidFill>
                          <a:latin typeface="Calibri"/>
                          <a:ea typeface="Calibri"/>
                          <a:cs typeface="Calibri"/>
                        </a:rPr>
                        <a:t>reserve_text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1.8790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6.547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6.117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819,200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411480">
                <a:tc>
                  <a:txBody>
                    <a:bodyPr/>
                    <a:lstStyle/>
                    <a:p>
                      <a:pPr marL="0" indent="0">
                        <a:buNone/>
                      </a:pPr>
                      <a:r>
                        <a:rPr sz="1400">
                          <a:solidFill>
                            <a:srgbClr val="F1F5F9"/>
                          </a:solidFill>
                          <a:latin typeface="Calibri"/>
                          <a:ea typeface="Calibri"/>
                          <a:cs typeface="Calibri"/>
                        </a:rPr>
                        <a:t>grid_nca</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1.9289</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6.882</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8.818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1,160,533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411480">
                <a:tc>
                  <a:txBody>
                    <a:bodyPr/>
                    <a:lstStyle/>
                    <a:p>
                      <a:pPr marL="0" indent="0">
                        <a:buNone/>
                      </a:pPr>
                      <a:r>
                        <a:rPr sz="1400">
                          <a:solidFill>
                            <a:srgbClr val="F1F5F9"/>
                          </a:solidFill>
                          <a:latin typeface="Calibri"/>
                          <a:ea typeface="Calibri"/>
                          <a:cs typeface="Calibri"/>
                        </a:rPr>
                        <a:t>graph_nca</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1.9361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6.931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8.775</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1,160,533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411480">
                <a:tc>
                  <a:txBody>
                    <a:bodyPr/>
                    <a:lstStyle/>
                    <a:p>
                      <a:pPr marL="0" indent="0">
                        <a:buNone/>
                      </a:pPr>
                      <a:r>
                        <a:rPr sz="1400">
                          <a:solidFill>
                            <a:srgbClr val="F1F5F9"/>
                          </a:solidFill>
                          <a:latin typeface="Calibri"/>
                          <a:ea typeface="Calibri"/>
                          <a:cs typeface="Calibri"/>
                        </a:rPr>
                        <a:t>shuffled_graph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1.9363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6.933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9.276</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1,228,800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bl>
          </a:graphicData>
        </a:graphic>
      </p:graphicFrame>
      <p:sp>
        <p:nvSpPr>
          <p:cNvPr id="26" name="Protocol flaw card">
            <a:extLst xmlns:a="http://schemas.openxmlformats.org/drawingml/2006/main">
              <a:ext uri="{FF2B5EF4-FFF2-40B4-BE49-F238E27FC236}">
                <a16:creationId xmlns:a16="http://schemas.microsoft.com/office/drawing/2014/main" id="{77043670-00E5-4437-A1CB-28DC8E2233EB}"/>
              </a:ext>
            </a:extLst>
          </p:cNvPr>
          <p:cNvSpPr>
            <a:spLocks xmlns:a="http://schemas.openxmlformats.org/drawingml/2006/main" noGrp="1"/>
          </p:cNvSpPr>
          <p:nvPr/>
        </p:nvSpPr>
        <p:spPr>
          <a:xfrm xmlns:a="http://schemas.openxmlformats.org/drawingml/2006/main">
            <a:off x="548640" y="4114800"/>
            <a:ext cx="5394960" cy="2057400"/>
          </a:xfrm>
          <a:prstGeom xmlns:a="http://schemas.openxmlformats.org/drawingml/2006/main" prst="roundRect">
            <a:avLst>
              <a:gd name="adj" fmla="val 5333"/>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2">
            <a:extLst xmlns:a="http://schemas.openxmlformats.org/drawingml/2006/main">
              <a:ext uri="{FF2B5EF4-FFF2-40B4-BE49-F238E27FC236}">
                <a16:creationId xmlns:a16="http://schemas.microsoft.com/office/drawing/2014/main" id="{7FD68387-E990-4FA1-A4F3-63498BF12FDC}"/>
              </a:ext>
            </a:extLst>
          </p:cNvPr>
          <p:cNvSpPr>
            <a:spLocks xmlns:a="http://schemas.openxmlformats.org/drawingml/2006/main" noGrp="1"/>
          </p:cNvSpPr>
          <p:nvPr/>
        </p:nvSpPr>
        <p:spPr>
          <a:xfrm xmlns:a="http://schemas.openxmlformats.org/drawingml/2006/main">
            <a:off x="822960" y="425196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The protocol flaw</a:t>
            </a:r>
            <a:endParaRPr sz="1800"/>
          </a:p>
        </p:txBody>
      </p:sp>
      <p:sp>
        <p:nvSpPr>
          <p:cNvPr id="7" name="Text 3">
            <a:extLst xmlns:a="http://schemas.openxmlformats.org/drawingml/2006/main">
              <a:ext uri="{FF2B5EF4-FFF2-40B4-BE49-F238E27FC236}">
                <a16:creationId xmlns:a16="http://schemas.microsoft.com/office/drawing/2014/main" id="{50E053C7-4A1B-46A7-A41C-8AFE01B671E3}"/>
              </a:ext>
            </a:extLst>
          </p:cNvPr>
          <p:cNvSpPr>
            <a:spLocks xmlns:a="http://schemas.openxmlformats.org/drawingml/2006/main" noGrp="1"/>
          </p:cNvSpPr>
          <p:nvPr/>
        </p:nvSpPr>
        <p:spPr>
          <a:xfrm xmlns:a="http://schemas.openxmlformats.org/drawingml/2006/main">
            <a:off x="822960" y="4663440"/>
            <a:ext cx="4846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Scratch: 1,000 text updates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NCA arms: 100 synthetic + 900 text updates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Unequal language exposure and scheduler positions</a:t>
            </a:r>
            <a:endParaRPr sz="1500"/>
          </a:p>
        </p:txBody>
      </p:sp>
      <p:sp>
        <p:nvSpPr>
          <p:cNvPr id="8" name="Pilot finding card">
            <a:extLst xmlns:a="http://schemas.openxmlformats.org/drawingml/2006/main">
              <a:ext uri="{FF2B5EF4-FFF2-40B4-BE49-F238E27FC236}">
                <a16:creationId xmlns:a16="http://schemas.microsoft.com/office/drawing/2014/main" id="{BB54A4D1-B3B4-4166-AC85-F0DA8598A12F}"/>
              </a:ext>
            </a:extLst>
          </p:cNvPr>
          <p:cNvSpPr>
            <a:spLocks xmlns:a="http://schemas.openxmlformats.org/drawingml/2006/main" noGrp="1"/>
          </p:cNvSpPr>
          <p:nvPr/>
        </p:nvSpPr>
        <p:spPr>
          <a:xfrm xmlns:a="http://schemas.openxmlformats.org/drawingml/2006/main">
            <a:off x="6217920" y="4114800"/>
            <a:ext cx="5394960" cy="2057400"/>
          </a:xfrm>
          <a:prstGeom xmlns:a="http://schemas.openxmlformats.org/drawingml/2006/main" prst="roundRect">
            <a:avLst>
              <a:gd name="adj" fmla="val 5333"/>
            </a:avLst>
          </a:prstGeom>
          <a:solidFill xmlns:a="http://schemas.openxmlformats.org/drawingml/2006/main">
            <a:srgbClr val="15233B"/>
          </a:solidFill>
          <a:ln xmlns:a="http://schemas.openxmlformats.org/drawingml/2006/main" w="12700">
            <a:solidFill>
              <a:srgbClr val="15233B"/>
            </a:solidFill>
            <a:prstDash val="solid"/>
          </a:ln>
        </p:spPr>
      </p:sp>
      <p:sp>
        <p:nvSpPr>
          <p:cNvPr id="9" name="Text 5">
            <a:extLst xmlns:a="http://schemas.openxmlformats.org/drawingml/2006/main">
              <a:ext uri="{FF2B5EF4-FFF2-40B4-BE49-F238E27FC236}">
                <a16:creationId xmlns:a16="http://schemas.microsoft.com/office/drawing/2014/main" id="{6737B3E0-ABE8-43D1-ABFE-2DB1A7F1BF99}"/>
              </a:ext>
            </a:extLst>
          </p:cNvPr>
          <p:cNvSpPr>
            <a:spLocks xmlns:a="http://schemas.openxmlformats.org/drawingml/2006/main" noGrp="1"/>
          </p:cNvSpPr>
          <p:nvPr/>
        </p:nvSpPr>
        <p:spPr>
          <a:xfrm xmlns:a="http://schemas.openxmlformats.org/drawingml/2006/main">
            <a:off x="6492240" y="425196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What the pilot still shows</a:t>
            </a:r>
            <a:endParaRPr sz="1800"/>
          </a:p>
        </p:txBody>
      </p:sp>
      <p:sp>
        <p:nvSpPr>
          <p:cNvPr id="10" name="Text 6">
            <a:extLst xmlns:a="http://schemas.openxmlformats.org/drawingml/2006/main">
              <a:ext uri="{FF2B5EF4-FFF2-40B4-BE49-F238E27FC236}">
                <a16:creationId xmlns:a16="http://schemas.microsoft.com/office/drawing/2014/main" id="{927ABA15-6F6F-49FF-95E9-5F9E2F424694}"/>
              </a:ext>
            </a:extLst>
          </p:cNvPr>
          <p:cNvSpPr>
            <a:spLocks xmlns:a="http://schemas.openxmlformats.org/drawingml/2006/main" noGrp="1"/>
          </p:cNvSpPr>
          <p:nvPr/>
        </p:nvSpPr>
        <p:spPr>
          <a:xfrm xmlns:a="http://schemas.openxmlformats.org/drawingml/2006/main">
            <a:off x="6492240" y="4663440"/>
            <a:ext cx="4846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Graph NCA: 1.432× longer to target, +5.47% perplexity</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All 3 seeds favored text-only training</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Means over 3 seeds; 15 runs, 61.44M tokens</a:t>
            </a:r>
            <a:endParaRPr sz="1500"/>
          </a:p>
        </p:txBody>
      </p:sp>
      <p:sp>
        <p:nvSpPr>
          <p:cNvPr id="25" name="Slide Number Placeholder 0">
            <a:extLst xmlns:a="http://schemas.openxmlformats.org/drawingml/2006/main">
              <a:ext uri="{FF2B5EF4-FFF2-40B4-BE49-F238E27FC236}">
                <a16:creationId xmlns:a16="http://schemas.microsoft.com/office/drawing/2014/main" id="{3DAA1E55-9032-455F-B3C6-2D5C9029D551}"/>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55756870"/>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D394EA-C8CE-4021-BDCD-8238ACABA2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Historical pilot: language-exposure alignment</a:t>
            </a:r>
            <a:endParaRPr sz="3000"/>
          </a:p>
        </p:txBody>
      </p:sp>
      <p:sp>
        <p:nvSpPr>
          <p:cNvPr id="4" name="Pilot point 1">
            <a:extLst xmlns:a="http://schemas.openxmlformats.org/drawingml/2006/main">
              <a:ext uri="{FF2B5EF4-FFF2-40B4-BE49-F238E27FC236}">
                <a16:creationId xmlns:a16="http://schemas.microsoft.com/office/drawing/2014/main" id="{EC5EAB3A-D204-4936-9776-BA1881241F26}"/>
              </a:ext>
            </a:extLst>
          </p:cNvPr>
          <p:cNvSpPr>
            <a:spLocks xmlns:a="http://schemas.openxmlformats.org/drawingml/2006/main" noGrp="1"/>
          </p:cNvSpPr>
          <p:nvPr/>
        </p:nvSpPr>
        <p:spPr>
          <a:xfrm xmlns:a="http://schemas.openxmlformats.org/drawingml/2006/main">
            <a:off x="54864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B392236C-D7A7-4003-9187-0F886F1CFEE4}"/>
              </a:ext>
            </a:extLst>
          </p:cNvPr>
          <p:cNvSpPr>
            <a:spLocks xmlns:a="http://schemas.openxmlformats.org/drawingml/2006/main" noGrp="1"/>
          </p:cNvSpPr>
          <p:nvPr/>
        </p:nvSpPr>
        <p:spPr>
          <a:xfrm xmlns:a="http://schemas.openxmlformats.org/drawingml/2006/main">
            <a:off x="77724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Graph vs grid</a:t>
            </a:r>
            <a:endParaRPr sz="1800"/>
          </a:p>
        </p:txBody>
      </p:sp>
      <p:sp>
        <p:nvSpPr>
          <p:cNvPr id="6" name="Text 3">
            <a:extLst xmlns:a="http://schemas.openxmlformats.org/drawingml/2006/main">
              <a:ext uri="{FF2B5EF4-FFF2-40B4-BE49-F238E27FC236}">
                <a16:creationId xmlns:a16="http://schemas.microsoft.com/office/drawing/2014/main" id="{9E07B395-DD8B-4691-9BD9-1E78B6C9C6BA}"/>
              </a:ext>
            </a:extLst>
          </p:cNvPr>
          <p:cNvSpPr>
            <a:spLocks xmlns:a="http://schemas.openxmlformats.org/drawingml/2006/main" noGrp="1"/>
          </p:cNvSpPr>
          <p:nvPr/>
        </p:nvSpPr>
        <p:spPr>
          <a:xfrm xmlns:a="http://schemas.openxmlformats.org/drawingml/2006/main">
            <a:off x="77724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Same target crossing in every seed</a:t>
            </a:r>
            <a:endParaRPr sz="1500"/>
          </a:p>
        </p:txBody>
      </p:sp>
      <p:sp>
        <p:nvSpPr>
          <p:cNvPr id="7" name="Pilot point 2">
            <a:extLst xmlns:a="http://schemas.openxmlformats.org/drawingml/2006/main">
              <a:ext uri="{FF2B5EF4-FFF2-40B4-BE49-F238E27FC236}">
                <a16:creationId xmlns:a16="http://schemas.microsoft.com/office/drawing/2014/main" id="{1A74E69A-D301-47DF-8995-DEE38D842309}"/>
              </a:ext>
            </a:extLst>
          </p:cNvPr>
          <p:cNvSpPr>
            <a:spLocks xmlns:a="http://schemas.openxmlformats.org/drawingml/2006/main" noGrp="1"/>
          </p:cNvSpPr>
          <p:nvPr/>
        </p:nvSpPr>
        <p:spPr>
          <a:xfrm xmlns:a="http://schemas.openxmlformats.org/drawingml/2006/main">
            <a:off x="429768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C8991C95-9D44-40E2-A4F5-81C977B19D5F}"/>
              </a:ext>
            </a:extLst>
          </p:cNvPr>
          <p:cNvSpPr>
            <a:spLocks xmlns:a="http://schemas.openxmlformats.org/drawingml/2006/main" noGrp="1"/>
          </p:cNvSpPr>
          <p:nvPr/>
        </p:nvSpPr>
        <p:spPr>
          <a:xfrm xmlns:a="http://schemas.openxmlformats.org/drawingml/2006/main">
            <a:off x="452628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Graph vs shuffled graph</a:t>
            </a:r>
            <a:endParaRPr sz="1800"/>
          </a:p>
        </p:txBody>
      </p:sp>
      <p:sp>
        <p:nvSpPr>
          <p:cNvPr id="9" name="Text 6">
            <a:extLst xmlns:a="http://schemas.openxmlformats.org/drawingml/2006/main">
              <a:ext uri="{FF2B5EF4-FFF2-40B4-BE49-F238E27FC236}">
                <a16:creationId xmlns:a16="http://schemas.microsoft.com/office/drawing/2014/main" id="{5504C82C-CC94-457E-AC80-011A96055636}"/>
              </a:ext>
            </a:extLst>
          </p:cNvPr>
          <p:cNvSpPr>
            <a:spLocks xmlns:a="http://schemas.openxmlformats.org/drawingml/2006/main" noGrp="1"/>
          </p:cNvSpPr>
          <p:nvPr/>
        </p:nvSpPr>
        <p:spPr>
          <a:xfrm xmlns:a="http://schemas.openxmlformats.org/drawingml/2006/main">
            <a:off x="452628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Mean test-loss gap 0.000215 nats/byte</a:t>
            </a:r>
            <a:endParaRPr sz="1500"/>
          </a:p>
        </p:txBody>
      </p:sp>
      <p:sp>
        <p:nvSpPr>
          <p:cNvPr id="10" name="Pilot point 3">
            <a:extLst xmlns:a="http://schemas.openxmlformats.org/drawingml/2006/main">
              <a:ext uri="{FF2B5EF4-FFF2-40B4-BE49-F238E27FC236}">
                <a16:creationId xmlns:a16="http://schemas.microsoft.com/office/drawing/2014/main" id="{C787B5A6-1A37-419E-ADB3-8BCF5770D8B1}"/>
              </a:ext>
            </a:extLst>
          </p:cNvPr>
          <p:cNvSpPr>
            <a:spLocks xmlns:a="http://schemas.openxmlformats.org/drawingml/2006/main" noGrp="1"/>
          </p:cNvSpPr>
          <p:nvPr/>
        </p:nvSpPr>
        <p:spPr>
          <a:xfrm xmlns:a="http://schemas.openxmlformats.org/drawingml/2006/main">
            <a:off x="804672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11" name="Text 8">
            <a:extLst xmlns:a="http://schemas.openxmlformats.org/drawingml/2006/main">
              <a:ext uri="{FF2B5EF4-FFF2-40B4-BE49-F238E27FC236}">
                <a16:creationId xmlns:a16="http://schemas.microsoft.com/office/drawing/2014/main" id="{1E98A7FF-FBC8-4C39-A93B-F4201BEA8C95}"/>
              </a:ext>
            </a:extLst>
          </p:cNvPr>
          <p:cNvSpPr>
            <a:spLocks xmlns:a="http://schemas.openxmlformats.org/drawingml/2006/main" noGrp="1"/>
          </p:cNvSpPr>
          <p:nvPr/>
        </p:nvSpPr>
        <p:spPr>
          <a:xfrm xmlns:a="http://schemas.openxmlformats.org/drawingml/2006/main">
            <a:off x="827532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Total-token speedup</a:t>
            </a:r>
            <a:endParaRPr sz="1800"/>
          </a:p>
        </p:txBody>
      </p:sp>
      <p:sp>
        <p:nvSpPr>
          <p:cNvPr id="12" name="Text 9">
            <a:extLst xmlns:a="http://schemas.openxmlformats.org/drawingml/2006/main">
              <a:ext uri="{FF2B5EF4-FFF2-40B4-BE49-F238E27FC236}">
                <a16:creationId xmlns:a16="http://schemas.microsoft.com/office/drawing/2014/main" id="{E8AA397A-4358-433A-810C-06AF09682F45}"/>
              </a:ext>
            </a:extLst>
          </p:cNvPr>
          <p:cNvSpPr>
            <a:spLocks xmlns:a="http://schemas.openxmlformats.org/drawingml/2006/main" noGrp="1"/>
          </p:cNvSpPr>
          <p:nvPr/>
        </p:nvSpPr>
        <p:spPr>
          <a:xfrm xmlns:a="http://schemas.openxmlformats.org/drawingml/2006/main">
            <a:off x="827532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0.667×, 0.667×, 0.800× vs scratch</a:t>
            </a:r>
            <a:endParaRPr sz="1500"/>
          </a:p>
        </p:txBody>
      </p:sp>
      <p:sp>
        <p:nvSpPr>
          <p:cNvPr id="13" name="Chart backing">
            <a:extLst xmlns:a="http://schemas.openxmlformats.org/drawingml/2006/main">
              <a:ext uri="{FF2B5EF4-FFF2-40B4-BE49-F238E27FC236}">
                <a16:creationId xmlns:a16="http://schemas.microsoft.com/office/drawing/2014/main" id="{3D13B708-369D-4411-98DD-6A06440BB59F}"/>
              </a:ext>
            </a:extLst>
          </p:cNvPr>
          <p:cNvSpPr>
            <a:spLocks xmlns:a="http://schemas.openxmlformats.org/drawingml/2006/main" noGrp="1"/>
          </p:cNvSpPr>
          <p:nvPr/>
        </p:nvSpPr>
        <p:spPr>
          <a:xfrm xmlns:a="http://schemas.openxmlformats.org/drawingml/2006/main">
            <a:off x="1068705" y="2560320"/>
            <a:ext cx="10024110" cy="37033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14" name="Image 0">
            <a:extLst xmlns:a="http://schemas.openxmlformats.org/drawingml/2006/main">
              <a:ext uri="{FF2B5EF4-FFF2-40B4-BE49-F238E27FC236}">
                <a16:creationId xmlns:a16="http://schemas.microsoft.com/office/drawing/2014/main" id="{ECA1D8AF-3CE9-4775-8D5C-EB3296BA68E1}"/>
              </a:ext>
            </a:extLst>
          </p:cNvPr>
          <p:cNvPicPr>
            <a:picLocks xmlns:a="http://schemas.openxmlformats.org/drawingml/2006/main" noChangeAspect="1"/>
          </p:cNvPicPr>
          <p:nvPr/>
        </p:nvPicPr>
        <p:blipFill>
          <a:blip xmlns:r="http://schemas.openxmlformats.org/officeDocument/2006/relationships" xmlns:a="http://schemas.openxmlformats.org/drawingml/2006/main" r:embed="R59e2e0c9e84648c8"/>
          <a:stretch xmlns:a="http://schemas.openxmlformats.org/drawingml/2006/main">
            <a:fillRect l="0" t="0" r="0" b="0"/>
          </a:stretch>
        </p:blipFill>
        <p:spPr>
          <a:xfrm xmlns:a="http://schemas.openxmlformats.org/drawingml/2006/main">
            <a:off x="1114425" y="2606040"/>
            <a:ext cx="9932670" cy="361188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3F05229E-4D0F-407F-A62B-0DE369655E8F}"/>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721440515"/>
      </p:ext>
    </p:extLst>
  </p:cSld>
</p:sld>
</file>

<file path=ppt/slides/slide4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598E3A4-5D17-4B9B-BB01-252216511A4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Methodology across three versions</a:t>
            </a:r>
          </a:p>
        </p:txBody>
      </p:sp>
      <p:graphicFrame>
        <p:nvGraphicFramePr>
          <p:cNvPr id="2" name="">
            <a:extLst xmlns:a="http://schemas.openxmlformats.org/drawingml/2006/main">
              <a:ext uri="{FF2B5EF4-FFF2-40B4-BE49-F238E27FC236}">
                <a16:creationId xmlns:a16="http://schemas.microsoft.com/office/drawing/2014/main" id="{5A55697F-61D3-46E7-BA49-86CA6724CB3A}"/>
              </a:ext>
            </a:extLst>
          </p:cNvPr>
          <p:cNvGraphicFramePr/>
          <p:nvPr/>
        </p:nvGraphicFramePr>
        <p:xfrm>
          <a:off xmlns:a="http://schemas.openxmlformats.org/drawingml/2006/main" x="590550" y="1457325"/>
          <a:ext xmlns:a="http://schemas.openxmlformats.org/drawingml/2006/main" cx="10953750" cy="3524250"/>
        </p:xfrm>
        <a:graphic xmlns:a="http://schemas.openxmlformats.org/drawingml/2006/main">
          <a:graphicData uri="http://schemas.openxmlformats.org/drawingml/2006/table">
            <a:tbl>
              <a:tblPr/>
              <a:tblGrid>
                <a:gridCol w="1666875"/>
                <a:gridCol w="4857750"/>
                <a:gridCol w="4429125"/>
              </a:tblGrid>
              <a:tr h="881063">
                <a:tc>
                  <a:txBody>
                    <a:bodyPr wrap="square" lIns="95250" tIns="95250" rIns="95250" bIns="95250"/>
                    <a:lstStyle/>
                    <a:p>
                      <a:r>
                        <a:rPr sz="1875" b="1">
                          <a:solidFill>
                            <a:srgbClr val="F1F5F9"/>
                          </a:solidFill>
                          <a:latin typeface="Calibri"/>
                          <a:ea typeface="Calibri"/>
                          <a:cs typeface="Calibri"/>
                        </a:rPr>
                        <a:t>Version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Treatment and clock</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Research status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881063">
                <a:tc>
                  <a:txBody>
                    <a:bodyPr wrap="square" lIns="95250" tIns="95250" rIns="95250" bIns="95250"/>
                    <a:lstStyle/>
                    <a:p>
                      <a:r>
                        <a:rPr sz="1875" b="0">
                          <a:solidFill>
                            <a:srgbClr val="F1F5F9"/>
                          </a:solidFill>
                          <a:latin typeface="Calibri"/>
                          <a:ea typeface="Calibri"/>
                          <a:cs typeface="Calibri"/>
                        </a:rPr>
                        <a:t>Pilot 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Binary graph/grid. 1000 text vs 100 synthetic + 900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Imported GPU evidence. Unequal language exposure and scheduler confound</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881063">
                <a:tc>
                  <a:txBody>
                    <a:bodyPr wrap="square" lIns="95250" tIns="95250" rIns="95250" bIns="95250"/>
                    <a:lstStyle/>
                    <a:p>
                      <a:r>
                        <a:rPr sz="1875" b="0">
                          <a:solidFill>
                            <a:srgbClr val="F1F5F9"/>
                          </a:solidFill>
                          <a:latin typeface="Calibri"/>
                          <a:ea typeface="Calibri"/>
                          <a:cs typeface="Calibri"/>
                        </a:rPr>
                        <a:t>V2</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Categorical grid/shuffle/no-PPT. Same 2000 text updates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Imported GPU evidence. Modest transfer, matching shuffled gains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881063">
                <a:tc>
                  <a:txBody>
                    <a:bodyPr wrap="square" lIns="95250" tIns="95250" rIns="95250" bIns="95250"/>
                    <a:lstStyle/>
                    <a:p>
                      <a:r>
                        <a:rPr sz="1875" b="0">
                          <a:solidFill>
                            <a:srgbClr val="F1F5F9"/>
                          </a:solidFill>
                          <a:latin typeface="Calibri"/>
                          <a:ea typeface="Calibri"/>
                          <a:cs typeface="Calibri"/>
                        </a:rPr>
                        <a:t>V3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Grid, graph and both shuffles with no-PPT. Paired caches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Imported GPU run and CPU replay. Primary graph speedup remains unestablished</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C3A75A6D-7D5D-4F17-A88C-E04DD8696E6B}"/>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Versions stay separate. The negative historical result remains valid for its original matched-total-budget design.</a:t>
            </a:r>
          </a:p>
        </p:txBody>
      </p:sp>
      <p:sp>
        <p:nvSpPr>
          <p:cNvPr id="4" name="body">
            <a:extLst xmlns:a="http://schemas.openxmlformats.org/drawingml/2006/main">
              <a:ext uri="{FF2B5EF4-FFF2-40B4-BE49-F238E27FC236}">
                <a16:creationId xmlns:a16="http://schemas.microsoft.com/office/drawing/2014/main" id="{8DE26D6C-9838-4917-8F0A-35AE54C184E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43</a:t>
            </a:r>
          </a:p>
        </p:txBody>
      </p:sp>
    </p:spTree>
    <p:extLst>
      <p:ext uri="{BB962C8B-B14F-4D97-AF65-F5344CB8AC3E}">
        <p14:creationId xmlns:p14="http://schemas.microsoft.com/office/powerpoint/2010/main" val="557016800"/>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B9EA29-8F0D-4155-9440-C5E3BF34C7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V2: identical language-stage controls</a:t>
            </a:r>
            <a:endParaRPr sz="3000"/>
          </a:p>
        </p:txBody>
      </p:sp>
      <p:sp>
        <p:nvSpPr>
          <p:cNvPr id="4" name="PPT stage card">
            <a:extLst xmlns:a="http://schemas.openxmlformats.org/drawingml/2006/main">
              <a:ext uri="{FF2B5EF4-FFF2-40B4-BE49-F238E27FC236}">
                <a16:creationId xmlns:a16="http://schemas.microsoft.com/office/drawing/2014/main" id="{4C0F955E-1C89-4EA3-B9A7-705C6C7B4734}"/>
              </a:ext>
            </a:extLst>
          </p:cNvPr>
          <p:cNvSpPr>
            <a:spLocks xmlns:a="http://schemas.openxmlformats.org/drawingml/2006/main" noGrp="1"/>
          </p:cNvSpPr>
          <p:nvPr/>
        </p:nvSpPr>
        <p:spPr>
          <a:xfrm xmlns:a="http://schemas.openxmlformats.org/drawingml/2006/main">
            <a:off x="54864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5" name="PPT stage number">
            <a:extLst xmlns:a="http://schemas.openxmlformats.org/drawingml/2006/main">
              <a:ext uri="{FF2B5EF4-FFF2-40B4-BE49-F238E27FC236}">
                <a16:creationId xmlns:a16="http://schemas.microsoft.com/office/drawing/2014/main" id="{723275F6-2B3C-486A-8680-E684CBFC64A1}"/>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1,000</a:t>
            </a:r>
            <a:endParaRPr sz="4800"/>
          </a:p>
        </p:txBody>
      </p:sp>
      <p:sp>
        <p:nvSpPr>
          <p:cNvPr id="6" name="PPT stage label">
            <a:extLst xmlns:a="http://schemas.openxmlformats.org/drawingml/2006/main">
              <a:ext uri="{FF2B5EF4-FFF2-40B4-BE49-F238E27FC236}">
                <a16:creationId xmlns:a16="http://schemas.microsoft.com/office/drawing/2014/main" id="{B84BACAA-4069-4160-8B4B-0A7B648D89BA}"/>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Synthetic updates</a:t>
            </a:r>
            <a:endParaRPr sz="1800"/>
          </a:p>
        </p:txBody>
      </p:sp>
      <p:sp>
        <p:nvSpPr>
          <p:cNvPr id="7" name="PPT stage detail">
            <a:extLst xmlns:a="http://schemas.openxmlformats.org/drawingml/2006/main">
              <a:ext uri="{FF2B5EF4-FFF2-40B4-BE49-F238E27FC236}">
                <a16:creationId xmlns:a16="http://schemas.microsoft.com/office/drawing/2014/main" id="{41BBAACE-8D48-40BD-9AAA-A777CDD6BDEF}"/>
              </a:ext>
            </a:extLst>
          </p:cNvPr>
          <p:cNvSpPr>
            <a:spLocks xmlns:a="http://schemas.openxmlformats.org/drawingml/2006/main" noGrp="1"/>
          </p:cNvSpPr>
          <p:nvPr/>
        </p:nvSpPr>
        <p:spPr>
          <a:xfrm xmlns:a="http://schemas.openxmlformats.org/drawingml/2006/main">
            <a:off x="82296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4,096,000 tokens; zero for the scratch arm.</a:t>
            </a:r>
            <a:endParaRPr sz="1400"/>
          </a:p>
        </p:txBody>
      </p:sp>
      <p:sp>
        <p:nvSpPr>
          <p:cNvPr id="8" name="Language stage card">
            <a:extLst xmlns:a="http://schemas.openxmlformats.org/drawingml/2006/main">
              <a:ext uri="{FF2B5EF4-FFF2-40B4-BE49-F238E27FC236}">
                <a16:creationId xmlns:a16="http://schemas.microsoft.com/office/drawing/2014/main" id="{7A5639A4-95C6-4D33-8C7B-DE7647223F67}"/>
              </a:ext>
            </a:extLst>
          </p:cNvPr>
          <p:cNvSpPr>
            <a:spLocks xmlns:a="http://schemas.openxmlformats.org/drawingml/2006/main" noGrp="1"/>
          </p:cNvSpPr>
          <p:nvPr/>
        </p:nvSpPr>
        <p:spPr>
          <a:xfrm xmlns:a="http://schemas.openxmlformats.org/drawingml/2006/main">
            <a:off x="429768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9" name="Language stage number">
            <a:extLst xmlns:a="http://schemas.openxmlformats.org/drawingml/2006/main">
              <a:ext uri="{FF2B5EF4-FFF2-40B4-BE49-F238E27FC236}">
                <a16:creationId xmlns:a16="http://schemas.microsoft.com/office/drawing/2014/main" id="{6DB6DFC9-09FD-435B-9B26-B17699BD406E}"/>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2,000</a:t>
            </a:r>
            <a:endParaRPr sz="4800"/>
          </a:p>
        </p:txBody>
      </p:sp>
      <p:sp>
        <p:nvSpPr>
          <p:cNvPr id="10" name="Language stage label">
            <a:extLst xmlns:a="http://schemas.openxmlformats.org/drawingml/2006/main">
              <a:ext uri="{FF2B5EF4-FFF2-40B4-BE49-F238E27FC236}">
                <a16:creationId xmlns:a16="http://schemas.microsoft.com/office/drawing/2014/main" id="{990536CB-B9CE-407A-966E-F07ACB87E76E}"/>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Language updates</a:t>
            </a:r>
            <a:endParaRPr sz="1800"/>
          </a:p>
        </p:txBody>
      </p:sp>
      <p:sp>
        <p:nvSpPr>
          <p:cNvPr id="11" name="Language stage detail">
            <a:extLst xmlns:a="http://schemas.openxmlformats.org/drawingml/2006/main">
              <a:ext uri="{FF2B5EF4-FFF2-40B4-BE49-F238E27FC236}">
                <a16:creationId xmlns:a16="http://schemas.microsoft.com/office/drawing/2014/main" id="{77803D91-57F8-4B76-ABEE-38BFFCD655D3}"/>
              </a:ext>
            </a:extLst>
          </p:cNvPr>
          <p:cNvSpPr>
            <a:spLocks xmlns:a="http://schemas.openxmlformats.org/drawingml/2006/main" noGrp="1"/>
          </p:cNvSpPr>
          <p:nvPr/>
        </p:nvSpPr>
        <p:spPr>
          <a:xfrm xmlns:a="http://schemas.openxmlformats.org/drawingml/2006/main">
            <a:off x="457200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8,192,000 tokens, context 1024, identical for every arm.</a:t>
            </a:r>
            <a:endParaRPr sz="1400"/>
          </a:p>
        </p:txBody>
      </p:sp>
      <p:sp>
        <p:nvSpPr>
          <p:cNvPr id="12" name="Design card">
            <a:extLst xmlns:a="http://schemas.openxmlformats.org/drawingml/2006/main">
              <a:ext uri="{FF2B5EF4-FFF2-40B4-BE49-F238E27FC236}">
                <a16:creationId xmlns:a16="http://schemas.microsoft.com/office/drawing/2014/main" id="{64BE0DB5-C96F-4046-9262-0B3DAB7733C8}"/>
              </a:ext>
            </a:extLst>
          </p:cNvPr>
          <p:cNvSpPr>
            <a:spLocks xmlns:a="http://schemas.openxmlformats.org/drawingml/2006/main" noGrp="1"/>
          </p:cNvSpPr>
          <p:nvPr/>
        </p:nvSpPr>
        <p:spPr>
          <a:xfrm xmlns:a="http://schemas.openxmlformats.org/drawingml/2006/main">
            <a:off x="804672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13" name="Design number">
            <a:extLst xmlns:a="http://schemas.openxmlformats.org/drawingml/2006/main">
              <a:ext uri="{FF2B5EF4-FFF2-40B4-BE49-F238E27FC236}">
                <a16:creationId xmlns:a16="http://schemas.microsoft.com/office/drawing/2014/main" id="{1E0B9C9E-C651-4B08-A1CC-A10619FD13B7}"/>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3 × 3</a:t>
            </a:r>
            <a:endParaRPr sz="4800"/>
          </a:p>
        </p:txBody>
      </p:sp>
      <p:sp>
        <p:nvSpPr>
          <p:cNvPr id="14" name="Design label">
            <a:extLst xmlns:a="http://schemas.openxmlformats.org/drawingml/2006/main">
              <a:ext uri="{FF2B5EF4-FFF2-40B4-BE49-F238E27FC236}">
                <a16:creationId xmlns:a16="http://schemas.microsoft.com/office/drawing/2014/main" id="{D5858156-A587-46C5-915F-4FC3DACF5121}"/>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Seeds × arms</a:t>
            </a:r>
            <a:endParaRPr sz="1800"/>
          </a:p>
        </p:txBody>
      </p:sp>
      <p:sp>
        <p:nvSpPr>
          <p:cNvPr id="15" name="Design detail">
            <a:extLst xmlns:a="http://schemas.openxmlformats.org/drawingml/2006/main">
              <a:ext uri="{FF2B5EF4-FFF2-40B4-BE49-F238E27FC236}">
                <a16:creationId xmlns:a16="http://schemas.microsoft.com/office/drawing/2014/main" id="{6487BA67-70DF-4065-A74A-FAB0C60EED51}"/>
              </a:ext>
            </a:extLst>
          </p:cNvPr>
          <p:cNvSpPr>
            <a:spLocks xmlns:a="http://schemas.openxmlformats.org/drawingml/2006/main" noGrp="1"/>
          </p:cNvSpPr>
          <p:nvPr/>
        </p:nvSpPr>
        <p:spPr>
          <a:xfrm xmlns:a="http://schemas.openxmlformats.org/drawingml/2006/main">
            <a:off x="832104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Seeds 17, 29, 43; scratch, grid NCA, shuffled NCA.</a:t>
            </a:r>
            <a:endParaRPr sz="1400"/>
          </a:p>
        </p:txBody>
      </p:sp>
      <p:sp>
        <p:nvSpPr>
          <p:cNvPr id="16" name="Setup card">
            <a:extLst xmlns:a="http://schemas.openxmlformats.org/drawingml/2006/main">
              <a:ext uri="{FF2B5EF4-FFF2-40B4-BE49-F238E27FC236}">
                <a16:creationId xmlns:a16="http://schemas.microsoft.com/office/drawing/2014/main" id="{1EF9BA28-F79F-4FCD-938C-E7A9F2681DFB}"/>
              </a:ext>
            </a:extLst>
          </p:cNvPr>
          <p:cNvSpPr>
            <a:spLocks xmlns:a="http://schemas.openxmlformats.org/drawingml/2006/main" noGrp="1"/>
          </p:cNvSpPr>
          <p:nvPr/>
        </p:nvSpPr>
        <p:spPr>
          <a:xfrm xmlns:a="http://schemas.openxmlformats.org/drawingml/2006/main">
            <a:off x="548640" y="3931920"/>
            <a:ext cx="11064240" cy="2240280"/>
          </a:xfrm>
          <a:prstGeom xmlns:a="http://schemas.openxmlformats.org/drawingml/2006/main" prst="roundRect">
            <a:avLst>
              <a:gd name="adj" fmla="val 4898"/>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C0FF5279-64D8-4E12-862B-212A3A733141}"/>
              </a:ext>
            </a:extLst>
          </p:cNvPr>
          <p:cNvSpPr>
            <a:spLocks xmlns:a="http://schemas.openxmlformats.org/drawingml/2006/main" noGrp="1"/>
          </p:cNvSpPr>
          <p:nvPr/>
        </p:nvSpPr>
        <p:spPr>
          <a:xfrm xmlns:a="http://schemas.openxmlformats.org/drawingml/2006/main">
            <a:off x="822960" y="406908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Controls and setup</a:t>
            </a:r>
            <a:endParaRPr sz="1800"/>
          </a:p>
        </p:txBody>
      </p:sp>
      <p:sp>
        <p:nvSpPr>
          <p:cNvPr id="18" name="Text 15">
            <a:extLst xmlns:a="http://schemas.openxmlformats.org/drawingml/2006/main">
              <a:ext uri="{FF2B5EF4-FFF2-40B4-BE49-F238E27FC236}">
                <a16:creationId xmlns:a16="http://schemas.microsoft.com/office/drawing/2014/main" id="{D95679F7-1D8A-4549-A136-B7BC6A3F339B}"/>
              </a:ext>
            </a:extLst>
          </p:cNvPr>
          <p:cNvSpPr>
            <a:spLocks xmlns:a="http://schemas.openxmlformats.org/drawingml/2006/main" noGrp="1"/>
          </p:cNvSpPr>
          <p:nvPr/>
        </p:nvSpPr>
        <p:spPr>
          <a:xfrm xmlns:a="http://schemas.openxmlformats.org/drawingml/2006/main">
            <a:off x="822960" y="4480560"/>
            <a:ext cx="105156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Same architecture and fresh embeddings/head, optimizer, data order and schedule in every arm (language model 12.31M parameters; synthetic model 4.58M)</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4,096 training rules (from 8,832 screened candidates) and 128 held-out rules, with disjoint rule-weight hashes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Kaggle Tesla T4; the official WikiText test split is untouched, graph rewiring is not tested</a:t>
            </a:r>
            <a:endParaRPr sz="1500"/>
          </a:p>
        </p:txBody>
      </p:sp>
      <p:sp>
        <p:nvSpPr>
          <p:cNvPr id="25" name="Slide Number Placeholder 0">
            <a:extLst xmlns:a="http://schemas.openxmlformats.org/drawingml/2006/main">
              <a:ext uri="{FF2B5EF4-FFF2-40B4-BE49-F238E27FC236}">
                <a16:creationId xmlns:a16="http://schemas.microsoft.com/office/drawing/2014/main" id="{AE75179D-6C74-462E-B648-EF6192AF9688}"/>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11</a:t>
            </a:fld>
            <a:endParaRPr/>
          </a:p>
        </p:txBody>
      </p:sp>
    </p:spTree>
    <p:extLst>
      <p:ext uri="{BB962C8B-B14F-4D97-AF65-F5344CB8AC3E}">
        <p14:creationId xmlns:p14="http://schemas.microsoft.com/office/powerpoint/2010/main" val="206551485"/>
      </p:ext>
    </p:extLst>
  </p:cSld>
</p:sld>
</file>

<file path=ppt/slides/slide4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986A075-1DC3-4B43-B1DA-284A95ADFCF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Dataset preparation and rule separation</a:t>
            </a:r>
          </a:p>
        </p:txBody>
      </p:sp>
      <p:sp>
        <p:nvSpPr>
          <p:cNvPr id="2" name="body">
            <a:extLst xmlns:a="http://schemas.openxmlformats.org/drawingml/2006/main">
              <a:ext uri="{FF2B5EF4-FFF2-40B4-BE49-F238E27FC236}">
                <a16:creationId xmlns:a16="http://schemas.microsoft.com/office/drawing/2014/main" id="{7127266D-52E3-4D4E-8A14-994D5221A7F0}"/>
              </a:ext>
            </a:extLst>
          </p:cNvPr>
          <p:cNvSpPr>
            <a:spLocks xmlns:a="http://schemas.openxmlformats.org/drawingml/2006/main" noGrp="1"/>
          </p:cNvSpPr>
          <p:nvPr/>
        </p:nvSpPr>
        <p:spPr>
          <a:xfrm xmlns:a="http://schemas.openxmlformats.org/drawingml/2006/main">
            <a:off x="590550" y="1381125"/>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Sample frozen categorical rules and uniform initial states on a periodic 12 × 12 lattice. Apply ten burn-in steps and temperature 10⁻⁴.</a:t>
            </a:r>
          </a:p>
        </p:txBody>
      </p:sp>
      <p:sp>
        <p:nvSpPr>
          <p:cNvPr id="3" name="body">
            <a:extLst xmlns:a="http://schemas.openxmlformats.org/drawingml/2006/main">
              <a:ext uri="{FF2B5EF4-FFF2-40B4-BE49-F238E27FC236}">
                <a16:creationId xmlns:a16="http://schemas.microsoft.com/office/drawing/2014/main" id="{502FE5FD-F686-4788-B48C-B6C78EB2781B}"/>
              </a:ext>
            </a:extLst>
          </p:cNvPr>
          <p:cNvSpPr>
            <a:spLocks xmlns:a="http://schemas.openxmlformats.org/drawingml/2006/main" noGrp="1"/>
          </p:cNvSpPr>
          <p:nvPr/>
        </p:nvSpPr>
        <p:spPr>
          <a:xfrm xmlns:a="http://schemas.openxmlformats.org/drawingml/2006/main">
            <a:off x="590550" y="2514600"/>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Screen independent ten-frame profiles using marker-free int32 patch IDs and gzip level 9. Keep strict ratios between 0.5 and 1.0.</a:t>
            </a:r>
          </a:p>
        </p:txBody>
      </p:sp>
      <p:sp>
        <p:nvSpPr>
          <p:cNvPr id="4" name="body">
            <a:extLst xmlns:a="http://schemas.openxmlformats.org/drawingml/2006/main">
              <a:ext uri="{FF2B5EF4-FFF2-40B4-BE49-F238E27FC236}">
                <a16:creationId xmlns:a16="http://schemas.microsoft.com/office/drawing/2014/main" id="{D636C4CF-12C0-430F-97F2-6CBD0233CF49}"/>
              </a:ext>
            </a:extLst>
          </p:cNvPr>
          <p:cNvSpPr>
            <a:spLocks xmlns:a="http://schemas.openxmlformats.org/drawingml/2006/main" noGrp="1"/>
          </p:cNvSpPr>
          <p:nvPr/>
        </p:nvSpPr>
        <p:spPr>
          <a:xfrm xmlns:a="http://schemas.openxmlformats.org/drawingml/2006/main">
            <a:off x="590550" y="3648075"/>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Generate fresh trajectories for accepted rules. The training and held-out rule banks have disjoint actual weight hashes.</a:t>
            </a:r>
          </a:p>
        </p:txBody>
      </p:sp>
      <p:sp>
        <p:nvSpPr>
          <p:cNvPr id="5" name="body">
            <a:extLst xmlns:a="http://schemas.openxmlformats.org/drawingml/2006/main">
              <a:ext uri="{FF2B5EF4-FFF2-40B4-BE49-F238E27FC236}">
                <a16:creationId xmlns:a16="http://schemas.microsoft.com/office/drawing/2014/main" id="{6E914597-A058-48C3-AD4C-859C7DD7F8C1}"/>
              </a:ext>
            </a:extLst>
          </p:cNvPr>
          <p:cNvSpPr>
            <a:spLocks xmlns:a="http://schemas.openxmlformats.org/drawingml/2006/main" noGrp="1"/>
          </p:cNvSpPr>
          <p:nvPr/>
        </p:nvSpPr>
        <p:spPr>
          <a:xfrm xmlns:a="http://schemas.openxmlformats.org/drawingml/2006/main">
            <a:off x="590550" y="4781550"/>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Use 4096 training rules and 128 held-out rules. Evaluate the predeclared first 32 held-out rules and reserve the official language test.</a:t>
            </a:r>
          </a:p>
        </p:txBody>
      </p:sp>
      <p:sp>
        <p:nvSpPr>
          <p:cNvPr id="6" name="body">
            <a:extLst xmlns:a="http://schemas.openxmlformats.org/drawingml/2006/main">
              <a:ext uri="{FF2B5EF4-FFF2-40B4-BE49-F238E27FC236}">
                <a16:creationId xmlns:a16="http://schemas.microsoft.com/office/drawing/2014/main" id="{505BC712-C6F8-463C-B0B8-47AC862F13F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45</a:t>
            </a:r>
          </a:p>
        </p:txBody>
      </p:sp>
    </p:spTree>
    <p:extLst>
      <p:ext uri="{BB962C8B-B14F-4D97-AF65-F5344CB8AC3E}">
        <p14:creationId xmlns:p14="http://schemas.microsoft.com/office/powerpoint/2010/main" val="529006827"/>
      </p:ext>
    </p:extLst>
  </p:cSld>
</p:sld>
</file>

<file path=ppt/slides/slide4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6C83CC-A04E-452B-83E5-48B34065EC0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Saved dataset sizes and screening outcomes</a:t>
            </a:r>
          </a:p>
        </p:txBody>
      </p:sp>
      <p:graphicFrame>
        <p:nvGraphicFramePr>
          <p:cNvPr id="2" name="">
            <a:extLst xmlns:a="http://schemas.openxmlformats.org/drawingml/2006/main">
              <a:ext uri="{FF2B5EF4-FFF2-40B4-BE49-F238E27FC236}">
                <a16:creationId xmlns:a16="http://schemas.microsoft.com/office/drawing/2014/main" id="{6363CFC7-5433-4FA1-8EBC-0DE30703E839}"/>
              </a:ext>
            </a:extLst>
          </p:cNvPr>
          <p:cNvGraphicFramePr/>
          <p:nvPr/>
        </p:nvGraphicFramePr>
        <p:xfrm>
          <a:off xmlns:a="http://schemas.openxmlformats.org/drawingml/2006/main" x="590550" y="1457325"/>
          <a:ext xmlns:a="http://schemas.openxmlformats.org/drawingml/2006/main" cx="10953750" cy="4095750"/>
        </p:xfrm>
        <a:graphic xmlns:a="http://schemas.openxmlformats.org/drawingml/2006/main">
          <a:graphicData uri="http://schemas.openxmlformats.org/drawingml/2006/table">
            <a:tbl>
              <a:tblPr/>
              <a:tblGrid>
                <a:gridCol w="5810250"/>
                <a:gridCol w="5143500"/>
              </a:tblGrid>
              <a:tr h="585107">
                <a:tc>
                  <a:txBody>
                    <a:bodyPr wrap="square" lIns="95250" tIns="95250" rIns="95250" bIns="95250"/>
                    <a:lstStyle/>
                    <a:p>
                      <a:r>
                        <a:rPr sz="1800" b="1">
                          <a:solidFill>
                            <a:srgbClr val="F1F5F9"/>
                          </a:solidFill>
                          <a:latin typeface="Calibri"/>
                          <a:ea typeface="Calibri"/>
                          <a:cs typeface="Calibri"/>
                        </a:rPr>
                        <a:t>Dataset / check</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Recorded value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85107">
                <a:tc>
                  <a:txBody>
                    <a:bodyPr wrap="square" lIns="95250" tIns="95250" rIns="95250" bIns="95250"/>
                    <a:lstStyle/>
                    <a:p>
                      <a:r>
                        <a:rPr sz="1800" b="0">
                          <a:solidFill>
                            <a:srgbClr val="F1F5F9"/>
                          </a:solidFill>
                          <a:latin typeface="Calibri"/>
                          <a:ea typeface="Calibri"/>
                          <a:cs typeface="Calibri"/>
                        </a:rPr>
                        <a:t>Synthetic train array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4096 × 1026 uint16 tokens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Synthetic validation array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128 × 1026 uint16 tokens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800" b="0">
                          <a:solidFill>
                            <a:srgbClr val="F1F5F9"/>
                          </a:solidFill>
                          <a:latin typeface="Calibri"/>
                          <a:ea typeface="Calibri"/>
                          <a:cs typeface="Calibri"/>
                        </a:rPr>
                        <a:t>Candidate rules screened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8832 train; 256 validation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Fresh rollout median gzip ratio</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About 0.5075 train; 0.5080 validation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800" b="0">
                          <a:solidFill>
                            <a:srgbClr val="F1F5F9"/>
                          </a:solidFill>
                          <a:latin typeface="Calibri"/>
                          <a:ea typeface="Calibri"/>
                          <a:cs typeface="Calibri"/>
                        </a:rPr>
                        <a:t>Final fixed transition fraction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0.195% train; 0% validation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WikiText/GPT-2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2,403,644 train; 248,461 validation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source">
            <a:extLst xmlns:a="http://schemas.openxmlformats.org/drawingml/2006/main">
              <a:ext uri="{FF2B5EF4-FFF2-40B4-BE49-F238E27FC236}">
                <a16:creationId xmlns:a16="http://schemas.microsoft.com/office/drawing/2014/main" id="{12D6481E-C15A-4379-98AB-46F3240E5D2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Screening and fresh rollout use different initial conditions. Fresh scores need not remain in the screening band.</a:t>
            </a:r>
          </a:p>
        </p:txBody>
      </p:sp>
      <p:sp>
        <p:nvSpPr>
          <p:cNvPr id="4" name="body">
            <a:extLst xmlns:a="http://schemas.openxmlformats.org/drawingml/2006/main">
              <a:ext uri="{FF2B5EF4-FFF2-40B4-BE49-F238E27FC236}">
                <a16:creationId xmlns:a16="http://schemas.microsoft.com/office/drawing/2014/main" id="{97CBE6EF-0A1A-461E-9F40-AC2C6340FB7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46</a:t>
            </a:r>
          </a:p>
        </p:txBody>
      </p:sp>
    </p:spTree>
    <p:extLst>
      <p:ext uri="{BB962C8B-B14F-4D97-AF65-F5344CB8AC3E}">
        <p14:creationId xmlns:p14="http://schemas.microsoft.com/office/powerpoint/2010/main" val="347887443"/>
      </p:ext>
    </p:extLst>
  </p:cSld>
</p:sld>
</file>

<file path=ppt/slides/slide4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4CBB3E35-7A1A-4DE1-9B49-31866BDB5DD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NCA states from the retained v2 dataset</a:t>
            </a:r>
          </a:p>
        </p:txBody>
      </p:sp>
      <p:graphicFrame>
        <p:nvGraphicFramePr>
          <p:cNvPr id="2" name="">
            <a:extLst xmlns:a="http://schemas.openxmlformats.org/drawingml/2006/main">
              <a:ext uri="{FF2B5EF4-FFF2-40B4-BE49-F238E27FC236}">
                <a16:creationId xmlns:a16="http://schemas.microsoft.com/office/drawing/2014/main" id="{5E4B3920-AE6E-4496-8E03-F94CFD5F0D47}"/>
              </a:ext>
            </a:extLst>
          </p:cNvPr>
          <p:cNvGraphicFramePr/>
          <p:nvPr/>
        </p:nvGraphicFramePr>
        <p:xfrm>
          <a:off xmlns:a="http://schemas.openxmlformats.org/drawingml/2006/main" x="59055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bl>
          </a:graphicData>
        </a:graphic>
      </p:graphicFrame>
      <p:sp>
        <p:nvSpPr>
          <p:cNvPr id="3" name="body">
            <a:extLst xmlns:a="http://schemas.openxmlformats.org/drawingml/2006/main">
              <a:ext uri="{FF2B5EF4-FFF2-40B4-BE49-F238E27FC236}">
                <a16:creationId xmlns:a16="http://schemas.microsoft.com/office/drawing/2014/main" id="{569D7F3D-431C-4E26-AE32-C6F129BD91D5}"/>
              </a:ext>
            </a:extLst>
          </p:cNvPr>
          <p:cNvSpPr>
            <a:spLocks xmlns:a="http://schemas.openxmlformats.org/drawingml/2006/main" noGrp="1"/>
          </p:cNvSpPr>
          <p:nvPr/>
        </p:nvSpPr>
        <p:spPr>
          <a:xfrm xmlns:a="http://schemas.openxmlformats.org/drawingml/2006/main">
            <a:off x="59055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0</a:t>
            </a:r>
          </a:p>
        </p:txBody>
      </p:sp>
      <p:graphicFrame>
        <p:nvGraphicFramePr>
          <p:cNvPr id="4" name="">
            <a:extLst xmlns:a="http://schemas.openxmlformats.org/drawingml/2006/main">
              <a:ext uri="{FF2B5EF4-FFF2-40B4-BE49-F238E27FC236}">
                <a16:creationId xmlns:a16="http://schemas.microsoft.com/office/drawing/2014/main" id="{8812777F-501F-4A3C-9E21-C01351174CE5}"/>
              </a:ext>
            </a:extLst>
          </p:cNvPr>
          <p:cNvGraphicFramePr/>
          <p:nvPr/>
        </p:nvGraphicFramePr>
        <p:xfrm>
          <a:off xmlns:a="http://schemas.openxmlformats.org/drawingml/2006/main" x="342900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bl>
          </a:graphicData>
        </a:graphic>
      </p:graphicFrame>
      <p:sp>
        <p:nvSpPr>
          <p:cNvPr id="5" name="body">
            <a:extLst xmlns:a="http://schemas.openxmlformats.org/drawingml/2006/main">
              <a:ext uri="{FF2B5EF4-FFF2-40B4-BE49-F238E27FC236}">
                <a16:creationId xmlns:a16="http://schemas.microsoft.com/office/drawing/2014/main" id="{34CD728E-3417-4473-A432-3A6BCB896D97}"/>
              </a:ext>
            </a:extLst>
          </p:cNvPr>
          <p:cNvSpPr>
            <a:spLocks xmlns:a="http://schemas.openxmlformats.org/drawingml/2006/main" noGrp="1"/>
          </p:cNvSpPr>
          <p:nvPr/>
        </p:nvSpPr>
        <p:spPr>
          <a:xfrm xmlns:a="http://schemas.openxmlformats.org/drawingml/2006/main">
            <a:off x="342900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1</a:t>
            </a:r>
          </a:p>
        </p:txBody>
      </p:sp>
      <p:graphicFrame>
        <p:nvGraphicFramePr>
          <p:cNvPr id="6" name="">
            <a:extLst xmlns:a="http://schemas.openxmlformats.org/drawingml/2006/main">
              <a:ext uri="{FF2B5EF4-FFF2-40B4-BE49-F238E27FC236}">
                <a16:creationId xmlns:a16="http://schemas.microsoft.com/office/drawing/2014/main" id="{97476F7C-B597-4082-8914-D0EFC121BF29}"/>
              </a:ext>
            </a:extLst>
          </p:cNvPr>
          <p:cNvGraphicFramePr/>
          <p:nvPr/>
        </p:nvGraphicFramePr>
        <p:xfrm>
          <a:off xmlns:a="http://schemas.openxmlformats.org/drawingml/2006/main" x="626745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bl>
          </a:graphicData>
        </a:graphic>
      </p:graphicFrame>
      <p:sp>
        <p:nvSpPr>
          <p:cNvPr id="7" name="body">
            <a:extLst xmlns:a="http://schemas.openxmlformats.org/drawingml/2006/main">
              <a:ext uri="{FF2B5EF4-FFF2-40B4-BE49-F238E27FC236}">
                <a16:creationId xmlns:a16="http://schemas.microsoft.com/office/drawing/2014/main" id="{B3DCE750-38D7-4C08-8AFD-7719AC41C25E}"/>
              </a:ext>
            </a:extLst>
          </p:cNvPr>
          <p:cNvSpPr>
            <a:spLocks xmlns:a="http://schemas.openxmlformats.org/drawingml/2006/main" noGrp="1"/>
          </p:cNvSpPr>
          <p:nvPr/>
        </p:nvSpPr>
        <p:spPr>
          <a:xfrm xmlns:a="http://schemas.openxmlformats.org/drawingml/2006/main">
            <a:off x="626745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10</a:t>
            </a:r>
          </a:p>
        </p:txBody>
      </p:sp>
      <p:graphicFrame>
        <p:nvGraphicFramePr>
          <p:cNvPr id="8" name="">
            <a:extLst xmlns:a="http://schemas.openxmlformats.org/drawingml/2006/main">
              <a:ext uri="{FF2B5EF4-FFF2-40B4-BE49-F238E27FC236}">
                <a16:creationId xmlns:a16="http://schemas.microsoft.com/office/drawing/2014/main" id="{CC4BB8B4-874C-457E-9C4C-3DC1F2D6A7D3}"/>
              </a:ext>
            </a:extLst>
          </p:cNvPr>
          <p:cNvGraphicFramePr/>
          <p:nvPr/>
        </p:nvGraphicFramePr>
        <p:xfrm>
          <a:off xmlns:a="http://schemas.openxmlformats.org/drawingml/2006/main" x="910590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E293B"/>
                    </a:solidFill>
                  </a:tcPr>
                </a:tc>
              </a:tr>
              <a:tr h="209550">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bl>
          </a:graphicData>
        </a:graphic>
      </p:graphicFrame>
      <p:sp>
        <p:nvSpPr>
          <p:cNvPr id="9" name="body">
            <a:extLst xmlns:a="http://schemas.openxmlformats.org/drawingml/2006/main">
              <a:ext uri="{FF2B5EF4-FFF2-40B4-BE49-F238E27FC236}">
                <a16:creationId xmlns:a16="http://schemas.microsoft.com/office/drawing/2014/main" id="{B9BF2601-9758-42B7-85B8-5243DAD9F7CD}"/>
              </a:ext>
            </a:extLst>
          </p:cNvPr>
          <p:cNvSpPr>
            <a:spLocks xmlns:a="http://schemas.openxmlformats.org/drawingml/2006/main" noGrp="1"/>
          </p:cNvSpPr>
          <p:nvPr/>
        </p:nvSpPr>
        <p:spPr>
          <a:xfrm xmlns:a="http://schemas.openxmlformats.org/drawingml/2006/main">
            <a:off x="910590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26</a:t>
            </a:r>
          </a:p>
        </p:txBody>
      </p:sp>
      <p:sp>
        <p:nvSpPr>
          <p:cNvPr id="10" name="body">
            <a:extLst xmlns:a="http://schemas.openxmlformats.org/drawingml/2006/main">
              <a:ext uri="{FF2B5EF4-FFF2-40B4-BE49-F238E27FC236}">
                <a16:creationId xmlns:a16="http://schemas.microsoft.com/office/drawing/2014/main" id="{6F9077E8-B562-4F27-860D-28906B612098}"/>
              </a:ext>
            </a:extLst>
          </p:cNvPr>
          <p:cNvSpPr>
            <a:spLocks xmlns:a="http://schemas.openxmlformats.org/drawingml/2006/main" noGrp="1"/>
          </p:cNvSpPr>
          <p:nvPr/>
        </p:nvSpPr>
        <p:spPr>
          <a:xfrm xmlns:a="http://schemas.openxmlformats.org/drawingml/2006/main">
            <a:off x="619125" y="528637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9FB0C8"/>
                </a:solidFill>
                <a:latin typeface="Calibri"/>
                <a:ea typeface="Calibri"/>
                <a:cs typeface="Calibri"/>
              </a:defRPr>
            </a:defPPr>
            <a:lvl1pPr>
              <a:buNone/>
              <a:defRPr sz="1950" b="0">
                <a:solidFill>
                  <a:srgbClr val="9FB0C8"/>
                </a:solidFill>
                <a:latin typeface="Calibri"/>
                <a:ea typeface="Calibri"/>
                <a:cs typeface="Calibri"/>
              </a:defRPr>
            </a:lvl1pPr>
            <a:lvl2pPr>
              <a:buNone/>
              <a:defRPr sz="1950" b="0">
                <a:solidFill>
                  <a:srgbClr val="9FB0C8"/>
                </a:solidFill>
                <a:latin typeface="Calibri"/>
                <a:ea typeface="Calibri"/>
                <a:cs typeface="Calibri"/>
              </a:defRPr>
            </a:lvl2pPr>
            <a:lvl3pPr>
              <a:buNone/>
              <a:defRPr sz="1950" b="0">
                <a:solidFill>
                  <a:srgbClr val="9FB0C8"/>
                </a:solidFill>
                <a:latin typeface="Calibri"/>
                <a:ea typeface="Calibri"/>
                <a:cs typeface="Calibri"/>
              </a:defRPr>
            </a:lvl3pPr>
            <a:lvl4pPr>
              <a:buNone/>
              <a:defRPr sz="1950" b="0">
                <a:solidFill>
                  <a:srgbClr val="9FB0C8"/>
                </a:solidFill>
                <a:latin typeface="Calibri"/>
                <a:ea typeface="Calibri"/>
                <a:cs typeface="Calibri"/>
              </a:defRPr>
            </a:lvl4pPr>
            <a:lvl5pPr>
              <a:buNone/>
              <a:defRPr sz="1950" b="0">
                <a:solidFill>
                  <a:srgbClr val="9FB0C8"/>
                </a:solidFill>
                <a:latin typeface="Calibri"/>
                <a:ea typeface="Calibri"/>
                <a:cs typeface="Calibri"/>
              </a:defRPr>
            </a:lvl5pPr>
            <a:lvl6pPr>
              <a:buNone/>
              <a:defRPr sz="1950" b="0">
                <a:solidFill>
                  <a:srgbClr val="9FB0C8"/>
                </a:solidFill>
                <a:latin typeface="Calibri"/>
                <a:ea typeface="Calibri"/>
                <a:cs typeface="Calibri"/>
              </a:defRPr>
            </a:lvl6pPr>
            <a:lvl7pPr>
              <a:buNone/>
              <a:defRPr sz="1950" b="0">
                <a:solidFill>
                  <a:srgbClr val="9FB0C8"/>
                </a:solidFill>
                <a:latin typeface="Calibri"/>
                <a:ea typeface="Calibri"/>
                <a:cs typeface="Calibri"/>
              </a:defRPr>
            </a:lvl7pPr>
            <a:lvl8pPr>
              <a:buNone/>
              <a:defRPr sz="1950" b="0">
                <a:solidFill>
                  <a:srgbClr val="9FB0C8"/>
                </a:solidFill>
                <a:latin typeface="Calibri"/>
                <a:ea typeface="Calibri"/>
                <a:cs typeface="Calibri"/>
              </a:defRPr>
            </a:lvl8pPr>
            <a:lvl9pPr>
              <a:buNone/>
              <a:defRPr sz="1950" b="0">
                <a:solidFill>
                  <a:srgbClr val="9FB0C8"/>
                </a:solidFill>
                <a:latin typeface="Calibri"/>
                <a:ea typeface="Calibri"/>
                <a:cs typeface="Calibri"/>
              </a:defRPr>
            </a:lvl9pPr>
          </a:lstStyle>
          <a:p xmlns:a="http://schemas.openxmlformats.org/drawingml/2006/main">
            <a:pPr>
              <a:buNone/>
              <a:defRPr sz="1950" b="0">
                <a:solidFill>
                  <a:srgbClr val="9FB0C8"/>
                </a:solidFill>
                <a:latin typeface="Calibri"/>
                <a:ea typeface="Calibri"/>
                <a:cs typeface="Calibri"/>
              </a:defRPr>
            </a:pPr>
            <a:r>
              <a:rPr sz="1950" b="0">
                <a:solidFill>
                  <a:srgbClr val="9FB0C8"/>
                </a:solidFill>
                <a:latin typeface="Calibri"/>
                <a:ea typeface="Calibri"/>
                <a:cs typeface="Calibri"/>
              </a:rPr>
              <a:t>Cell labels and colors encode states 0–9. These four frames decode one saved held-out-rule trajectory after burn-in. The categorical sampler may inject fresh randomness.</a:t>
            </a:r>
          </a:p>
        </p:txBody>
      </p:sp>
      <p:sp>
        <p:nvSpPr>
          <p:cNvPr id="11" name="source">
            <a:extLst xmlns:a="http://schemas.openxmlformats.org/drawingml/2006/main">
              <a:ext uri="{FF2B5EF4-FFF2-40B4-BE49-F238E27FC236}">
                <a16:creationId xmlns:a16="http://schemas.microsoft.com/office/drawing/2014/main" id="{1D8B6587-F4DE-4F9C-BDDC-11B827DED650}"/>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Original data remain unchanged. The slide displays decoded values, without running a new NCA or training procedure.</a:t>
            </a:r>
          </a:p>
        </p:txBody>
      </p:sp>
      <p:sp>
        <p:nvSpPr>
          <p:cNvPr id="12" name="body">
            <a:extLst xmlns:a="http://schemas.openxmlformats.org/drawingml/2006/main">
              <a:ext uri="{FF2B5EF4-FFF2-40B4-BE49-F238E27FC236}">
                <a16:creationId xmlns:a16="http://schemas.microsoft.com/office/drawing/2014/main" id="{8B532BB3-8431-485A-92E5-60BEA3547A5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47</a:t>
            </a:r>
          </a:p>
        </p:txBody>
      </p:sp>
    </p:spTree>
    <p:extLst>
      <p:ext uri="{BB962C8B-B14F-4D97-AF65-F5344CB8AC3E}">
        <p14:creationId xmlns:p14="http://schemas.microsoft.com/office/powerpoint/2010/main" val="203245070"/>
      </p:ext>
    </p:extLst>
  </p:cSld>
</p:sld>
</file>

<file path=ppt/slides/slide4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B7661AE-1CE2-4DF9-B02D-B8EA167230F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Structured and shuffled data at fixed markers</a:t>
            </a:r>
          </a:p>
        </p:txBody>
      </p:sp>
      <p:graphicFrame>
        <p:nvGraphicFramePr>
          <p:cNvPr id="2" name="">
            <a:extLst xmlns:a="http://schemas.openxmlformats.org/drawingml/2006/main">
              <a:ext uri="{FF2B5EF4-FFF2-40B4-BE49-F238E27FC236}">
                <a16:creationId xmlns:a16="http://schemas.microsoft.com/office/drawing/2014/main" id="{C4FB6A88-2E3A-428E-B1B3-8A8312EBA221}"/>
              </a:ext>
            </a:extLst>
          </p:cNvPr>
          <p:cNvGraphicFramePr/>
          <p:nvPr/>
        </p:nvGraphicFramePr>
        <p:xfrm>
          <a:off xmlns:a="http://schemas.openxmlformats.org/drawingml/2006/main" x="819150" y="1666875"/>
          <a:ext xmlns:a="http://schemas.openxmlformats.org/drawingml/2006/main" cx="3143250" cy="3143250"/>
        </p:xfrm>
        <a:graphic xmlns:a="http://schemas.openxmlformats.org/drawingml/2006/main">
          <a:graphicData uri="http://schemas.openxmlformats.org/drawingml/2006/table">
            <a:tbl>
              <a:tblPr/>
              <a:tblGrid>
                <a:gridCol w="261938"/>
                <a:gridCol w="261938"/>
                <a:gridCol w="261938"/>
                <a:gridCol w="261938"/>
                <a:gridCol w="261938"/>
                <a:gridCol w="261938"/>
                <a:gridCol w="261938"/>
                <a:gridCol w="261938"/>
                <a:gridCol w="261938"/>
                <a:gridCol w="261938"/>
                <a:gridCol w="261938"/>
                <a:gridCol w="261938"/>
              </a:tblGrid>
              <a:tr h="261938">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61938">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bl>
          </a:graphicData>
        </a:graphic>
      </p:graphicFrame>
      <p:graphicFrame>
        <p:nvGraphicFramePr>
          <p:cNvPr id="3" name="">
            <a:extLst xmlns:a="http://schemas.openxmlformats.org/drawingml/2006/main">
              <a:ext uri="{FF2B5EF4-FFF2-40B4-BE49-F238E27FC236}">
                <a16:creationId xmlns:a16="http://schemas.microsoft.com/office/drawing/2014/main" id="{E6A700B2-829C-4483-B550-FC2388A5A885}"/>
              </a:ext>
            </a:extLst>
          </p:cNvPr>
          <p:cNvGraphicFramePr/>
          <p:nvPr/>
        </p:nvGraphicFramePr>
        <p:xfrm>
          <a:off xmlns:a="http://schemas.openxmlformats.org/drawingml/2006/main" x="5753100" y="1666875"/>
          <a:ext xmlns:a="http://schemas.openxmlformats.org/drawingml/2006/main" cx="3143250" cy="3143250"/>
        </p:xfrm>
        <a:graphic xmlns:a="http://schemas.openxmlformats.org/drawingml/2006/main">
          <a:graphicData uri="http://schemas.openxmlformats.org/drawingml/2006/table">
            <a:tbl>
              <a:tblPr/>
              <a:tblGrid>
                <a:gridCol w="261938"/>
                <a:gridCol w="261938"/>
                <a:gridCol w="261938"/>
                <a:gridCol w="261938"/>
                <a:gridCol w="261938"/>
                <a:gridCol w="261938"/>
                <a:gridCol w="261938"/>
                <a:gridCol w="261938"/>
                <a:gridCol w="261938"/>
                <a:gridCol w="261938"/>
                <a:gridCol w="261938"/>
                <a:gridCol w="261938"/>
              </a:tblGrid>
              <a:tr h="261938">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61938">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61938">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buNone/>
                      </a:pP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61938">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buNone/>
                      </a:pP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buNone/>
                      </a:pP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buNone/>
                      </a:pP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bl>
          </a:graphicData>
        </a:graphic>
      </p:graphicFrame>
      <p:sp>
        <p:nvSpPr>
          <p:cNvPr id="4" name="body">
            <a:extLst xmlns:a="http://schemas.openxmlformats.org/drawingml/2006/main">
              <a:ext uri="{FF2B5EF4-FFF2-40B4-BE49-F238E27FC236}">
                <a16:creationId xmlns:a16="http://schemas.microsoft.com/office/drawing/2014/main" id="{FABC572E-77F6-40A3-989C-A4911236B8A7}"/>
              </a:ext>
            </a:extLst>
          </p:cNvPr>
          <p:cNvSpPr>
            <a:spLocks xmlns:a="http://schemas.openxmlformats.org/drawingml/2006/main" noGrp="1"/>
          </p:cNvSpPr>
          <p:nvPr/>
        </p:nvSpPr>
        <p:spPr>
          <a:xfrm xmlns:a="http://schemas.openxmlformats.org/drawingml/2006/main">
            <a:off x="819150" y="5000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38BDF8"/>
                </a:solidFill>
                <a:latin typeface="Calibri"/>
                <a:ea typeface="Calibri"/>
                <a:cs typeface="Calibri"/>
              </a:defRPr>
            </a:defPPr>
            <a:lvl1pPr>
              <a:buNone/>
              <a:defRPr sz="1950" b="1">
                <a:solidFill>
                  <a:srgbClr val="38BDF8"/>
                </a:solidFill>
                <a:latin typeface="Calibri"/>
                <a:ea typeface="Calibri"/>
                <a:cs typeface="Calibri"/>
              </a:defRPr>
            </a:lvl1pPr>
            <a:lvl2pPr>
              <a:buNone/>
              <a:defRPr sz="1950" b="1">
                <a:solidFill>
                  <a:srgbClr val="38BDF8"/>
                </a:solidFill>
                <a:latin typeface="Calibri"/>
                <a:ea typeface="Calibri"/>
                <a:cs typeface="Calibri"/>
              </a:defRPr>
            </a:lvl2pPr>
            <a:lvl3pPr>
              <a:buNone/>
              <a:defRPr sz="1950" b="1">
                <a:solidFill>
                  <a:srgbClr val="38BDF8"/>
                </a:solidFill>
                <a:latin typeface="Calibri"/>
                <a:ea typeface="Calibri"/>
                <a:cs typeface="Calibri"/>
              </a:defRPr>
            </a:lvl3pPr>
            <a:lvl4pPr>
              <a:buNone/>
              <a:defRPr sz="1950" b="1">
                <a:solidFill>
                  <a:srgbClr val="38BDF8"/>
                </a:solidFill>
                <a:latin typeface="Calibri"/>
                <a:ea typeface="Calibri"/>
                <a:cs typeface="Calibri"/>
              </a:defRPr>
            </a:lvl4pPr>
            <a:lvl5pPr>
              <a:buNone/>
              <a:defRPr sz="1950" b="1">
                <a:solidFill>
                  <a:srgbClr val="38BDF8"/>
                </a:solidFill>
                <a:latin typeface="Calibri"/>
                <a:ea typeface="Calibri"/>
                <a:cs typeface="Calibri"/>
              </a:defRPr>
            </a:lvl5pPr>
            <a:lvl6pPr>
              <a:buNone/>
              <a:defRPr sz="1950" b="1">
                <a:solidFill>
                  <a:srgbClr val="38BDF8"/>
                </a:solidFill>
                <a:latin typeface="Calibri"/>
                <a:ea typeface="Calibri"/>
                <a:cs typeface="Calibri"/>
              </a:defRPr>
            </a:lvl6pPr>
            <a:lvl7pPr>
              <a:buNone/>
              <a:defRPr sz="1950" b="1">
                <a:solidFill>
                  <a:srgbClr val="38BDF8"/>
                </a:solidFill>
                <a:latin typeface="Calibri"/>
                <a:ea typeface="Calibri"/>
                <a:cs typeface="Calibri"/>
              </a:defRPr>
            </a:lvl7pPr>
            <a:lvl8pPr>
              <a:buNone/>
              <a:defRPr sz="1950" b="1">
                <a:solidFill>
                  <a:srgbClr val="38BDF8"/>
                </a:solidFill>
                <a:latin typeface="Calibri"/>
                <a:ea typeface="Calibri"/>
                <a:cs typeface="Calibri"/>
              </a:defRPr>
            </a:lvl8pPr>
            <a:lvl9pPr>
              <a:buNone/>
              <a:defRPr sz="1950" b="1">
                <a:solidFill>
                  <a:srgbClr val="38BDF8"/>
                </a:solidFill>
                <a:latin typeface="Calibri"/>
                <a:ea typeface="Calibri"/>
                <a:cs typeface="Calibri"/>
              </a:defRPr>
            </a:lvl9pPr>
          </a:lstStyle>
          <a:p xmlns:a="http://schemas.openxmlformats.org/drawingml/2006/main">
            <a:pPr>
              <a:buNone/>
              <a:defRPr sz="1950" b="1">
                <a:solidFill>
                  <a:srgbClr val="38BDF8"/>
                </a:solidFill>
                <a:latin typeface="Calibri"/>
                <a:ea typeface="Calibri"/>
                <a:cs typeface="Calibri"/>
              </a:defRPr>
            </a:pPr>
            <a:r>
              <a:rPr sz="1950" b="1">
                <a:solidFill>
                  <a:srgbClr val="38BDF8"/>
                </a:solidFill>
                <a:latin typeface="Calibri"/>
                <a:ea typeface="Calibri"/>
                <a:cs typeface="Calibri"/>
              </a:rPr>
              <a:t>Original frame 0</a:t>
            </a:r>
          </a:p>
        </p:txBody>
      </p:sp>
      <p:sp>
        <p:nvSpPr>
          <p:cNvPr id="5" name="body">
            <a:extLst xmlns:a="http://schemas.openxmlformats.org/drawingml/2006/main">
              <a:ext uri="{FF2B5EF4-FFF2-40B4-BE49-F238E27FC236}">
                <a16:creationId xmlns:a16="http://schemas.microsoft.com/office/drawing/2014/main" id="{A9437683-2706-4799-AFE1-3627F9271C48}"/>
              </a:ext>
            </a:extLst>
          </p:cNvPr>
          <p:cNvSpPr>
            <a:spLocks xmlns:a="http://schemas.openxmlformats.org/drawingml/2006/main" noGrp="1"/>
          </p:cNvSpPr>
          <p:nvPr/>
        </p:nvSpPr>
        <p:spPr>
          <a:xfrm xmlns:a="http://schemas.openxmlformats.org/drawingml/2006/main">
            <a:off x="5753100" y="5000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BBF24"/>
                </a:solidFill>
                <a:latin typeface="Calibri"/>
                <a:ea typeface="Calibri"/>
                <a:cs typeface="Calibri"/>
              </a:defRPr>
            </a:defPPr>
            <a:lvl1pPr>
              <a:buNone/>
              <a:defRPr sz="1950" b="1">
                <a:solidFill>
                  <a:srgbClr val="FBBF24"/>
                </a:solidFill>
                <a:latin typeface="Calibri"/>
                <a:ea typeface="Calibri"/>
                <a:cs typeface="Calibri"/>
              </a:defRPr>
            </a:lvl1pPr>
            <a:lvl2pPr>
              <a:buNone/>
              <a:defRPr sz="1950" b="1">
                <a:solidFill>
                  <a:srgbClr val="FBBF24"/>
                </a:solidFill>
                <a:latin typeface="Calibri"/>
                <a:ea typeface="Calibri"/>
                <a:cs typeface="Calibri"/>
              </a:defRPr>
            </a:lvl2pPr>
            <a:lvl3pPr>
              <a:buNone/>
              <a:defRPr sz="1950" b="1">
                <a:solidFill>
                  <a:srgbClr val="FBBF24"/>
                </a:solidFill>
                <a:latin typeface="Calibri"/>
                <a:ea typeface="Calibri"/>
                <a:cs typeface="Calibri"/>
              </a:defRPr>
            </a:lvl3pPr>
            <a:lvl4pPr>
              <a:buNone/>
              <a:defRPr sz="1950" b="1">
                <a:solidFill>
                  <a:srgbClr val="FBBF24"/>
                </a:solidFill>
                <a:latin typeface="Calibri"/>
                <a:ea typeface="Calibri"/>
                <a:cs typeface="Calibri"/>
              </a:defRPr>
            </a:lvl4pPr>
            <a:lvl5pPr>
              <a:buNone/>
              <a:defRPr sz="1950" b="1">
                <a:solidFill>
                  <a:srgbClr val="FBBF24"/>
                </a:solidFill>
                <a:latin typeface="Calibri"/>
                <a:ea typeface="Calibri"/>
                <a:cs typeface="Calibri"/>
              </a:defRPr>
            </a:lvl5pPr>
            <a:lvl6pPr>
              <a:buNone/>
              <a:defRPr sz="1950" b="1">
                <a:solidFill>
                  <a:srgbClr val="FBBF24"/>
                </a:solidFill>
                <a:latin typeface="Calibri"/>
                <a:ea typeface="Calibri"/>
                <a:cs typeface="Calibri"/>
              </a:defRPr>
            </a:lvl6pPr>
            <a:lvl7pPr>
              <a:buNone/>
              <a:defRPr sz="1950" b="1">
                <a:solidFill>
                  <a:srgbClr val="FBBF24"/>
                </a:solidFill>
                <a:latin typeface="Calibri"/>
                <a:ea typeface="Calibri"/>
                <a:cs typeface="Calibri"/>
              </a:defRPr>
            </a:lvl7pPr>
            <a:lvl8pPr>
              <a:buNone/>
              <a:defRPr sz="1950" b="1">
                <a:solidFill>
                  <a:srgbClr val="FBBF24"/>
                </a:solidFill>
                <a:latin typeface="Calibri"/>
                <a:ea typeface="Calibri"/>
                <a:cs typeface="Calibri"/>
              </a:defRPr>
            </a:lvl8pPr>
            <a:lvl9pPr>
              <a:buNone/>
              <a:defRPr sz="1950" b="1">
                <a:solidFill>
                  <a:srgbClr val="FBBF24"/>
                </a:solidFill>
                <a:latin typeface="Calibri"/>
                <a:ea typeface="Calibri"/>
                <a:cs typeface="Calibri"/>
              </a:defRPr>
            </a:lvl9pPr>
          </a:lstStyle>
          <a:p xmlns:a="http://schemas.openxmlformats.org/drawingml/2006/main">
            <a:pPr>
              <a:buNone/>
              <a:defRPr sz="1950" b="1">
                <a:solidFill>
                  <a:srgbClr val="FBBF24"/>
                </a:solidFill>
                <a:latin typeface="Calibri"/>
                <a:ea typeface="Calibri"/>
                <a:cs typeface="Calibri"/>
              </a:defRPr>
            </a:pPr>
            <a:r>
              <a:rPr sz="1950" b="1">
                <a:solidFill>
                  <a:srgbClr val="FBBF24"/>
                </a:solidFill>
                <a:latin typeface="Calibri"/>
                <a:ea typeface="Calibri"/>
                <a:cs typeface="Calibri"/>
              </a:rPr>
              <a:t>Decoded shuffled frame 0</a:t>
            </a:r>
          </a:p>
        </p:txBody>
      </p:sp>
      <p:sp>
        <p:nvSpPr>
          <p:cNvPr id="6" name="source">
            <a:extLst xmlns:a="http://schemas.openxmlformats.org/drawingml/2006/main">
              <a:ext uri="{FF2B5EF4-FFF2-40B4-BE49-F238E27FC236}">
                <a16:creationId xmlns:a16="http://schemas.microsoft.com/office/drawing/2014/main" id="{22891754-C8AC-4E42-87EB-C6E3F296DBA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The full trajectory patch multiset and marker positions match. A single shuffled frame need not preserve its own histogram.</a:t>
            </a:r>
          </a:p>
        </p:txBody>
      </p:sp>
      <p:sp>
        <p:nvSpPr>
          <p:cNvPr id="7" name="body">
            <a:extLst xmlns:a="http://schemas.openxmlformats.org/drawingml/2006/main">
              <a:ext uri="{FF2B5EF4-FFF2-40B4-BE49-F238E27FC236}">
                <a16:creationId xmlns:a16="http://schemas.microsoft.com/office/drawing/2014/main" id="{174CF254-CE63-4DFD-9C27-15947566D54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48</a:t>
            </a:r>
          </a:p>
        </p:txBody>
      </p:sp>
    </p:spTree>
    <p:extLst>
      <p:ext uri="{BB962C8B-B14F-4D97-AF65-F5344CB8AC3E}">
        <p14:creationId xmlns:p14="http://schemas.microsoft.com/office/powerpoint/2010/main" val="1405881750"/>
      </p:ext>
    </p:extLst>
  </p:cSld>
</p:sld>
</file>

<file path=ppt/slides/slide4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D4D865-7DE4-43CF-B7EA-76CE1B850B9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full-trajectory token histogram</a:t>
            </a:r>
          </a:p>
        </p:txBody>
      </p:sp>
      <p:graphicFrame>
        <p:nvGraphicFramePr>
          <p:cNvPr id="2" name="Chart">
            <a:extLst xmlns:a="http://schemas.openxmlformats.org/drawingml/2006/main">
              <a:ext uri="{FF2B5EF4-FFF2-40B4-BE49-F238E27FC236}">
                <a16:creationId xmlns:a16="http://schemas.microsoft.com/office/drawing/2014/main" id="{3327AAB7-3601-4303-872D-83E6C950EB42}"/>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1014354bd9aa475d"/>
          </a:graphicData>
        </a:graphic>
      </p:graphicFrame>
      <p:sp>
        <p:nvSpPr>
          <p:cNvPr id="3" name="source">
            <a:extLst xmlns:a="http://schemas.openxmlformats.org/drawingml/2006/main">
              <a:ext uri="{FF2B5EF4-FFF2-40B4-BE49-F238E27FC236}">
                <a16:creationId xmlns:a16="http://schemas.microsoft.com/office/drawing/2014/main" id="{0D9191DA-8D49-46F9-B1C2-F89F1714EF3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Every full-trajectory bin matches exactly, not just these ten. Marker tokens are excluded from the comparison.</a:t>
            </a:r>
          </a:p>
        </p:txBody>
      </p:sp>
      <p:sp>
        <p:nvSpPr>
          <p:cNvPr id="4" name="body">
            <a:extLst xmlns:a="http://schemas.openxmlformats.org/drawingml/2006/main">
              <a:ext uri="{FF2B5EF4-FFF2-40B4-BE49-F238E27FC236}">
                <a16:creationId xmlns:a16="http://schemas.microsoft.com/office/drawing/2014/main" id="{CE7EEDBD-518F-4A2F-A948-B005BFA585C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49</a:t>
            </a:r>
          </a:p>
        </p:txBody>
      </p:sp>
    </p:spTree>
    <p:extLst>
      <p:ext uri="{BB962C8B-B14F-4D97-AF65-F5344CB8AC3E}">
        <p14:creationId xmlns:p14="http://schemas.microsoft.com/office/powerpoint/2010/main" val="1993381969"/>
      </p:ext>
    </p:extLst>
  </p:cSld>
</p:sld>
</file>

<file path=ppt/slides/slide5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F340B1A-2205-47C5-8D84-1CF9BB9C800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transformer attention and feed-forward code</a:t>
            </a:r>
          </a:p>
        </p:txBody>
      </p:sp>
      <p:sp>
        <p:nvSpPr>
          <p:cNvPr id="2" name="body">
            <a:extLst xmlns:a="http://schemas.openxmlformats.org/drawingml/2006/main">
              <a:ext uri="{FF2B5EF4-FFF2-40B4-BE49-F238E27FC236}">
                <a16:creationId xmlns:a16="http://schemas.microsoft.com/office/drawing/2014/main" id="{B391FC9D-F1C1-4CE3-97E2-DD22366422A6}"/>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transfer_v2/model.py   lines 42–48</a:t>
            </a:r>
          </a:p>
        </p:txBody>
      </p:sp>
      <p:sp>
        <p:nvSpPr>
          <p:cNvPr id="3" name="verbatim source">
            <a:extLst xmlns:a="http://schemas.openxmlformats.org/drawingml/2006/main">
              <a:ext uri="{FF2B5EF4-FFF2-40B4-BE49-F238E27FC236}">
                <a16:creationId xmlns:a16="http://schemas.microsoft.com/office/drawing/2014/main" id="{E06AC864-B9C3-4C53-BC25-225D350FDD52}"/>
              </a:ext>
            </a:extLst>
          </p:cNvPr>
          <p:cNvSpPr>
            <a:spLocks xmlns:a="http://schemas.openxmlformats.org/drawingml/2006/main" noGrp="1"/>
          </p:cNvSpPr>
          <p:nvPr/>
        </p:nvSpPr>
        <p:spPr>
          <a:xfrm xmlns:a="http://schemas.openxmlformats.org/drawingml/2006/main">
            <a:off x="590550" y="1847850"/>
            <a:ext cx="109156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13" b="0">
                <a:solidFill>
                  <a:srgbClr val="F1F5F9"/>
                </a:solidFill>
                <a:latin typeface="Courier New"/>
                <a:ea typeface="Courier New"/>
                <a:cs typeface="Courier New"/>
              </a:defRPr>
            </a:defPPr>
            <a:lvl1pPr>
              <a:buNone/>
              <a:defRPr sz="1313" b="0">
                <a:solidFill>
                  <a:srgbClr val="F1F5F9"/>
                </a:solidFill>
                <a:latin typeface="Courier New"/>
                <a:ea typeface="Courier New"/>
                <a:cs typeface="Courier New"/>
              </a:defRPr>
            </a:lvl1pPr>
            <a:lvl2pPr>
              <a:buNone/>
              <a:defRPr sz="1313" b="0">
                <a:solidFill>
                  <a:srgbClr val="F1F5F9"/>
                </a:solidFill>
                <a:latin typeface="Courier New"/>
                <a:ea typeface="Courier New"/>
                <a:cs typeface="Courier New"/>
              </a:defRPr>
            </a:lvl2pPr>
            <a:lvl3pPr>
              <a:buNone/>
              <a:defRPr sz="1313" b="0">
                <a:solidFill>
                  <a:srgbClr val="F1F5F9"/>
                </a:solidFill>
                <a:latin typeface="Courier New"/>
                <a:ea typeface="Courier New"/>
                <a:cs typeface="Courier New"/>
              </a:defRPr>
            </a:lvl3pPr>
            <a:lvl4pPr>
              <a:buNone/>
              <a:defRPr sz="1313" b="0">
                <a:solidFill>
                  <a:srgbClr val="F1F5F9"/>
                </a:solidFill>
                <a:latin typeface="Courier New"/>
                <a:ea typeface="Courier New"/>
                <a:cs typeface="Courier New"/>
              </a:defRPr>
            </a:lvl4pPr>
            <a:lvl5pPr>
              <a:buNone/>
              <a:defRPr sz="1313" b="0">
                <a:solidFill>
                  <a:srgbClr val="F1F5F9"/>
                </a:solidFill>
                <a:latin typeface="Courier New"/>
                <a:ea typeface="Courier New"/>
                <a:cs typeface="Courier New"/>
              </a:defRPr>
            </a:lvl5pPr>
            <a:lvl6pPr>
              <a:buNone/>
              <a:defRPr sz="1313" b="0">
                <a:solidFill>
                  <a:srgbClr val="F1F5F9"/>
                </a:solidFill>
                <a:latin typeface="Courier New"/>
                <a:ea typeface="Courier New"/>
                <a:cs typeface="Courier New"/>
              </a:defRPr>
            </a:lvl6pPr>
            <a:lvl7pPr>
              <a:buNone/>
              <a:defRPr sz="1313" b="0">
                <a:solidFill>
                  <a:srgbClr val="F1F5F9"/>
                </a:solidFill>
                <a:latin typeface="Courier New"/>
                <a:ea typeface="Courier New"/>
                <a:cs typeface="Courier New"/>
              </a:defRPr>
            </a:lvl7pPr>
            <a:lvl8pPr>
              <a:buNone/>
              <a:defRPr sz="1313" b="0">
                <a:solidFill>
                  <a:srgbClr val="F1F5F9"/>
                </a:solidFill>
                <a:latin typeface="Courier New"/>
                <a:ea typeface="Courier New"/>
                <a:cs typeface="Courier New"/>
              </a:defRPr>
            </a:lvl8pPr>
            <a:lvl9pPr>
              <a:buNone/>
              <a:defRPr sz="1313" b="0">
                <a:solidFill>
                  <a:srgbClr val="F1F5F9"/>
                </a:solidFill>
                <a:latin typeface="Courier New"/>
                <a:ea typeface="Courier New"/>
                <a:cs typeface="Courier New"/>
              </a:defRPr>
            </a:lvl9pPr>
          </a:lstStyle>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def forward(self, x):</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b, t, d = x.shape</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q, k, v = self.qkv(self.attention_norm(x)).reshape(b, t, 3, self.heads, d//self.heads).permute(2, 0, 3, 1, 4)</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a = F.scaled_dot_product_attention(rope(q), rope(k), v, dropout_p=0., is_causal=True)</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x = x+self.output(a.transpose(1, 2).reshape(b, t, d))</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z = self.ffn_norm(x)</a:t>
            </a:r>
          </a:p>
          <a:p xmlns:a="http://schemas.openxmlformats.org/drawingml/2006/main">
            <a:pPr>
              <a:buNone/>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return x+self.down(F.silu(self.gate(z))*self.up(z))</a:t>
            </a:r>
          </a:p>
        </p:txBody>
      </p:sp>
      <p:sp>
        <p:nvSpPr>
          <p:cNvPr id="4" name="body">
            <a:extLst xmlns:a="http://schemas.openxmlformats.org/drawingml/2006/main">
              <a:ext uri="{FF2B5EF4-FFF2-40B4-BE49-F238E27FC236}">
                <a16:creationId xmlns:a16="http://schemas.microsoft.com/office/drawing/2014/main" id="{D647BAFC-47A5-46B7-A974-8F3DE7D34586}"/>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small model uses RoPE, RMSNorm, causal attention and a SwiGLU feed-forward block. V2 and v3 use the same language architecture.</a:t>
            </a:r>
          </a:p>
        </p:txBody>
      </p:sp>
      <p:sp>
        <p:nvSpPr>
          <p:cNvPr id="5" name="source">
            <a:extLst xmlns:a="http://schemas.openxmlformats.org/drawingml/2006/main">
              <a:ext uri="{FF2B5EF4-FFF2-40B4-BE49-F238E27FC236}">
                <a16:creationId xmlns:a16="http://schemas.microsoft.com/office/drawing/2014/main" id="{76EEC45C-B46D-4A63-990B-F1E3FF9C032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9E834BB-EB1E-4503-9A5D-332C120CE05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50</a:t>
            </a:r>
          </a:p>
        </p:txBody>
      </p:sp>
    </p:spTree>
    <p:extLst>
      <p:ext uri="{BB962C8B-B14F-4D97-AF65-F5344CB8AC3E}">
        <p14:creationId xmlns:p14="http://schemas.microsoft.com/office/powerpoint/2010/main" val="981708094"/>
      </p:ext>
    </p:extLst>
  </p:cSld>
</p:sld>
</file>

<file path=ppt/slides/slide5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B36F33C-9B92-456C-A22B-3CA61F26B71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optimizers for the two stages</a:t>
            </a:r>
          </a:p>
        </p:txBody>
      </p:sp>
      <p:sp>
        <p:nvSpPr>
          <p:cNvPr id="2" name="body">
            <a:extLst xmlns:a="http://schemas.openxmlformats.org/drawingml/2006/main">
              <a:ext uri="{FF2B5EF4-FFF2-40B4-BE49-F238E27FC236}">
                <a16:creationId xmlns:a16="http://schemas.microsoft.com/office/drawing/2014/main" id="{2BBC6102-F4D4-4EE4-BDE2-37EE1955ADCB}"/>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transfer_v2/training.py   lines 76–79</a:t>
            </a:r>
          </a:p>
        </p:txBody>
      </p:sp>
      <p:sp>
        <p:nvSpPr>
          <p:cNvPr id="3" name="verbatim source">
            <a:extLst xmlns:a="http://schemas.openxmlformats.org/drawingml/2006/main">
              <a:ext uri="{FF2B5EF4-FFF2-40B4-BE49-F238E27FC236}">
                <a16:creationId xmlns:a16="http://schemas.microsoft.com/office/drawing/2014/main" id="{C0FDABAE-44D7-4B6E-9DE7-2A9FA6051080}"/>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optimizer_for(model, stage, synthetic):</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synthetic:</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torch.optim.Adam(model.parameters(), lr=stage["lr"], weight_decay=stage["weight_decay"])</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torch.optim.AdamW(model.parameters(), lr=stage["lr"], weight_decay=stage["weight_decay"])</a:t>
            </a:r>
          </a:p>
        </p:txBody>
      </p:sp>
      <p:sp>
        <p:nvSpPr>
          <p:cNvPr id="4" name="body">
            <a:extLst xmlns:a="http://schemas.openxmlformats.org/drawingml/2006/main">
              <a:ext uri="{FF2B5EF4-FFF2-40B4-BE49-F238E27FC236}">
                <a16:creationId xmlns:a16="http://schemas.microsoft.com/office/drawing/2014/main" id="{85524764-437B-4353-BF64-FDFA067C76D2}"/>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Synthetic updates use Adam. Language updates create a fresh AdamW optimizer. Equal language schedules and batch draws isolate initialization under the declared controls.</a:t>
            </a:r>
          </a:p>
        </p:txBody>
      </p:sp>
      <p:sp>
        <p:nvSpPr>
          <p:cNvPr id="5" name="source">
            <a:extLst xmlns:a="http://schemas.openxmlformats.org/drawingml/2006/main">
              <a:ext uri="{FF2B5EF4-FFF2-40B4-BE49-F238E27FC236}">
                <a16:creationId xmlns:a16="http://schemas.microsoft.com/office/drawing/2014/main" id="{345C77F3-7D19-4448-91B8-6DFB627A50D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DAF9D75D-A36E-42EF-A9F6-3FEED0AE1F5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51</a:t>
            </a:r>
          </a:p>
        </p:txBody>
      </p:sp>
    </p:spTree>
    <p:extLst>
      <p:ext uri="{BB962C8B-B14F-4D97-AF65-F5344CB8AC3E}">
        <p14:creationId xmlns:p14="http://schemas.microsoft.com/office/powerpoint/2010/main" val="1465623093"/>
      </p:ext>
    </p:extLst>
  </p:cSld>
</p:sld>
</file>

<file path=ppt/slides/slide5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BFC9FD-D4EF-49C1-A66F-4A82F662BF4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Actual gradient accumulation in the runner</a:t>
            </a:r>
          </a:p>
        </p:txBody>
      </p:sp>
      <p:sp>
        <p:nvSpPr>
          <p:cNvPr id="2" name="body">
            <a:extLst xmlns:a="http://schemas.openxmlformats.org/drawingml/2006/main">
              <a:ext uri="{FF2B5EF4-FFF2-40B4-BE49-F238E27FC236}">
                <a16:creationId xmlns:a16="http://schemas.microsoft.com/office/drawing/2014/main" id="{DE4D13E0-8226-46D3-9F7B-35570FAFE86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transfer_v2/training.py   lines 86–98</a:t>
            </a:r>
          </a:p>
        </p:txBody>
      </p:sp>
      <p:sp>
        <p:nvSpPr>
          <p:cNvPr id="3" name="verbatim source">
            <a:extLst xmlns:a="http://schemas.openxmlformats.org/drawingml/2006/main">
              <a:ext uri="{FF2B5EF4-FFF2-40B4-BE49-F238E27FC236}">
                <a16:creationId xmlns:a16="http://schemas.microsoft.com/office/drawing/2014/main" id="{D3635DDA-4992-4C4D-82B4-385021842EEB}"/>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88" b="0">
                <a:solidFill>
                  <a:srgbClr val="F1F5F9"/>
                </a:solidFill>
                <a:latin typeface="Courier New"/>
                <a:ea typeface="Courier New"/>
                <a:cs typeface="Courier New"/>
              </a:defRPr>
            </a:defPPr>
            <a:lvl1pPr>
              <a:buNone/>
              <a:defRPr sz="1388" b="0">
                <a:solidFill>
                  <a:srgbClr val="F1F5F9"/>
                </a:solidFill>
                <a:latin typeface="Courier New"/>
                <a:ea typeface="Courier New"/>
                <a:cs typeface="Courier New"/>
              </a:defRPr>
            </a:lvl1pPr>
            <a:lvl2pPr>
              <a:buNone/>
              <a:defRPr sz="1388" b="0">
                <a:solidFill>
                  <a:srgbClr val="F1F5F9"/>
                </a:solidFill>
                <a:latin typeface="Courier New"/>
                <a:ea typeface="Courier New"/>
                <a:cs typeface="Courier New"/>
              </a:defRPr>
            </a:lvl2pPr>
            <a:lvl3pPr>
              <a:buNone/>
              <a:defRPr sz="1388" b="0">
                <a:solidFill>
                  <a:srgbClr val="F1F5F9"/>
                </a:solidFill>
                <a:latin typeface="Courier New"/>
                <a:ea typeface="Courier New"/>
                <a:cs typeface="Courier New"/>
              </a:defRPr>
            </a:lvl3pPr>
            <a:lvl4pPr>
              <a:buNone/>
              <a:defRPr sz="1388" b="0">
                <a:solidFill>
                  <a:srgbClr val="F1F5F9"/>
                </a:solidFill>
                <a:latin typeface="Courier New"/>
                <a:ea typeface="Courier New"/>
                <a:cs typeface="Courier New"/>
              </a:defRPr>
            </a:lvl4pPr>
            <a:lvl5pPr>
              <a:buNone/>
              <a:defRPr sz="1388" b="0">
                <a:solidFill>
                  <a:srgbClr val="F1F5F9"/>
                </a:solidFill>
                <a:latin typeface="Courier New"/>
                <a:ea typeface="Courier New"/>
                <a:cs typeface="Courier New"/>
              </a:defRPr>
            </a:lvl5pPr>
            <a:lvl6pPr>
              <a:buNone/>
              <a:defRPr sz="1388" b="0">
                <a:solidFill>
                  <a:srgbClr val="F1F5F9"/>
                </a:solidFill>
                <a:latin typeface="Courier New"/>
                <a:ea typeface="Courier New"/>
                <a:cs typeface="Courier New"/>
              </a:defRPr>
            </a:lvl6pPr>
            <a:lvl7pPr>
              <a:buNone/>
              <a:defRPr sz="1388" b="0">
                <a:solidFill>
                  <a:srgbClr val="F1F5F9"/>
                </a:solidFill>
                <a:latin typeface="Courier New"/>
                <a:ea typeface="Courier New"/>
                <a:cs typeface="Courier New"/>
              </a:defRPr>
            </a:lvl7pPr>
            <a:lvl8pPr>
              <a:buNone/>
              <a:defRPr sz="1388" b="0">
                <a:solidFill>
                  <a:srgbClr val="F1F5F9"/>
                </a:solidFill>
                <a:latin typeface="Courier New"/>
                <a:ea typeface="Courier New"/>
                <a:cs typeface="Courier New"/>
              </a:defRPr>
            </a:lvl8pPr>
            <a:lvl9pPr>
              <a:buNone/>
              <a:defRPr sz="1388" b="0">
                <a:solidFill>
                  <a:srgbClr val="F1F5F9"/>
                </a:solidFill>
                <a:latin typeface="Courier New"/>
                <a:ea typeface="Courier New"/>
                <a:cs typeface="Courier New"/>
              </a:defRPr>
            </a:lvl9pPr>
          </a:lstStyle>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optimizer.zero_grad(set_to_none=True)</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loss_sum = 0.</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prediction_targets = 0</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for _ in range(c["accumulate"]):</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x, y, indices = batch(array, c, rng, device, synthetic)</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order_hash.update(indices.astype("&lt;i8").tobytes())</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logits = model(x)</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 = F.cross_entropy(logits.reshape(-1, model.vocab), y.reshape(-1), ignore_index=-100)</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if not torch.isfinite(loss):</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raise FloatingPointError("Non-finite loss")</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(loss/c["accumulate"]).backward()</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loss_sum += float(loss.detach())/c["accumulate"]</a:t>
            </a:r>
          </a:p>
          <a:p xmlns:a="http://schemas.openxmlformats.org/drawingml/2006/main">
            <a:pPr>
              <a:buNone/>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prediction_targets += int((y != -100).sum())</a:t>
            </a:r>
          </a:p>
        </p:txBody>
      </p:sp>
      <p:sp>
        <p:nvSpPr>
          <p:cNvPr id="4" name="body">
            <a:extLst xmlns:a="http://schemas.openxmlformats.org/drawingml/2006/main">
              <a:ext uri="{FF2B5EF4-FFF2-40B4-BE49-F238E27FC236}">
                <a16:creationId xmlns:a16="http://schemas.microsoft.com/office/drawing/2014/main" id="{2690F73F-D95E-4272-BC7E-6341E3D04A21}"/>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Two microbatches of size two and context 1024 produce 4096 input tokens per update. Masked synthetic prediction targets differ from this input-token count.</a:t>
            </a:r>
          </a:p>
        </p:txBody>
      </p:sp>
      <p:sp>
        <p:nvSpPr>
          <p:cNvPr id="5" name="source">
            <a:extLst xmlns:a="http://schemas.openxmlformats.org/drawingml/2006/main">
              <a:ext uri="{FF2B5EF4-FFF2-40B4-BE49-F238E27FC236}">
                <a16:creationId xmlns:a16="http://schemas.microsoft.com/office/drawing/2014/main" id="{4DF71033-DB16-4811-ACB2-733EF8436CB8}"/>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13B43C5-676A-44C6-B5E3-76FA4A2E61B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52</a:t>
            </a:r>
          </a:p>
        </p:txBody>
      </p:sp>
    </p:spTree>
    <p:extLst>
      <p:ext uri="{BB962C8B-B14F-4D97-AF65-F5344CB8AC3E}">
        <p14:creationId xmlns:p14="http://schemas.microsoft.com/office/powerpoint/2010/main" val="543533723"/>
      </p:ext>
    </p:extLst>
  </p:cSld>
</p:sld>
</file>

<file path=ppt/slides/slide5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767FD18-22C9-4334-B76D-8EEC2EFEB8E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Historical notebook: preserved pilot execution</a:t>
            </a:r>
          </a:p>
        </p:txBody>
      </p:sp>
      <p:sp>
        <p:nvSpPr>
          <p:cNvPr id="2" name="body">
            <a:extLst xmlns:a="http://schemas.openxmlformats.org/drawingml/2006/main">
              <a:ext uri="{FF2B5EF4-FFF2-40B4-BE49-F238E27FC236}">
                <a16:creationId xmlns:a16="http://schemas.microsoft.com/office/drawing/2014/main" id="{A59C183D-3C27-409A-B276-C27B130945E3}"/>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kaggle_gnn_nca_pilot.ipynb   cell 25</a:t>
            </a:r>
          </a:p>
        </p:txBody>
      </p:sp>
      <p:sp>
        <p:nvSpPr>
          <p:cNvPr id="3" name="actual notebook cell">
            <a:extLst xmlns:a="http://schemas.openxmlformats.org/drawingml/2006/main">
              <a:ext uri="{FF2B5EF4-FFF2-40B4-BE49-F238E27FC236}">
                <a16:creationId xmlns:a16="http://schemas.microsoft.com/office/drawing/2014/main" id="{101677BB-FDBE-4A0A-BB32-EE1154991D51}"/>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buNone/>
              <a:defRPr sz="1425" b="0">
                <a:solidFill>
                  <a:srgbClr val="F1F5F9"/>
                </a:solidFill>
                <a:latin typeface="Courier New"/>
                <a:ea typeface="Courier New"/>
                <a:cs typeface="Courier New"/>
              </a:defRPr>
            </a:lvl1pPr>
            <a:lvl2pPr>
              <a:buNone/>
              <a:defRPr sz="1425" b="0">
                <a:solidFill>
                  <a:srgbClr val="F1F5F9"/>
                </a:solidFill>
                <a:latin typeface="Courier New"/>
                <a:ea typeface="Courier New"/>
                <a:cs typeface="Courier New"/>
              </a:defRPr>
            </a:lvl2pPr>
            <a:lvl3pPr>
              <a:buNone/>
              <a:defRPr sz="1425" b="0">
                <a:solidFill>
                  <a:srgbClr val="F1F5F9"/>
                </a:solidFill>
                <a:latin typeface="Courier New"/>
                <a:ea typeface="Courier New"/>
                <a:cs typeface="Courier New"/>
              </a:defRPr>
            </a:lvl3pPr>
            <a:lvl4pPr>
              <a:buNone/>
              <a:defRPr sz="1425" b="0">
                <a:solidFill>
                  <a:srgbClr val="F1F5F9"/>
                </a:solidFill>
                <a:latin typeface="Courier New"/>
                <a:ea typeface="Courier New"/>
                <a:cs typeface="Courier New"/>
              </a:defRPr>
            </a:lvl4pPr>
            <a:lvl5pPr>
              <a:buNone/>
              <a:defRPr sz="1425" b="0">
                <a:solidFill>
                  <a:srgbClr val="F1F5F9"/>
                </a:solidFill>
                <a:latin typeface="Courier New"/>
                <a:ea typeface="Courier New"/>
                <a:cs typeface="Courier New"/>
              </a:defRPr>
            </a:lvl5pPr>
            <a:lvl6pPr>
              <a:buNone/>
              <a:defRPr sz="1425" b="0">
                <a:solidFill>
                  <a:srgbClr val="F1F5F9"/>
                </a:solidFill>
                <a:latin typeface="Courier New"/>
                <a:ea typeface="Courier New"/>
                <a:cs typeface="Courier New"/>
              </a:defRPr>
            </a:lvl6pPr>
            <a:lvl7pPr>
              <a:buNone/>
              <a:defRPr sz="1425" b="0">
                <a:solidFill>
                  <a:srgbClr val="F1F5F9"/>
                </a:solidFill>
                <a:latin typeface="Courier New"/>
                <a:ea typeface="Courier New"/>
                <a:cs typeface="Courier New"/>
              </a:defRPr>
            </a:lvl7pPr>
            <a:lvl8pPr>
              <a:buNone/>
              <a:defRPr sz="1425" b="0">
                <a:solidFill>
                  <a:srgbClr val="F1F5F9"/>
                </a:solidFill>
                <a:latin typeface="Courier New"/>
                <a:ea typeface="Courier New"/>
                <a:cs typeface="Courier New"/>
              </a:defRPr>
            </a:lvl8pPr>
            <a:lvl9pPr>
              <a:buNone/>
              <a:defRPr sz="1425" b="0">
                <a:solidFill>
                  <a:srgbClr val="F1F5F9"/>
                </a:solidFill>
                <a:latin typeface="Courier New"/>
                <a:ea typeface="Courier New"/>
                <a:cs typeface="Courier New"/>
              </a:defRPr>
            </a:lvl9pPr>
          </a:lstStyle>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PILOT_DATA = f'data/pilot_{RUN_ID}'</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PILOT_OUT = f'runs/pilot_{RUN_ID}'</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run('experiment.py', 'all', '--config', 'configs/pilot.json',</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PILOT_DATA, '--out', PILOT_OUT,</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'--text', str(Path(SMOKE_DATA) / 'input.txt'), '--device', 'cuda')</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run('verify.py', '--data', PILOT_DATA, '--out', PILOT_OUT, '--device', 'cuda')</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run('plot_results.py', '--out', PILOT_OUT)</a:t>
            </a:r>
          </a:p>
        </p:txBody>
      </p:sp>
      <p:sp>
        <p:nvSpPr>
          <p:cNvPr id="4" name="body">
            <a:extLst xmlns:a="http://schemas.openxmlformats.org/drawingml/2006/main">
              <a:ext uri="{FF2B5EF4-FFF2-40B4-BE49-F238E27FC236}">
                <a16:creationId xmlns:a16="http://schemas.microsoft.com/office/drawing/2014/main" id="{AA42AF00-C35C-4A27-93A8-2FE85FA9E901}"/>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This cell invokes the original matched-total-budget experiment. Its notebook and returned evidence remain available for comparison.</a:t>
            </a:r>
          </a:p>
        </p:txBody>
      </p:sp>
      <p:sp>
        <p:nvSpPr>
          <p:cNvPr id="5" name="source">
            <a:extLst xmlns:a="http://schemas.openxmlformats.org/drawingml/2006/main">
              <a:ext uri="{FF2B5EF4-FFF2-40B4-BE49-F238E27FC236}">
                <a16:creationId xmlns:a16="http://schemas.microsoft.com/office/drawing/2014/main" id="{114EFE4A-9FE1-4F21-84CC-D9167F6076D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6952E53B-30DA-4DDC-9A5E-8B08CDE6DE1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53</a:t>
            </a:r>
          </a:p>
        </p:txBody>
      </p:sp>
    </p:spTree>
    <p:extLst>
      <p:ext uri="{BB962C8B-B14F-4D97-AF65-F5344CB8AC3E}">
        <p14:creationId xmlns:p14="http://schemas.microsoft.com/office/powerpoint/2010/main" val="86469348"/>
      </p:ext>
    </p:extLst>
  </p:cSld>
</p:sld>
</file>

<file path=ppt/slides/slide5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73443AC-E5A0-4133-8C3C-5D9DD3E19EC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V2 notebook: actual development execution</a:t>
            </a:r>
          </a:p>
        </p:txBody>
      </p:sp>
      <p:sp>
        <p:nvSpPr>
          <p:cNvPr id="2" name="body">
            <a:extLst xmlns:a="http://schemas.openxmlformats.org/drawingml/2006/main">
              <a:ext uri="{FF2B5EF4-FFF2-40B4-BE49-F238E27FC236}">
                <a16:creationId xmlns:a16="http://schemas.microsoft.com/office/drawing/2014/main" id="{2EB1AE55-5F57-4805-BEF1-24639F4C1A9A}"/>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kaggle_nca_transfer_v2.ipynb   cell 29</a:t>
            </a:r>
          </a:p>
        </p:txBody>
      </p:sp>
      <p:sp>
        <p:nvSpPr>
          <p:cNvPr id="3" name="actual notebook cell">
            <a:extLst xmlns:a="http://schemas.openxmlformats.org/drawingml/2006/main">
              <a:ext uri="{FF2B5EF4-FFF2-40B4-BE49-F238E27FC236}">
                <a16:creationId xmlns:a16="http://schemas.microsoft.com/office/drawing/2014/main" id="{7DFAC839-1617-4EB4-BAE9-80550950ABE8}"/>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buNone/>
              <a:defRPr sz="1425" b="0">
                <a:solidFill>
                  <a:srgbClr val="F1F5F9"/>
                </a:solidFill>
                <a:latin typeface="Courier New"/>
                <a:ea typeface="Courier New"/>
                <a:cs typeface="Courier New"/>
              </a:defRPr>
            </a:lvl1pPr>
            <a:lvl2pPr>
              <a:buNone/>
              <a:defRPr sz="1425" b="0">
                <a:solidFill>
                  <a:srgbClr val="F1F5F9"/>
                </a:solidFill>
                <a:latin typeface="Courier New"/>
                <a:ea typeface="Courier New"/>
                <a:cs typeface="Courier New"/>
              </a:defRPr>
            </a:lvl2pPr>
            <a:lvl3pPr>
              <a:buNone/>
              <a:defRPr sz="1425" b="0">
                <a:solidFill>
                  <a:srgbClr val="F1F5F9"/>
                </a:solidFill>
                <a:latin typeface="Courier New"/>
                <a:ea typeface="Courier New"/>
                <a:cs typeface="Courier New"/>
              </a:defRPr>
            </a:lvl3pPr>
            <a:lvl4pPr>
              <a:buNone/>
              <a:defRPr sz="1425" b="0">
                <a:solidFill>
                  <a:srgbClr val="F1F5F9"/>
                </a:solidFill>
                <a:latin typeface="Courier New"/>
                <a:ea typeface="Courier New"/>
                <a:cs typeface="Courier New"/>
              </a:defRPr>
            </a:lvl4pPr>
            <a:lvl5pPr>
              <a:buNone/>
              <a:defRPr sz="1425" b="0">
                <a:solidFill>
                  <a:srgbClr val="F1F5F9"/>
                </a:solidFill>
                <a:latin typeface="Courier New"/>
                <a:ea typeface="Courier New"/>
                <a:cs typeface="Courier New"/>
              </a:defRPr>
            </a:lvl5pPr>
            <a:lvl6pPr>
              <a:buNone/>
              <a:defRPr sz="1425" b="0">
                <a:solidFill>
                  <a:srgbClr val="F1F5F9"/>
                </a:solidFill>
                <a:latin typeface="Courier New"/>
                <a:ea typeface="Courier New"/>
                <a:cs typeface="Courier New"/>
              </a:defRPr>
            </a:lvl6pPr>
            <a:lvl7pPr>
              <a:buNone/>
              <a:defRPr sz="1425" b="0">
                <a:solidFill>
                  <a:srgbClr val="F1F5F9"/>
                </a:solidFill>
                <a:latin typeface="Courier New"/>
                <a:ea typeface="Courier New"/>
                <a:cs typeface="Courier New"/>
              </a:defRPr>
            </a:lvl7pPr>
            <a:lvl8pPr>
              <a:buNone/>
              <a:defRPr sz="1425" b="0">
                <a:solidFill>
                  <a:srgbClr val="F1F5F9"/>
                </a:solidFill>
                <a:latin typeface="Courier New"/>
                <a:ea typeface="Courier New"/>
                <a:cs typeface="Courier New"/>
              </a:defRPr>
            </a:lvl8pPr>
            <a:lvl9pPr>
              <a:buNone/>
              <a:defRPr sz="1425" b="0">
                <a:solidFill>
                  <a:srgbClr val="F1F5F9"/>
                </a:solidFill>
                <a:latin typeface="Courier New"/>
                <a:ea typeface="Courier New"/>
                <a:cs typeface="Courier New"/>
              </a:defRPr>
            </a:lvl9pPr>
          </a:lstStyle>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run('-m', 'transfer_v2.run', 'all', '--config', 'configs/transfer_v2.json',</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'data/development', '--out', 'runs/development', '--device', 'cuda')</a:t>
            </a:r>
          </a:p>
        </p:txBody>
      </p:sp>
      <p:sp>
        <p:nvSpPr>
          <p:cNvPr id="4" name="body">
            <a:extLst xmlns:a="http://schemas.openxmlformats.org/drawingml/2006/main">
              <a:ext uri="{FF2B5EF4-FFF2-40B4-BE49-F238E27FC236}">
                <a16:creationId xmlns:a16="http://schemas.microsoft.com/office/drawing/2014/main" id="{9AB2E26E-F087-4A61-AF31-923AAA431635}"/>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self-contained notebook embeds 20 source/configuration/test files. This complete cell launches the real development run after the disposable fixture.</a:t>
            </a:r>
          </a:p>
        </p:txBody>
      </p:sp>
      <p:sp>
        <p:nvSpPr>
          <p:cNvPr id="5" name="source">
            <a:extLst xmlns:a="http://schemas.openxmlformats.org/drawingml/2006/main">
              <a:ext uri="{FF2B5EF4-FFF2-40B4-BE49-F238E27FC236}">
                <a16:creationId xmlns:a16="http://schemas.microsoft.com/office/drawing/2014/main" id="{869B5C5C-511C-46D6-8B09-9223517B6DE6}"/>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333915FB-5BFA-4D26-9EEC-954AB674F376}"/>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54</a:t>
            </a:r>
          </a:p>
        </p:txBody>
      </p:sp>
    </p:spTree>
    <p:extLst>
      <p:ext uri="{BB962C8B-B14F-4D97-AF65-F5344CB8AC3E}">
        <p14:creationId xmlns:p14="http://schemas.microsoft.com/office/powerpoint/2010/main" val="1400005355"/>
      </p:ext>
    </p:extLst>
  </p:cSld>
</p:sld>
</file>

<file path=ppt/slides/slide5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AAFE62F-7FCE-49D9-B85A-FDF588EA6121}"/>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V2 notebook: actual result packaging</a:t>
            </a:r>
          </a:p>
        </p:txBody>
      </p:sp>
      <p:sp>
        <p:nvSpPr>
          <p:cNvPr id="2" name="body">
            <a:extLst xmlns:a="http://schemas.openxmlformats.org/drawingml/2006/main">
              <a:ext uri="{FF2B5EF4-FFF2-40B4-BE49-F238E27FC236}">
                <a16:creationId xmlns:a16="http://schemas.microsoft.com/office/drawing/2014/main" id="{72F5053F-212A-4988-B1B8-BB16C544C6EE}"/>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kaggle_nca_transfer_v2.ipynb   cell 33</a:t>
            </a:r>
          </a:p>
        </p:txBody>
      </p:sp>
      <p:sp>
        <p:nvSpPr>
          <p:cNvPr id="3" name="actual notebook cell">
            <a:extLst xmlns:a="http://schemas.openxmlformats.org/drawingml/2006/main">
              <a:ext uri="{FF2B5EF4-FFF2-40B4-BE49-F238E27FC236}">
                <a16:creationId xmlns:a16="http://schemas.microsoft.com/office/drawing/2014/main" id="{29B6F90A-2F22-4CC5-89B8-F5FA8B0D2F12}"/>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buNone/>
              <a:defRPr sz="1425" b="0">
                <a:solidFill>
                  <a:srgbClr val="F1F5F9"/>
                </a:solidFill>
                <a:latin typeface="Courier New"/>
                <a:ea typeface="Courier New"/>
                <a:cs typeface="Courier New"/>
              </a:defRPr>
            </a:lvl1pPr>
            <a:lvl2pPr>
              <a:buNone/>
              <a:defRPr sz="1425" b="0">
                <a:solidFill>
                  <a:srgbClr val="F1F5F9"/>
                </a:solidFill>
                <a:latin typeface="Courier New"/>
                <a:ea typeface="Courier New"/>
                <a:cs typeface="Courier New"/>
              </a:defRPr>
            </a:lvl2pPr>
            <a:lvl3pPr>
              <a:buNone/>
              <a:defRPr sz="1425" b="0">
                <a:solidFill>
                  <a:srgbClr val="F1F5F9"/>
                </a:solidFill>
                <a:latin typeface="Courier New"/>
                <a:ea typeface="Courier New"/>
                <a:cs typeface="Courier New"/>
              </a:defRPr>
            </a:lvl3pPr>
            <a:lvl4pPr>
              <a:buNone/>
              <a:defRPr sz="1425" b="0">
                <a:solidFill>
                  <a:srgbClr val="F1F5F9"/>
                </a:solidFill>
                <a:latin typeface="Courier New"/>
                <a:ea typeface="Courier New"/>
                <a:cs typeface="Courier New"/>
              </a:defRPr>
            </a:lvl4pPr>
            <a:lvl5pPr>
              <a:buNone/>
              <a:defRPr sz="1425" b="0">
                <a:solidFill>
                  <a:srgbClr val="F1F5F9"/>
                </a:solidFill>
                <a:latin typeface="Courier New"/>
                <a:ea typeface="Courier New"/>
                <a:cs typeface="Courier New"/>
              </a:defRPr>
            </a:lvl5pPr>
            <a:lvl6pPr>
              <a:buNone/>
              <a:defRPr sz="1425" b="0">
                <a:solidFill>
                  <a:srgbClr val="F1F5F9"/>
                </a:solidFill>
                <a:latin typeface="Courier New"/>
                <a:ea typeface="Courier New"/>
                <a:cs typeface="Courier New"/>
              </a:defRPr>
            </a:lvl6pPr>
            <a:lvl7pPr>
              <a:buNone/>
              <a:defRPr sz="1425" b="0">
                <a:solidFill>
                  <a:srgbClr val="F1F5F9"/>
                </a:solidFill>
                <a:latin typeface="Courier New"/>
                <a:ea typeface="Courier New"/>
                <a:cs typeface="Courier New"/>
              </a:defRPr>
            </a:lvl7pPr>
            <a:lvl8pPr>
              <a:buNone/>
              <a:defRPr sz="1425" b="0">
                <a:solidFill>
                  <a:srgbClr val="F1F5F9"/>
                </a:solidFill>
                <a:latin typeface="Courier New"/>
                <a:ea typeface="Courier New"/>
                <a:cs typeface="Courier New"/>
              </a:defRPr>
            </a:lvl8pPr>
            <a:lvl9pPr>
              <a:buNone/>
              <a:defRPr sz="1425" b="0">
                <a:solidFill>
                  <a:srgbClr val="F1F5F9"/>
                </a:solidFill>
                <a:latin typeface="Courier New"/>
                <a:ea typeface="Courier New"/>
                <a:cs typeface="Courier New"/>
              </a:defRPr>
            </a:lvl9pPr>
          </a:lstStyle>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import zipfile</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from IPython.display import FileLink</a:t>
            </a:r>
          </a:p>
          <a:p xmlns:a="http://schemas.openxmlformats.org/drawingml/2006/main">
            <a:r>
              <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archive = Path('/kaggle/working') / f'nca_transfer_v2_results_{RUN_ID}.zip'</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with zipfile.ZipFile(archive, 'w', compression=zipfile.ZIP_DEFLATED, compresslevel=3) as z:</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for path in ROOT.rglob('*'):</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if path.is_file() and not {'__pycache__', 'plot_cache'}.intersection(path.relative_to(ROOT).parts):</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z.write(path, path.relative_to(ROOT))</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print('WORKFLOW FINISHED:', status['state'])</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print('Download:', archive, f'({archive.stat().st_size / 1e6:.1f} MB)')</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display(FileLink(str(archive)))</a:t>
            </a:r>
          </a:p>
        </p:txBody>
      </p:sp>
      <p:sp>
        <p:nvSpPr>
          <p:cNvPr id="4" name="body">
            <a:extLst xmlns:a="http://schemas.openxmlformats.org/drawingml/2006/main">
              <a:ext uri="{FF2B5EF4-FFF2-40B4-BE49-F238E27FC236}">
                <a16:creationId xmlns:a16="http://schemas.microsoft.com/office/drawing/2014/main" id="{0C7795C4-119E-406D-85B2-67C2A472D9AF}"/>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This cell packages data identities, checkpoints, metrics, source and verification for independent review. The source notebook has no stored execution outputs.</a:t>
            </a:r>
          </a:p>
        </p:txBody>
      </p:sp>
      <p:sp>
        <p:nvSpPr>
          <p:cNvPr id="5" name="source">
            <a:extLst xmlns:a="http://schemas.openxmlformats.org/drawingml/2006/main">
              <a:ext uri="{FF2B5EF4-FFF2-40B4-BE49-F238E27FC236}">
                <a16:creationId xmlns:a16="http://schemas.microsoft.com/office/drawing/2014/main" id="{6348D6FC-3944-4A4A-8CE7-38DC87306F1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04540ED4-112E-4E60-9A8E-86DFE826788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55</a:t>
            </a:r>
          </a:p>
        </p:txBody>
      </p:sp>
    </p:spTree>
    <p:extLst>
      <p:ext uri="{BB962C8B-B14F-4D97-AF65-F5344CB8AC3E}">
        <p14:creationId xmlns:p14="http://schemas.microsoft.com/office/powerpoint/2010/main" val="1458465536"/>
      </p:ext>
    </p:extLst>
  </p:cSld>
</p:sld>
</file>

<file path=ppt/slides/slide5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FBEC85-9F1E-4AA4-9401-F14CA7F9B6D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V2 training configuration</a:t>
            </a:r>
          </a:p>
        </p:txBody>
      </p:sp>
      <p:graphicFrame>
        <p:nvGraphicFramePr>
          <p:cNvPr id="2" name="">
            <a:extLst xmlns:a="http://schemas.openxmlformats.org/drawingml/2006/main">
              <a:ext uri="{FF2B5EF4-FFF2-40B4-BE49-F238E27FC236}">
                <a16:creationId xmlns:a16="http://schemas.microsoft.com/office/drawing/2014/main" id="{DEF0B365-D074-477F-B7EB-F3F4736A8369}"/>
              </a:ext>
            </a:extLst>
          </p:cNvPr>
          <p:cNvGraphicFramePr/>
          <p:nvPr/>
        </p:nvGraphicFramePr>
        <p:xfrm>
          <a:off xmlns:a="http://schemas.openxmlformats.org/drawingml/2006/main" x="590550" y="1457325"/>
          <a:ext xmlns:a="http://schemas.openxmlformats.org/drawingml/2006/main" cx="10953750" cy="4095750"/>
        </p:xfrm>
        <a:graphic xmlns:a="http://schemas.openxmlformats.org/drawingml/2006/main">
          <a:graphicData uri="http://schemas.openxmlformats.org/drawingml/2006/table">
            <a:tbl>
              <a:tblPr/>
              <a:tblGrid>
                <a:gridCol w="3429000"/>
                <a:gridCol w="3762375"/>
                <a:gridCol w="3762375"/>
              </a:tblGrid>
              <a:tr h="585107">
                <a:tc>
                  <a:txBody>
                    <a:bodyPr wrap="square" lIns="95250" tIns="95250" rIns="95250" bIns="95250"/>
                    <a:lstStyle/>
                    <a:p>
                      <a:r>
                        <a:rPr sz="1650" b="1">
                          <a:solidFill>
                            <a:srgbClr val="F1F5F9"/>
                          </a:solidFill>
                          <a:latin typeface="Calibri"/>
                          <a:ea typeface="Calibri"/>
                          <a:cs typeface="Calibri"/>
                        </a:rPr>
                        <a:t>Control</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Synthetic stage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Language stage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85107">
                <a:tc>
                  <a:txBody>
                    <a:bodyPr wrap="square" lIns="95250" tIns="95250" rIns="95250" bIns="95250"/>
                    <a:lstStyle/>
                    <a:p>
                      <a:r>
                        <a:rPr sz="1650" b="0">
                          <a:solidFill>
                            <a:srgbClr val="F1F5F9"/>
                          </a:solidFill>
                          <a:latin typeface="Calibri"/>
                          <a:ea typeface="Calibri"/>
                          <a:cs typeface="Calibri"/>
                        </a:rPr>
                        <a:t>Updates / input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1000 / 4.096M</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2000 / 8.192M</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Optimizer / peak learning rate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Adam / 0.0001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AdamW / 0.0005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650" b="0">
                          <a:solidFill>
                            <a:srgbClr val="F1F5F9"/>
                          </a:solidFill>
                          <a:latin typeface="Calibri"/>
                          <a:ea typeface="Calibri"/>
                          <a:cs typeface="Calibri"/>
                        </a:rPr>
                        <a:t>Warmup fraction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0.1</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Weight decay / clip</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 / none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0.0001 / 1.0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650" b="0">
                          <a:solidFill>
                            <a:srgbClr val="F1F5F9"/>
                          </a:solidFill>
                          <a:latin typeface="Calibri"/>
                          <a:ea typeface="Calibri"/>
                          <a:cs typeface="Calibri"/>
                        </a:rPr>
                        <a:t>Evaluation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32 held-out rules every 100 steps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32,768 validation tokens every 100 steps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Initialization at language boundary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Selected synthetic backbone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Common new tied embedding/head and optimizer</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B859BFD0-E03E-49C6-B10E-C5B2CFAA47B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56</a:t>
            </a:r>
          </a:p>
        </p:txBody>
      </p:sp>
    </p:spTree>
    <p:extLst>
      <p:ext uri="{BB962C8B-B14F-4D97-AF65-F5344CB8AC3E}">
        <p14:creationId xmlns:p14="http://schemas.microsoft.com/office/powerpoint/2010/main" val="2043786231"/>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B352C5-F203-4600-9815-17E19383D207}"/>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Synthetic prediction passed the declared gate</a:t>
            </a:r>
            <a:endParaRPr sz="3000"/>
          </a:p>
        </p:txBody>
      </p:sp>
      <p:sp>
        <p:nvSpPr>
          <p:cNvPr id="4" name="Chart backing">
            <a:extLst xmlns:a="http://schemas.openxmlformats.org/drawingml/2006/main">
              <a:ext uri="{FF2B5EF4-FFF2-40B4-BE49-F238E27FC236}">
                <a16:creationId xmlns:a16="http://schemas.microsoft.com/office/drawing/2014/main" id="{61D8DFEB-47BA-40BF-9545-372584594EB9}"/>
              </a:ext>
            </a:extLst>
          </p:cNvPr>
          <p:cNvSpPr>
            <a:spLocks xmlns:a="http://schemas.openxmlformats.org/drawingml/2006/main" noGrp="1"/>
          </p:cNvSpPr>
          <p:nvPr/>
        </p:nvSpPr>
        <p:spPr>
          <a:xfrm xmlns:a="http://schemas.openxmlformats.org/drawingml/2006/main">
            <a:off x="537210" y="1234440"/>
            <a:ext cx="11087100" cy="34747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5" name="Image 0">
            <a:extLst xmlns:a="http://schemas.openxmlformats.org/drawingml/2006/main">
              <a:ext uri="{FF2B5EF4-FFF2-40B4-BE49-F238E27FC236}">
                <a16:creationId xmlns:a16="http://schemas.microsoft.com/office/drawing/2014/main" id="{9505F8FA-091E-4418-BFF9-5A752E5CFE06}"/>
              </a:ext>
            </a:extLst>
          </p:cNvPr>
          <p:cNvPicPr>
            <a:picLocks xmlns:a="http://schemas.openxmlformats.org/drawingml/2006/main" noChangeAspect="1"/>
          </p:cNvPicPr>
          <p:nvPr/>
        </p:nvPicPr>
        <p:blipFill>
          <a:blip xmlns:r="http://schemas.openxmlformats.org/officeDocument/2006/relationships" xmlns:a="http://schemas.openxmlformats.org/drawingml/2006/main" r:embed="Ra8a1d4f0a2e34447"/>
          <a:stretch xmlns:a="http://schemas.openxmlformats.org/drawingml/2006/main">
            <a:fillRect l="0" t="0" r="0" b="0"/>
          </a:stretch>
        </p:blipFill>
        <p:spPr>
          <a:xfrm xmlns:a="http://schemas.openxmlformats.org/drawingml/2006/main">
            <a:off x="582930" y="1280160"/>
            <a:ext cx="10995660" cy="3383280"/>
          </a:xfrm>
          <a:prstGeom xmlns:a="http://schemas.openxmlformats.org/drawingml/2006/main" prst="rect">
            <a:avLst/>
          </a:prstGeom>
        </p:spPr>
      </p:pic>
      <p:sp>
        <p:nvSpPr>
          <p:cNvPr id="6" name="Gate numbers card">
            <a:extLst xmlns:a="http://schemas.openxmlformats.org/drawingml/2006/main">
              <a:ext uri="{FF2B5EF4-FFF2-40B4-BE49-F238E27FC236}">
                <a16:creationId xmlns:a16="http://schemas.microsoft.com/office/drawing/2014/main" id="{468D4DBF-C138-43AC-A7A7-B877FC14940C}"/>
              </a:ext>
            </a:extLst>
          </p:cNvPr>
          <p:cNvSpPr>
            <a:spLocks xmlns:a="http://schemas.openxmlformats.org/drawingml/2006/main" noGrp="1"/>
          </p:cNvSpPr>
          <p:nvPr/>
        </p:nvSpPr>
        <p:spPr>
          <a:xfrm xmlns:a="http://schemas.openxmlformats.org/drawingml/2006/main">
            <a:off x="548640" y="4846320"/>
            <a:ext cx="5394960" cy="1371600"/>
          </a:xfrm>
          <a:prstGeom xmlns:a="http://schemas.openxmlformats.org/drawingml/2006/main" prst="roundRect">
            <a:avLst>
              <a:gd name="adj" fmla="val 8000"/>
            </a:avLst>
          </a:prstGeom>
          <a:solidFill xmlns:a="http://schemas.openxmlformats.org/drawingml/2006/main">
            <a:srgbClr val="15233B"/>
          </a:solidFill>
          <a:ln xmlns:a="http://schemas.openxmlformats.org/drawingml/2006/main" w="12700">
            <a:solidFill>
              <a:srgbClr val="15233B"/>
            </a:solidFill>
            <a:prstDash val="solid"/>
          </a:ln>
        </p:spPr>
      </p:sp>
      <p:sp>
        <p:nvSpPr>
          <p:cNvPr id="7" name="Text 3">
            <a:extLst xmlns:a="http://schemas.openxmlformats.org/drawingml/2006/main">
              <a:ext uri="{FF2B5EF4-FFF2-40B4-BE49-F238E27FC236}">
                <a16:creationId xmlns:a16="http://schemas.microsoft.com/office/drawing/2014/main" id="{CB0DF08D-926F-4904-BB8F-0F3D845767F5}"/>
              </a:ext>
            </a:extLst>
          </p:cNvPr>
          <p:cNvSpPr>
            <a:spLocks xmlns:a="http://schemas.openxmlformats.org/drawingml/2006/main" noGrp="1"/>
          </p:cNvSpPr>
          <p:nvPr/>
        </p:nvSpPr>
        <p:spPr>
          <a:xfrm xmlns:a="http://schemas.openxmlformats.org/drawingml/2006/main">
            <a:off x="777240" y="4937760"/>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latin typeface="Calibri"/>
                <a:ea typeface="Calibri"/>
                <a:cs typeface="Calibri"/>
              </a:rPr>
              <a:t>Grid: 8.2866–8.2976 vs copy control 8.8264 (−10.24% to −10.35%)  ·  Shuffled: 8.2818–8.2873</a:t>
            </a:r>
            <a:endParaRPr sz="1400"/>
          </a:p>
        </p:txBody>
      </p:sp>
      <p:sp>
        <p:nvSpPr>
          <p:cNvPr id="8" name="Gate caveat card">
            <a:extLst xmlns:a="http://schemas.openxmlformats.org/drawingml/2006/main">
              <a:ext uri="{FF2B5EF4-FFF2-40B4-BE49-F238E27FC236}">
                <a16:creationId xmlns:a16="http://schemas.microsoft.com/office/drawing/2014/main" id="{BDD79343-B48A-40BF-8EC8-DDEC1D40EE53}"/>
              </a:ext>
            </a:extLst>
          </p:cNvPr>
          <p:cNvSpPr>
            <a:spLocks xmlns:a="http://schemas.openxmlformats.org/drawingml/2006/main" noGrp="1"/>
          </p:cNvSpPr>
          <p:nvPr/>
        </p:nvSpPr>
        <p:spPr>
          <a:xfrm xmlns:a="http://schemas.openxmlformats.org/drawingml/2006/main">
            <a:off x="6217920" y="4846320"/>
            <a:ext cx="5394960" cy="1371600"/>
          </a:xfrm>
          <a:prstGeom xmlns:a="http://schemas.openxmlformats.org/drawingml/2006/main" prst="roundRect">
            <a:avLst>
              <a:gd name="adj" fmla="val 8000"/>
            </a:avLst>
          </a:prstGeom>
          <a:solidFill xmlns:a="http://schemas.openxmlformats.org/drawingml/2006/main">
            <a:srgbClr val="15233B"/>
          </a:solidFill>
          <a:ln xmlns:a="http://schemas.openxmlformats.org/drawingml/2006/main" w="12700">
            <a:solidFill>
              <a:srgbClr val="15233B"/>
            </a:solidFill>
            <a:prstDash val="solid"/>
          </a:ln>
        </p:spPr>
      </p:sp>
      <p:sp>
        <p:nvSpPr>
          <p:cNvPr id="9" name="Text 5">
            <a:extLst xmlns:a="http://schemas.openxmlformats.org/drawingml/2006/main">
              <a:ext uri="{FF2B5EF4-FFF2-40B4-BE49-F238E27FC236}">
                <a16:creationId xmlns:a16="http://schemas.microsoft.com/office/drawing/2014/main" id="{A4CEE34C-1401-42EE-8BB5-3203A45A219A}"/>
              </a:ext>
            </a:extLst>
          </p:cNvPr>
          <p:cNvSpPr>
            <a:spLocks xmlns:a="http://schemas.openxmlformats.org/drawingml/2006/main" noGrp="1"/>
          </p:cNvSpPr>
          <p:nvPr/>
        </p:nvSpPr>
        <p:spPr>
          <a:xfrm xmlns:a="http://schemas.openxmlformats.org/drawingml/2006/main">
            <a:off x="6446520" y="4937760"/>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2"/>
                </a:solidFill>
                <a:latin typeface="Calibri"/>
                <a:ea typeface="Calibri"/>
                <a:cs typeface="Calibri"/>
              </a:rPr>
              <a:t>Passing shows prediction beyond simple controls, not that the model learned local update physics.</a:t>
            </a:r>
            <a:endParaRPr sz="1400"/>
          </a:p>
        </p:txBody>
      </p:sp>
      <p:sp>
        <p:nvSpPr>
          <p:cNvPr id="25" name="Slide Number Placeholder 0">
            <a:extLst xmlns:a="http://schemas.openxmlformats.org/drawingml/2006/main">
              <a:ext uri="{FF2B5EF4-FFF2-40B4-BE49-F238E27FC236}">
                <a16:creationId xmlns:a16="http://schemas.microsoft.com/office/drawing/2014/main" id="{D86077D4-B7D0-4C5B-A026-98C3D4653528}"/>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2126206842"/>
      </p:ext>
    </p:extLst>
  </p:cSld>
</p:sld>
</file>

<file path=ppt/slides/slide5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DBE44BC-7387-49C5-9DF9-FA8F518EC37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Gate definition and interpretation</a:t>
            </a:r>
          </a:p>
        </p:txBody>
      </p:sp>
      <p:sp>
        <p:nvSpPr>
          <p:cNvPr id="2" name="equation">
            <a:extLst xmlns:a="http://schemas.openxmlformats.org/drawingml/2006/main">
              <a:ext uri="{FF2B5EF4-FFF2-40B4-BE49-F238E27FC236}">
                <a16:creationId xmlns:a16="http://schemas.microsoft.com/office/drawing/2014/main" id="{965CE1A7-9CEB-4978-9F0E-1533F4037E0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Relative improvement = 1 − Lpatch,selected/Lpatch,initial</a:t>
            </a:r>
          </a:p>
        </p:txBody>
      </p:sp>
      <p:sp>
        <p:nvSpPr>
          <p:cNvPr id="3" name="equation">
            <a:extLst xmlns:a="http://schemas.openxmlformats.org/drawingml/2006/main">
              <a:ext uri="{FF2B5EF4-FFF2-40B4-BE49-F238E27FC236}">
                <a16:creationId xmlns:a16="http://schemas.microsoft.com/office/drawing/2014/main" id="{6ED0A1B7-24C8-49B7-9BDD-C674D66DB231}"/>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Required relative improvement ≥ 0.05</a:t>
            </a:r>
          </a:p>
        </p:txBody>
      </p:sp>
      <p:sp>
        <p:nvSpPr>
          <p:cNvPr id="4" name="equation">
            <a:extLst xmlns:a="http://schemas.openxmlformats.org/drawingml/2006/main">
              <a:ext uri="{FF2B5EF4-FFF2-40B4-BE49-F238E27FC236}">
                <a16:creationId xmlns:a16="http://schemas.microsoft.com/office/drawing/2014/main" id="{F60B283B-27F1-4D13-9D2E-2A6DEE9DA6E9}"/>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Required gap below best fitted control ≥ 0.01 nats</a:t>
            </a:r>
          </a:p>
        </p:txBody>
      </p:sp>
      <p:sp>
        <p:nvSpPr>
          <p:cNvPr id="5" name="equation">
            <a:extLst xmlns:a="http://schemas.openxmlformats.org/drawingml/2006/main">
              <a:ext uri="{FF2B5EF4-FFF2-40B4-BE49-F238E27FC236}">
                <a16:creationId xmlns:a16="http://schemas.microsoft.com/office/drawing/2014/main" id="{6F3E4B8A-BB79-43EE-B924-F0CFC8D62B2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Grid observed improvement: 10.24–10.35%</a:t>
            </a:r>
          </a:p>
        </p:txBody>
      </p:sp>
      <p:sp>
        <p:nvSpPr>
          <p:cNvPr id="6" name="body">
            <a:extLst xmlns:a="http://schemas.openxmlformats.org/drawingml/2006/main">
              <a:ext uri="{FF2B5EF4-FFF2-40B4-BE49-F238E27FC236}">
                <a16:creationId xmlns:a16="http://schemas.microsoft.com/office/drawing/2014/main" id="{7CFB674F-61EC-4351-8147-9532E95BE3A7}"/>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Train-fitted unigram and previous-frame copy-mixture baselines evaluate on held-out rules. The gate establishes prediction beyond these controls. It does not determine which computation the backbone learned.</a:t>
            </a:r>
          </a:p>
        </p:txBody>
      </p:sp>
      <p:sp>
        <p:nvSpPr>
          <p:cNvPr id="7" name="source">
            <a:extLst xmlns:a="http://schemas.openxmlformats.org/drawingml/2006/main">
              <a:ext uri="{FF2B5EF4-FFF2-40B4-BE49-F238E27FC236}">
                <a16:creationId xmlns:a16="http://schemas.microsoft.com/office/drawing/2014/main" id="{B9F51C1A-369E-42C2-8A63-B6051BEF301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All grid and shuffled v2 seeds passed. Synthetic prediction and language transfer are distinct tests.</a:t>
            </a:r>
          </a:p>
        </p:txBody>
      </p:sp>
      <p:sp>
        <p:nvSpPr>
          <p:cNvPr id="8" name="body">
            <a:extLst xmlns:a="http://schemas.openxmlformats.org/drawingml/2006/main">
              <a:ext uri="{FF2B5EF4-FFF2-40B4-BE49-F238E27FC236}">
                <a16:creationId xmlns:a16="http://schemas.microsoft.com/office/drawing/2014/main" id="{D9777076-DBF9-457C-A453-89CD9C0397E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58</a:t>
            </a:r>
          </a:p>
        </p:txBody>
      </p:sp>
    </p:spTree>
    <p:extLst>
      <p:ext uri="{BB962C8B-B14F-4D97-AF65-F5344CB8AC3E}">
        <p14:creationId xmlns:p14="http://schemas.microsoft.com/office/powerpoint/2010/main" val="1608660960"/>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322400-FCA0-4149-B245-9F6164BAC74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V2 language-stage result at paired reference loss</a:t>
            </a:r>
            <a:endParaRPr sz="3000"/>
          </a:p>
        </p:txBody>
      </p:sp>
      <p:graphicFrame>
        <p:nvGraphicFramePr>
          <p:cNvPr id="14" name="Table 0">
            <a:extLst xmlns:a="http://schemas.openxmlformats.org/drawingml/2006/main">
              <a:ext uri="{FF2B5EF4-FFF2-40B4-BE49-F238E27FC236}">
                <a16:creationId xmlns:a16="http://schemas.microsoft.com/office/drawing/2014/main" id="{4F4B4B5B-8D82-471E-BF8E-36920FB0488F}"/>
              </a:ext>
            </a:extLst>
          </p:cNvPr>
          <p:cNvGraphicFramePr/>
          <p:nvPr/>
        </p:nvGraphicFramePr>
        <p:xfrm>
          <a:off xmlns:a="http://schemas.openxmlformats.org/drawingml/2006/main" x="548640" y="1280160"/>
          <a:ext xmlns:a="http://schemas.openxmlformats.org/drawingml/2006/main" cx="11064240" cy="914400"/>
        </p:xfrm>
        <a:graphic xmlns:a="http://schemas.openxmlformats.org/drawingml/2006/main">
          <a:graphicData uri="http://schemas.openxmlformats.org/drawingml/2006/table">
            <a:tbl>
              <a:tblPr/>
              <a:tblGrid>
                <a:gridCol w="2560320"/>
                <a:gridCol w="2377440"/>
                <a:gridCol w="4480560"/>
                <a:gridCol w="1645920"/>
              </a:tblGrid>
              <a:tr h="384048">
                <a:tc>
                  <a:txBody>
                    <a:bodyPr/>
                    <a:lstStyle/>
                    <a:p>
                      <a:pPr marL="0" indent="0">
                        <a:buNone/>
                      </a:pPr>
                      <a:r>
                        <a:rPr sz="1400" b="1">
                          <a:solidFill>
                            <a:srgbClr val="F1F5F9"/>
                          </a:solidFill>
                          <a:latin typeface="Calibri"/>
                          <a:ea typeface="Calibri"/>
                          <a:cs typeface="Calibri"/>
                        </a:rPr>
                        <a:t>Initialization</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Mean final val. NLL</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Language updates to scratch endpoint (seeds 17 / 29 / 43)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Token speedup</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r>
              <a:tr h="384048">
                <a:tc>
                  <a:txBody>
                    <a:bodyPr/>
                    <a:lstStyle/>
                    <a:p>
                      <a:pPr marL="0" indent="0">
                        <a:buNone/>
                      </a:pPr>
                      <a:r>
                        <a:rPr sz="1400">
                          <a:solidFill>
                            <a:srgbClr val="F1F5F9"/>
                          </a:solidFill>
                          <a:latin typeface="Calibri"/>
                          <a:ea typeface="Calibri"/>
                          <a:cs typeface="Calibri"/>
                        </a:rPr>
                        <a:t>No PPT / scratch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5.266091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2000 / 2000 / 2000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1.000×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384048">
                <a:tc>
                  <a:txBody>
                    <a:bodyPr/>
                    <a:lstStyle/>
                    <a:p>
                      <a:pPr marL="0" indent="0">
                        <a:buNone/>
                      </a:pPr>
                      <a:r>
                        <a:rPr sz="1400">
                          <a:solidFill>
                            <a:srgbClr val="F1F5F9"/>
                          </a:solidFill>
                          <a:latin typeface="Calibri"/>
                          <a:ea typeface="Calibri"/>
                          <a:cs typeface="Calibri"/>
                        </a:rPr>
                        <a:t>Grid NCA PPT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5.233321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1800 / 1600 / 1700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1.178×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384048">
                <a:tc>
                  <a:txBody>
                    <a:bodyPr/>
                    <a:lstStyle/>
                    <a:p>
                      <a:pPr marL="0" indent="0">
                        <a:buNone/>
                      </a:pPr>
                      <a:r>
                        <a:rPr sz="1400">
                          <a:solidFill>
                            <a:srgbClr val="F1F5F9"/>
                          </a:solidFill>
                          <a:latin typeface="Calibri"/>
                          <a:ea typeface="Calibri"/>
                          <a:cs typeface="Calibri"/>
                        </a:rPr>
                        <a:t>Shuffled NCA PPT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5.231528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1700 / 1600 / 1800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1.178×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bl>
          </a:graphicData>
        </a:graphic>
      </p:graphicFrame>
      <p:sp>
        <p:nvSpPr>
          <p:cNvPr id="5" name="Gain card">
            <a:extLst xmlns:a="http://schemas.openxmlformats.org/drawingml/2006/main">
              <a:ext uri="{FF2B5EF4-FFF2-40B4-BE49-F238E27FC236}">
                <a16:creationId xmlns:a16="http://schemas.microsoft.com/office/drawing/2014/main" id="{411E39CB-E147-46F7-B39C-BE6EE4223D06}"/>
              </a:ext>
            </a:extLst>
          </p:cNvPr>
          <p:cNvSpPr>
            <a:spLocks xmlns:a="http://schemas.openxmlformats.org/drawingml/2006/main" noGrp="1"/>
          </p:cNvSpPr>
          <p:nvPr/>
        </p:nvSpPr>
        <p:spPr>
          <a:xfrm xmlns:a="http://schemas.openxmlformats.org/drawingml/2006/main">
            <a:off x="548640" y="3337560"/>
            <a:ext cx="4846320" cy="2834640"/>
          </a:xfrm>
          <a:prstGeom xmlns:a="http://schemas.openxmlformats.org/drawingml/2006/main" prst="roundRect">
            <a:avLst>
              <a:gd name="adj" fmla="val 3871"/>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2">
            <a:extLst xmlns:a="http://schemas.openxmlformats.org/drawingml/2006/main">
              <a:ext uri="{FF2B5EF4-FFF2-40B4-BE49-F238E27FC236}">
                <a16:creationId xmlns:a16="http://schemas.microsoft.com/office/drawing/2014/main" id="{4E0CF636-755B-4B8E-89F1-9130CA050A8B}"/>
              </a:ext>
            </a:extLst>
          </p:cNvPr>
          <p:cNvSpPr>
            <a:spLocks xmlns:a="http://schemas.openxmlformats.org/drawingml/2006/main" noGrp="1"/>
          </p:cNvSpPr>
          <p:nvPr/>
        </p:nvSpPr>
        <p:spPr>
          <a:xfrm xmlns:a="http://schemas.openxmlformats.org/drawingml/2006/main">
            <a:off x="822960" y="3474720"/>
            <a:ext cx="4297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Reading the result</a:t>
            </a:r>
            <a:endParaRPr sz="1800"/>
          </a:p>
        </p:txBody>
      </p:sp>
      <p:sp>
        <p:nvSpPr>
          <p:cNvPr id="7" name="Text 3">
            <a:extLst xmlns:a="http://schemas.openxmlformats.org/drawingml/2006/main">
              <a:ext uri="{FF2B5EF4-FFF2-40B4-BE49-F238E27FC236}">
                <a16:creationId xmlns:a16="http://schemas.microsoft.com/office/drawing/2014/main" id="{D50DE85C-9422-4814-A15B-EDD994FD5534}"/>
              </a:ext>
            </a:extLst>
          </p:cNvPr>
          <p:cNvSpPr>
            <a:spLocks xmlns:a="http://schemas.openxmlformats.org/drawingml/2006/main" noGrp="1"/>
          </p:cNvSpPr>
          <p:nvPr/>
        </p:nvSpPr>
        <p:spPr>
          <a:xfrm xmlns:a="http://schemas.openxmlformats.org/drawingml/2006/main">
            <a:off x="822960" y="3886200"/>
            <a:ext cx="4297680" cy="2240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Grid needs 10–20% fewer language updates per seed</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Language-time speedup 1.180× (about 15.2% less)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Final NLL: grid −0.03277 nats/token (≈3.2% lower perplexity)</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Convergence measure, not faster transformer steps</a:t>
            </a:r>
            <a:endParaRPr sz="1400"/>
          </a:p>
        </p:txBody>
      </p:sp>
      <p:sp>
        <p:nvSpPr>
          <p:cNvPr id="8" name="Chart backing">
            <a:extLst xmlns:a="http://schemas.openxmlformats.org/drawingml/2006/main">
              <a:ext uri="{FF2B5EF4-FFF2-40B4-BE49-F238E27FC236}">
                <a16:creationId xmlns:a16="http://schemas.microsoft.com/office/drawing/2014/main" id="{E7EB2E8D-98D3-43C1-813C-A55494A35603}"/>
              </a:ext>
            </a:extLst>
          </p:cNvPr>
          <p:cNvSpPr>
            <a:spLocks xmlns:a="http://schemas.openxmlformats.org/drawingml/2006/main" noGrp="1"/>
          </p:cNvSpPr>
          <p:nvPr/>
        </p:nvSpPr>
        <p:spPr>
          <a:xfrm xmlns:a="http://schemas.openxmlformats.org/drawingml/2006/main">
            <a:off x="6360160" y="3291840"/>
            <a:ext cx="4561840" cy="260604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9" name="Image 0">
            <a:extLst xmlns:a="http://schemas.openxmlformats.org/drawingml/2006/main">
              <a:ext uri="{FF2B5EF4-FFF2-40B4-BE49-F238E27FC236}">
                <a16:creationId xmlns:a16="http://schemas.microsoft.com/office/drawing/2014/main" id="{1A39D164-4243-47C1-BC41-69B1A84ABE1A}"/>
              </a:ext>
            </a:extLst>
          </p:cNvPr>
          <p:cNvPicPr>
            <a:picLocks xmlns:a="http://schemas.openxmlformats.org/drawingml/2006/main" noChangeAspect="1"/>
          </p:cNvPicPr>
          <p:nvPr/>
        </p:nvPicPr>
        <p:blipFill>
          <a:blip xmlns:r="http://schemas.openxmlformats.org/officeDocument/2006/relationships" xmlns:a="http://schemas.openxmlformats.org/drawingml/2006/main" r:embed="R701664125f4c445a"/>
          <a:stretch xmlns:a="http://schemas.openxmlformats.org/drawingml/2006/main">
            <a:fillRect l="0" t="0" r="0" b="0"/>
          </a:stretch>
        </p:blipFill>
        <p:spPr>
          <a:xfrm xmlns:a="http://schemas.openxmlformats.org/drawingml/2006/main">
            <a:off x="6405880" y="3337560"/>
            <a:ext cx="4470400" cy="251460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1BEC37B4-4342-4FAD-BAC3-8FA69B6CF820}"/>
              </a:ext>
            </a:extLst>
          </p:cNvPr>
          <p:cNvSpPr>
            <a:spLocks xmlns:a="http://schemas.openxmlformats.org/drawingml/2006/main" noGrp="1"/>
          </p:cNvSpPr>
          <p:nvPr/>
        </p:nvSpPr>
        <p:spPr>
          <a:xfrm xmlns:a="http://schemas.openxmlformats.org/drawingml/2006/main">
            <a:off x="5669280" y="594360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2"/>
                </a:solidFill>
                <a:latin typeface="Calibri"/>
                <a:ea typeface="Calibri"/>
                <a:cs typeface="Calibri"/>
              </a:rPr>
              <a:t>Lower is better; thin lines are paired seeds, thick lines the mean.</a:t>
            </a:r>
            <a:endParaRPr sz="1200"/>
          </a:p>
        </p:txBody>
      </p:sp>
      <p:sp>
        <p:nvSpPr>
          <p:cNvPr id="25" name="Slide Number Placeholder 0">
            <a:extLst xmlns:a="http://schemas.openxmlformats.org/drawingml/2006/main">
              <a:ext uri="{FF2B5EF4-FFF2-40B4-BE49-F238E27FC236}">
                <a16:creationId xmlns:a16="http://schemas.microsoft.com/office/drawing/2014/main" id="{073BA899-05C1-451B-BA56-3F0F3B9F6062}"/>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13</a:t>
            </a:fld>
            <a:endParaRPr/>
          </a:p>
        </p:txBody>
      </p:sp>
    </p:spTree>
    <p:extLst>
      <p:ext uri="{BB962C8B-B14F-4D97-AF65-F5344CB8AC3E}">
        <p14:creationId xmlns:p14="http://schemas.microsoft.com/office/powerpoint/2010/main" val="2040547093"/>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583463-65EE-4F74-B51E-AE599D12CC79}"/>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Full curves and the shuffled comparison</a:t>
            </a:r>
            <a:endParaRPr sz="3000"/>
          </a:p>
        </p:txBody>
      </p:sp>
      <p:sp>
        <p:nvSpPr>
          <p:cNvPr id="4" name="Chart backing">
            <a:extLst xmlns:a="http://schemas.openxmlformats.org/drawingml/2006/main">
              <a:ext uri="{FF2B5EF4-FFF2-40B4-BE49-F238E27FC236}">
                <a16:creationId xmlns:a16="http://schemas.microsoft.com/office/drawing/2014/main" id="{F9BBDAB1-7615-4022-98F8-7135DBEB4CC4}"/>
              </a:ext>
            </a:extLst>
          </p:cNvPr>
          <p:cNvSpPr>
            <a:spLocks xmlns:a="http://schemas.openxmlformats.org/drawingml/2006/main" noGrp="1"/>
          </p:cNvSpPr>
          <p:nvPr/>
        </p:nvSpPr>
        <p:spPr>
          <a:xfrm xmlns:a="http://schemas.openxmlformats.org/drawingml/2006/main">
            <a:off x="514350" y="1234440"/>
            <a:ext cx="11132820" cy="32461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5" name="Image 0">
            <a:extLst xmlns:a="http://schemas.openxmlformats.org/drawingml/2006/main">
              <a:ext uri="{FF2B5EF4-FFF2-40B4-BE49-F238E27FC236}">
                <a16:creationId xmlns:a16="http://schemas.microsoft.com/office/drawing/2014/main" id="{3F68D717-5DB4-4610-8D61-B289B5BF95A3}"/>
              </a:ext>
            </a:extLst>
          </p:cNvPr>
          <p:cNvPicPr>
            <a:picLocks xmlns:a="http://schemas.openxmlformats.org/drawingml/2006/main" noChangeAspect="1"/>
          </p:cNvPicPr>
          <p:nvPr/>
        </p:nvPicPr>
        <p:blipFill>
          <a:blip xmlns:r="http://schemas.openxmlformats.org/officeDocument/2006/relationships" xmlns:a="http://schemas.openxmlformats.org/drawingml/2006/main" r:embed="R247c9144a70e48eb"/>
          <a:stretch xmlns:a="http://schemas.openxmlformats.org/drawingml/2006/main">
            <a:fillRect l="0" t="0" r="0" b="0"/>
          </a:stretch>
        </p:blipFill>
        <p:spPr>
          <a:xfrm xmlns:a="http://schemas.openxmlformats.org/drawingml/2006/main">
            <a:off x="560070" y="1280160"/>
            <a:ext cx="11041380" cy="3154680"/>
          </a:xfrm>
          <a:prstGeom xmlns:a="http://schemas.openxmlformats.org/drawingml/2006/main" prst="rect">
            <a:avLst/>
          </a:prstGeom>
        </p:spPr>
      </p:pic>
      <p:sp>
        <p:nvSpPr>
          <p:cNvPr id="6" name="Final NLL card">
            <a:extLst xmlns:a="http://schemas.openxmlformats.org/drawingml/2006/main">
              <a:ext uri="{FF2B5EF4-FFF2-40B4-BE49-F238E27FC236}">
                <a16:creationId xmlns:a16="http://schemas.microsoft.com/office/drawing/2014/main" id="{ADF65573-2B83-4546-BBCE-F2B214818933}"/>
              </a:ext>
            </a:extLst>
          </p:cNvPr>
          <p:cNvSpPr>
            <a:spLocks xmlns:a="http://schemas.openxmlformats.org/drawingml/2006/main" noGrp="1"/>
          </p:cNvSpPr>
          <p:nvPr/>
        </p:nvSpPr>
        <p:spPr>
          <a:xfrm xmlns:a="http://schemas.openxmlformats.org/drawingml/2006/main">
            <a:off x="548640" y="4617720"/>
            <a:ext cx="329184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7" name="Text 3">
            <a:extLst xmlns:a="http://schemas.openxmlformats.org/drawingml/2006/main">
              <a:ext uri="{FF2B5EF4-FFF2-40B4-BE49-F238E27FC236}">
                <a16:creationId xmlns:a16="http://schemas.microsoft.com/office/drawing/2014/main" id="{67953FF8-A5C2-4730-AE72-756738B3BC77}"/>
              </a:ext>
            </a:extLst>
          </p:cNvPr>
          <p:cNvSpPr>
            <a:spLocks xmlns:a="http://schemas.openxmlformats.org/drawingml/2006/main" noGrp="1"/>
          </p:cNvSpPr>
          <p:nvPr/>
        </p:nvSpPr>
        <p:spPr>
          <a:xfrm xmlns:a="http://schemas.openxmlformats.org/drawingml/2006/main">
            <a:off x="777240" y="4709160"/>
            <a:ext cx="2834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accent1"/>
                </a:solidFill>
                <a:latin typeface="Calibri"/>
                <a:ea typeface="Calibri"/>
                <a:cs typeface="Calibri"/>
              </a:rPr>
              <a:t>5.2333 grid</a:t>
            </a:r>
            <a:endParaRPr sz="2400"/>
          </a:p>
        </p:txBody>
      </p:sp>
      <p:sp>
        <p:nvSpPr>
          <p:cNvPr id="8" name="Text 4">
            <a:extLst xmlns:a="http://schemas.openxmlformats.org/drawingml/2006/main">
              <a:ext uri="{FF2B5EF4-FFF2-40B4-BE49-F238E27FC236}">
                <a16:creationId xmlns:a16="http://schemas.microsoft.com/office/drawing/2014/main" id="{E1B76EF6-D5CE-4050-B329-AA5BBE6B47D4}"/>
              </a:ext>
            </a:extLst>
          </p:cNvPr>
          <p:cNvSpPr>
            <a:spLocks xmlns:a="http://schemas.openxmlformats.org/drawingml/2006/main" noGrp="1"/>
          </p:cNvSpPr>
          <p:nvPr/>
        </p:nvSpPr>
        <p:spPr>
          <a:xfrm xmlns:a="http://schemas.openxmlformats.org/drawingml/2006/main">
            <a:off x="777240" y="5212080"/>
            <a:ext cx="2834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accent2"/>
                </a:solidFill>
                <a:latin typeface="Calibri"/>
                <a:ea typeface="Calibri"/>
                <a:cs typeface="Calibri"/>
              </a:rPr>
              <a:t>5.2315 shuffled</a:t>
            </a:r>
            <a:endParaRPr sz="2400"/>
          </a:p>
        </p:txBody>
      </p:sp>
      <p:sp>
        <p:nvSpPr>
          <p:cNvPr id="9" name="Text 5">
            <a:extLst xmlns:a="http://schemas.openxmlformats.org/drawingml/2006/main">
              <a:ext uri="{FF2B5EF4-FFF2-40B4-BE49-F238E27FC236}">
                <a16:creationId xmlns:a16="http://schemas.microsoft.com/office/drawing/2014/main" id="{50B482AC-EED0-484A-9701-DB8886717964}"/>
              </a:ext>
            </a:extLst>
          </p:cNvPr>
          <p:cNvSpPr>
            <a:spLocks xmlns:a="http://schemas.openxmlformats.org/drawingml/2006/main" noGrp="1"/>
          </p:cNvSpPr>
          <p:nvPr/>
        </p:nvSpPr>
        <p:spPr>
          <a:xfrm xmlns:a="http://schemas.openxmlformats.org/drawingml/2006/main">
            <a:off x="777240" y="576072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2"/>
                </a:solidFill>
                <a:latin typeface="Calibri"/>
                <a:ea typeface="Calibri"/>
                <a:cs typeface="Calibri"/>
              </a:rPr>
              <a:t>Mean final validation NLL</a:t>
            </a:r>
            <a:endParaRPr sz="1200"/>
          </a:p>
        </p:txBody>
      </p:sp>
      <p:sp>
        <p:nvSpPr>
          <p:cNvPr id="10" name="Per-seed card">
            <a:extLst xmlns:a="http://schemas.openxmlformats.org/drawingml/2006/main">
              <a:ext uri="{FF2B5EF4-FFF2-40B4-BE49-F238E27FC236}">
                <a16:creationId xmlns:a16="http://schemas.microsoft.com/office/drawing/2014/main" id="{157A855E-6F72-4E63-B259-638A7F86D04F}"/>
              </a:ext>
            </a:extLst>
          </p:cNvPr>
          <p:cNvSpPr>
            <a:spLocks xmlns:a="http://schemas.openxmlformats.org/drawingml/2006/main" noGrp="1"/>
          </p:cNvSpPr>
          <p:nvPr/>
        </p:nvSpPr>
        <p:spPr>
          <a:xfrm xmlns:a="http://schemas.openxmlformats.org/drawingml/2006/main">
            <a:off x="4023360" y="4617720"/>
            <a:ext cx="384048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11" name="Text 7">
            <a:extLst xmlns:a="http://schemas.openxmlformats.org/drawingml/2006/main">
              <a:ext uri="{FF2B5EF4-FFF2-40B4-BE49-F238E27FC236}">
                <a16:creationId xmlns:a16="http://schemas.microsoft.com/office/drawing/2014/main" id="{292BCEF7-93A5-468E-BC14-B1FC0F3494E2}"/>
              </a:ext>
            </a:extLst>
          </p:cNvPr>
          <p:cNvSpPr>
            <a:spLocks xmlns:a="http://schemas.openxmlformats.org/drawingml/2006/main" noGrp="1"/>
          </p:cNvSpPr>
          <p:nvPr/>
        </p:nvSpPr>
        <p:spPr>
          <a:xfrm xmlns:a="http://schemas.openxmlformats.org/drawingml/2006/main">
            <a:off x="4251960" y="4709160"/>
            <a:ext cx="3383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1"/>
                </a:solidFill>
                <a:latin typeface="Calibri"/>
                <a:ea typeface="Calibri"/>
                <a:cs typeface="Calibri"/>
              </a:rPr>
              <a:t>Grid minus shuffled, final NLL</a:t>
            </a:r>
            <a:endParaRPr sz="1400"/>
          </a:p>
        </p:txBody>
      </p:sp>
      <p:sp>
        <p:nvSpPr>
          <p:cNvPr id="12" name="Text 8">
            <a:extLst xmlns:a="http://schemas.openxmlformats.org/drawingml/2006/main">
              <a:ext uri="{FF2B5EF4-FFF2-40B4-BE49-F238E27FC236}">
                <a16:creationId xmlns:a16="http://schemas.microsoft.com/office/drawing/2014/main" id="{B2E93B41-F822-4ABD-8E3D-113AA9D08554}"/>
              </a:ext>
            </a:extLst>
          </p:cNvPr>
          <p:cNvSpPr>
            <a:spLocks xmlns:a="http://schemas.openxmlformats.org/drawingml/2006/main" noGrp="1"/>
          </p:cNvSpPr>
          <p:nvPr/>
        </p:nvSpPr>
        <p:spPr>
          <a:xfrm xmlns:a="http://schemas.openxmlformats.org/drawingml/2006/main">
            <a:off x="4251960" y="5029200"/>
            <a:ext cx="3383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17: +0.0156</a:t>
            </a:r>
            <a:endParaRPr sz="1300"/>
          </a:p>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29: +0.0006</a:t>
            </a:r>
            <a:endParaRPr sz="1300"/>
          </a:p>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43: −0.0108</a:t>
            </a:r>
            <a:endParaRPr sz="1300"/>
          </a:p>
        </p:txBody>
      </p:sp>
      <p:sp>
        <p:nvSpPr>
          <p:cNvPr id="13" name="Text 9">
            <a:extLst xmlns:a="http://schemas.openxmlformats.org/drawingml/2006/main">
              <a:ext uri="{FF2B5EF4-FFF2-40B4-BE49-F238E27FC236}">
                <a16:creationId xmlns:a16="http://schemas.microsoft.com/office/drawing/2014/main" id="{3F0D4042-5EEE-4811-AC88-D106EA24ADC7}"/>
              </a:ext>
            </a:extLst>
          </p:cNvPr>
          <p:cNvSpPr>
            <a:spLocks xmlns:a="http://schemas.openxmlformats.org/drawingml/2006/main" noGrp="1"/>
          </p:cNvSpPr>
          <p:nvPr/>
        </p:nvSpPr>
        <p:spPr>
          <a:xfrm xmlns:a="http://schemas.openxmlformats.org/drawingml/2006/main">
            <a:off x="4251960" y="5870448"/>
            <a:ext cx="3383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accent2"/>
                </a:solidFill>
                <a:latin typeface="Calibri"/>
                <a:ea typeface="Calibri"/>
                <a:cs typeface="Calibri"/>
              </a:rPr>
              <a:t>No consistent grid advantage</a:t>
            </a:r>
            <a:endParaRPr sz="1200"/>
          </a:p>
        </p:txBody>
      </p:sp>
      <p:sp>
        <p:nvSpPr>
          <p:cNvPr id="14" name="Interpretation card">
            <a:extLst xmlns:a="http://schemas.openxmlformats.org/drawingml/2006/main">
              <a:ext uri="{FF2B5EF4-FFF2-40B4-BE49-F238E27FC236}">
                <a16:creationId xmlns:a16="http://schemas.microsoft.com/office/drawing/2014/main" id="{25C28A47-45E5-430C-BBDF-8451520E53FA}"/>
              </a:ext>
            </a:extLst>
          </p:cNvPr>
          <p:cNvSpPr>
            <a:spLocks xmlns:a="http://schemas.openxmlformats.org/drawingml/2006/main" noGrp="1"/>
          </p:cNvSpPr>
          <p:nvPr/>
        </p:nvSpPr>
        <p:spPr>
          <a:xfrm xmlns:a="http://schemas.openxmlformats.org/drawingml/2006/main">
            <a:off x="8046720" y="4617720"/>
            <a:ext cx="356616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15" name="Text 11">
            <a:extLst xmlns:a="http://schemas.openxmlformats.org/drawingml/2006/main">
              <a:ext uri="{FF2B5EF4-FFF2-40B4-BE49-F238E27FC236}">
                <a16:creationId xmlns:a16="http://schemas.microsoft.com/office/drawing/2014/main" id="{33755FBA-02FC-4EA3-91AC-AC18D513F275}"/>
              </a:ext>
            </a:extLst>
          </p:cNvPr>
          <p:cNvSpPr>
            <a:spLocks xmlns:a="http://schemas.openxmlformats.org/drawingml/2006/main" noGrp="1"/>
          </p:cNvSpPr>
          <p:nvPr/>
        </p:nvSpPr>
        <p:spPr>
          <a:xfrm xmlns:a="http://schemas.openxmlformats.org/drawingml/2006/main">
            <a:off x="8275320" y="4709160"/>
            <a:ext cx="3108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chemeClr val="tx2"/>
                </a:solidFill>
                <a:latin typeface="Calibri"/>
                <a:ea typeface="Calibri"/>
                <a:cs typeface="Calibri"/>
              </a:rPr>
              <a:t>Shuffling keeps token histograms and markers, so frequency or format structure could itself help. Which property matters is open.</a:t>
            </a:r>
            <a:endParaRPr sz="1300"/>
          </a:p>
        </p:txBody>
      </p:sp>
      <p:sp>
        <p:nvSpPr>
          <p:cNvPr id="25" name="Slide Number Placeholder 0">
            <a:extLst xmlns:a="http://schemas.openxmlformats.org/drawingml/2006/main">
              <a:ext uri="{FF2B5EF4-FFF2-40B4-BE49-F238E27FC236}">
                <a16:creationId xmlns:a16="http://schemas.microsoft.com/office/drawing/2014/main" id="{8F8B727C-3A94-463F-9A56-281C7C1CA4F4}"/>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14</a:t>
            </a:fld>
            <a:endParaRPr/>
          </a:p>
        </p:txBody>
      </p:sp>
    </p:spTree>
    <p:extLst>
      <p:ext uri="{BB962C8B-B14F-4D97-AF65-F5344CB8AC3E}">
        <p14:creationId xmlns:p14="http://schemas.microsoft.com/office/powerpoint/2010/main" val="1683935429"/>
      </p:ext>
    </p:extLst>
  </p:cSld>
</p:sld>
</file>

<file path=ppt/slides/slide6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06353E-9D69-42D6-8F64-F257A2B8028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Per-seed language updates to the scratch endpoint</a:t>
            </a:r>
          </a:p>
        </p:txBody>
      </p:sp>
      <p:graphicFrame>
        <p:nvGraphicFramePr>
          <p:cNvPr id="2" name="Chart">
            <a:extLst xmlns:a="http://schemas.openxmlformats.org/drawingml/2006/main">
              <a:ext uri="{FF2B5EF4-FFF2-40B4-BE49-F238E27FC236}">
                <a16:creationId xmlns:a16="http://schemas.microsoft.com/office/drawing/2014/main" id="{325939D5-D3C8-40A9-B757-352A7C3032A2}"/>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716c6426cccd4173"/>
          </a:graphicData>
        </a:graphic>
      </p:graphicFrame>
      <p:sp>
        <p:nvSpPr>
          <p:cNvPr id="3" name="source">
            <a:extLst xmlns:a="http://schemas.openxmlformats.org/drawingml/2006/main">
              <a:ext uri="{FF2B5EF4-FFF2-40B4-BE49-F238E27FC236}">
                <a16:creationId xmlns:a16="http://schemas.microsoft.com/office/drawing/2014/main" id="{A4CC9F82-8597-4159-8D70-E84EF70D723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Evaluations occur every 100 language updates. These are discrete recorded crossings, with no interpolation.</a:t>
            </a:r>
          </a:p>
        </p:txBody>
      </p:sp>
      <p:sp>
        <p:nvSpPr>
          <p:cNvPr id="4" name="body">
            <a:extLst xmlns:a="http://schemas.openxmlformats.org/drawingml/2006/main">
              <a:ext uri="{FF2B5EF4-FFF2-40B4-BE49-F238E27FC236}">
                <a16:creationId xmlns:a16="http://schemas.microsoft.com/office/drawing/2014/main" id="{0D5DC6B6-2F2A-4B64-A692-A6883B47A56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61</a:t>
            </a:r>
          </a:p>
        </p:txBody>
      </p:sp>
    </p:spTree>
    <p:extLst>
      <p:ext uri="{BB962C8B-B14F-4D97-AF65-F5344CB8AC3E}">
        <p14:creationId xmlns:p14="http://schemas.microsoft.com/office/powerpoint/2010/main" val="438998135"/>
      </p:ext>
    </p:extLst>
  </p:cSld>
</p:sld>
</file>

<file path=ppt/slides/slide6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FB5B5B4-7190-4F5B-9E9B-2AC212A4C40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Speedup calculation and final perplexity</a:t>
            </a:r>
          </a:p>
        </p:txBody>
      </p:sp>
      <p:sp>
        <p:nvSpPr>
          <p:cNvPr id="2" name="equation">
            <a:extLst xmlns:a="http://schemas.openxmlformats.org/drawingml/2006/main">
              <a:ext uri="{FF2B5EF4-FFF2-40B4-BE49-F238E27FC236}">
                <a16:creationId xmlns:a16="http://schemas.microsoft.com/office/drawing/2014/main" id="{456318F4-8AEB-46BA-A09B-C6AF128D2C4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Sgrid = (2000/1800 · 2000/1600 · 2000/1700)¹ᐟ³</a:t>
            </a:r>
          </a:p>
        </p:txBody>
      </p:sp>
      <p:sp>
        <p:nvSpPr>
          <p:cNvPr id="3" name="equation">
            <a:extLst xmlns:a="http://schemas.openxmlformats.org/drawingml/2006/main">
              <a:ext uri="{FF2B5EF4-FFF2-40B4-BE49-F238E27FC236}">
                <a16:creationId xmlns:a16="http://schemas.microsoft.com/office/drawing/2014/main" id="{C9C6E93C-FD37-4F7F-A9E4-B26A83901F38}"/>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Sgrid = 1.177830671 ≈ 1.178×</a:t>
            </a:r>
          </a:p>
        </p:txBody>
      </p:sp>
      <p:sp>
        <p:nvSpPr>
          <p:cNvPr id="4" name="equation">
            <a:extLst xmlns:a="http://schemas.openxmlformats.org/drawingml/2006/main">
              <a:ext uri="{FF2B5EF4-FFF2-40B4-BE49-F238E27FC236}">
                <a16:creationId xmlns:a16="http://schemas.microsoft.com/office/drawing/2014/main" id="{094FFD01-9FC4-4403-B5B4-3C5359F28326}"/>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PPLgrid/PPLscratch = exp(5.233321 − 5.266091)</a:t>
            </a:r>
          </a:p>
        </p:txBody>
      </p:sp>
      <p:sp>
        <p:nvSpPr>
          <p:cNvPr id="5" name="equation">
            <a:extLst xmlns:a="http://schemas.openxmlformats.org/drawingml/2006/main">
              <a:ext uri="{FF2B5EF4-FFF2-40B4-BE49-F238E27FC236}">
                <a16:creationId xmlns:a16="http://schemas.microsoft.com/office/drawing/2014/main" id="{17D126FF-8974-4ECF-B451-840D7E49D28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PPL reduction ≈ 3.22%</a:t>
            </a:r>
          </a:p>
        </p:txBody>
      </p:sp>
      <p:sp>
        <p:nvSpPr>
          <p:cNvPr id="6" name="body">
            <a:extLst xmlns:a="http://schemas.openxmlformats.org/drawingml/2006/main">
              <a:ext uri="{FF2B5EF4-FFF2-40B4-BE49-F238E27FC236}">
                <a16:creationId xmlns:a16="http://schemas.microsoft.com/office/drawing/2014/main" id="{A7534C0C-2C97-4374-A47B-74669F032E33}"/>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Grid saves 10–20% of language updates within seeds. Geometric language-time speedup is 1.1795×, about 15.2% less stage time. This measures convergence to a reference, rather than faster individual updates.</a:t>
            </a:r>
          </a:p>
        </p:txBody>
      </p:sp>
      <p:sp>
        <p:nvSpPr>
          <p:cNvPr id="7" name="source">
            <a:extLst xmlns:a="http://schemas.openxmlformats.org/drawingml/2006/main">
              <a:ext uri="{FF2B5EF4-FFF2-40B4-BE49-F238E27FC236}">
                <a16:creationId xmlns:a16="http://schemas.microsoft.com/office/drawing/2014/main" id="{1D25043D-2377-46C0-8309-D88C73DDBF0E}"/>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The shuffled arm has the same aggregate token speedup and slightly lower mean final NLL.</a:t>
            </a:r>
          </a:p>
        </p:txBody>
      </p:sp>
      <p:sp>
        <p:nvSpPr>
          <p:cNvPr id="8" name="body">
            <a:extLst xmlns:a="http://schemas.openxmlformats.org/drawingml/2006/main">
              <a:ext uri="{FF2B5EF4-FFF2-40B4-BE49-F238E27FC236}">
                <a16:creationId xmlns:a16="http://schemas.microsoft.com/office/drawing/2014/main" id="{F150C8A3-ECEF-4891-89FB-7BC3C0094C9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62</a:t>
            </a:r>
          </a:p>
        </p:txBody>
      </p:sp>
    </p:spTree>
    <p:extLst>
      <p:ext uri="{BB962C8B-B14F-4D97-AF65-F5344CB8AC3E}">
        <p14:creationId xmlns:p14="http://schemas.microsoft.com/office/powerpoint/2010/main" val="753243858"/>
      </p:ext>
    </p:extLst>
  </p:cSld>
</p:sld>
</file>

<file path=ppt/slides/slide6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522BBE-173C-4B00-887F-9FB512864CB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Paired final losses and their uncertainty</a:t>
            </a:r>
          </a:p>
        </p:txBody>
      </p:sp>
      <p:graphicFrame>
        <p:nvGraphicFramePr>
          <p:cNvPr id="2" name="">
            <a:extLst xmlns:a="http://schemas.openxmlformats.org/drawingml/2006/main">
              <a:ext uri="{FF2B5EF4-FFF2-40B4-BE49-F238E27FC236}">
                <a16:creationId xmlns:a16="http://schemas.microsoft.com/office/drawing/2014/main" id="{1944B364-B9C7-47B6-9942-E034531D22F6}"/>
              </a:ext>
            </a:extLst>
          </p:cNvPr>
          <p:cNvGraphicFramePr/>
          <p:nvPr/>
        </p:nvGraphicFramePr>
        <p:xfrm>
          <a:off xmlns:a="http://schemas.openxmlformats.org/drawingml/2006/main" x="590550" y="1457325"/>
          <a:ext xmlns:a="http://schemas.openxmlformats.org/drawingml/2006/main" cx="10953750" cy="2667000"/>
        </p:xfrm>
        <a:graphic xmlns:a="http://schemas.openxmlformats.org/drawingml/2006/main">
          <a:graphicData uri="http://schemas.openxmlformats.org/drawingml/2006/table">
            <a:tbl>
              <a:tblPr/>
              <a:tblGrid>
                <a:gridCol w="1143000"/>
                <a:gridCol w="2381250"/>
                <a:gridCol w="2381250"/>
                <a:gridCol w="2381250"/>
                <a:gridCol w="2667000"/>
              </a:tblGrid>
              <a:tr h="666750">
                <a:tc>
                  <a:txBody>
                    <a:bodyPr wrap="square" lIns="95250" tIns="95250" rIns="95250" bIns="95250"/>
                    <a:lstStyle/>
                    <a:p>
                      <a:r>
                        <a:rPr sz="1875" b="1">
                          <a:solidFill>
                            <a:srgbClr val="F1F5F9"/>
                          </a:solidFill>
                          <a:latin typeface="Calibri"/>
                          <a:ea typeface="Calibri"/>
                          <a:cs typeface="Calibri"/>
                        </a:rPr>
                        <a:t>Seed</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Scratch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Shuffled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 − shuffled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875" b="0">
                          <a:solidFill>
                            <a:srgbClr val="F1F5F9"/>
                          </a:solidFill>
                          <a:latin typeface="Calibri"/>
                          <a:ea typeface="Calibri"/>
                          <a:cs typeface="Calibri"/>
                        </a:rPr>
                        <a:t>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5.240872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5.227078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5.211471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0.015606</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75" b="0">
                          <a:solidFill>
                            <a:srgbClr val="F1F5F9"/>
                          </a:solidFill>
                          <a:latin typeface="Calibri"/>
                          <a:ea typeface="Calibri"/>
                          <a:cs typeface="Calibri"/>
                        </a:rPr>
                        <a:t>29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5.289353</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5.241984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5.241380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0.000604</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75" b="0">
                          <a:solidFill>
                            <a:srgbClr val="F1F5F9"/>
                          </a:solidFill>
                          <a:latin typeface="Calibri"/>
                          <a:ea typeface="Calibri"/>
                          <a:cs typeface="Calibri"/>
                        </a:rPr>
                        <a:t>43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5.268048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5.230903</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5.241732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-0.010829</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A2C9EB47-9F99-4862-A920-5D44F885D5A8}"/>
              </a:ext>
            </a:extLst>
          </p:cNvPr>
          <p:cNvSpPr>
            <a:spLocks xmlns:a="http://schemas.openxmlformats.org/drawingml/2006/main" noGrp="1"/>
          </p:cNvSpPr>
          <p:nvPr/>
        </p:nvSpPr>
        <p:spPr>
          <a:xfrm xmlns:a="http://schemas.openxmlformats.org/drawingml/2006/main">
            <a:off x="619125" y="47148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buNone/>
              <a:defRPr sz="2100" b="0">
                <a:solidFill>
                  <a:srgbClr val="F1F5F9"/>
                </a:solidFill>
                <a:latin typeface="Calibri"/>
                <a:ea typeface="Calibri"/>
                <a:cs typeface="Calibri"/>
              </a:defRPr>
            </a:lvl1pPr>
            <a:lvl2pPr>
              <a:buNone/>
              <a:defRPr sz="2100" b="0">
                <a:solidFill>
                  <a:srgbClr val="F1F5F9"/>
                </a:solidFill>
                <a:latin typeface="Calibri"/>
                <a:ea typeface="Calibri"/>
                <a:cs typeface="Calibri"/>
              </a:defRPr>
            </a:lvl2pPr>
            <a:lvl3pPr>
              <a:buNone/>
              <a:defRPr sz="2100" b="0">
                <a:solidFill>
                  <a:srgbClr val="F1F5F9"/>
                </a:solidFill>
                <a:latin typeface="Calibri"/>
                <a:ea typeface="Calibri"/>
                <a:cs typeface="Calibri"/>
              </a:defRPr>
            </a:lvl3pPr>
            <a:lvl4pPr>
              <a:buNone/>
              <a:defRPr sz="2100" b="0">
                <a:solidFill>
                  <a:srgbClr val="F1F5F9"/>
                </a:solidFill>
                <a:latin typeface="Calibri"/>
                <a:ea typeface="Calibri"/>
                <a:cs typeface="Calibri"/>
              </a:defRPr>
            </a:lvl4pPr>
            <a:lvl5pPr>
              <a:buNone/>
              <a:defRPr sz="2100" b="0">
                <a:solidFill>
                  <a:srgbClr val="F1F5F9"/>
                </a:solidFill>
                <a:latin typeface="Calibri"/>
                <a:ea typeface="Calibri"/>
                <a:cs typeface="Calibri"/>
              </a:defRPr>
            </a:lvl5pPr>
            <a:lvl6pPr>
              <a:buNone/>
              <a:defRPr sz="2100" b="0">
                <a:solidFill>
                  <a:srgbClr val="F1F5F9"/>
                </a:solidFill>
                <a:latin typeface="Calibri"/>
                <a:ea typeface="Calibri"/>
                <a:cs typeface="Calibri"/>
              </a:defRPr>
            </a:lvl6pPr>
            <a:lvl7pPr>
              <a:buNone/>
              <a:defRPr sz="2100" b="0">
                <a:solidFill>
                  <a:srgbClr val="F1F5F9"/>
                </a:solidFill>
                <a:latin typeface="Calibri"/>
                <a:ea typeface="Calibri"/>
                <a:cs typeface="Calibri"/>
              </a:defRPr>
            </a:lvl7pPr>
            <a:lvl8pPr>
              <a:buNone/>
              <a:defRPr sz="2100" b="0">
                <a:solidFill>
                  <a:srgbClr val="F1F5F9"/>
                </a:solidFill>
                <a:latin typeface="Calibri"/>
                <a:ea typeface="Calibri"/>
                <a:cs typeface="Calibri"/>
              </a:defRPr>
            </a:lvl8pPr>
            <a:lvl9pPr>
              <a:buNone/>
              <a:defRPr sz="2100" b="0">
                <a:solidFill>
                  <a:srgbClr val="F1F5F9"/>
                </a:solidFill>
                <a:latin typeface="Calibri"/>
                <a:ea typeface="Calibri"/>
                <a:cs typeface="Calibri"/>
              </a:defRPr>
            </a:lvl9pPr>
          </a:lstStyle>
          <a:p xmlns:a="http://schemas.openxmlformats.org/drawingml/2006/main">
            <a:pPr>
              <a:buNone/>
              <a:defRPr sz="2100" b="0">
                <a:solidFill>
                  <a:srgbClr val="F1F5F9"/>
                </a:solidFill>
                <a:latin typeface="Calibri"/>
                <a:ea typeface="Calibri"/>
                <a:cs typeface="Calibri"/>
              </a:defRPr>
            </a:pPr>
            <a:r>
              <a:rPr sz="2100" b="0">
                <a:solidFill>
                  <a:srgbClr val="F1F5F9"/>
                </a:solidFill>
                <a:latin typeface="Calibri"/>
                <a:ea typeface="Calibri"/>
                <a:cs typeface="Calibri"/>
              </a:rPr>
              <a:t>Shuffled is better in two seeds and grid is better in one. Three model seeds on one shared synthetic cache do not estimate independent cache/topology variance or establish a general dynamics advantage.</a:t>
            </a:r>
          </a:p>
        </p:txBody>
      </p:sp>
      <p:sp>
        <p:nvSpPr>
          <p:cNvPr id="4" name="body">
            <a:extLst xmlns:a="http://schemas.openxmlformats.org/drawingml/2006/main">
              <a:ext uri="{FF2B5EF4-FFF2-40B4-BE49-F238E27FC236}">
                <a16:creationId xmlns:a16="http://schemas.microsoft.com/office/drawing/2014/main" id="{BBD91F71-2463-4421-A983-D581BB75BD2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63</a:t>
            </a:r>
          </a:p>
        </p:txBody>
      </p:sp>
    </p:spTree>
    <p:extLst>
      <p:ext uri="{BB962C8B-B14F-4D97-AF65-F5344CB8AC3E}">
        <p14:creationId xmlns:p14="http://schemas.microsoft.com/office/powerpoint/2010/main" val="2993773"/>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8F90CAB-B11A-42F9-81F4-468149F13AB9}"/>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Cumulative accounting and synthetic-stage cost</a:t>
            </a:r>
            <a:endParaRPr sz="3000"/>
          </a:p>
        </p:txBody>
      </p:sp>
      <p:graphicFrame>
        <p:nvGraphicFramePr>
          <p:cNvPr id="4" name="Chart 0">
            <a:extLst xmlns:a="http://schemas.openxmlformats.org/drawingml/2006/main">
              <a:ext uri="{FF2B5EF4-FFF2-40B4-BE49-F238E27FC236}">
                <a16:creationId xmlns:a16="http://schemas.microsoft.com/office/drawing/2014/main" id="{85A209C3-0CDB-422C-AA4B-E642291C08B2}"/>
              </a:ext>
            </a:extLst>
          </p:cNvPr>
          <p:cNvGraphicFramePr/>
          <p:nvPr/>
        </p:nvGraphicFramePr>
        <p:xfrm>
          <a:off xmlns:a="http://schemas.openxmlformats.org/drawingml/2006/main" x="548640" y="1325880"/>
          <a:ext xmlns:a="http://schemas.openxmlformats.org/drawingml/2006/main" cx="6400800" cy="4846320"/>
        </p:xfrm>
        <a:graphic xmlns:a="http://schemas.openxmlformats.org/drawingml/2006/main">
          <a:graphicData uri="http://schemas.openxmlformats.org/drawingml/2006/chart">
            <c:chart xmlns:r="http://schemas.openxmlformats.org/officeDocument/2006/relationships" xmlns:c="http://schemas.openxmlformats.org/drawingml/2006/chart" r:id="R025c1b96ee7447d2"/>
          </a:graphicData>
        </a:graphic>
      </p:graphicFrame>
      <p:sp>
        <p:nvSpPr>
          <p:cNvPr id="5" name="Cumulative card">
            <a:extLst xmlns:a="http://schemas.openxmlformats.org/drawingml/2006/main">
              <a:ext uri="{FF2B5EF4-FFF2-40B4-BE49-F238E27FC236}">
                <a16:creationId xmlns:a16="http://schemas.microsoft.com/office/drawing/2014/main" id="{CA9FCEB4-0B81-4D05-B414-6097590643DD}"/>
              </a:ext>
            </a:extLst>
          </p:cNvPr>
          <p:cNvSpPr>
            <a:spLocks xmlns:a="http://schemas.openxmlformats.org/drawingml/2006/main" noGrp="1"/>
          </p:cNvSpPr>
          <p:nvPr/>
        </p:nvSpPr>
        <p:spPr>
          <a:xfrm xmlns:a="http://schemas.openxmlformats.org/drawingml/2006/main">
            <a:off x="7223760" y="1325880"/>
            <a:ext cx="4389120" cy="2286000"/>
          </a:xfrm>
          <a:prstGeom xmlns:a="http://schemas.openxmlformats.org/drawingml/2006/main" prst="roundRect">
            <a:avLst>
              <a:gd name="adj" fmla="val 4800"/>
            </a:avLst>
          </a:prstGeom>
          <a:solidFill xmlns:a="http://schemas.openxmlformats.org/drawingml/2006/main">
            <a:srgbClr val="15233B"/>
          </a:solidFill>
          <a:ln xmlns:a="http://schemas.openxmlformats.org/drawingml/2006/main" w="12700">
            <a:solidFill>
              <a:srgbClr val="15233B"/>
            </a:solidFill>
            <a:prstDash val="solid"/>
          </a:ln>
        </p:spPr>
      </p:sp>
      <p:sp>
        <p:nvSpPr>
          <p:cNvPr id="6" name="Cumulative number">
            <a:extLst xmlns:a="http://schemas.openxmlformats.org/drawingml/2006/main">
              <a:ext uri="{FF2B5EF4-FFF2-40B4-BE49-F238E27FC236}">
                <a16:creationId xmlns:a16="http://schemas.microsoft.com/office/drawing/2014/main" id="{4CE36EC5-9CE3-4D05-A882-99ADF41B3C01}"/>
              </a:ext>
            </a:extLst>
          </p:cNvPr>
          <p:cNvSpPr>
            <a:spLocks xmlns:a="http://schemas.openxmlformats.org/drawingml/2006/main" noGrp="1"/>
          </p:cNvSpPr>
          <p:nvPr/>
        </p:nvSpPr>
        <p:spPr>
          <a:xfrm xmlns:a="http://schemas.openxmlformats.org/drawingml/2006/main">
            <a:off x="7498080" y="1508760"/>
            <a:ext cx="38404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87171"/>
                </a:solidFill>
                <a:latin typeface="Calibri"/>
                <a:ea typeface="Calibri"/>
                <a:cs typeface="Calibri"/>
              </a:rPr>
              <a:t>0.886×</a:t>
            </a:r>
            <a:endParaRPr sz="4800"/>
          </a:p>
        </p:txBody>
      </p:sp>
      <p:sp>
        <p:nvSpPr>
          <p:cNvPr id="7" name="Cumulative label">
            <a:extLst xmlns:a="http://schemas.openxmlformats.org/drawingml/2006/main">
              <a:ext uri="{FF2B5EF4-FFF2-40B4-BE49-F238E27FC236}">
                <a16:creationId xmlns:a16="http://schemas.microsoft.com/office/drawing/2014/main" id="{96EFC54A-CDB6-4759-BFAD-75349F9F5CB5}"/>
              </a:ext>
            </a:extLst>
          </p:cNvPr>
          <p:cNvSpPr>
            <a:spLocks xmlns:a="http://schemas.openxmlformats.org/drawingml/2006/main" noGrp="1"/>
          </p:cNvSpPr>
          <p:nvPr/>
        </p:nvSpPr>
        <p:spPr>
          <a:xfrm xmlns:a="http://schemas.openxmlformats.org/drawingml/2006/main">
            <a:off x="7498080" y="2423160"/>
            <a:ext cx="3840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Cumulative-time speedup</a:t>
            </a:r>
            <a:endParaRPr sz="1800"/>
          </a:p>
        </p:txBody>
      </p:sp>
      <p:sp>
        <p:nvSpPr>
          <p:cNvPr id="8" name="Cumulative detail">
            <a:extLst xmlns:a="http://schemas.openxmlformats.org/drawingml/2006/main">
              <a:ext uri="{FF2B5EF4-FFF2-40B4-BE49-F238E27FC236}">
                <a16:creationId xmlns:a16="http://schemas.microsoft.com/office/drawing/2014/main" id="{B1D98E60-F810-44CB-A653-9E9864F5DC33}"/>
              </a:ext>
            </a:extLst>
          </p:cNvPr>
          <p:cNvSpPr>
            <a:spLocks xmlns:a="http://schemas.openxmlformats.org/drawingml/2006/main" noGrp="1"/>
          </p:cNvSpPr>
          <p:nvPr/>
        </p:nvSpPr>
        <p:spPr>
          <a:xfrm xmlns:a="http://schemas.openxmlformats.org/drawingml/2006/main">
            <a:off x="7498080" y="2834640"/>
            <a:ext cx="3840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About 12.8% more recorded time than scratch at the paired reference.</a:t>
            </a:r>
            <a:endParaRPr sz="1400"/>
          </a:p>
        </p:txBody>
      </p:sp>
      <p:sp>
        <p:nvSpPr>
          <p:cNvPr id="9" name="Accounting card">
            <a:extLst xmlns:a="http://schemas.openxmlformats.org/drawingml/2006/main">
              <a:ext uri="{FF2B5EF4-FFF2-40B4-BE49-F238E27FC236}">
                <a16:creationId xmlns:a16="http://schemas.microsoft.com/office/drawing/2014/main" id="{0DD93396-D923-4AA8-BD7B-8ED05A8F7318}"/>
              </a:ext>
            </a:extLst>
          </p:cNvPr>
          <p:cNvSpPr>
            <a:spLocks xmlns:a="http://schemas.openxmlformats.org/drawingml/2006/main" noGrp="1"/>
          </p:cNvSpPr>
          <p:nvPr/>
        </p:nvSpPr>
        <p:spPr>
          <a:xfrm xmlns:a="http://schemas.openxmlformats.org/drawingml/2006/main">
            <a:off x="7223760" y="3794760"/>
            <a:ext cx="438912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0" name="Text 6">
            <a:extLst xmlns:a="http://schemas.openxmlformats.org/drawingml/2006/main">
              <a:ext uri="{FF2B5EF4-FFF2-40B4-BE49-F238E27FC236}">
                <a16:creationId xmlns:a16="http://schemas.microsoft.com/office/drawing/2014/main" id="{385DA434-1ADA-4E1D-A0A6-8BB41088D254}"/>
              </a:ext>
            </a:extLst>
          </p:cNvPr>
          <p:cNvSpPr>
            <a:spLocks xmlns:a="http://schemas.openxmlformats.org/drawingml/2006/main" noGrp="1"/>
          </p:cNvSpPr>
          <p:nvPr/>
        </p:nvSpPr>
        <p:spPr>
          <a:xfrm xmlns:a="http://schemas.openxmlformats.org/drawingml/2006/main">
            <a:off x="7452360" y="3931920"/>
            <a:ext cx="3931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Two views of the same run</a:t>
            </a:r>
            <a:endParaRPr sz="1800"/>
          </a:p>
        </p:txBody>
      </p:sp>
      <p:sp>
        <p:nvSpPr>
          <p:cNvPr id="11" name="Text 7">
            <a:extLst xmlns:a="http://schemas.openxmlformats.org/drawingml/2006/main">
              <a:ext uri="{FF2B5EF4-FFF2-40B4-BE49-F238E27FC236}">
                <a16:creationId xmlns:a16="http://schemas.microsoft.com/office/drawing/2014/main" id="{93CEED2A-7DF2-462F-9390-5A5B01115DA2}"/>
              </a:ext>
            </a:extLst>
          </p:cNvPr>
          <p:cNvSpPr>
            <a:spLocks xmlns:a="http://schemas.openxmlformats.org/drawingml/2006/main" noGrp="1"/>
          </p:cNvSpPr>
          <p:nvPr/>
        </p:nvSpPr>
        <p:spPr>
          <a:xfrm xmlns:a="http://schemas.openxmlformats.org/drawingml/2006/main">
            <a:off x="7452360" y="4343400"/>
            <a:ext cx="402336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Language stage: 1600–1800 updates instead of 2000</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Full pipeline: +1,000 synthetic updates (4.096M tokens)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About 85.9 minutes summed over all measured stages</a:t>
            </a:r>
            <a:endParaRPr sz="1400"/>
          </a:p>
        </p:txBody>
      </p:sp>
      <p:sp>
        <p:nvSpPr>
          <p:cNvPr id="25" name="Slide Number Placeholder 0">
            <a:extLst xmlns:a="http://schemas.openxmlformats.org/drawingml/2006/main">
              <a:ext uri="{FF2B5EF4-FFF2-40B4-BE49-F238E27FC236}">
                <a16:creationId xmlns:a16="http://schemas.microsoft.com/office/drawing/2014/main" id="{26391459-0943-46BF-A9AF-39BCD9094525}"/>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56950077"/>
      </p:ext>
    </p:extLst>
  </p:cSld>
</p:sld>
</file>

<file path=ppt/slides/slide6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6402829-23FF-49A0-BED0-A4B6EE3F741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Timing scope and input-token accounting</a:t>
            </a:r>
          </a:p>
        </p:txBody>
      </p:sp>
      <p:sp>
        <p:nvSpPr>
          <p:cNvPr id="2" name="body">
            <a:extLst xmlns:a="http://schemas.openxmlformats.org/drawingml/2006/main">
              <a:ext uri="{FF2B5EF4-FFF2-40B4-BE49-F238E27FC236}">
                <a16:creationId xmlns:a16="http://schemas.microsoft.com/office/drawing/2014/main" id="{AA3FC64B-D5C6-4565-9374-224CEB8C3904}"/>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buNone/>
              <a:defRPr sz="2100" b="1">
                <a:solidFill>
                  <a:srgbClr val="38BDF8"/>
                </a:solidFill>
                <a:latin typeface="Calibri"/>
                <a:ea typeface="Calibri"/>
                <a:cs typeface="Calibri"/>
              </a:defRPr>
            </a:lvl1pPr>
            <a:lvl2pPr>
              <a:buNone/>
              <a:defRPr sz="2100" b="1">
                <a:solidFill>
                  <a:srgbClr val="38BDF8"/>
                </a:solidFill>
                <a:latin typeface="Calibri"/>
                <a:ea typeface="Calibri"/>
                <a:cs typeface="Calibri"/>
              </a:defRPr>
            </a:lvl2pPr>
            <a:lvl3pPr>
              <a:buNone/>
              <a:defRPr sz="2100" b="1">
                <a:solidFill>
                  <a:srgbClr val="38BDF8"/>
                </a:solidFill>
                <a:latin typeface="Calibri"/>
                <a:ea typeface="Calibri"/>
                <a:cs typeface="Calibri"/>
              </a:defRPr>
            </a:lvl3pPr>
            <a:lvl4pPr>
              <a:buNone/>
              <a:defRPr sz="2100" b="1">
                <a:solidFill>
                  <a:srgbClr val="38BDF8"/>
                </a:solidFill>
                <a:latin typeface="Calibri"/>
                <a:ea typeface="Calibri"/>
                <a:cs typeface="Calibri"/>
              </a:defRPr>
            </a:lvl4pPr>
            <a:lvl5pPr>
              <a:buNone/>
              <a:defRPr sz="2100" b="1">
                <a:solidFill>
                  <a:srgbClr val="38BDF8"/>
                </a:solidFill>
                <a:latin typeface="Calibri"/>
                <a:ea typeface="Calibri"/>
                <a:cs typeface="Calibri"/>
              </a:defRPr>
            </a:lvl5pPr>
            <a:lvl6pPr>
              <a:buNone/>
              <a:defRPr sz="2100" b="1">
                <a:solidFill>
                  <a:srgbClr val="38BDF8"/>
                </a:solidFill>
                <a:latin typeface="Calibri"/>
                <a:ea typeface="Calibri"/>
                <a:cs typeface="Calibri"/>
              </a:defRPr>
            </a:lvl6pPr>
            <a:lvl7pPr>
              <a:buNone/>
              <a:defRPr sz="2100" b="1">
                <a:solidFill>
                  <a:srgbClr val="38BDF8"/>
                </a:solidFill>
                <a:latin typeface="Calibri"/>
                <a:ea typeface="Calibri"/>
                <a:cs typeface="Calibri"/>
              </a:defRPr>
            </a:lvl7pPr>
            <a:lvl8pPr>
              <a:buNone/>
              <a:defRPr sz="2100" b="1">
                <a:solidFill>
                  <a:srgbClr val="38BDF8"/>
                </a:solidFill>
                <a:latin typeface="Calibri"/>
                <a:ea typeface="Calibri"/>
                <a:cs typeface="Calibri"/>
              </a:defRPr>
            </a:lvl8pPr>
            <a:lvl9pPr>
              <a:buNone/>
              <a:defRPr sz="2100" b="1">
                <a:solidFill>
                  <a:srgbClr val="38BDF8"/>
                </a:solidFill>
                <a:latin typeface="Calibri"/>
                <a:ea typeface="Calibri"/>
                <a:cs typeface="Calibri"/>
              </a:defRPr>
            </a:lvl9pPr>
          </a:lstStyle>
          <a:p xmlns:a="http://schemas.openxmlformats.org/drawingml/2006/main">
            <a:pPr>
              <a:buNone/>
              <a:defRPr sz="2100" b="1">
                <a:solidFill>
                  <a:srgbClr val="38BDF8"/>
                </a:solidFill>
                <a:latin typeface="Calibri"/>
                <a:ea typeface="Calibri"/>
                <a:cs typeface="Calibri"/>
              </a:defRPr>
            </a:pPr>
            <a:r>
              <a:rPr sz="2100" b="1">
                <a:solidFill>
                  <a:srgbClr val="38BDF8"/>
                </a:solidFill>
                <a:latin typeface="Calibri"/>
                <a:ea typeface="Calibri"/>
                <a:cs typeface="Calibri"/>
              </a:rPr>
              <a:t>Counted at each paired reference</a:t>
            </a:r>
          </a:p>
        </p:txBody>
      </p:sp>
      <p:sp>
        <p:nvSpPr>
          <p:cNvPr id="3" name="body">
            <a:extLst xmlns:a="http://schemas.openxmlformats.org/drawingml/2006/main">
              <a:ext uri="{FF2B5EF4-FFF2-40B4-BE49-F238E27FC236}">
                <a16:creationId xmlns:a16="http://schemas.microsoft.com/office/drawing/2014/main" id="{E6FAF827-D7A9-4643-8217-9DA69666BA32}"/>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buNone/>
              <a:defRPr sz="2100" b="1">
                <a:solidFill>
                  <a:srgbClr val="FBBF24"/>
                </a:solidFill>
                <a:latin typeface="Calibri"/>
                <a:ea typeface="Calibri"/>
                <a:cs typeface="Calibri"/>
              </a:defRPr>
            </a:lvl1pPr>
            <a:lvl2pPr>
              <a:buNone/>
              <a:defRPr sz="2100" b="1">
                <a:solidFill>
                  <a:srgbClr val="FBBF24"/>
                </a:solidFill>
                <a:latin typeface="Calibri"/>
                <a:ea typeface="Calibri"/>
                <a:cs typeface="Calibri"/>
              </a:defRPr>
            </a:lvl2pPr>
            <a:lvl3pPr>
              <a:buNone/>
              <a:defRPr sz="2100" b="1">
                <a:solidFill>
                  <a:srgbClr val="FBBF24"/>
                </a:solidFill>
                <a:latin typeface="Calibri"/>
                <a:ea typeface="Calibri"/>
                <a:cs typeface="Calibri"/>
              </a:defRPr>
            </a:lvl3pPr>
            <a:lvl4pPr>
              <a:buNone/>
              <a:defRPr sz="2100" b="1">
                <a:solidFill>
                  <a:srgbClr val="FBBF24"/>
                </a:solidFill>
                <a:latin typeface="Calibri"/>
                <a:ea typeface="Calibri"/>
                <a:cs typeface="Calibri"/>
              </a:defRPr>
            </a:lvl4pPr>
            <a:lvl5pPr>
              <a:buNone/>
              <a:defRPr sz="2100" b="1">
                <a:solidFill>
                  <a:srgbClr val="FBBF24"/>
                </a:solidFill>
                <a:latin typeface="Calibri"/>
                <a:ea typeface="Calibri"/>
                <a:cs typeface="Calibri"/>
              </a:defRPr>
            </a:lvl5pPr>
            <a:lvl6pPr>
              <a:buNone/>
              <a:defRPr sz="2100" b="1">
                <a:solidFill>
                  <a:srgbClr val="FBBF24"/>
                </a:solidFill>
                <a:latin typeface="Calibri"/>
                <a:ea typeface="Calibri"/>
                <a:cs typeface="Calibri"/>
              </a:defRPr>
            </a:lvl6pPr>
            <a:lvl7pPr>
              <a:buNone/>
              <a:defRPr sz="2100" b="1">
                <a:solidFill>
                  <a:srgbClr val="FBBF24"/>
                </a:solidFill>
                <a:latin typeface="Calibri"/>
                <a:ea typeface="Calibri"/>
                <a:cs typeface="Calibri"/>
              </a:defRPr>
            </a:lvl7pPr>
            <a:lvl8pPr>
              <a:buNone/>
              <a:defRPr sz="2100" b="1">
                <a:solidFill>
                  <a:srgbClr val="FBBF24"/>
                </a:solidFill>
                <a:latin typeface="Calibri"/>
                <a:ea typeface="Calibri"/>
                <a:cs typeface="Calibri"/>
              </a:defRPr>
            </a:lvl8pPr>
            <a:lvl9pPr>
              <a:buNone/>
              <a:defRPr sz="2100" b="1">
                <a:solidFill>
                  <a:srgbClr val="FBBF24"/>
                </a:solidFill>
                <a:latin typeface="Calibri"/>
                <a:ea typeface="Calibri"/>
                <a:cs typeface="Calibri"/>
              </a:defRPr>
            </a:lvl9pPr>
          </a:lstStyle>
          <a:p xmlns:a="http://schemas.openxmlformats.org/drawingml/2006/main">
            <a:pPr>
              <a:buNone/>
              <a:defRPr sz="2100" b="1">
                <a:solidFill>
                  <a:srgbClr val="FBBF24"/>
                </a:solidFill>
                <a:latin typeface="Calibri"/>
                <a:ea typeface="Calibri"/>
                <a:cs typeface="Calibri"/>
              </a:defRPr>
            </a:pPr>
            <a:r>
              <a:rPr sz="2100" b="1">
                <a:solidFill>
                  <a:srgbClr val="FBBF24"/>
                </a:solidFill>
                <a:latin typeface="Calibri"/>
                <a:ea typeface="Calibri"/>
                <a:cs typeface="Calibri"/>
              </a:rPr>
              <a:t>Excluded or separate</a:t>
            </a:r>
          </a:p>
        </p:txBody>
      </p:sp>
      <p:sp>
        <p:nvSpPr>
          <p:cNvPr id="4" name="body">
            <a:extLst xmlns:a="http://schemas.openxmlformats.org/drawingml/2006/main">
              <a:ext uri="{FF2B5EF4-FFF2-40B4-BE49-F238E27FC236}">
                <a16:creationId xmlns:a16="http://schemas.microsoft.com/office/drawing/2014/main" id="{61D525CA-B9D6-47EA-877D-35D12EBC7365}"/>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Relevant data preparation</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Synthetic stage and language setup</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Language optimization and validation</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Grid cumulative tokens: 11.4688M, 10.6496M, 11.0592M</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Scratch: 8.192M each</a:t>
            </a:r>
          </a:p>
        </p:txBody>
      </p:sp>
      <p:sp>
        <p:nvSpPr>
          <p:cNvPr id="5" name="body">
            <a:extLst xmlns:a="http://schemas.openxmlformats.org/drawingml/2006/main">
              <a:ext uri="{FF2B5EF4-FFF2-40B4-BE49-F238E27FC236}">
                <a16:creationId xmlns:a16="http://schemas.microsoft.com/office/drawing/2014/main" id="{2E224B43-20ED-4ACB-8AE0-8F5A838C22DD}"/>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buNone/>
              <a:defRPr sz="1950" b="0">
                <a:solidFill>
                  <a:srgbClr val="F1F5F9"/>
                </a:solidFill>
                <a:latin typeface="Calibri"/>
                <a:ea typeface="Calibri"/>
                <a:cs typeface="Calibri"/>
              </a:defRPr>
            </a:lvl1pPr>
            <a:lvl2pPr>
              <a:buNone/>
              <a:defRPr sz="1950" b="0">
                <a:solidFill>
                  <a:srgbClr val="F1F5F9"/>
                </a:solidFill>
                <a:latin typeface="Calibri"/>
                <a:ea typeface="Calibri"/>
                <a:cs typeface="Calibri"/>
              </a:defRPr>
            </a:lvl2pPr>
            <a:lvl3pPr>
              <a:buNone/>
              <a:defRPr sz="1950" b="0">
                <a:solidFill>
                  <a:srgbClr val="F1F5F9"/>
                </a:solidFill>
                <a:latin typeface="Calibri"/>
                <a:ea typeface="Calibri"/>
                <a:cs typeface="Calibri"/>
              </a:defRPr>
            </a:lvl3pPr>
            <a:lvl4pPr>
              <a:buNone/>
              <a:defRPr sz="1950" b="0">
                <a:solidFill>
                  <a:srgbClr val="F1F5F9"/>
                </a:solidFill>
                <a:latin typeface="Calibri"/>
                <a:ea typeface="Calibri"/>
                <a:cs typeface="Calibri"/>
              </a:defRPr>
            </a:lvl4pPr>
            <a:lvl5pPr>
              <a:buNone/>
              <a:defRPr sz="1950" b="0">
                <a:solidFill>
                  <a:srgbClr val="F1F5F9"/>
                </a:solidFill>
                <a:latin typeface="Calibri"/>
                <a:ea typeface="Calibri"/>
                <a:cs typeface="Calibri"/>
              </a:defRPr>
            </a:lvl5pPr>
            <a:lvl6pPr>
              <a:buNone/>
              <a:defRPr sz="1950" b="0">
                <a:solidFill>
                  <a:srgbClr val="F1F5F9"/>
                </a:solidFill>
                <a:latin typeface="Calibri"/>
                <a:ea typeface="Calibri"/>
                <a:cs typeface="Calibri"/>
              </a:defRPr>
            </a:lvl6pPr>
            <a:lvl7pPr>
              <a:buNone/>
              <a:defRPr sz="1950" b="0">
                <a:solidFill>
                  <a:srgbClr val="F1F5F9"/>
                </a:solidFill>
                <a:latin typeface="Calibri"/>
                <a:ea typeface="Calibri"/>
                <a:cs typeface="Calibri"/>
              </a:defRPr>
            </a:lvl7pPr>
            <a:lvl8pPr>
              <a:buNone/>
              <a:defRPr sz="1950" b="0">
                <a:solidFill>
                  <a:srgbClr val="F1F5F9"/>
                </a:solidFill>
                <a:latin typeface="Calibri"/>
                <a:ea typeface="Calibri"/>
                <a:cs typeface="Calibri"/>
              </a:defRPr>
            </a:lvl8pPr>
            <a:lvl9pPr>
              <a:buNone/>
              <a:defRPr sz="1950" b="0">
                <a:solidFill>
                  <a:srgbClr val="F1F5F9"/>
                </a:solidFill>
                <a:latin typeface="Calibri"/>
                <a:ea typeface="Calibri"/>
                <a:cs typeface="Calibri"/>
              </a:defRPr>
            </a:lvl9pPr>
          </a:lstStyle>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Queueing and package startup</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Disposable calibration</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Final language checkpoint/export work</a:t>
            </a:r>
          </a:p>
          <a:p xmlns:a="http://schemas.openxmlformats.org/drawingml/2006/main">
            <a:r>
              <a:t/>
            </a:r>
          </a:p>
          <a:p xmlns:a="http://schemas.openxmlformats.org/drawingml/2006/main">
            <a:pPr>
              <a:buNone/>
              <a:defRPr sz="1950" b="0">
                <a:solidFill>
                  <a:srgbClr val="F1F5F9"/>
                </a:solidFill>
                <a:latin typeface="Calibri"/>
                <a:ea typeface="Calibri"/>
                <a:cs typeface="Calibri"/>
              </a:defRPr>
            </a:pPr>
            <a:r>
              <a:rPr sz="1950" b="0">
                <a:solidFill>
                  <a:srgbClr val="F1F5F9"/>
                </a:solidFill>
                <a:latin typeface="Calibri"/>
                <a:ea typeface="Calibri"/>
                <a:cs typeface="Calibri"/>
              </a:rPr>
              <a:t>85.9 minutes sums all recorded stages across the run. It is not the notebook end-to-end runtime.</a:t>
            </a:r>
          </a:p>
        </p:txBody>
      </p:sp>
      <p:sp>
        <p:nvSpPr>
          <p:cNvPr id="6" name="source">
            <a:extLst xmlns:a="http://schemas.openxmlformats.org/drawingml/2006/main">
              <a:ext uri="{FF2B5EF4-FFF2-40B4-BE49-F238E27FC236}">
                <a16:creationId xmlns:a16="http://schemas.microsoft.com/office/drawing/2014/main" id="{7AD242D9-C042-4724-B471-3E33CAA1500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Original GPU logs provide historical clocks. CPU metric replay cannot independently reproduce historical timing.</a:t>
            </a:r>
          </a:p>
        </p:txBody>
      </p:sp>
      <p:sp>
        <p:nvSpPr>
          <p:cNvPr id="7" name="body">
            <a:extLst xmlns:a="http://schemas.openxmlformats.org/drawingml/2006/main">
              <a:ext uri="{FF2B5EF4-FFF2-40B4-BE49-F238E27FC236}">
                <a16:creationId xmlns:a16="http://schemas.microsoft.com/office/drawing/2014/main" id="{1CD54C18-33EA-44A7-8FF5-07C91F798EF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65</a:t>
            </a:r>
          </a:p>
        </p:txBody>
      </p:sp>
    </p:spTree>
    <p:extLst>
      <p:ext uri="{BB962C8B-B14F-4D97-AF65-F5344CB8AC3E}">
        <p14:creationId xmlns:p14="http://schemas.microsoft.com/office/powerpoint/2010/main" val="1455263220"/>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BEA7CE-9760-4132-B082-2180014A5528}"/>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Independent replay, provenance and limitations</a:t>
            </a:r>
            <a:endParaRPr sz="3000"/>
          </a:p>
        </p:txBody>
      </p:sp>
      <p:sp>
        <p:nvSpPr>
          <p:cNvPr id="4" name="Verified card">
            <a:extLst xmlns:a="http://schemas.openxmlformats.org/drawingml/2006/main">
              <a:ext uri="{FF2B5EF4-FFF2-40B4-BE49-F238E27FC236}">
                <a16:creationId xmlns:a16="http://schemas.microsoft.com/office/drawing/2014/main" id="{21D4AE5C-312F-42DC-B151-F3C16DF31508}"/>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C706C104-F840-4300-B7A7-18A0E65E9B0E}"/>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3"/>
                </a:solidFill>
                <a:latin typeface="Calibri"/>
                <a:ea typeface="Calibri"/>
                <a:cs typeface="Calibri"/>
              </a:rPr>
              <a:t>What was independently checked</a:t>
            </a:r>
            <a:endParaRPr sz="1800"/>
          </a:p>
        </p:txBody>
      </p:sp>
      <p:sp>
        <p:nvSpPr>
          <p:cNvPr id="6" name="Text 3">
            <a:extLst xmlns:a="http://schemas.openxmlformats.org/drawingml/2006/main">
              <a:ext uri="{FF2B5EF4-FFF2-40B4-BE49-F238E27FC236}">
                <a16:creationId xmlns:a16="http://schemas.microsoft.com/office/drawing/2014/main" id="{8C20BCC3-C17A-4FC3-A9E2-A0AABA8CCE2D}"/>
              </a:ext>
            </a:extLst>
          </p:cNvPr>
          <p:cNvSpPr>
            <a:spLocks xmlns:a="http://schemas.openxmlformats.org/drawingml/2006/main" noGrp="1"/>
          </p:cNvSpPr>
          <p:nvPr/>
        </p:nvSpPr>
        <p:spPr>
          <a:xfrm xmlns:a="http://schemas.openxmlformats.org/drawingml/2006/main">
            <a:off x="82296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15 V2 checkpoints replayed on CPU: max metric gap 1.9563e-7</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Pilot 1: 15 checkpoints, max CPU/GPU gap 8.2e-8</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Gate decisions, crossings and token accounting recomputed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Hashes match across arms within each seed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Source and archive SHA-256 recorded</a:t>
            </a:r>
            <a:endParaRPr sz="1800"/>
          </a:p>
        </p:txBody>
      </p:sp>
      <p:sp>
        <p:nvSpPr>
          <p:cNvPr id="7" name="Limits card">
            <a:extLst xmlns:a="http://schemas.openxmlformats.org/drawingml/2006/main">
              <a:ext uri="{FF2B5EF4-FFF2-40B4-BE49-F238E27FC236}">
                <a16:creationId xmlns:a16="http://schemas.microsoft.com/office/drawing/2014/main" id="{CE0D478D-BE41-4C85-8D7F-0A4F99F28A5D}"/>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BACA7795-189E-4DA9-94B6-3009B41610E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4"/>
                </a:solidFill>
                <a:latin typeface="Calibri"/>
                <a:ea typeface="Calibri"/>
                <a:cs typeface="Calibri"/>
              </a:rPr>
              <a:t>Limits the repository states</a:t>
            </a:r>
            <a:endParaRPr sz="1800"/>
          </a:p>
        </p:txBody>
      </p:sp>
      <p:sp>
        <p:nvSpPr>
          <p:cNvPr id="9" name="Text 6">
            <a:extLst xmlns:a="http://schemas.openxmlformats.org/drawingml/2006/main">
              <a:ext uri="{FF2B5EF4-FFF2-40B4-BE49-F238E27FC236}">
                <a16:creationId xmlns:a16="http://schemas.microsoft.com/office/drawing/2014/main" id="{4C3557D9-BCAE-4007-881A-50F120AF8620}"/>
              </a:ext>
            </a:extLst>
          </p:cNvPr>
          <p:cNvSpPr>
            <a:spLocks xmlns:a="http://schemas.openxmlformats.org/drawingml/2006/main" noGrp="1"/>
          </p:cNvSpPr>
          <p:nvPr/>
        </p:nvSpPr>
        <p:spPr>
          <a:xfrm xmlns:a="http://schemas.openxmlformats.org/drawingml/2006/main">
            <a:off x="649224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3 seeds, one shared synthetic cache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One small corpus; 32,768-token validation prefix</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Development validation has been examined; official test untouched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Bitwise init/schedule bytes not reproduced across runtimes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No graph treatment in V2; no claim of general acceleration</a:t>
            </a:r>
            <a:endParaRPr sz="1800"/>
          </a:p>
        </p:txBody>
      </p:sp>
      <p:sp>
        <p:nvSpPr>
          <p:cNvPr id="25" name="Slide Number Placeholder 0">
            <a:extLst xmlns:a="http://schemas.openxmlformats.org/drawingml/2006/main">
              <a:ext uri="{FF2B5EF4-FFF2-40B4-BE49-F238E27FC236}">
                <a16:creationId xmlns:a16="http://schemas.microsoft.com/office/drawing/2014/main" id="{0B1E2DD3-B421-4CD7-B6EB-E3138A5B4F8C}"/>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16</a:t>
            </a:fld>
            <a:endParaRPr/>
          </a:p>
        </p:txBody>
      </p:sp>
    </p:spTree>
    <p:extLst>
      <p:ext uri="{BB962C8B-B14F-4D97-AF65-F5344CB8AC3E}">
        <p14:creationId xmlns:p14="http://schemas.microsoft.com/office/powerpoint/2010/main" val="1712786472"/>
      </p:ext>
    </p:extLst>
  </p:cSld>
</p:sld>
</file>

<file path=ppt/slides/slide6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512F36-C736-4C21-9C08-CFCA914C6C3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Analytical survey of alternative explanations</a:t>
            </a:r>
          </a:p>
        </p:txBody>
      </p:sp>
      <p:graphicFrame>
        <p:nvGraphicFramePr>
          <p:cNvPr id="2" name="">
            <a:extLst xmlns:a="http://schemas.openxmlformats.org/drawingml/2006/main">
              <a:ext uri="{FF2B5EF4-FFF2-40B4-BE49-F238E27FC236}">
                <a16:creationId xmlns:a16="http://schemas.microsoft.com/office/drawing/2014/main" id="{4677B45E-0B45-4CD1-8C39-71AEBFACA643}"/>
              </a:ext>
            </a:extLst>
          </p:cNvPr>
          <p:cNvGraphicFramePr/>
          <p:nvPr/>
        </p:nvGraphicFramePr>
        <p:xfrm>
          <a:off xmlns:a="http://schemas.openxmlformats.org/drawingml/2006/main" x="590550" y="1457325"/>
          <a:ext xmlns:a="http://schemas.openxmlformats.org/drawingml/2006/main" cx="10953750" cy="3952875"/>
        </p:xfrm>
        <a:graphic xmlns:a="http://schemas.openxmlformats.org/drawingml/2006/main">
          <a:graphicData uri="http://schemas.openxmlformats.org/drawingml/2006/table">
            <a:tbl>
              <a:tblPr/>
              <a:tblGrid>
                <a:gridCol w="2571750"/>
                <a:gridCol w="4095750"/>
                <a:gridCol w="4286250"/>
              </a:tblGrid>
              <a:tr h="658813">
                <a:tc>
                  <a:txBody>
                    <a:bodyPr wrap="square" lIns="95250" tIns="95250" rIns="95250" bIns="95250"/>
                    <a:lstStyle/>
                    <a:p>
                      <a:r>
                        <a:rPr sz="1650" b="1">
                          <a:solidFill>
                            <a:srgbClr val="F1F5F9"/>
                          </a:solidFill>
                          <a:latin typeface="Calibri"/>
                          <a:ea typeface="Calibri"/>
                          <a:cs typeface="Calibri"/>
                        </a:rPr>
                        <a:t>Explanation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Evidence currently available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Discriminating next check</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8813">
                <a:tc>
                  <a:txBody>
                    <a:bodyPr wrap="square" lIns="95250" tIns="95250" rIns="95250" bIns="95250"/>
                    <a:lstStyle/>
                    <a:p>
                      <a:r>
                        <a:rPr sz="1650" b="0">
                          <a:solidFill>
                            <a:srgbClr val="F1F5F9"/>
                          </a:solidFill>
                          <a:latin typeface="Calibri"/>
                          <a:ea typeface="Calibri"/>
                          <a:cs typeface="Calibri"/>
                        </a:rPr>
                        <a:t>Learned NCA dynamics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Shuffled gains match grid</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Context-adaptive frequency/format controls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650" b="0">
                          <a:solidFill>
                            <a:srgbClr val="F1F5F9"/>
                          </a:solidFill>
                          <a:latin typeface="Calibri"/>
                          <a:ea typeface="Calibri"/>
                          <a:cs typeface="Calibri"/>
                        </a:rPr>
                        <a:t>Useful initialization bias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Both synthetic arms improve language loss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Gradient/update alignment and backbone probes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650" b="0">
                          <a:solidFill>
                            <a:srgbClr val="F1F5F9"/>
                          </a:solidFill>
                          <a:latin typeface="Calibri"/>
                          <a:ea typeface="Calibri"/>
                          <a:cs typeface="Calibri"/>
                        </a:rPr>
                        <a:t>Exposure or scheduler advantage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V2 matches the language stage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Keep actual starting tensors, schedules and data order</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650" b="0">
                          <a:solidFill>
                            <a:srgbClr val="F1F5F9"/>
                          </a:solidFill>
                          <a:latin typeface="Calibri"/>
                          <a:ea typeface="Calibri"/>
                          <a:cs typeface="Calibri"/>
                        </a:rPr>
                        <a:t>Single synthetic-cache effect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V2 shares one cache across seeds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Independent paired caches/topologies in v3</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650" b="0">
                          <a:solidFill>
                            <a:srgbClr val="F1F5F9"/>
                          </a:solidFill>
                          <a:latin typeface="Calibri"/>
                          <a:ea typeface="Calibri"/>
                          <a:cs typeface="Calibri"/>
                        </a:rPr>
                        <a:t>Threshold selection or cadence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Paired endpoint policy and 100-step evaluations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Freeze confirmation rules and report censoring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C82D0ABE-39D5-4B00-B18A-4CCD9AFEEE9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67</a:t>
            </a:r>
          </a:p>
        </p:txBody>
      </p:sp>
    </p:spTree>
    <p:extLst>
      <p:ext uri="{BB962C8B-B14F-4D97-AF65-F5344CB8AC3E}">
        <p14:creationId xmlns:p14="http://schemas.microsoft.com/office/powerpoint/2010/main" val="956390622"/>
      </p:ext>
    </p:extLst>
  </p:cSld>
</p:sld>
</file>

<file path=ppt/slides/slide6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F41729-516C-4137-9037-8E882A511A7F}"/>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Graph study and later diagnostic stages</a:t>
            </a:r>
          </a:p>
        </p:txBody>
      </p:sp>
      <p:graphicFrame>
        <p:nvGraphicFramePr>
          <p:cNvPr id="2" name="">
            <a:extLst xmlns:a="http://schemas.openxmlformats.org/drawingml/2006/main">
              <a:ext uri="{FF2B5EF4-FFF2-40B4-BE49-F238E27FC236}">
                <a16:creationId xmlns:a16="http://schemas.microsoft.com/office/drawing/2014/main" id="{F32F830E-4665-4090-8964-4D8F62B164A3}"/>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3238500"/>
                <a:gridCol w="7715250"/>
              </a:tblGrid>
              <a:tr h="666750">
                <a:tc>
                  <a:txBody>
                    <a:bodyPr wrap="square" lIns="95250" tIns="95250" rIns="95250" bIns="95250"/>
                    <a:lstStyle/>
                    <a:p>
                      <a:r>
                        <a:rPr sz="1800" b="1">
                          <a:solidFill>
                            <a:srgbClr val="F1F5F9"/>
                          </a:solidFill>
                          <a:latin typeface="Calibri"/>
                          <a:ea typeface="Calibri"/>
                          <a:cs typeface="Calibri"/>
                        </a:rPr>
                        <a:t>Stage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Role and measured outcome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800" b="0">
                          <a:solidFill>
                            <a:srgbClr val="F1F5F9"/>
                          </a:solidFill>
                          <a:latin typeface="Calibri"/>
                          <a:ea typeface="Calibri"/>
                          <a:cs typeface="Calibri"/>
                        </a:rPr>
                        <a:t>V3, imported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Five arms, three paired replicates. Primary graph comparison is mixed</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V4, imported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Seven arms, six fresh cohorts. Both graph-advantage tests fail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Stage 5, CPU scoring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Existing random-rule checkpoints fail stronger readiness checks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00" b="0">
                          <a:solidFill>
                            <a:srgbClr val="F1F5F9"/>
                          </a:solidFill>
                          <a:latin typeface="Calibri"/>
                          <a:ea typeface="Calibri"/>
                          <a:cs typeface="Calibri"/>
                        </a:rPr>
                        <a:t>Stages 6-7, CPU training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Basic complement learning succeeds. First spatial predictions remain partial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00" b="0">
                          <a:solidFill>
                            <a:srgbClr val="F1F5F9"/>
                          </a:solidFill>
                          <a:latin typeface="Calibri"/>
                          <a:ea typeface="Calibri"/>
                          <a:cs typeface="Calibri"/>
                        </a:rPr>
                        <a:t>Stage 8, CPU training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Sixfold first-transition weighting fails all three coherent seeds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7E8BC5A2-AAFB-48BA-81CB-15ABF19AB88C}"/>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Every stage keeps its own source identity, declared endpoint, datasets, controls and interpretation.</a:t>
            </a:r>
          </a:p>
        </p:txBody>
      </p:sp>
      <p:sp>
        <p:nvSpPr>
          <p:cNvPr id="4" name="page">
            <a:extLst xmlns:a="http://schemas.openxmlformats.org/drawingml/2006/main">
              <a:ext uri="{FF2B5EF4-FFF2-40B4-BE49-F238E27FC236}">
                <a16:creationId xmlns:a16="http://schemas.microsoft.com/office/drawing/2014/main" id="{F97F46B7-8607-4848-89E0-7E92AD26051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68</a:t>
            </a:r>
          </a:p>
        </p:txBody>
      </p:sp>
    </p:spTree>
    <p:extLst>
      <p:ext uri="{BB962C8B-B14F-4D97-AF65-F5344CB8AC3E}">
        <p14:creationId xmlns:p14="http://schemas.microsoft.com/office/powerpoint/2010/main" val="447796121"/>
      </p:ext>
    </p:extLst>
  </p:cSld>
</p:sld>
</file>

<file path=ppt/slides/slide6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91030C6-B009-44FD-BE17-349CC9C46D2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V3 code: common random draws for graph and grid</a:t>
            </a:r>
          </a:p>
        </p:txBody>
      </p:sp>
      <p:sp>
        <p:nvSpPr>
          <p:cNvPr id="2" name="body">
            <a:extLst xmlns:a="http://schemas.openxmlformats.org/drawingml/2006/main">
              <a:ext uri="{FF2B5EF4-FFF2-40B4-BE49-F238E27FC236}">
                <a16:creationId xmlns:a16="http://schemas.microsoft.com/office/drawing/2014/main" id="{DD958C6F-F70D-4267-B61E-F2EC1B4370C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transfer_v3/graph.py   lines 65–73</a:t>
            </a:r>
          </a:p>
        </p:txBody>
      </p:sp>
      <p:sp>
        <p:nvSpPr>
          <p:cNvPr id="3" name="verbatim source">
            <a:extLst xmlns:a="http://schemas.openxmlformats.org/drawingml/2006/main">
              <a:ext uri="{FF2B5EF4-FFF2-40B4-BE49-F238E27FC236}">
                <a16:creationId xmlns:a16="http://schemas.microsoft.com/office/drawing/2014/main" id="{8FF53235-8A63-4C97-AACA-82FD40E3C5BE}"/>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paired_rollout(rules, c, frames, generator, device, edges):</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before = generator.get_state()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grid = rollout(rules, c, frames, generator, device)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after = generator.get_state()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generator.set_state(before)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graph = rollout(rules, c, frames, generator, device, edges=edges)</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not torch.equal(after, generator.get_state()):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RuntimeError("Paired rollout random draws diverged")</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grid, graph</a:t>
            </a:r>
          </a:p>
        </p:txBody>
      </p:sp>
      <p:sp>
        <p:nvSpPr>
          <p:cNvPr id="4" name="body">
            <a:extLst xmlns:a="http://schemas.openxmlformats.org/drawingml/2006/main">
              <a:ext uri="{FF2B5EF4-FFF2-40B4-BE49-F238E27FC236}">
                <a16:creationId xmlns:a16="http://schemas.microsoft.com/office/drawing/2014/main" id="{8A9BD832-9968-4095-8C17-B0CB63AB806D}"/>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generator restores the same random stream before the graph rollout and checks equal stream consumption. Topology changes donor indices while frozen weights and draw schedules remain paired.</a:t>
            </a:r>
          </a:p>
        </p:txBody>
      </p:sp>
      <p:sp>
        <p:nvSpPr>
          <p:cNvPr id="5" name="source">
            <a:extLst xmlns:a="http://schemas.openxmlformats.org/drawingml/2006/main">
              <a:ext uri="{FF2B5EF4-FFF2-40B4-BE49-F238E27FC236}">
                <a16:creationId xmlns:a16="http://schemas.microsoft.com/office/drawing/2014/main" id="{8B871549-C457-48D4-A04E-0ED826E7716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4331996-E717-4EA8-8450-20EF30A14AD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69</a:t>
            </a:r>
          </a:p>
        </p:txBody>
      </p:sp>
    </p:spTree>
    <p:extLst>
      <p:ext uri="{BB962C8B-B14F-4D97-AF65-F5344CB8AC3E}">
        <p14:creationId xmlns:p14="http://schemas.microsoft.com/office/powerpoint/2010/main" val="982312105"/>
      </p:ext>
    </p:extLst>
  </p:cSld>
</p:sld>
</file>

<file path=ppt/slides/slide7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D2E1E9A-B749-410C-BF0E-23F29BFB7E4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V3 code: a degree-preserving donor swap</a:t>
            </a:r>
          </a:p>
        </p:txBody>
      </p:sp>
      <p:sp>
        <p:nvSpPr>
          <p:cNvPr id="2" name="body">
            <a:extLst xmlns:a="http://schemas.openxmlformats.org/drawingml/2006/main">
              <a:ext uri="{FF2B5EF4-FFF2-40B4-BE49-F238E27FC236}">
                <a16:creationId xmlns:a16="http://schemas.microsoft.com/office/drawing/2014/main" id="{494A4336-9745-4E2B-9AE0-EB5C9C101AE4}"/>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buNone/>
              <a:defRPr sz="1650" b="1">
                <a:solidFill>
                  <a:srgbClr val="38BDF8"/>
                </a:solidFill>
                <a:latin typeface="Calibri"/>
                <a:ea typeface="Calibri"/>
                <a:cs typeface="Calibri"/>
              </a:defRPr>
            </a:lvl1pPr>
            <a:lvl2pPr>
              <a:buNone/>
              <a:defRPr sz="1650" b="1">
                <a:solidFill>
                  <a:srgbClr val="38BDF8"/>
                </a:solidFill>
                <a:latin typeface="Calibri"/>
                <a:ea typeface="Calibri"/>
                <a:cs typeface="Calibri"/>
              </a:defRPr>
            </a:lvl2pPr>
            <a:lvl3pPr>
              <a:buNone/>
              <a:defRPr sz="1650" b="1">
                <a:solidFill>
                  <a:srgbClr val="38BDF8"/>
                </a:solidFill>
                <a:latin typeface="Calibri"/>
                <a:ea typeface="Calibri"/>
                <a:cs typeface="Calibri"/>
              </a:defRPr>
            </a:lvl3pPr>
            <a:lvl4pPr>
              <a:buNone/>
              <a:defRPr sz="1650" b="1">
                <a:solidFill>
                  <a:srgbClr val="38BDF8"/>
                </a:solidFill>
                <a:latin typeface="Calibri"/>
                <a:ea typeface="Calibri"/>
                <a:cs typeface="Calibri"/>
              </a:defRPr>
            </a:lvl4pPr>
            <a:lvl5pPr>
              <a:buNone/>
              <a:defRPr sz="1650" b="1">
                <a:solidFill>
                  <a:srgbClr val="38BDF8"/>
                </a:solidFill>
                <a:latin typeface="Calibri"/>
                <a:ea typeface="Calibri"/>
                <a:cs typeface="Calibri"/>
              </a:defRPr>
            </a:lvl5pPr>
            <a:lvl6pPr>
              <a:buNone/>
              <a:defRPr sz="1650" b="1">
                <a:solidFill>
                  <a:srgbClr val="38BDF8"/>
                </a:solidFill>
                <a:latin typeface="Calibri"/>
                <a:ea typeface="Calibri"/>
                <a:cs typeface="Calibri"/>
              </a:defRPr>
            </a:lvl6pPr>
            <a:lvl7pPr>
              <a:buNone/>
              <a:defRPr sz="1650" b="1">
                <a:solidFill>
                  <a:srgbClr val="38BDF8"/>
                </a:solidFill>
                <a:latin typeface="Calibri"/>
                <a:ea typeface="Calibri"/>
                <a:cs typeface="Calibri"/>
              </a:defRPr>
            </a:lvl7pPr>
            <a:lvl8pPr>
              <a:buNone/>
              <a:defRPr sz="1650" b="1">
                <a:solidFill>
                  <a:srgbClr val="38BDF8"/>
                </a:solidFill>
                <a:latin typeface="Calibri"/>
                <a:ea typeface="Calibri"/>
                <a:cs typeface="Calibri"/>
              </a:defRPr>
            </a:lvl8pPr>
            <a:lvl9pPr>
              <a:buNone/>
              <a:defRPr sz="1650" b="1">
                <a:solidFill>
                  <a:srgbClr val="38BDF8"/>
                </a:solidFill>
                <a:latin typeface="Calibri"/>
                <a:ea typeface="Calibri"/>
                <a:cs typeface="Calibri"/>
              </a:defRPr>
            </a:lvl9pPr>
          </a:lstStyle>
          <a:p xmlns:a="http://schemas.openxmlformats.org/drawingml/2006/main">
            <a:pPr>
              <a:buNone/>
              <a:defRPr sz="1650" b="1">
                <a:solidFill>
                  <a:srgbClr val="38BDF8"/>
                </a:solidFill>
                <a:latin typeface="Calibri"/>
                <a:ea typeface="Calibri"/>
                <a:cs typeface="Calibri"/>
              </a:defRPr>
            </a:pPr>
            <a:r>
              <a:rPr sz="1650" b="1">
                <a:solidFill>
                  <a:srgbClr val="38BDF8"/>
                </a:solidFill>
                <a:latin typeface="Calibri"/>
                <a:ea typeface="Calibri"/>
                <a:cs typeface="Calibri"/>
              </a:rPr>
              <a:t>transfer_v3/graph.py   lines 49–56</a:t>
            </a:r>
          </a:p>
        </p:txBody>
      </p:sp>
      <p:sp>
        <p:nvSpPr>
          <p:cNvPr id="3" name="verbatim source">
            <a:extLst xmlns:a="http://schemas.openxmlformats.org/drawingml/2006/main">
              <a:ext uri="{FF2B5EF4-FFF2-40B4-BE49-F238E27FC236}">
                <a16:creationId xmlns:a16="http://schemas.microsoft.com/office/drawing/2014/main" id="{4070C530-F6DC-498A-814C-ECFD2B79A812}"/>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buNone/>
              <a:defRPr sz="1500" b="0">
                <a:solidFill>
                  <a:srgbClr val="F1F5F9"/>
                </a:solidFill>
                <a:latin typeface="Courier New"/>
                <a:ea typeface="Courier New"/>
                <a:cs typeface="Courier New"/>
              </a:defRPr>
            </a:lvl1pPr>
            <a:lvl2pPr>
              <a:buNone/>
              <a:defRPr sz="1500" b="0">
                <a:solidFill>
                  <a:srgbClr val="F1F5F9"/>
                </a:solidFill>
                <a:latin typeface="Courier New"/>
                <a:ea typeface="Courier New"/>
                <a:cs typeface="Courier New"/>
              </a:defRPr>
            </a:lvl2pPr>
            <a:lvl3pPr>
              <a:buNone/>
              <a:defRPr sz="1500" b="0">
                <a:solidFill>
                  <a:srgbClr val="F1F5F9"/>
                </a:solidFill>
                <a:latin typeface="Courier New"/>
                <a:ea typeface="Courier New"/>
                <a:cs typeface="Courier New"/>
              </a:defRPr>
            </a:lvl3pPr>
            <a:lvl4pPr>
              <a:buNone/>
              <a:defRPr sz="1500" b="0">
                <a:solidFill>
                  <a:srgbClr val="F1F5F9"/>
                </a:solidFill>
                <a:latin typeface="Courier New"/>
                <a:ea typeface="Courier New"/>
                <a:cs typeface="Courier New"/>
              </a:defRPr>
            </a:lvl4pPr>
            <a:lvl5pPr>
              <a:buNone/>
              <a:defRPr sz="1500" b="0">
                <a:solidFill>
                  <a:srgbClr val="F1F5F9"/>
                </a:solidFill>
                <a:latin typeface="Courier New"/>
                <a:ea typeface="Courier New"/>
                <a:cs typeface="Courier New"/>
              </a:defRPr>
            </a:lvl5pPr>
            <a:lvl6pPr>
              <a:buNone/>
              <a:defRPr sz="1500" b="0">
                <a:solidFill>
                  <a:srgbClr val="F1F5F9"/>
                </a:solidFill>
                <a:latin typeface="Courier New"/>
                <a:ea typeface="Courier New"/>
                <a:cs typeface="Courier New"/>
              </a:defRPr>
            </a:lvl6pPr>
            <a:lvl7pPr>
              <a:buNone/>
              <a:defRPr sz="1500" b="0">
                <a:solidFill>
                  <a:srgbClr val="F1F5F9"/>
                </a:solidFill>
                <a:latin typeface="Courier New"/>
                <a:ea typeface="Courier New"/>
                <a:cs typeface="Courier New"/>
              </a:defRPr>
            </a:lvl7pPr>
            <a:lvl8pPr>
              <a:buNone/>
              <a:defRPr sz="1500" b="0">
                <a:solidFill>
                  <a:srgbClr val="F1F5F9"/>
                </a:solidFill>
                <a:latin typeface="Courier New"/>
                <a:ea typeface="Courier New"/>
                <a:cs typeface="Courier New"/>
              </a:defRPr>
            </a:lvl8pPr>
            <a:lvl9pPr>
              <a:buNone/>
              <a:defRPr sz="1500" b="0">
                <a:solidFill>
                  <a:srgbClr val="F1F5F9"/>
                </a:solidFill>
                <a:latin typeface="Courier New"/>
                <a:ea typeface="Courier New"/>
                <a:cs typeface="Courier New"/>
              </a:defRPr>
            </a:lvl9pPr>
          </a:lstStyle>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j = int(rng.choice(slots))</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u, v = rng.choice(side * side, 2, replace=False)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a, b = edges[u, j], edges[v, j]</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b in edges[u] or a in edges[v]:</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continue</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edges[u, j], edges[v, j] = b, a</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swaps += 1</a:t>
            </a:r>
          </a:p>
          <a:p xmlns:a="http://schemas.openxmlformats.org/drawingml/2006/main">
            <a:pPr>
              <a:buNone/>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validate_topology(edges, side)</a:t>
            </a:r>
          </a:p>
        </p:txBody>
      </p:sp>
      <p:sp>
        <p:nvSpPr>
          <p:cNvPr id="4" name="body">
            <a:extLst xmlns:a="http://schemas.openxmlformats.org/drawingml/2006/main">
              <a:ext uri="{FF2B5EF4-FFF2-40B4-BE49-F238E27FC236}">
                <a16:creationId xmlns:a16="http://schemas.microsoft.com/office/drawing/2014/main" id="{1652B258-4323-4C4E-AC2F-250CD042269F}"/>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rewirer rejects duplicate donors and extra self edges, swaps within a typed slot and validates each slot as a permutation. The changed-slot fraction is measured after accepted swaps.</a:t>
            </a:r>
          </a:p>
        </p:txBody>
      </p:sp>
      <p:sp>
        <p:nvSpPr>
          <p:cNvPr id="5" name="source">
            <a:extLst xmlns:a="http://schemas.openxmlformats.org/drawingml/2006/main">
              <a:ext uri="{FF2B5EF4-FFF2-40B4-BE49-F238E27FC236}">
                <a16:creationId xmlns:a16="http://schemas.microsoft.com/office/drawing/2014/main" id="{ECBFDA8A-649D-41A2-A102-503CBA070BF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CBB67BA3-3234-4CC1-B6B7-7EC34152D47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70</a:t>
            </a:r>
          </a:p>
        </p:txBody>
      </p:sp>
    </p:spTree>
    <p:extLst>
      <p:ext uri="{BB962C8B-B14F-4D97-AF65-F5344CB8AC3E}">
        <p14:creationId xmlns:p14="http://schemas.microsoft.com/office/powerpoint/2010/main" val="352508972"/>
      </p:ext>
    </p:extLst>
  </p:cSld>
</p:sld>
</file>

<file path=ppt/slides/slide7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35E7E38-CC63-48C4-9A94-33A8B37009F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V3 notebook: actual five-arm execution cell</a:t>
            </a:r>
          </a:p>
        </p:txBody>
      </p:sp>
      <p:sp>
        <p:nvSpPr>
          <p:cNvPr id="2" name="body">
            <a:extLst xmlns:a="http://schemas.openxmlformats.org/drawingml/2006/main">
              <a:ext uri="{FF2B5EF4-FFF2-40B4-BE49-F238E27FC236}">
                <a16:creationId xmlns:a16="http://schemas.microsoft.com/office/drawing/2014/main" id="{09406291-C5CE-4985-B4B5-D05943232A0E}"/>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buNone/>
              <a:defRPr sz="1725" b="1">
                <a:solidFill>
                  <a:srgbClr val="38BDF8"/>
                </a:solidFill>
                <a:latin typeface="Calibri"/>
                <a:ea typeface="Calibri"/>
                <a:cs typeface="Calibri"/>
              </a:defRPr>
            </a:lvl1pPr>
            <a:lvl2pPr>
              <a:buNone/>
              <a:defRPr sz="1725" b="1">
                <a:solidFill>
                  <a:srgbClr val="38BDF8"/>
                </a:solidFill>
                <a:latin typeface="Calibri"/>
                <a:ea typeface="Calibri"/>
                <a:cs typeface="Calibri"/>
              </a:defRPr>
            </a:lvl2pPr>
            <a:lvl3pPr>
              <a:buNone/>
              <a:defRPr sz="1725" b="1">
                <a:solidFill>
                  <a:srgbClr val="38BDF8"/>
                </a:solidFill>
                <a:latin typeface="Calibri"/>
                <a:ea typeface="Calibri"/>
                <a:cs typeface="Calibri"/>
              </a:defRPr>
            </a:lvl3pPr>
            <a:lvl4pPr>
              <a:buNone/>
              <a:defRPr sz="1725" b="1">
                <a:solidFill>
                  <a:srgbClr val="38BDF8"/>
                </a:solidFill>
                <a:latin typeface="Calibri"/>
                <a:ea typeface="Calibri"/>
                <a:cs typeface="Calibri"/>
              </a:defRPr>
            </a:lvl4pPr>
            <a:lvl5pPr>
              <a:buNone/>
              <a:defRPr sz="1725" b="1">
                <a:solidFill>
                  <a:srgbClr val="38BDF8"/>
                </a:solidFill>
                <a:latin typeface="Calibri"/>
                <a:ea typeface="Calibri"/>
                <a:cs typeface="Calibri"/>
              </a:defRPr>
            </a:lvl5pPr>
            <a:lvl6pPr>
              <a:buNone/>
              <a:defRPr sz="1725" b="1">
                <a:solidFill>
                  <a:srgbClr val="38BDF8"/>
                </a:solidFill>
                <a:latin typeface="Calibri"/>
                <a:ea typeface="Calibri"/>
                <a:cs typeface="Calibri"/>
              </a:defRPr>
            </a:lvl6pPr>
            <a:lvl7pPr>
              <a:buNone/>
              <a:defRPr sz="1725" b="1">
                <a:solidFill>
                  <a:srgbClr val="38BDF8"/>
                </a:solidFill>
                <a:latin typeface="Calibri"/>
                <a:ea typeface="Calibri"/>
                <a:cs typeface="Calibri"/>
              </a:defRPr>
            </a:lvl7pPr>
            <a:lvl8pPr>
              <a:buNone/>
              <a:defRPr sz="1725" b="1">
                <a:solidFill>
                  <a:srgbClr val="38BDF8"/>
                </a:solidFill>
                <a:latin typeface="Calibri"/>
                <a:ea typeface="Calibri"/>
                <a:cs typeface="Calibri"/>
              </a:defRPr>
            </a:lvl8pPr>
            <a:lvl9pPr>
              <a:buNone/>
              <a:defRPr sz="1725" b="1">
                <a:solidFill>
                  <a:srgbClr val="38BDF8"/>
                </a:solidFill>
                <a:latin typeface="Calibri"/>
                <a:ea typeface="Calibri"/>
                <a:cs typeface="Calibri"/>
              </a:defRPr>
            </a:lvl9pPr>
          </a:lstStyle>
          <a:p xmlns:a="http://schemas.openxmlformats.org/drawingml/2006/main">
            <a:pPr>
              <a:buNone/>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kaggle_nca_transfer_v3.ipynb   cell 30</a:t>
            </a:r>
          </a:p>
        </p:txBody>
      </p:sp>
      <p:sp>
        <p:nvSpPr>
          <p:cNvPr id="3" name="actual notebook cell">
            <a:extLst xmlns:a="http://schemas.openxmlformats.org/drawingml/2006/main">
              <a:ext uri="{FF2B5EF4-FFF2-40B4-BE49-F238E27FC236}">
                <a16:creationId xmlns:a16="http://schemas.microsoft.com/office/drawing/2014/main" id="{8EC57207-476B-40FC-A4BC-E09F0C60F41C}"/>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buNone/>
              <a:defRPr sz="1425" b="0">
                <a:solidFill>
                  <a:srgbClr val="F1F5F9"/>
                </a:solidFill>
                <a:latin typeface="Courier New"/>
                <a:ea typeface="Courier New"/>
                <a:cs typeface="Courier New"/>
              </a:defRPr>
            </a:lvl1pPr>
            <a:lvl2pPr>
              <a:buNone/>
              <a:defRPr sz="1425" b="0">
                <a:solidFill>
                  <a:srgbClr val="F1F5F9"/>
                </a:solidFill>
                <a:latin typeface="Courier New"/>
                <a:ea typeface="Courier New"/>
                <a:cs typeface="Courier New"/>
              </a:defRPr>
            </a:lvl2pPr>
            <a:lvl3pPr>
              <a:buNone/>
              <a:defRPr sz="1425" b="0">
                <a:solidFill>
                  <a:srgbClr val="F1F5F9"/>
                </a:solidFill>
                <a:latin typeface="Courier New"/>
                <a:ea typeface="Courier New"/>
                <a:cs typeface="Courier New"/>
              </a:defRPr>
            </a:lvl3pPr>
            <a:lvl4pPr>
              <a:buNone/>
              <a:defRPr sz="1425" b="0">
                <a:solidFill>
                  <a:srgbClr val="F1F5F9"/>
                </a:solidFill>
                <a:latin typeface="Courier New"/>
                <a:ea typeface="Courier New"/>
                <a:cs typeface="Courier New"/>
              </a:defRPr>
            </a:lvl4pPr>
            <a:lvl5pPr>
              <a:buNone/>
              <a:defRPr sz="1425" b="0">
                <a:solidFill>
                  <a:srgbClr val="F1F5F9"/>
                </a:solidFill>
                <a:latin typeface="Courier New"/>
                <a:ea typeface="Courier New"/>
                <a:cs typeface="Courier New"/>
              </a:defRPr>
            </a:lvl5pPr>
            <a:lvl6pPr>
              <a:buNone/>
              <a:defRPr sz="1425" b="0">
                <a:solidFill>
                  <a:srgbClr val="F1F5F9"/>
                </a:solidFill>
                <a:latin typeface="Courier New"/>
                <a:ea typeface="Courier New"/>
                <a:cs typeface="Courier New"/>
              </a:defRPr>
            </a:lvl6pPr>
            <a:lvl7pPr>
              <a:buNone/>
              <a:defRPr sz="1425" b="0">
                <a:solidFill>
                  <a:srgbClr val="F1F5F9"/>
                </a:solidFill>
                <a:latin typeface="Courier New"/>
                <a:ea typeface="Courier New"/>
                <a:cs typeface="Courier New"/>
              </a:defRPr>
            </a:lvl7pPr>
            <a:lvl8pPr>
              <a:buNone/>
              <a:defRPr sz="1425" b="0">
                <a:solidFill>
                  <a:srgbClr val="F1F5F9"/>
                </a:solidFill>
                <a:latin typeface="Courier New"/>
                <a:ea typeface="Courier New"/>
                <a:cs typeface="Courier New"/>
              </a:defRPr>
            </a:lvl8pPr>
            <a:lvl9pPr>
              <a:buNone/>
              <a:defRPr sz="1425" b="0">
                <a:solidFill>
                  <a:srgbClr val="F1F5F9"/>
                </a:solidFill>
                <a:latin typeface="Courier New"/>
                <a:ea typeface="Courier New"/>
                <a:cs typeface="Courier New"/>
              </a:defRPr>
            </a:lvl9pPr>
          </a:lstStyle>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run('-m', 'transfer_v3.run', 'all', '--config', 'configs/transfer_v3.json',</a:t>
            </a:r>
          </a:p>
          <a:p xmlns:a="http://schemas.openxmlformats.org/drawingml/2006/main">
            <a:pPr>
              <a:buNone/>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'data/development', '--out', 'runs/development', '--device', 'cuda')</a:t>
            </a:r>
          </a:p>
        </p:txBody>
      </p:sp>
      <p:sp>
        <p:nvSpPr>
          <p:cNvPr id="4" name="body">
            <a:extLst xmlns:a="http://schemas.openxmlformats.org/drawingml/2006/main">
              <a:ext uri="{FF2B5EF4-FFF2-40B4-BE49-F238E27FC236}">
                <a16:creationId xmlns:a16="http://schemas.microsoft.com/office/drawing/2014/main" id="{7D72EE0E-ED64-4DB5-A39A-1A2057DD54E0}"/>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21-file notebook produced the reviewed five-arm v3 GPU run. The primary graph-versus-grid crossing is censored in one replicate.</a:t>
            </a:r>
          </a:p>
        </p:txBody>
      </p:sp>
      <p:sp>
        <p:nvSpPr>
          <p:cNvPr id="5" name="source">
            <a:extLst xmlns:a="http://schemas.openxmlformats.org/drawingml/2006/main">
              <a:ext uri="{FF2B5EF4-FFF2-40B4-BE49-F238E27FC236}">
                <a16:creationId xmlns:a16="http://schemas.microsoft.com/office/drawing/2014/main" id="{A122C910-E7AB-4B54-A539-7D24A0227FF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FAD44FB9-CDD8-4D82-A4FD-A8AC9DCF2BB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71</a:t>
            </a:r>
          </a:p>
        </p:txBody>
      </p:sp>
    </p:spTree>
    <p:extLst>
      <p:ext uri="{BB962C8B-B14F-4D97-AF65-F5344CB8AC3E}">
        <p14:creationId xmlns:p14="http://schemas.microsoft.com/office/powerpoint/2010/main" val="170705483"/>
      </p:ext>
    </p:extLst>
  </p:cSld>
</p:sld>
</file>

<file path=ppt/slides/slide7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F3E5E4B-B870-45AD-855F-0F548267734D}"/>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design and completed audit</a:t>
            </a:r>
          </a:p>
        </p:txBody>
      </p:sp>
      <p:sp>
        <p:nvSpPr>
          <p:cNvPr id="2" name="body">
            <a:extLst xmlns:a="http://schemas.openxmlformats.org/drawingml/2006/main">
              <a:ext uri="{FF2B5EF4-FFF2-40B4-BE49-F238E27FC236}">
                <a16:creationId xmlns:a16="http://schemas.microsoft.com/office/drawing/2014/main" id="{0A1C3D69-B636-498D-BC29-7C2A53CEABF2}"/>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Five arms each receive the identical 2000-update language stage. Four synthetic arms first receive 1000 PPT updates.</a:t>
            </a:r>
          </a:p>
        </p:txBody>
      </p:sp>
      <p:sp>
        <p:nvSpPr>
          <p:cNvPr id="3" name="body">
            <a:extLst xmlns:a="http://schemas.openxmlformats.org/drawingml/2006/main">
              <a:ext uri="{FF2B5EF4-FFF2-40B4-BE49-F238E27FC236}">
                <a16:creationId xmlns:a16="http://schemas.microsoft.com/office/drawing/2014/main" id="{B13B0638-569A-425F-9A40-FE501A14906F}"/>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Three paired model/data/topology replicates use common frozen rules and rollout draws. Grid and graph share joint rule-eligibility filtering.</a:t>
            </a:r>
          </a:p>
        </p:txBody>
      </p:sp>
      <p:sp>
        <p:nvSpPr>
          <p:cNvPr id="4" name="body">
            <a:extLst xmlns:a="http://schemas.openxmlformats.org/drawingml/2006/main">
              <a:ext uri="{FF2B5EF4-FFF2-40B4-BE49-F238E27FC236}">
                <a16:creationId xmlns:a16="http://schemas.microsoft.com/office/drawing/2014/main" id="{AF139F3B-ADE9-489A-AF72-842CBDC9D6D8}"/>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All structured gates pass. Independent CPU replay covers 27 selected stage checkpoints and three saved initializations, with maximum NLL discrepancy 1.8552e-7.</a:t>
            </a:r>
          </a:p>
        </p:txBody>
      </p:sp>
      <p:sp>
        <p:nvSpPr>
          <p:cNvPr id="5" name="body">
            <a:extLst xmlns:a="http://schemas.openxmlformats.org/drawingml/2006/main">
              <a:ext uri="{FF2B5EF4-FFF2-40B4-BE49-F238E27FC236}">
                <a16:creationId xmlns:a16="http://schemas.microsoft.com/office/drawing/2014/main" id="{26FE6192-23BB-432D-B7F9-1F2D30E82096}"/>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Graph reaches the paired grid endpoint at 1800, 2000 and not by 2000 updates. An all-seed primary speedup is withheld.</a:t>
            </a:r>
          </a:p>
        </p:txBody>
      </p:sp>
      <p:sp>
        <p:nvSpPr>
          <p:cNvPr id="6" name="page">
            <a:extLst xmlns:a="http://schemas.openxmlformats.org/drawingml/2006/main">
              <a:ext uri="{FF2B5EF4-FFF2-40B4-BE49-F238E27FC236}">
                <a16:creationId xmlns:a16="http://schemas.microsoft.com/office/drawing/2014/main" id="{05D44711-E030-49AF-A55C-003B89E5E60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72</a:t>
            </a:r>
          </a:p>
        </p:txBody>
      </p:sp>
    </p:spTree>
    <p:extLst>
      <p:ext uri="{BB962C8B-B14F-4D97-AF65-F5344CB8AC3E}">
        <p14:creationId xmlns:p14="http://schemas.microsoft.com/office/powerpoint/2010/main" val="1984626129"/>
      </p:ext>
    </p:extLst>
  </p:cSld>
</p:sld>
</file>

<file path=ppt/slides/slide7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12104E-55E9-4C35-8EDD-02D558899734}"/>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Research progression and unchanged comparisons</a:t>
            </a:r>
          </a:p>
        </p:txBody>
      </p:sp>
      <p:graphicFrame>
        <p:nvGraphicFramePr>
          <p:cNvPr id="2" name="">
            <a:extLst xmlns:a="http://schemas.openxmlformats.org/drawingml/2006/main">
              <a:ext uri="{FF2B5EF4-FFF2-40B4-BE49-F238E27FC236}">
                <a16:creationId xmlns:a16="http://schemas.microsoft.com/office/drawing/2014/main" id="{66788021-E21E-4221-A87D-689E254EC3EE}"/>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1952625"/>
                <a:gridCol w="4238625"/>
                <a:gridCol w="4762500"/>
              </a:tblGrid>
              <a:tr h="571500">
                <a:tc>
                  <a:txBody>
                    <a:bodyPr wrap="square" lIns="95250" tIns="95250" rIns="95250" bIns="95250"/>
                    <a:lstStyle/>
                    <a:p>
                      <a:r>
                        <a:rPr sz="1650" b="1">
                          <a:solidFill>
                            <a:srgbClr val="F1F5F9"/>
                          </a:solidFill>
                          <a:latin typeface="Calibri"/>
                          <a:ea typeface="Calibri"/>
                          <a:cs typeface="Calibri"/>
                        </a:rPr>
                        <a:t>Stage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Question</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Outcome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650" b="0">
                          <a:solidFill>
                            <a:srgbClr val="F1F5F9"/>
                          </a:solidFill>
                          <a:latin typeface="Calibri"/>
                          <a:ea typeface="Calibri"/>
                          <a:cs typeface="Calibri"/>
                        </a:rPr>
                        <a:t>V2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PPT transfer versus no PPT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Language benefit, matching shuffle benefit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V3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Graph versus grid under paired rules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One primary crossing censored</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V4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Graph versus grid and prefix control</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Both frozen primary tests fail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5 CPU scoring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Frequency and ordering competence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All 12 original structured cohorts fail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6-7 CPU training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Known-rule and spatial competence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Basic success, partial first spatial prediction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8 CPU training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First-transition objective weighting</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Negative result in all three coherent seeds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page">
            <a:extLst xmlns:a="http://schemas.openxmlformats.org/drawingml/2006/main">
              <a:ext uri="{FF2B5EF4-FFF2-40B4-BE49-F238E27FC236}">
                <a16:creationId xmlns:a16="http://schemas.microsoft.com/office/drawing/2014/main" id="{9F2A5091-A1AB-40BB-8B72-86BF12D9138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73</a:t>
            </a:r>
          </a:p>
        </p:txBody>
      </p:sp>
    </p:spTree>
    <p:extLst>
      <p:ext uri="{BB962C8B-B14F-4D97-AF65-F5344CB8AC3E}">
        <p14:creationId xmlns:p14="http://schemas.microsoft.com/office/powerpoint/2010/main" val="2007117011"/>
      </p:ext>
    </p:extLst>
  </p:cSld>
</p:sld>
</file>

<file path=ppt/slides/slide7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32175F-6202-4648-9803-F264F130FA11}"/>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Definitions for the experimental comparisons</a:t>
            </a:r>
          </a:p>
        </p:txBody>
      </p:sp>
      <p:graphicFrame>
        <p:nvGraphicFramePr>
          <p:cNvPr id="2" name="">
            <a:extLst xmlns:a="http://schemas.openxmlformats.org/drawingml/2006/main">
              <a:ext uri="{FF2B5EF4-FFF2-40B4-BE49-F238E27FC236}">
                <a16:creationId xmlns:a16="http://schemas.microsoft.com/office/drawing/2014/main" id="{517F6012-CA5B-4ED0-AD1F-2A8FC81FE29A}"/>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3143250"/>
                <a:gridCol w="7810500"/>
              </a:tblGrid>
              <a:tr h="571500">
                <a:tc>
                  <a:txBody>
                    <a:bodyPr wrap="square" lIns="95250" tIns="95250" rIns="95250" bIns="95250"/>
                    <a:lstStyle/>
                    <a:p>
                      <a:r>
                        <a:rPr sz="1725" b="1">
                          <a:solidFill>
                            <a:srgbClr val="F1F5F9"/>
                          </a:solidFill>
                          <a:latin typeface="Calibri"/>
                          <a:ea typeface="Calibri"/>
                          <a:cs typeface="Calibri"/>
                        </a:rPr>
                        <a:t>Term</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Meaning in this study</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Paired cohort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Treatments share starting states and downstream procedures within a replicate</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Prefix-matched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Initial frame, markers and supervised-prefix histogram remain fixed</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First recorded crossing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Earliest evaluated update meeting the declared loss target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Censored comparison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The treatment never reaches that target within the measured horizon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Readiness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A fixed predictive-frequency and ordering check before language training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Intervention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 specified input change with a mathematically known target change</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page">
            <a:extLst xmlns:a="http://schemas.openxmlformats.org/drawingml/2006/main">
              <a:ext uri="{FF2B5EF4-FFF2-40B4-BE49-F238E27FC236}">
                <a16:creationId xmlns:a16="http://schemas.microsoft.com/office/drawing/2014/main" id="{455178B9-D97C-43E5-8A52-BA8910D7C6D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74</a:t>
            </a:r>
          </a:p>
        </p:txBody>
      </p:sp>
    </p:spTree>
    <p:extLst>
      <p:ext uri="{BB962C8B-B14F-4D97-AF65-F5344CB8AC3E}">
        <p14:creationId xmlns:p14="http://schemas.microsoft.com/office/powerpoint/2010/main" val="1386679517"/>
      </p:ext>
    </p:extLst>
  </p:cSld>
</p:sld>
</file>

<file path=ppt/slides/slide7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528A745-EED9-4A65-AD8F-E0036EF0C36F}"/>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primary comparison remains partly censored</a:t>
            </a:r>
          </a:p>
        </p:txBody>
      </p:sp>
      <p:graphicFrame>
        <p:nvGraphicFramePr>
          <p:cNvPr id="2" name="">
            <a:extLst xmlns:a="http://schemas.openxmlformats.org/drawingml/2006/main">
              <a:ext uri="{FF2B5EF4-FFF2-40B4-BE49-F238E27FC236}">
                <a16:creationId xmlns:a16="http://schemas.microsoft.com/office/drawing/2014/main" id="{9CD0E7B7-3992-4099-82A7-E25114C125B6}"/>
              </a:ext>
            </a:extLst>
          </p:cNvPr>
          <p:cNvGraphicFramePr/>
          <p:nvPr/>
        </p:nvGraphicFramePr>
        <p:xfrm>
          <a:off xmlns:a="http://schemas.openxmlformats.org/drawingml/2006/main" x="590550" y="1466850"/>
          <a:ext xmlns:a="http://schemas.openxmlformats.org/drawingml/2006/main" cx="10953750" cy="3238500"/>
        </p:xfrm>
        <a:graphic xmlns:a="http://schemas.openxmlformats.org/drawingml/2006/main">
          <a:graphicData uri="http://schemas.openxmlformats.org/drawingml/2006/table">
            <a:tbl>
              <a:tblPr/>
              <a:tblGrid>
                <a:gridCol w="1714500"/>
                <a:gridCol w="2286000"/>
                <a:gridCol w="2381250"/>
                <a:gridCol w="4572000"/>
              </a:tblGrid>
              <a:tr h="809625">
                <a:tc>
                  <a:txBody>
                    <a:bodyPr wrap="square" lIns="95250" tIns="95250" rIns="95250" bIns="95250"/>
                    <a:lstStyle/>
                    <a:p>
                      <a:r>
                        <a:rPr sz="1875" b="1">
                          <a:solidFill>
                            <a:srgbClr val="F1F5F9"/>
                          </a:solidFill>
                          <a:latin typeface="Calibri"/>
                          <a:ea typeface="Calibri"/>
                          <a:cs typeface="Calibri"/>
                        </a:rPr>
                        <a:t>Replicate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 final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Graph final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Graph reaches grid endpoint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809625">
                <a:tc>
                  <a:txBody>
                    <a:bodyPr wrap="square" lIns="95250" tIns="95250" rIns="95250" bIns="95250"/>
                    <a:lstStyle/>
                    <a:p>
                      <a:r>
                        <a:rPr sz="1875" b="0">
                          <a:solidFill>
                            <a:srgbClr val="F1F5F9"/>
                          </a:solidFill>
                          <a:latin typeface="Calibri"/>
                          <a:ea typeface="Calibri"/>
                          <a:cs typeface="Calibri"/>
                        </a:rPr>
                        <a:t>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5.229810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5.213048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1800 updates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809625">
                <a:tc>
                  <a:txBody>
                    <a:bodyPr wrap="square" lIns="95250" tIns="95250" rIns="95250" bIns="95250"/>
                    <a:lstStyle/>
                    <a:p>
                      <a:r>
                        <a:rPr sz="1875" b="0">
                          <a:solidFill>
                            <a:srgbClr val="F1F5F9"/>
                          </a:solidFill>
                          <a:latin typeface="Calibri"/>
                          <a:ea typeface="Calibri"/>
                          <a:cs typeface="Calibri"/>
                        </a:rPr>
                        <a:t>29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5.244098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5.242078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2000 updates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809625">
                <a:tc>
                  <a:txBody>
                    <a:bodyPr wrap="square" lIns="95250" tIns="95250" rIns="95250" bIns="95250"/>
                    <a:lstStyle/>
                    <a:p>
                      <a:r>
                        <a:rPr sz="1875" b="0">
                          <a:solidFill>
                            <a:srgbClr val="F1F5F9"/>
                          </a:solidFill>
                          <a:latin typeface="Calibri"/>
                          <a:ea typeface="Calibri"/>
                          <a:cs typeface="Calibri"/>
                        </a:rPr>
                        <a:t>43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5.239526</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5.241660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Not reached by 2000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CABF4F56-91EC-4EE7-A425-5E93A7CB2BA7}"/>
              </a:ext>
            </a:extLst>
          </p:cNvPr>
          <p:cNvSpPr>
            <a:spLocks xmlns:a="http://schemas.openxmlformats.org/drawingml/2006/main" noGrp="1"/>
          </p:cNvSpPr>
          <p:nvPr/>
        </p:nvSpPr>
        <p:spPr>
          <a:xfrm xmlns:a="http://schemas.openxmlformats.org/drawingml/2006/main">
            <a:off x="609600" y="50768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Mean graph-minus-grid NLL: -0.005550. Two favorable endpoints do not remove the third censored primary crossing.</a:t>
            </a:r>
          </a:p>
        </p:txBody>
      </p:sp>
      <p:sp>
        <p:nvSpPr>
          <p:cNvPr id="4" name="body">
            <a:extLst xmlns:a="http://schemas.openxmlformats.org/drawingml/2006/main">
              <a:ext uri="{FF2B5EF4-FFF2-40B4-BE49-F238E27FC236}">
                <a16:creationId xmlns:a16="http://schemas.microsoft.com/office/drawing/2014/main" id="{0230936B-F274-46FF-81F8-26A2BE298650}"/>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Three paired data/model/topology replicates. No all-seed primary speedup is reported.</a:t>
            </a:r>
          </a:p>
        </p:txBody>
      </p:sp>
      <p:sp>
        <p:nvSpPr>
          <p:cNvPr id="5" name="page">
            <a:extLst xmlns:a="http://schemas.openxmlformats.org/drawingml/2006/main">
              <a:ext uri="{FF2B5EF4-FFF2-40B4-BE49-F238E27FC236}">
                <a16:creationId xmlns:a16="http://schemas.microsoft.com/office/drawing/2014/main" id="{D77304F2-3C35-46F3-B51A-57A1AB6E00B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75</a:t>
            </a:r>
          </a:p>
        </p:txBody>
      </p:sp>
    </p:spTree>
    <p:extLst>
      <p:ext uri="{BB962C8B-B14F-4D97-AF65-F5344CB8AC3E}">
        <p14:creationId xmlns:p14="http://schemas.microsoft.com/office/powerpoint/2010/main" val="1906300072"/>
      </p:ext>
    </p:extLst>
  </p:cSld>
</p:sld>
</file>

<file path=ppt/slides/slide7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7F89E4-4E16-4BDD-9A2E-886E8FE1B6E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paired graph effects</a:t>
            </a:r>
          </a:p>
        </p:txBody>
      </p:sp>
      <p:pic>
        <p:nvPicPr>
          <p:cNvPr id="2" name="">
            <a:extLst xmlns:a="http://schemas.openxmlformats.org/drawingml/2006/main">
              <a:ext uri="{FF2B5EF4-FFF2-40B4-BE49-F238E27FC236}">
                <a16:creationId xmlns:a16="http://schemas.microsoft.com/office/drawing/2014/main" id="{CDB28685-6C66-445A-A4A6-C8827B60AE74}"/>
              </a:ext>
            </a:extLst>
          </p:cNvPr>
          <p:cNvPicPr>
            <a:picLocks xmlns:a="http://schemas.openxmlformats.org/drawingml/2006/main" noChangeAspect="1"/>
          </p:cNvPicPr>
          <p:nvPr/>
        </p:nvPicPr>
        <p:blipFill>
          <a:blip xmlns:r="http://schemas.openxmlformats.org/officeDocument/2006/relationships" xmlns:a="http://schemas.openxmlformats.org/drawingml/2006/main" r:embed="R5682dd10351c4289"/>
          <a:stretch xmlns:a="http://schemas.openxmlformats.org/drawingml/2006/main"/>
        </p:blipFill>
        <p:spPr>
          <a:xfrm xmlns:a="http://schemas.openxmlformats.org/drawingml/2006/main">
            <a:off x="590550" y="1447367"/>
            <a:ext cx="10953750" cy="4182341"/>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9037A230-B75B-45E5-AFC7-08F5BD4277BC}"/>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Imported GPU development outcomes. Primary and secondary references retain their different meanings.</a:t>
            </a:r>
          </a:p>
        </p:txBody>
      </p:sp>
      <p:sp>
        <p:nvSpPr>
          <p:cNvPr id="4" name="page">
            <a:extLst xmlns:a="http://schemas.openxmlformats.org/drawingml/2006/main">
              <a:ext uri="{FF2B5EF4-FFF2-40B4-BE49-F238E27FC236}">
                <a16:creationId xmlns:a16="http://schemas.microsoft.com/office/drawing/2014/main" id="{596A2580-FAAB-4412-8CD9-C885C063B3A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76</a:t>
            </a:r>
          </a:p>
        </p:txBody>
      </p:sp>
    </p:spTree>
    <p:extLst>
      <p:ext uri="{BB962C8B-B14F-4D97-AF65-F5344CB8AC3E}">
        <p14:creationId xmlns:p14="http://schemas.microsoft.com/office/powerpoint/2010/main" val="957005363"/>
      </p:ext>
    </p:extLst>
  </p:cSld>
</p:sld>
</file>

<file path=ppt/slides/slide7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4D62C9-453E-435B-BE44-0C11BC6EB67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recorded language curves</a:t>
            </a:r>
          </a:p>
        </p:txBody>
      </p:sp>
      <p:pic>
        <p:nvPicPr>
          <p:cNvPr id="2" name="">
            <a:extLst xmlns:a="http://schemas.openxmlformats.org/drawingml/2006/main">
              <a:ext uri="{FF2B5EF4-FFF2-40B4-BE49-F238E27FC236}">
                <a16:creationId xmlns:a16="http://schemas.microsoft.com/office/drawing/2014/main" id="{CF98FBC7-603F-477A-8CF2-74D1691158CF}"/>
              </a:ext>
            </a:extLst>
          </p:cNvPr>
          <p:cNvPicPr>
            <a:picLocks xmlns:a="http://schemas.openxmlformats.org/drawingml/2006/main" noChangeAspect="1"/>
          </p:cNvPicPr>
          <p:nvPr/>
        </p:nvPicPr>
        <p:blipFill>
          <a:blip xmlns:r="http://schemas.openxmlformats.org/officeDocument/2006/relationships" xmlns:a="http://schemas.openxmlformats.org/drawingml/2006/main" r:embed="R90b8f6a5f1a84266"/>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767B5966-8415-4035-9E10-03629125C6DB}"/>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Original returned GPU plot. All language arms receive 2000 updates. Synthetic treatments additionally receive 1000 PPT updates.</a:t>
            </a:r>
          </a:p>
        </p:txBody>
      </p:sp>
      <p:sp>
        <p:nvSpPr>
          <p:cNvPr id="4" name="page">
            <a:extLst xmlns:a="http://schemas.openxmlformats.org/drawingml/2006/main">
              <a:ext uri="{FF2B5EF4-FFF2-40B4-BE49-F238E27FC236}">
                <a16:creationId xmlns:a16="http://schemas.microsoft.com/office/drawing/2014/main" id="{0315ED6F-1F21-4AB5-B94E-9F0953BC329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77</a:t>
            </a:r>
          </a:p>
        </p:txBody>
      </p:sp>
    </p:spTree>
    <p:extLst>
      <p:ext uri="{BB962C8B-B14F-4D97-AF65-F5344CB8AC3E}">
        <p14:creationId xmlns:p14="http://schemas.microsoft.com/office/powerpoint/2010/main" val="184385156"/>
      </p:ext>
    </p:extLst>
  </p:cSld>
</p:sld>
</file>

<file path=ppt/slides/slide7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A3278A-ADCA-4544-9824-E6B650FB40E5}"/>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synthetic learning diagnostics</a:t>
            </a:r>
          </a:p>
        </p:txBody>
      </p:sp>
      <p:pic>
        <p:nvPicPr>
          <p:cNvPr id="2" name="">
            <a:extLst xmlns:a="http://schemas.openxmlformats.org/drawingml/2006/main">
              <a:ext uri="{FF2B5EF4-FFF2-40B4-BE49-F238E27FC236}">
                <a16:creationId xmlns:a16="http://schemas.microsoft.com/office/drawing/2014/main" id="{E8C7413C-679D-46A5-ACBF-01B462F3A476}"/>
              </a:ext>
            </a:extLst>
          </p:cNvPr>
          <p:cNvPicPr>
            <a:picLocks xmlns:a="http://schemas.openxmlformats.org/drawingml/2006/main" noChangeAspect="1"/>
          </p:cNvPicPr>
          <p:nvPr/>
        </p:nvPicPr>
        <p:blipFill>
          <a:blip xmlns:r="http://schemas.openxmlformats.org/officeDocument/2006/relationships" xmlns:a="http://schemas.openxmlformats.org/drawingml/2006/main" r:embed="Rf9594defa17843a1"/>
          <a:stretch xmlns:a="http://schemas.openxmlformats.org/drawingml/2006/main"/>
        </p:blipFill>
        <p:spPr>
          <a:xfrm xmlns:a="http://schemas.openxmlformats.org/drawingml/2006/main">
            <a:off x="590550" y="1853345"/>
            <a:ext cx="10953750" cy="337038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797589DB-7391-4D71-9CBA-899F786197A4}"/>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Original returned GPU plot. All structured and shuffled arms pass the original diagnostic gate.</a:t>
            </a:r>
          </a:p>
        </p:txBody>
      </p:sp>
      <p:sp>
        <p:nvSpPr>
          <p:cNvPr id="4" name="page">
            <a:extLst xmlns:a="http://schemas.openxmlformats.org/drawingml/2006/main">
              <a:ext uri="{FF2B5EF4-FFF2-40B4-BE49-F238E27FC236}">
                <a16:creationId xmlns:a16="http://schemas.microsoft.com/office/drawing/2014/main" id="{BE0BE2DB-7D8F-4B96-A630-268B13C0D6E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78</a:t>
            </a:r>
          </a:p>
        </p:txBody>
      </p:sp>
    </p:spTree>
    <p:extLst>
      <p:ext uri="{BB962C8B-B14F-4D97-AF65-F5344CB8AC3E}">
        <p14:creationId xmlns:p14="http://schemas.microsoft.com/office/powerpoint/2010/main" val="224363389"/>
      </p:ext>
    </p:extLst>
  </p:cSld>
</p:sld>
</file>

<file path=ppt/slides/slide7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B474E47-AA15-4285-887B-C6541D13A94B}"/>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strengthens the supervised-prefix control</a:t>
            </a:r>
          </a:p>
        </p:txBody>
      </p:sp>
      <p:sp>
        <p:nvSpPr>
          <p:cNvPr id="2" name="body">
            <a:extLst xmlns:a="http://schemas.openxmlformats.org/drawingml/2006/main">
              <a:ext uri="{FF2B5EF4-FFF2-40B4-BE49-F238E27FC236}">
                <a16:creationId xmlns:a16="http://schemas.microsoft.com/office/drawing/2014/main" id="{074AB1D0-A4D1-414F-8B26-60E5982B0520}"/>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Seven arms: scratch, grid, graph, original grid shuffle, original graph shuffle, prefix-matched grid shuffle and prefix-matched graph shuffle.</a:t>
            </a:r>
          </a:p>
        </p:txBody>
      </p:sp>
      <p:sp>
        <p:nvSpPr>
          <p:cNvPr id="3" name="body">
            <a:extLst xmlns:a="http://schemas.openxmlformats.org/drawingml/2006/main">
              <a:ext uri="{FF2B5EF4-FFF2-40B4-BE49-F238E27FC236}">
                <a16:creationId xmlns:a16="http://schemas.microsoft.com/office/drawing/2014/main" id="{5F27968F-5D4E-4FA0-9DC5-A4F915046503}"/>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Six fresh paired cohorts use seeds 59, 71, 83, 97, 109 and 127. Every language arm receives 2000 updates. Every synthetic arm first receives 1000 PPT updates.</a:t>
            </a:r>
          </a:p>
        </p:txBody>
      </p:sp>
      <p:sp>
        <p:nvSpPr>
          <p:cNvPr id="4" name="body">
            <a:extLst xmlns:a="http://schemas.openxmlformats.org/drawingml/2006/main">
              <a:ext uri="{FF2B5EF4-FFF2-40B4-BE49-F238E27FC236}">
                <a16:creationId xmlns:a16="http://schemas.microsoft.com/office/drawing/2014/main" id="{F4666C60-B09E-457D-8692-1D44D6DACC4E}"/>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new control fixes the complete initial frame, marker values and positions, and the trained-prefix patch histogram. It separately shuffles the unused suffix.</a:t>
            </a:r>
          </a:p>
        </p:txBody>
      </p:sp>
      <p:sp>
        <p:nvSpPr>
          <p:cNvPr id="5" name="body">
            <a:extLst xmlns:a="http://schemas.openxmlformats.org/drawingml/2006/main">
              <a:ext uri="{FF2B5EF4-FFF2-40B4-BE49-F238E27FC236}">
                <a16:creationId xmlns:a16="http://schemas.microsoft.com/office/drawing/2014/main" id="{AD29AC53-FDF1-4D97-9B37-579EF80A285E}"/>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Both graph comparisons use each cohort's same scratch endpoint. A fixed one-sided sign test counts ties as non-wins, with alpha 0.025 per comparison.</a:t>
            </a:r>
          </a:p>
        </p:txBody>
      </p:sp>
      <p:sp>
        <p:nvSpPr>
          <p:cNvPr id="6" name="page">
            <a:extLst xmlns:a="http://schemas.openxmlformats.org/drawingml/2006/main">
              <a:ext uri="{FF2B5EF4-FFF2-40B4-BE49-F238E27FC236}">
                <a16:creationId xmlns:a16="http://schemas.microsoft.com/office/drawing/2014/main" id="{A69B86E2-0BEE-4D10-A942-AF21DD57E99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79</a:t>
            </a:r>
          </a:p>
        </p:txBody>
      </p:sp>
    </p:spTree>
    <p:extLst>
      <p:ext uri="{BB962C8B-B14F-4D97-AF65-F5344CB8AC3E}">
        <p14:creationId xmlns:p14="http://schemas.microsoft.com/office/powerpoint/2010/main" val="1682861767"/>
      </p:ext>
    </p:extLst>
  </p:cSld>
</p:sld>
</file>

<file path=ppt/slides/slide8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6320376-6CE1-465A-B7E9-F6C1D452C36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v4 prefix-control code</a:t>
            </a:r>
          </a:p>
        </p:txBody>
      </p:sp>
      <p:sp>
        <p:nvSpPr>
          <p:cNvPr id="2" name="body">
            <a:extLst xmlns:a="http://schemas.openxmlformats.org/drawingml/2006/main">
              <a:ext uri="{FF2B5EF4-FFF2-40B4-BE49-F238E27FC236}">
                <a16:creationId xmlns:a16="http://schemas.microsoft.com/office/drawing/2014/main" id="{5ABB6FB8-F68A-46E5-B5C2-7C9C30A0B766}"/>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transfer_v4/controls.py   lines 15-29</a:t>
            </a:r>
          </a:p>
        </p:txBody>
      </p:sp>
      <p:sp>
        <p:nvSpPr>
          <p:cNvPr id="3" name="verbatim source">
            <a:extLst xmlns:a="http://schemas.openxmlformats.org/drawingml/2006/main">
              <a:ext uri="{FF2B5EF4-FFF2-40B4-BE49-F238E27FC236}">
                <a16:creationId xmlns:a16="http://schemas.microsoft.com/office/drawing/2014/main" id="{9724C153-1DC3-4296-AF34-5AB7FCE92571}"/>
              </a:ext>
            </a:extLst>
          </p:cNvPr>
          <p:cNvSpPr>
            <a:spLocks xmlns:a="http://schemas.openxmlformats.org/drawingml/2006/main" noGrp="1"/>
          </p:cNvSpPr>
          <p:nvPr/>
        </p:nvSpPr>
        <p:spPr>
          <a:xfrm xmlns:a="http://schemas.openxmlformats.org/drawingml/2006/main">
            <a:off x="590550" y="1895475"/>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prefix_shuffled(tokens, c, seed):</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result = tokens.copy()</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boundary = c["model"]["context"]+1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first = frame_length(c)</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tokens.ndim != 2 or tokens.shape[1] &lt; boundary:</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ValueError("Trajectories must contain the complete trained prefix")</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rng = np.random.default_rng(seed)</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cutoff = c["nca"]["states"]**4</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for row in result:</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for start, end in ((first, boundary), (boundary, len(row))):</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positions = np.arange(start, end)</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positions = positions[row[positions] &lt; cutoff]</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row[positions] = rng.permutation(row[positions])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result</a:t>
            </a:r>
          </a:p>
          <a:p xmlns:a="http://schemas.openxmlformats.org/drawingml/2006/main">
            <a:r>
              <a:t/>
            </a:r>
          </a:p>
        </p:txBody>
      </p:sp>
      <p:sp>
        <p:nvSpPr>
          <p:cNvPr id="4" name="body">
            <a:extLst xmlns:a="http://schemas.openxmlformats.org/drawingml/2006/main">
              <a:ext uri="{FF2B5EF4-FFF2-40B4-BE49-F238E27FC236}">
                <a16:creationId xmlns:a16="http://schemas.microsoft.com/office/drawing/2014/main" id="{559A621A-47BC-4D54-881A-5442A0DC0B8E}"/>
              </a:ext>
            </a:extLst>
          </p:cNvPr>
          <p:cNvSpPr>
            <a:spLocks xmlns:a="http://schemas.openxmlformats.org/drawingml/2006/main" noGrp="1"/>
          </p:cNvSpPr>
          <p:nvPr/>
        </p:nvSpPr>
        <p:spPr>
          <a:xfrm xmlns:a="http://schemas.openxmlformats.org/drawingml/2006/main">
            <a:off x="59055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FB0C8"/>
                </a:solidFill>
                <a:latin typeface="Calibri"/>
                <a:ea typeface="Calibri"/>
                <a:cs typeface="Calibri"/>
              </a:defRPr>
            </a:defPPr>
            <a:lvl1pPr>
              <a:defRPr sz="1800" b="0">
                <a:solidFill>
                  <a:srgbClr val="9FB0C8"/>
                </a:solidFill>
                <a:latin typeface="Calibri"/>
                <a:ea typeface="Calibri"/>
                <a:cs typeface="Calibri"/>
              </a:defRPr>
            </a:lvl1pPr>
            <a:lvl2pPr>
              <a:defRPr sz="1800" b="0">
                <a:solidFill>
                  <a:srgbClr val="9FB0C8"/>
                </a:solidFill>
                <a:latin typeface="Calibri"/>
                <a:ea typeface="Calibri"/>
                <a:cs typeface="Calibri"/>
              </a:defRPr>
            </a:lvl2pPr>
            <a:lvl3pPr>
              <a:defRPr sz="1800" b="0">
                <a:solidFill>
                  <a:srgbClr val="9FB0C8"/>
                </a:solidFill>
                <a:latin typeface="Calibri"/>
                <a:ea typeface="Calibri"/>
                <a:cs typeface="Calibri"/>
              </a:defRPr>
            </a:lvl3pPr>
            <a:lvl4pPr>
              <a:defRPr sz="1800" b="0">
                <a:solidFill>
                  <a:srgbClr val="9FB0C8"/>
                </a:solidFill>
                <a:latin typeface="Calibri"/>
                <a:ea typeface="Calibri"/>
                <a:cs typeface="Calibri"/>
              </a:defRPr>
            </a:lvl4pPr>
            <a:lvl5pPr>
              <a:defRPr sz="1800" b="0">
                <a:solidFill>
                  <a:srgbClr val="9FB0C8"/>
                </a:solidFill>
                <a:latin typeface="Calibri"/>
                <a:ea typeface="Calibri"/>
                <a:cs typeface="Calibri"/>
              </a:defRPr>
            </a:lvl5pPr>
            <a:lvl6pPr>
              <a:defRPr sz="1800" b="0">
                <a:solidFill>
                  <a:srgbClr val="9FB0C8"/>
                </a:solidFill>
                <a:latin typeface="Calibri"/>
                <a:ea typeface="Calibri"/>
                <a:cs typeface="Calibri"/>
              </a:defRPr>
            </a:lvl6pPr>
            <a:lvl7pPr>
              <a:defRPr sz="1800" b="0">
                <a:solidFill>
                  <a:srgbClr val="9FB0C8"/>
                </a:solidFill>
                <a:latin typeface="Calibri"/>
                <a:ea typeface="Calibri"/>
                <a:cs typeface="Calibri"/>
              </a:defRPr>
            </a:lvl7pPr>
            <a:lvl8pPr>
              <a:defRPr sz="1800" b="0">
                <a:solidFill>
                  <a:srgbClr val="9FB0C8"/>
                </a:solidFill>
                <a:latin typeface="Calibri"/>
                <a:ea typeface="Calibri"/>
                <a:cs typeface="Calibri"/>
              </a:defRPr>
            </a:lvl8pPr>
            <a:lvl9pPr>
              <a:defRPr sz="1800" b="0">
                <a:solidFill>
                  <a:srgbClr val="9FB0C8"/>
                </a:solidFill>
                <a:latin typeface="Calibri"/>
                <a:ea typeface="Calibri"/>
                <a:cs typeface="Calibri"/>
              </a:defRPr>
            </a:lvl9pPr>
          </a:lstStyle>
          <a:p xmlns:a="http://schemas.openxmlformats.org/drawingml/2006/main">
            <a:pPr>
              <a:defRPr sz="1800" b="0">
                <a:solidFill>
                  <a:srgbClr val="9FB0C8"/>
                </a:solidFill>
                <a:latin typeface="Calibri"/>
                <a:ea typeface="Calibri"/>
                <a:cs typeface="Calibri"/>
              </a:defRPr>
            </a:pPr>
            <a:r>
              <a:rPr sz="1800" b="0">
                <a:solidFill>
                  <a:srgbClr val="9FB0C8"/>
                </a:solidFill>
                <a:latin typeface="Calibri"/>
                <a:ea typeface="Calibri"/>
                <a:cs typeface="Calibri"/>
              </a:rPr>
              <a:t>Only patch order changes within each allowed region. The original initial frame, markers and prefix/suffix boundaries remain fixed.</a:t>
            </a:r>
          </a:p>
        </p:txBody>
      </p:sp>
      <p:sp>
        <p:nvSpPr>
          <p:cNvPr id="5" name="page">
            <a:extLst xmlns:a="http://schemas.openxmlformats.org/drawingml/2006/main">
              <a:ext uri="{FF2B5EF4-FFF2-40B4-BE49-F238E27FC236}">
                <a16:creationId xmlns:a16="http://schemas.microsoft.com/office/drawing/2014/main" id="{5719FECD-059D-4A3F-ABF1-04FF0568B4F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80</a:t>
            </a:r>
          </a:p>
        </p:txBody>
      </p:sp>
    </p:spTree>
    <p:extLst>
      <p:ext uri="{BB962C8B-B14F-4D97-AF65-F5344CB8AC3E}">
        <p14:creationId xmlns:p14="http://schemas.microsoft.com/office/powerpoint/2010/main" val="308745462"/>
      </p:ext>
    </p:extLst>
  </p:cSld>
</p:sld>
</file>

<file path=ppt/slides/slide8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7F88014-57B4-4128-8D4A-8C2AA7D6FC42}"/>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notebook execution cell</a:t>
            </a:r>
          </a:p>
        </p:txBody>
      </p:sp>
      <p:sp>
        <p:nvSpPr>
          <p:cNvPr id="2" name="body">
            <a:extLst xmlns:a="http://schemas.openxmlformats.org/drawingml/2006/main">
              <a:ext uri="{FF2B5EF4-FFF2-40B4-BE49-F238E27FC236}">
                <a16:creationId xmlns:a16="http://schemas.microsoft.com/office/drawing/2014/main" id="{CE8E54C7-AC3C-410A-B8D3-7AF472B8BE2F}"/>
              </a:ext>
            </a:extLst>
          </p:cNvPr>
          <p:cNvSpPr>
            <a:spLocks xmlns:a="http://schemas.openxmlformats.org/drawingml/2006/main" noGrp="1"/>
          </p:cNvSpPr>
          <p:nvPr/>
        </p:nvSpPr>
        <p:spPr>
          <a:xfrm xmlns:a="http://schemas.openxmlformats.org/drawingml/2006/main">
            <a:off x="590550" y="1438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kaggle_nca_transfer_v4.ipynb   cell 34</a:t>
            </a:r>
          </a:p>
        </p:txBody>
      </p:sp>
      <p:sp>
        <p:nvSpPr>
          <p:cNvPr id="3" name="body">
            <a:extLst xmlns:a="http://schemas.openxmlformats.org/drawingml/2006/main">
              <a:ext uri="{FF2B5EF4-FFF2-40B4-BE49-F238E27FC236}">
                <a16:creationId xmlns:a16="http://schemas.microsoft.com/office/drawing/2014/main" id="{36AFA50A-37FB-479B-982B-CC82C46CBA6D}"/>
              </a:ext>
            </a:extLst>
          </p:cNvPr>
          <p:cNvSpPr>
            <a:spLocks xmlns:a="http://schemas.openxmlformats.org/drawingml/2006/main" noGrp="1"/>
          </p:cNvSpPr>
          <p:nvPr/>
        </p:nvSpPr>
        <p:spPr>
          <a:xfrm xmlns:a="http://schemas.openxmlformats.org/drawingml/2006/main">
            <a:off x="590550" y="2095500"/>
            <a:ext cx="10953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1F5F9"/>
                </a:solidFill>
                <a:latin typeface="Courier New"/>
                <a:ea typeface="Courier New"/>
                <a:cs typeface="Courier New"/>
              </a:defRPr>
            </a:defPPr>
            <a:lvl1pPr>
              <a:defRPr sz="1575" b="0">
                <a:solidFill>
                  <a:srgbClr val="F1F5F9"/>
                </a:solidFill>
                <a:latin typeface="Courier New"/>
                <a:ea typeface="Courier New"/>
                <a:cs typeface="Courier New"/>
              </a:defRPr>
            </a:lvl1pPr>
            <a:lvl2pPr>
              <a:defRPr sz="1575" b="0">
                <a:solidFill>
                  <a:srgbClr val="F1F5F9"/>
                </a:solidFill>
                <a:latin typeface="Courier New"/>
                <a:ea typeface="Courier New"/>
                <a:cs typeface="Courier New"/>
              </a:defRPr>
            </a:lvl2pPr>
            <a:lvl3pPr>
              <a:defRPr sz="1575" b="0">
                <a:solidFill>
                  <a:srgbClr val="F1F5F9"/>
                </a:solidFill>
                <a:latin typeface="Courier New"/>
                <a:ea typeface="Courier New"/>
                <a:cs typeface="Courier New"/>
              </a:defRPr>
            </a:lvl3pPr>
            <a:lvl4pPr>
              <a:defRPr sz="1575" b="0">
                <a:solidFill>
                  <a:srgbClr val="F1F5F9"/>
                </a:solidFill>
                <a:latin typeface="Courier New"/>
                <a:ea typeface="Courier New"/>
                <a:cs typeface="Courier New"/>
              </a:defRPr>
            </a:lvl4pPr>
            <a:lvl5pPr>
              <a:defRPr sz="1575" b="0">
                <a:solidFill>
                  <a:srgbClr val="F1F5F9"/>
                </a:solidFill>
                <a:latin typeface="Courier New"/>
                <a:ea typeface="Courier New"/>
                <a:cs typeface="Courier New"/>
              </a:defRPr>
            </a:lvl5pPr>
            <a:lvl6pPr>
              <a:defRPr sz="1575" b="0">
                <a:solidFill>
                  <a:srgbClr val="F1F5F9"/>
                </a:solidFill>
                <a:latin typeface="Courier New"/>
                <a:ea typeface="Courier New"/>
                <a:cs typeface="Courier New"/>
              </a:defRPr>
            </a:lvl6pPr>
            <a:lvl7pPr>
              <a:defRPr sz="1575" b="0">
                <a:solidFill>
                  <a:srgbClr val="F1F5F9"/>
                </a:solidFill>
                <a:latin typeface="Courier New"/>
                <a:ea typeface="Courier New"/>
                <a:cs typeface="Courier New"/>
              </a:defRPr>
            </a:lvl7pPr>
            <a:lvl8pPr>
              <a:defRPr sz="1575" b="0">
                <a:solidFill>
                  <a:srgbClr val="F1F5F9"/>
                </a:solidFill>
                <a:latin typeface="Courier New"/>
                <a:ea typeface="Courier New"/>
                <a:cs typeface="Courier New"/>
              </a:defRPr>
            </a:lvl8pPr>
            <a:lvl9pPr>
              <a:defRPr sz="1575" b="0">
                <a:solidFill>
                  <a:srgbClr val="F1F5F9"/>
                </a:solidFill>
                <a:latin typeface="Courier New"/>
                <a:ea typeface="Courier New"/>
                <a:cs typeface="Courier New"/>
              </a:defRPr>
            </a:lvl9pPr>
          </a:lstStyle>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run('-m', 'transfer_v4.run', 'all', '--config', 'configs/transfer_v4.json',</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'--data', 'data/development', '--out', 'runs/development', '--device', 'cuda')</a:t>
            </a:r>
          </a:p>
        </p:txBody>
      </p:sp>
      <p:sp>
        <p:nvSpPr>
          <p:cNvPr id="4" name="body">
            <a:extLst xmlns:a="http://schemas.openxmlformats.org/drawingml/2006/main">
              <a:ext uri="{FF2B5EF4-FFF2-40B4-BE49-F238E27FC236}">
                <a16:creationId xmlns:a16="http://schemas.microsoft.com/office/drawing/2014/main" id="{ACB95B8C-C5D0-405C-A96F-1A7E4B10D52F}"/>
              </a:ext>
            </a:extLst>
          </p:cNvPr>
          <p:cNvSpPr>
            <a:spLocks xmlns:a="http://schemas.openxmlformats.org/drawingml/2006/main" noGrp="1"/>
          </p:cNvSpPr>
          <p:nvPr/>
        </p:nvSpPr>
        <p:spPr>
          <a:xfrm xmlns:a="http://schemas.openxmlformats.org/drawingml/2006/main">
            <a:off x="590550" y="52768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Verbatim execution cell from the 25-source self-contained notebook. The user-run T4 archive supplies the GPU measurements reviewed here.</a:t>
            </a:r>
          </a:p>
        </p:txBody>
      </p:sp>
      <p:sp>
        <p:nvSpPr>
          <p:cNvPr id="5" name="page">
            <a:extLst xmlns:a="http://schemas.openxmlformats.org/drawingml/2006/main">
              <a:ext uri="{FF2B5EF4-FFF2-40B4-BE49-F238E27FC236}">
                <a16:creationId xmlns:a16="http://schemas.microsoft.com/office/drawing/2014/main" id="{02B6AA80-3044-4D8F-93B1-F43D6C6D3DD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81</a:t>
            </a:r>
          </a:p>
        </p:txBody>
      </p:sp>
    </p:spTree>
    <p:extLst>
      <p:ext uri="{BB962C8B-B14F-4D97-AF65-F5344CB8AC3E}">
        <p14:creationId xmlns:p14="http://schemas.microsoft.com/office/powerpoint/2010/main" val="277452493"/>
      </p:ext>
    </p:extLst>
  </p:cSld>
</p:sld>
</file>

<file path=ppt/slides/slide8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3C0F0A-15F7-4B03-9C35-7EE47EA3B2B4}"/>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crossings at the common scratch target</a:t>
            </a:r>
          </a:p>
        </p:txBody>
      </p:sp>
      <p:graphicFrame>
        <p:nvGraphicFramePr>
          <p:cNvPr id="2" name="">
            <a:extLst xmlns:a="http://schemas.openxmlformats.org/drawingml/2006/main">
              <a:ext uri="{FF2B5EF4-FFF2-40B4-BE49-F238E27FC236}">
                <a16:creationId xmlns:a16="http://schemas.microsoft.com/office/drawing/2014/main" id="{AA12F609-F271-4CC3-B976-6F06B2AADE8C}"/>
              </a:ext>
            </a:extLst>
          </p:cNvPr>
          <p:cNvGraphicFramePr/>
          <p:nvPr/>
        </p:nvGraphicFramePr>
        <p:xfrm>
          <a:off xmlns:a="http://schemas.openxmlformats.org/drawingml/2006/main" x="590550" y="1466850"/>
          <a:ext xmlns:a="http://schemas.openxmlformats.org/drawingml/2006/main" cx="10953750" cy="3952875"/>
        </p:xfrm>
        <a:graphic xmlns:a="http://schemas.openxmlformats.org/drawingml/2006/main">
          <a:graphicData uri="http://schemas.openxmlformats.org/drawingml/2006/table">
            <a:tbl>
              <a:tblPr/>
              <a:tblGrid>
                <a:gridCol w="2095500"/>
                <a:gridCol w="2190750"/>
                <a:gridCol w="2190750"/>
                <a:gridCol w="4476750"/>
              </a:tblGrid>
              <a:tr h="564696">
                <a:tc>
                  <a:txBody>
                    <a:bodyPr wrap="square" lIns="95250" tIns="95250" rIns="95250" bIns="95250"/>
                    <a:lstStyle/>
                    <a:p>
                      <a:r>
                        <a:rPr sz="1800" b="1">
                          <a:solidFill>
                            <a:srgbClr val="F1F5F9"/>
                          </a:solidFill>
                          <a:latin typeface="Calibri"/>
                          <a:ea typeface="Calibri"/>
                          <a:cs typeface="Calibri"/>
                        </a:rPr>
                        <a:t>Cohort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Grid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Graph</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Prefix graph shuffle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64696">
                <a:tc>
                  <a:txBody>
                    <a:bodyPr wrap="square" lIns="95250" tIns="95250" rIns="95250" bIns="95250"/>
                    <a:lstStyle/>
                    <a:p>
                      <a:r>
                        <a:rPr sz="1800" b="0">
                          <a:solidFill>
                            <a:srgbClr val="F1F5F9"/>
                          </a:solidFill>
                          <a:latin typeface="Calibri"/>
                          <a:ea typeface="Calibri"/>
                          <a:cs typeface="Calibri"/>
                        </a:rPr>
                        <a:t>59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64696">
                <a:tc>
                  <a:txBody>
                    <a:bodyPr wrap="square" lIns="95250" tIns="95250" rIns="95250" bIns="95250"/>
                    <a:lstStyle/>
                    <a:p>
                      <a:r>
                        <a:rPr sz="1800" b="0">
                          <a:solidFill>
                            <a:srgbClr val="F1F5F9"/>
                          </a:solidFill>
                          <a:latin typeface="Calibri"/>
                          <a:ea typeface="Calibri"/>
                          <a:cs typeface="Calibri"/>
                        </a:rPr>
                        <a:t>71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64696">
                <a:tc>
                  <a:txBody>
                    <a:bodyPr wrap="square" lIns="95250" tIns="95250" rIns="95250" bIns="95250"/>
                    <a:lstStyle/>
                    <a:p>
                      <a:r>
                        <a:rPr sz="1800" b="0">
                          <a:solidFill>
                            <a:srgbClr val="F1F5F9"/>
                          </a:solidFill>
                          <a:latin typeface="Calibri"/>
                          <a:ea typeface="Calibri"/>
                          <a:cs typeface="Calibri"/>
                        </a:rPr>
                        <a:t>83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64696">
                <a:tc>
                  <a:txBody>
                    <a:bodyPr wrap="square" lIns="95250" tIns="95250" rIns="95250" bIns="95250"/>
                    <a:lstStyle/>
                    <a:p>
                      <a:r>
                        <a:rPr sz="1800" b="0">
                          <a:solidFill>
                            <a:srgbClr val="F1F5F9"/>
                          </a:solidFill>
                          <a:latin typeface="Calibri"/>
                          <a:ea typeface="Calibri"/>
                          <a:cs typeface="Calibri"/>
                        </a:rPr>
                        <a:t>97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1800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1800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1800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64696">
                <a:tc>
                  <a:txBody>
                    <a:bodyPr wrap="square" lIns="95250" tIns="95250" rIns="95250" bIns="95250"/>
                    <a:lstStyle/>
                    <a:p>
                      <a:r>
                        <a:rPr sz="1800" b="0">
                          <a:solidFill>
                            <a:srgbClr val="F1F5F9"/>
                          </a:solidFill>
                          <a:latin typeface="Calibri"/>
                          <a:ea typeface="Calibri"/>
                          <a:cs typeface="Calibri"/>
                        </a:rPr>
                        <a:t>109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1800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64696">
                <a:tc>
                  <a:txBody>
                    <a:bodyPr wrap="square" lIns="95250" tIns="95250" rIns="95250" bIns="95250"/>
                    <a:lstStyle/>
                    <a:p>
                      <a:r>
                        <a:rPr sz="1800" b="0">
                          <a:solidFill>
                            <a:srgbClr val="F1F5F9"/>
                          </a:solidFill>
                          <a:latin typeface="Calibri"/>
                          <a:ea typeface="Calibri"/>
                          <a:cs typeface="Calibri"/>
                        </a:rPr>
                        <a:t>127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1800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1700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E67466BE-4AF2-446D-93C8-49CA777ACA9B}"/>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Language updates. Every crossing is observed at the 100-update cadence. No interpolation or censoring in these two primary comparisons.</a:t>
            </a:r>
          </a:p>
        </p:txBody>
      </p:sp>
      <p:sp>
        <p:nvSpPr>
          <p:cNvPr id="4" name="page">
            <a:extLst xmlns:a="http://schemas.openxmlformats.org/drawingml/2006/main">
              <a:ext uri="{FF2B5EF4-FFF2-40B4-BE49-F238E27FC236}">
                <a16:creationId xmlns:a16="http://schemas.microsoft.com/office/drawing/2014/main" id="{C1C23D8C-F930-409E-945B-8FF8AEBB0F0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82</a:t>
            </a:r>
          </a:p>
        </p:txBody>
      </p:sp>
    </p:spTree>
    <p:extLst>
      <p:ext uri="{BB962C8B-B14F-4D97-AF65-F5344CB8AC3E}">
        <p14:creationId xmlns:p14="http://schemas.microsoft.com/office/powerpoint/2010/main" val="1263040914"/>
      </p:ext>
    </p:extLst>
  </p:cSld>
</p:sld>
</file>

<file path=ppt/slides/slide8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0A06DAB-64E8-42C8-950D-4544A9C25012}"/>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frozen graph-advantage tests both fail</a:t>
            </a:r>
          </a:p>
        </p:txBody>
      </p:sp>
      <p:graphicFrame>
        <p:nvGraphicFramePr>
          <p:cNvPr id="2" name="">
            <a:extLst xmlns:a="http://schemas.openxmlformats.org/drawingml/2006/main">
              <a:ext uri="{FF2B5EF4-FFF2-40B4-BE49-F238E27FC236}">
                <a16:creationId xmlns:a16="http://schemas.microsoft.com/office/drawing/2014/main" id="{4A69319C-88BE-41CA-A99F-C952D68B8C59}"/>
              </a:ext>
            </a:extLst>
          </p:cNvPr>
          <p:cNvGraphicFramePr/>
          <p:nvPr/>
        </p:nvGraphicFramePr>
        <p:xfrm>
          <a:off xmlns:a="http://schemas.openxmlformats.org/drawingml/2006/main" x="590550" y="1466850"/>
          <a:ext xmlns:a="http://schemas.openxmlformats.org/drawingml/2006/main" cx="10953750" cy="2571750"/>
        </p:xfrm>
        <a:graphic xmlns:a="http://schemas.openxmlformats.org/drawingml/2006/main">
          <a:graphicData uri="http://schemas.openxmlformats.org/drawingml/2006/table">
            <a:tbl>
              <a:tblPr/>
              <a:tblGrid>
                <a:gridCol w="3333750"/>
                <a:gridCol w="3048000"/>
                <a:gridCol w="2381250"/>
                <a:gridCol w="2190750"/>
              </a:tblGrid>
              <a:tr h="857250">
                <a:tc>
                  <a:txBody>
                    <a:bodyPr wrap="square" lIns="95250" tIns="95250" rIns="95250" bIns="95250"/>
                    <a:lstStyle/>
                    <a:p>
                      <a:r>
                        <a:rPr sz="1950" b="1">
                          <a:solidFill>
                            <a:srgbClr val="F1F5F9"/>
                          </a:solidFill>
                          <a:latin typeface="Calibri"/>
                          <a:ea typeface="Calibri"/>
                          <a:cs typeface="Calibri"/>
                        </a:rPr>
                        <a:t>Reference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950" b="1">
                          <a:solidFill>
                            <a:srgbClr val="F1F5F9"/>
                          </a:solidFill>
                          <a:latin typeface="Calibri"/>
                          <a:ea typeface="Calibri"/>
                          <a:cs typeface="Calibri"/>
                        </a:rPr>
                        <a:t>Wins / ties / losses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950" b="1">
                          <a:solidFill>
                            <a:srgbClr val="F1F5F9"/>
                          </a:solidFill>
                          <a:latin typeface="Calibri"/>
                          <a:ea typeface="Calibri"/>
                          <a:cs typeface="Calibri"/>
                        </a:rPr>
                        <a:t>Token-speed ratio</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950" b="1">
                          <a:solidFill>
                            <a:srgbClr val="F1F5F9"/>
                          </a:solidFill>
                          <a:latin typeface="Calibri"/>
                          <a:ea typeface="Calibri"/>
                          <a:cs typeface="Calibri"/>
                        </a:rPr>
                        <a:t>One-sided p</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857250">
                <a:tc>
                  <a:txBody>
                    <a:bodyPr wrap="square" lIns="95250" tIns="95250" rIns="95250" bIns="95250"/>
                    <a:lstStyle/>
                    <a:p>
                      <a:r>
                        <a:rPr sz="1950" b="0">
                          <a:solidFill>
                            <a:srgbClr val="F1F5F9"/>
                          </a:solidFill>
                          <a:latin typeface="Calibri"/>
                          <a:ea typeface="Calibri"/>
                          <a:cs typeface="Calibri"/>
                        </a:rPr>
                        <a:t>Grid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950" b="0">
                          <a:solidFill>
                            <a:srgbClr val="F1F5F9"/>
                          </a:solidFill>
                          <a:latin typeface="Calibri"/>
                          <a:ea typeface="Calibri"/>
                          <a:cs typeface="Calibri"/>
                        </a:rPr>
                        <a:t>0 / 5 / 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950" b="0">
                          <a:solidFill>
                            <a:srgbClr val="F1F5F9"/>
                          </a:solidFill>
                          <a:latin typeface="Calibri"/>
                          <a:ea typeface="Calibri"/>
                          <a:cs typeface="Calibri"/>
                        </a:rPr>
                        <a:t>0.990519x</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950" b="0">
                          <a:solidFill>
                            <a:srgbClr val="F1F5F9"/>
                          </a:solidFill>
                          <a:latin typeface="Calibri"/>
                          <a:ea typeface="Calibri"/>
                          <a:cs typeface="Calibri"/>
                        </a:rPr>
                        <a:t>1.000000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857250">
                <a:tc>
                  <a:txBody>
                    <a:bodyPr wrap="square" lIns="95250" tIns="95250" rIns="95250" bIns="95250"/>
                    <a:lstStyle/>
                    <a:p>
                      <a:r>
                        <a:rPr sz="1950" b="0">
                          <a:solidFill>
                            <a:srgbClr val="F1F5F9"/>
                          </a:solidFill>
                          <a:latin typeface="Calibri"/>
                          <a:ea typeface="Calibri"/>
                          <a:cs typeface="Calibri"/>
                        </a:rPr>
                        <a:t>Prefix graph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950" b="0">
                          <a:solidFill>
                            <a:srgbClr val="F1F5F9"/>
                          </a:solidFill>
                          <a:latin typeface="Calibri"/>
                          <a:ea typeface="Calibri"/>
                          <a:cs typeface="Calibri"/>
                        </a:rPr>
                        <a:t>1 / 4 / 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950" b="0">
                          <a:solidFill>
                            <a:srgbClr val="F1F5F9"/>
                          </a:solidFill>
                          <a:latin typeface="Calibri"/>
                          <a:ea typeface="Calibri"/>
                          <a:cs typeface="Calibri"/>
                        </a:rPr>
                        <a:t>1.000000x</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950" b="0">
                          <a:solidFill>
                            <a:srgbClr val="F1F5F9"/>
                          </a:solidFill>
                          <a:latin typeface="Calibri"/>
                          <a:ea typeface="Calibri"/>
                          <a:cs typeface="Calibri"/>
                        </a:rPr>
                        <a:t>0.984375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DA705423-6E7A-4B6B-8DB5-BC2C907100EA}"/>
              </a:ext>
            </a:extLst>
          </p:cNvPr>
          <p:cNvSpPr>
            <a:spLocks xmlns:a="http://schemas.openxmlformats.org/drawingml/2006/main" noGrp="1"/>
          </p:cNvSpPr>
          <p:nvPr/>
        </p:nvSpPr>
        <p:spPr>
          <a:xfrm xmlns:a="http://schemas.openxmlformats.org/drawingml/2006/main">
            <a:off x="609600" y="441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Ratio = reference language tokens / graph language tokens. Values above 1 favor graph. Each comparison needs p &lt;= 0.025, and both must pass.</a:t>
            </a:r>
          </a:p>
        </p:txBody>
      </p:sp>
      <p:sp>
        <p:nvSpPr>
          <p:cNvPr id="4" name="body">
            <a:extLst xmlns:a="http://schemas.openxmlformats.org/drawingml/2006/main">
              <a:ext uri="{FF2B5EF4-FFF2-40B4-BE49-F238E27FC236}">
                <a16:creationId xmlns:a16="http://schemas.microsoft.com/office/drawing/2014/main" id="{A3FB5BDA-F024-432D-8949-C2FE6DC2A922}"/>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Failure to demonstrate the declared advantage does not establish equivalence or exclude effects below the evaluation cadence.</a:t>
            </a:r>
          </a:p>
        </p:txBody>
      </p:sp>
      <p:sp>
        <p:nvSpPr>
          <p:cNvPr id="5" name="page">
            <a:extLst xmlns:a="http://schemas.openxmlformats.org/drawingml/2006/main">
              <a:ext uri="{FF2B5EF4-FFF2-40B4-BE49-F238E27FC236}">
                <a16:creationId xmlns:a16="http://schemas.microsoft.com/office/drawing/2014/main" id="{B14E4637-606A-4536-BCA1-AF7BFC877E5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83</a:t>
            </a:r>
          </a:p>
        </p:txBody>
      </p:sp>
    </p:spTree>
    <p:extLst>
      <p:ext uri="{BB962C8B-B14F-4D97-AF65-F5344CB8AC3E}">
        <p14:creationId xmlns:p14="http://schemas.microsoft.com/office/powerpoint/2010/main" val="149941158"/>
      </p:ext>
    </p:extLst>
  </p:cSld>
</p:sld>
</file>

<file path=ppt/slides/slide8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A472FB-429B-423B-9D0D-9761E71A5A8F}"/>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language gain and cumulative cost</a:t>
            </a:r>
          </a:p>
        </p:txBody>
      </p:sp>
      <p:graphicFrame>
        <p:nvGraphicFramePr>
          <p:cNvPr id="2" name="">
            <a:extLst xmlns:a="http://schemas.openxmlformats.org/drawingml/2006/main">
              <a:ext uri="{FF2B5EF4-FFF2-40B4-BE49-F238E27FC236}">
                <a16:creationId xmlns:a16="http://schemas.microsoft.com/office/drawing/2014/main" id="{489319EE-BC39-4E0B-98A4-1597D3D3A510}"/>
              </a:ext>
            </a:extLst>
          </p:cNvPr>
          <p:cNvGraphicFramePr/>
          <p:nvPr/>
        </p:nvGraphicFramePr>
        <p:xfrm>
          <a:off xmlns:a="http://schemas.openxmlformats.org/drawingml/2006/main" x="590550" y="1466850"/>
          <a:ext xmlns:a="http://schemas.openxmlformats.org/drawingml/2006/main" cx="10953750" cy="4095750"/>
        </p:xfrm>
        <a:graphic xmlns:a="http://schemas.openxmlformats.org/drawingml/2006/main">
          <a:graphicData uri="http://schemas.openxmlformats.org/drawingml/2006/table">
            <a:tbl>
              <a:tblPr/>
              <a:tblGrid>
                <a:gridCol w="3190875"/>
                <a:gridCol w="1857375"/>
                <a:gridCol w="2952750"/>
                <a:gridCol w="2952750"/>
              </a:tblGrid>
              <a:tr h="511969">
                <a:tc>
                  <a:txBody>
                    <a:bodyPr wrap="square" lIns="95250" tIns="95250" rIns="95250" bIns="95250"/>
                    <a:lstStyle/>
                    <a:p>
                      <a:r>
                        <a:rPr sz="1650" b="1">
                          <a:solidFill>
                            <a:srgbClr val="F1F5F9"/>
                          </a:solidFill>
                          <a:latin typeface="Calibri"/>
                          <a:ea typeface="Calibri"/>
                          <a:cs typeface="Calibri"/>
                        </a:rPr>
                        <a:t>Initialization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Final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Language-token speedup</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Cumulative-time speedup</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11969">
                <a:tc>
                  <a:txBody>
                    <a:bodyPr wrap="square" lIns="95250" tIns="95250" rIns="95250" bIns="95250"/>
                    <a:lstStyle/>
                    <a:p>
                      <a:r>
                        <a:rPr sz="1650" b="0">
                          <a:solidFill>
                            <a:srgbClr val="F1F5F9"/>
                          </a:solidFill>
                          <a:latin typeface="Calibri"/>
                          <a:ea typeface="Calibri"/>
                          <a:cs typeface="Calibri"/>
                        </a:rPr>
                        <a:t>Scratch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5.273956</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1.000000x</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1.000000x</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1969">
                <a:tc>
                  <a:txBody>
                    <a:bodyPr wrap="square" lIns="95250" tIns="95250" rIns="95250" bIns="95250"/>
                    <a:lstStyle/>
                    <a:p>
                      <a:r>
                        <a:rPr sz="1650" b="0">
                          <a:solidFill>
                            <a:srgbClr val="F1F5F9"/>
                          </a:solidFill>
                          <a:latin typeface="Calibri"/>
                          <a:ea typeface="Calibri"/>
                          <a:cs typeface="Calibri"/>
                        </a:rPr>
                        <a:t>Grid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5.230608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1.165316x</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0.864328x</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1969">
                <a:tc>
                  <a:txBody>
                    <a:bodyPr wrap="square" lIns="95250" tIns="95250" rIns="95250" bIns="95250"/>
                    <a:lstStyle/>
                    <a:p>
                      <a:r>
                        <a:rPr sz="1650" b="0">
                          <a:solidFill>
                            <a:srgbClr val="F1F5F9"/>
                          </a:solidFill>
                          <a:latin typeface="Calibri"/>
                          <a:ea typeface="Calibri"/>
                          <a:cs typeface="Calibri"/>
                        </a:rPr>
                        <a:t>Graph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5.234337</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1.154268x</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0.857989x</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1969">
                <a:tc>
                  <a:txBody>
                    <a:bodyPr wrap="square" lIns="95250" tIns="95250" rIns="95250" bIns="95250"/>
                    <a:lstStyle/>
                    <a:p>
                      <a:r>
                        <a:rPr sz="1650" b="0">
                          <a:solidFill>
                            <a:srgbClr val="F1F5F9"/>
                          </a:solidFill>
                          <a:latin typeface="Calibri"/>
                          <a:ea typeface="Calibri"/>
                          <a:cs typeface="Calibri"/>
                        </a:rPr>
                        <a:t>Original grid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5.236298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1.143913x</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0.851626x</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1969">
                <a:tc>
                  <a:txBody>
                    <a:bodyPr wrap="square" lIns="95250" tIns="95250" rIns="95250" bIns="95250"/>
                    <a:lstStyle/>
                    <a:p>
                      <a:r>
                        <a:rPr sz="1650" b="0">
                          <a:solidFill>
                            <a:srgbClr val="F1F5F9"/>
                          </a:solidFill>
                          <a:latin typeface="Calibri"/>
                          <a:ea typeface="Calibri"/>
                          <a:cs typeface="Calibri"/>
                        </a:rPr>
                        <a:t>Original graph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5.234172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1.165990x</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0.864376x</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1969">
                <a:tc>
                  <a:txBody>
                    <a:bodyPr wrap="square" lIns="95250" tIns="95250" rIns="95250" bIns="95250"/>
                    <a:lstStyle/>
                    <a:p>
                      <a:r>
                        <a:rPr sz="1650" b="0">
                          <a:solidFill>
                            <a:srgbClr val="F1F5F9"/>
                          </a:solidFill>
                          <a:latin typeface="Calibri"/>
                          <a:ea typeface="Calibri"/>
                          <a:cs typeface="Calibri"/>
                        </a:rPr>
                        <a:t>Prefix grid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5.235063</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1.166591x</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0.864891x</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1969">
                <a:tc>
                  <a:txBody>
                    <a:bodyPr wrap="square" lIns="95250" tIns="95250" rIns="95250" bIns="95250"/>
                    <a:lstStyle/>
                    <a:p>
                      <a:r>
                        <a:rPr sz="1650" b="0">
                          <a:solidFill>
                            <a:srgbClr val="F1F5F9"/>
                          </a:solidFill>
                          <a:latin typeface="Calibri"/>
                          <a:ea typeface="Calibri"/>
                          <a:cs typeface="Calibri"/>
                        </a:rPr>
                        <a:t>Prefix graph shuffle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5.235680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1.154268x</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0.858035x</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497D7533-F7B8-4631-8EED-04A7D41E1165}"/>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All speedups use paired scratch endpoints. Graph uses about 13.4% fewer language tokens and about 16.6% more cumulative time.</a:t>
            </a:r>
          </a:p>
        </p:txBody>
      </p:sp>
      <p:sp>
        <p:nvSpPr>
          <p:cNvPr id="4" name="page">
            <a:extLst xmlns:a="http://schemas.openxmlformats.org/drawingml/2006/main">
              <a:ext uri="{FF2B5EF4-FFF2-40B4-BE49-F238E27FC236}">
                <a16:creationId xmlns:a16="http://schemas.microsoft.com/office/drawing/2014/main" id="{C27AB55A-6262-4AB7-89A5-36487DBBF24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84</a:t>
            </a:r>
          </a:p>
        </p:txBody>
      </p:sp>
    </p:spTree>
    <p:extLst>
      <p:ext uri="{BB962C8B-B14F-4D97-AF65-F5344CB8AC3E}">
        <p14:creationId xmlns:p14="http://schemas.microsoft.com/office/powerpoint/2010/main" val="2101273724"/>
      </p:ext>
    </p:extLst>
  </p:cSld>
</p:sld>
</file>

<file path=ppt/slides/slide8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DFA01E-6A1B-440A-ABD0-3A34E6DE6E93}"/>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paired graph comparisons</a:t>
            </a:r>
          </a:p>
        </p:txBody>
      </p:sp>
      <p:pic>
        <p:nvPicPr>
          <p:cNvPr id="2" name="">
            <a:extLst xmlns:a="http://schemas.openxmlformats.org/drawingml/2006/main">
              <a:ext uri="{FF2B5EF4-FFF2-40B4-BE49-F238E27FC236}">
                <a16:creationId xmlns:a16="http://schemas.microsoft.com/office/drawing/2014/main" id="{A4D9EB2E-6ADA-457E-8B39-701610C17D06}"/>
              </a:ext>
            </a:extLst>
          </p:cNvPr>
          <p:cNvPicPr>
            <a:picLocks xmlns:a="http://schemas.openxmlformats.org/drawingml/2006/main" noChangeAspect="1"/>
          </p:cNvPicPr>
          <p:nvPr/>
        </p:nvPicPr>
        <p:blipFill>
          <a:blip xmlns:r="http://schemas.openxmlformats.org/officeDocument/2006/relationships" xmlns:a="http://schemas.openxmlformats.org/drawingml/2006/main" r:embed="R532ccac083b74234"/>
          <a:stretch xmlns:a="http://schemas.openxmlformats.org/drawingml/2006/main"/>
        </p:blipFill>
        <p:spPr>
          <a:xfrm xmlns:a="http://schemas.openxmlformats.org/drawingml/2006/main">
            <a:off x="590550" y="1447367"/>
            <a:ext cx="10953750" cy="4182341"/>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9389A28D-F18A-488A-870D-74099AE5EE1D}"/>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Six-cohort imported GPU evidence. Primary common-target comparisons remain distinct from endpoint quality.</a:t>
            </a:r>
          </a:p>
        </p:txBody>
      </p:sp>
      <p:sp>
        <p:nvSpPr>
          <p:cNvPr id="4" name="page">
            <a:extLst xmlns:a="http://schemas.openxmlformats.org/drawingml/2006/main">
              <a:ext uri="{FF2B5EF4-FFF2-40B4-BE49-F238E27FC236}">
                <a16:creationId xmlns:a16="http://schemas.microsoft.com/office/drawing/2014/main" id="{D07F4CF7-2798-4C53-837F-1E00F8E84CE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85</a:t>
            </a:r>
          </a:p>
        </p:txBody>
      </p:sp>
    </p:spTree>
    <p:extLst>
      <p:ext uri="{BB962C8B-B14F-4D97-AF65-F5344CB8AC3E}">
        <p14:creationId xmlns:p14="http://schemas.microsoft.com/office/powerpoint/2010/main" val="2062851101"/>
      </p:ext>
    </p:extLst>
  </p:cSld>
</p:sld>
</file>

<file path=ppt/slides/slide8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9CD088-DC7D-4CA9-8D1E-B88B3BFA6A3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recorded language curves</a:t>
            </a:r>
          </a:p>
        </p:txBody>
      </p:sp>
      <p:pic>
        <p:nvPicPr>
          <p:cNvPr id="2" name="">
            <a:extLst xmlns:a="http://schemas.openxmlformats.org/drawingml/2006/main">
              <a:ext uri="{FF2B5EF4-FFF2-40B4-BE49-F238E27FC236}">
                <a16:creationId xmlns:a16="http://schemas.microsoft.com/office/drawing/2014/main" id="{08925839-3C9F-4C81-8108-A9D1A35722CD}"/>
              </a:ext>
            </a:extLst>
          </p:cNvPr>
          <p:cNvPicPr>
            <a:picLocks xmlns:a="http://schemas.openxmlformats.org/drawingml/2006/main" noChangeAspect="1"/>
          </p:cNvPicPr>
          <p:nvPr/>
        </p:nvPicPr>
        <p:blipFill>
          <a:blip xmlns:r="http://schemas.openxmlformats.org/officeDocument/2006/relationships" xmlns:a="http://schemas.openxmlformats.org/drawingml/2006/main" r:embed="R1fcac7300aa54ab2"/>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0D1488EB-F6FF-46A6-BB83-B58C306AE7CA}"/>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Original returned seven-arm GPU plot. Similar shuffled gains leave a dynamics-specific transfer mechanism unestablished.</a:t>
            </a:r>
          </a:p>
        </p:txBody>
      </p:sp>
      <p:sp>
        <p:nvSpPr>
          <p:cNvPr id="4" name="page">
            <a:extLst xmlns:a="http://schemas.openxmlformats.org/drawingml/2006/main">
              <a:ext uri="{FF2B5EF4-FFF2-40B4-BE49-F238E27FC236}">
                <a16:creationId xmlns:a16="http://schemas.microsoft.com/office/drawing/2014/main" id="{04832C56-B32B-44DE-B84F-3FE08FFD263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86</a:t>
            </a:r>
          </a:p>
        </p:txBody>
      </p:sp>
    </p:spTree>
    <p:extLst>
      <p:ext uri="{BB962C8B-B14F-4D97-AF65-F5344CB8AC3E}">
        <p14:creationId xmlns:p14="http://schemas.microsoft.com/office/powerpoint/2010/main" val="1088966797"/>
      </p:ext>
    </p:extLst>
  </p:cSld>
</p:sld>
</file>

<file path=ppt/slides/slide8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AB11F5-1FC0-4FD0-BAE3-CEA9B492E08A}"/>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V4 original synthetic diagnostics</a:t>
            </a:r>
          </a:p>
        </p:txBody>
      </p:sp>
      <p:pic>
        <p:nvPicPr>
          <p:cNvPr id="2" name="">
            <a:extLst xmlns:a="http://schemas.openxmlformats.org/drawingml/2006/main">
              <a:ext uri="{FF2B5EF4-FFF2-40B4-BE49-F238E27FC236}">
                <a16:creationId xmlns:a16="http://schemas.microsoft.com/office/drawing/2014/main" id="{B279A488-DE51-47AA-8255-8D703FD6DDAB}"/>
              </a:ext>
            </a:extLst>
          </p:cNvPr>
          <p:cNvPicPr>
            <a:picLocks xmlns:a="http://schemas.openxmlformats.org/drawingml/2006/main" noChangeAspect="1"/>
          </p:cNvPicPr>
          <p:nvPr/>
        </p:nvPicPr>
        <p:blipFill>
          <a:blip xmlns:r="http://schemas.openxmlformats.org/officeDocument/2006/relationships" xmlns:a="http://schemas.openxmlformats.org/drawingml/2006/main" r:embed="R564c04ca1da24bd2"/>
          <a:stretch xmlns:a="http://schemas.openxmlformats.org/drawingml/2006/main"/>
        </p:blipFill>
        <p:spPr>
          <a:xfrm xmlns:a="http://schemas.openxmlformats.org/drawingml/2006/main">
            <a:off x="590550" y="1853345"/>
            <a:ext cx="10953750" cy="337038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2E46AEC1-D98E-4A20-82CA-9E426F2B6F59}"/>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All 36 synthetic models pass the original gate. The later causal-frequency diagnostic exposes its limited scope.</a:t>
            </a:r>
          </a:p>
        </p:txBody>
      </p:sp>
      <p:sp>
        <p:nvSpPr>
          <p:cNvPr id="4" name="page">
            <a:extLst xmlns:a="http://schemas.openxmlformats.org/drawingml/2006/main">
              <a:ext uri="{FF2B5EF4-FFF2-40B4-BE49-F238E27FC236}">
                <a16:creationId xmlns:a16="http://schemas.microsoft.com/office/drawing/2014/main" id="{15023CFA-76A1-421D-AFE8-C4C0D988498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87</a:t>
            </a:r>
          </a:p>
        </p:txBody>
      </p:sp>
    </p:spTree>
    <p:extLst>
      <p:ext uri="{BB962C8B-B14F-4D97-AF65-F5344CB8AC3E}">
        <p14:creationId xmlns:p14="http://schemas.microsoft.com/office/powerpoint/2010/main" val="743078444"/>
      </p:ext>
    </p:extLst>
  </p:cSld>
</p:sld>
</file>

<file path=ppt/slides/slide8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273F494-F222-4C89-9DB7-E26415DA3101}"/>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Causal frequency and dynamics interpretation</a:t>
            </a:r>
          </a:p>
        </p:txBody>
      </p:sp>
      <p:sp>
        <p:nvSpPr>
          <p:cNvPr id="2" name="body">
            <a:extLst xmlns:a="http://schemas.openxmlformats.org/drawingml/2006/main">
              <a:ext uri="{FF2B5EF4-FFF2-40B4-BE49-F238E27FC236}">
                <a16:creationId xmlns:a16="http://schemas.microsoft.com/office/drawing/2014/main" id="{E797B046-DBB8-45D5-AB39-8CF3BA41FE11}"/>
              </a:ext>
            </a:extLst>
          </p:cNvPr>
          <p:cNvSpPr>
            <a:spLocks xmlns:a="http://schemas.openxmlformats.org/drawingml/2006/main" noGrp="1"/>
          </p:cNvSpPr>
          <p:nvPr/>
        </p:nvSpPr>
        <p:spPr>
          <a:xfrm xmlns:a="http://schemas.openxmlformats.org/drawingml/2006/main">
            <a:off x="609600" y="14382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38BDF8"/>
                </a:solidFill>
                <a:latin typeface="Calibri"/>
                <a:ea typeface="Calibri"/>
                <a:cs typeface="Calibri"/>
              </a:defRPr>
            </a:defPPr>
            <a:lvl1pPr>
              <a:defRPr sz="2325" b="0">
                <a:solidFill>
                  <a:srgbClr val="38BDF8"/>
                </a:solidFill>
                <a:latin typeface="Calibri"/>
                <a:ea typeface="Calibri"/>
                <a:cs typeface="Calibri"/>
              </a:defRPr>
            </a:lvl1pPr>
            <a:lvl2pPr>
              <a:defRPr sz="2325" b="0">
                <a:solidFill>
                  <a:srgbClr val="38BDF8"/>
                </a:solidFill>
                <a:latin typeface="Calibri"/>
                <a:ea typeface="Calibri"/>
                <a:cs typeface="Calibri"/>
              </a:defRPr>
            </a:lvl2pPr>
            <a:lvl3pPr>
              <a:defRPr sz="2325" b="0">
                <a:solidFill>
                  <a:srgbClr val="38BDF8"/>
                </a:solidFill>
                <a:latin typeface="Calibri"/>
                <a:ea typeface="Calibri"/>
                <a:cs typeface="Calibri"/>
              </a:defRPr>
            </a:lvl3pPr>
            <a:lvl4pPr>
              <a:defRPr sz="2325" b="0">
                <a:solidFill>
                  <a:srgbClr val="38BDF8"/>
                </a:solidFill>
                <a:latin typeface="Calibri"/>
                <a:ea typeface="Calibri"/>
                <a:cs typeface="Calibri"/>
              </a:defRPr>
            </a:lvl4pPr>
            <a:lvl5pPr>
              <a:defRPr sz="2325" b="0">
                <a:solidFill>
                  <a:srgbClr val="38BDF8"/>
                </a:solidFill>
                <a:latin typeface="Calibri"/>
                <a:ea typeface="Calibri"/>
                <a:cs typeface="Calibri"/>
              </a:defRPr>
            </a:lvl5pPr>
            <a:lvl6pPr>
              <a:defRPr sz="2325" b="0">
                <a:solidFill>
                  <a:srgbClr val="38BDF8"/>
                </a:solidFill>
                <a:latin typeface="Calibri"/>
                <a:ea typeface="Calibri"/>
                <a:cs typeface="Calibri"/>
              </a:defRPr>
            </a:lvl6pPr>
            <a:lvl7pPr>
              <a:defRPr sz="2325" b="0">
                <a:solidFill>
                  <a:srgbClr val="38BDF8"/>
                </a:solidFill>
                <a:latin typeface="Calibri"/>
                <a:ea typeface="Calibri"/>
                <a:cs typeface="Calibri"/>
              </a:defRPr>
            </a:lvl7pPr>
            <a:lvl8pPr>
              <a:defRPr sz="2325" b="0">
                <a:solidFill>
                  <a:srgbClr val="38BDF8"/>
                </a:solidFill>
                <a:latin typeface="Calibri"/>
                <a:ea typeface="Calibri"/>
                <a:cs typeface="Calibri"/>
              </a:defRPr>
            </a:lvl8pPr>
            <a:lvl9pPr>
              <a:defRPr sz="2325" b="0">
                <a:solidFill>
                  <a:srgbClr val="38BDF8"/>
                </a:solidFill>
                <a:latin typeface="Calibri"/>
                <a:ea typeface="Calibri"/>
                <a:cs typeface="Calibri"/>
              </a:defRPr>
            </a:lvl9pPr>
          </a:lstStyle>
          <a:p xmlns:a="http://schemas.openxmlformats.org/drawingml/2006/main">
            <a:pPr>
              <a:defRPr sz="2325" b="0">
                <a:solidFill>
                  <a:srgbClr val="38BDF8"/>
                </a:solidFill>
                <a:latin typeface="Calibri"/>
                <a:ea typeface="Calibri"/>
                <a:cs typeface="Calibri"/>
              </a:defRPr>
            </a:pPr>
            <a:r>
              <a:rPr sz="2325" b="0">
                <a:solidFill>
                  <a:srgbClr val="38BDF8"/>
                </a:solidFill>
                <a:latin typeface="Calibri"/>
                <a:ea typeface="Calibri"/>
                <a:cs typeface="Calibri"/>
              </a:rPr>
              <a:t>q(v | observed patches) = (alpha * prior(v) + count(v)) / (alpha + total observed)</a:t>
            </a:r>
          </a:p>
        </p:txBody>
      </p:sp>
      <p:sp>
        <p:nvSpPr>
          <p:cNvPr id="3" name="body">
            <a:extLst xmlns:a="http://schemas.openxmlformats.org/drawingml/2006/main">
              <a:ext uri="{FF2B5EF4-FFF2-40B4-BE49-F238E27FC236}">
                <a16:creationId xmlns:a16="http://schemas.microsoft.com/office/drawing/2014/main" id="{45C025C2-A113-4F93-A844-7C47638A8707}"/>
              </a:ext>
            </a:extLst>
          </p:cNvPr>
          <p:cNvSpPr>
            <a:spLocks xmlns:a="http://schemas.openxmlformats.org/drawingml/2006/main" noGrp="1"/>
          </p:cNvSpPr>
          <p:nvPr/>
        </p:nvSpPr>
        <p:spPr>
          <a:xfrm xmlns:a="http://schemas.openxmlformats.org/drawingml/2006/main">
            <a:off x="609600" y="27146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predictor updates from previously observed patch counts, without spatial positions or future tokens. Its prior and concentration are fitted on training data only.</a:t>
            </a:r>
          </a:p>
        </p:txBody>
      </p:sp>
      <p:sp>
        <p:nvSpPr>
          <p:cNvPr id="4" name="body">
            <a:extLst xmlns:a="http://schemas.openxmlformats.org/drawingml/2006/main">
              <a:ext uri="{FF2B5EF4-FFF2-40B4-BE49-F238E27FC236}">
                <a16:creationId xmlns:a16="http://schemas.microsoft.com/office/drawing/2014/main" id="{6C6524C4-6042-46D5-A140-1AD1A733C3AE}"/>
              </a:ext>
            </a:extLst>
          </p:cNvPr>
          <p:cNvSpPr>
            <a:spLocks xmlns:a="http://schemas.openxmlformats.org/drawingml/2006/main" noGrp="1"/>
          </p:cNvSpPr>
          <p:nvPr/>
        </p:nvSpPr>
        <p:spPr>
          <a:xfrm xmlns:a="http://schemas.openxmlformats.org/drawingml/2006/main">
            <a:off x="609600" y="3762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Its joint likelihood depends on initial and target histograms. Matched prefix shuffles therefore have the same total frequency likelihood.</a:t>
            </a:r>
          </a:p>
        </p:txBody>
      </p:sp>
      <p:sp>
        <p:nvSpPr>
          <p:cNvPr id="5" name="body">
            <a:extLst xmlns:a="http://schemas.openxmlformats.org/drawingml/2006/main">
              <a:ext uri="{FF2B5EF4-FFF2-40B4-BE49-F238E27FC236}">
                <a16:creationId xmlns:a16="http://schemas.microsoft.com/office/drawing/2014/main" id="{78E5C031-46F4-493D-B438-0A47A405567B}"/>
              </a:ext>
            </a:extLst>
          </p:cNvPr>
          <p:cNvSpPr>
            <a:spLocks xmlns:a="http://schemas.openxmlformats.org/drawingml/2006/main" noGrp="1"/>
          </p:cNvSpPr>
          <p:nvPr/>
        </p:nvSpPr>
        <p:spPr>
          <a:xfrm xmlns:a="http://schemas.openxmlformats.org/drawingml/2006/main">
            <a:off x="609600" y="48101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post-hoc CPU predictor beats every original structured PPT model. Passing global-unigram/copy controls did not establish dynamics competence.</a:t>
            </a:r>
          </a:p>
        </p:txBody>
      </p:sp>
      <p:sp>
        <p:nvSpPr>
          <p:cNvPr id="6" name="page">
            <a:extLst xmlns:a="http://schemas.openxmlformats.org/drawingml/2006/main">
              <a:ext uri="{FF2B5EF4-FFF2-40B4-BE49-F238E27FC236}">
                <a16:creationId xmlns:a16="http://schemas.microsoft.com/office/drawing/2014/main" id="{4B4A84D1-0D07-47C3-B982-F82077E516C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88</a:t>
            </a:r>
          </a:p>
        </p:txBody>
      </p:sp>
    </p:spTree>
    <p:extLst>
      <p:ext uri="{BB962C8B-B14F-4D97-AF65-F5344CB8AC3E}">
        <p14:creationId xmlns:p14="http://schemas.microsoft.com/office/powerpoint/2010/main" val="694271290"/>
      </p:ext>
    </p:extLst>
  </p:cSld>
</p:sld>
</file>

<file path=ppt/slides/slide8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437DA3C-1183-4576-A889-536AA79026C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causal frequency likelihood</a:t>
            </a:r>
          </a:p>
        </p:txBody>
      </p:sp>
      <p:sp>
        <p:nvSpPr>
          <p:cNvPr id="2" name="body">
            <a:extLst xmlns:a="http://schemas.openxmlformats.org/drawingml/2006/main">
              <a:ext uri="{FF2B5EF4-FFF2-40B4-BE49-F238E27FC236}">
                <a16:creationId xmlns:a16="http://schemas.microsoft.com/office/drawing/2014/main" id="{F521118E-0058-465C-9EF3-8DE37A1F4D71}"/>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readiness_v5/frequency.py   lines 20-29</a:t>
            </a:r>
          </a:p>
        </p:txBody>
      </p:sp>
      <p:sp>
        <p:nvSpPr>
          <p:cNvPr id="3" name="verbatim source">
            <a:extLst xmlns:a="http://schemas.openxmlformats.org/drawingml/2006/main">
              <a:ext uri="{FF2B5EF4-FFF2-40B4-BE49-F238E27FC236}">
                <a16:creationId xmlns:a16="http://schemas.microsoft.com/office/drawing/2014/main" id="{52B003D0-D8EA-4385-BC7C-605897A9DD82}"/>
              </a:ext>
            </a:extLst>
          </p:cNvPr>
          <p:cNvSpPr>
            <a:spLocks xmlns:a="http://schemas.openxmlformats.org/drawingml/2006/main" noGrp="1"/>
          </p:cNvSpPr>
          <p:nvPr/>
        </p:nvSpPr>
        <p:spPr>
          <a:xfrm xmlns:a="http://schemas.openxmlformats.org/drawingml/2006/main">
            <a:off x="590550" y="1895475"/>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per_rule_nll(initial, target, prior, alpha):</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alpha &lt;= 0 or np.any(np.asarray(prior) &lt;= 0) or not np.isclose(np.sum(prior), 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ValueError('Positive normalized prior and concentration required')</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a, b = torch.as_tensor(initial), torch.as_tensor(target)</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q = torch.as_tensor(prior)*alpha</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total = a.sum(1)+alpha</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logp = torch.lgamma(total)-torch.lgamma(total+b.sum(1))+(torch.lgamma(q+a+b)-torch.lgamma(q+a)).sum(1)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torch.any(b.sum(1) == 0):</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ValueError('No scored patch targets')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(-logp/b.sum(1)).tolist()</a:t>
            </a:r>
          </a:p>
        </p:txBody>
      </p:sp>
      <p:sp>
        <p:nvSpPr>
          <p:cNvPr id="4" name="body">
            <a:extLst xmlns:a="http://schemas.openxmlformats.org/drawingml/2006/main">
              <a:ext uri="{FF2B5EF4-FFF2-40B4-BE49-F238E27FC236}">
                <a16:creationId xmlns:a16="http://schemas.microsoft.com/office/drawing/2014/main" id="{363CF574-823B-4AB8-9081-CA15837A5EA0}"/>
              </a:ext>
            </a:extLst>
          </p:cNvPr>
          <p:cNvSpPr>
            <a:spLocks xmlns:a="http://schemas.openxmlformats.org/drawingml/2006/main" noGrp="1"/>
          </p:cNvSpPr>
          <p:nvPr/>
        </p:nvSpPr>
        <p:spPr>
          <a:xfrm xmlns:a="http://schemas.openxmlformats.org/drawingml/2006/main">
            <a:off x="59055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FB0C8"/>
                </a:solidFill>
                <a:latin typeface="Calibri"/>
                <a:ea typeface="Calibri"/>
                <a:cs typeface="Calibri"/>
              </a:defRPr>
            </a:defPPr>
            <a:lvl1pPr>
              <a:defRPr sz="1800" b="0">
                <a:solidFill>
                  <a:srgbClr val="9FB0C8"/>
                </a:solidFill>
                <a:latin typeface="Calibri"/>
                <a:ea typeface="Calibri"/>
                <a:cs typeface="Calibri"/>
              </a:defRPr>
            </a:lvl1pPr>
            <a:lvl2pPr>
              <a:defRPr sz="1800" b="0">
                <a:solidFill>
                  <a:srgbClr val="9FB0C8"/>
                </a:solidFill>
                <a:latin typeface="Calibri"/>
                <a:ea typeface="Calibri"/>
                <a:cs typeface="Calibri"/>
              </a:defRPr>
            </a:lvl2pPr>
            <a:lvl3pPr>
              <a:defRPr sz="1800" b="0">
                <a:solidFill>
                  <a:srgbClr val="9FB0C8"/>
                </a:solidFill>
                <a:latin typeface="Calibri"/>
                <a:ea typeface="Calibri"/>
                <a:cs typeface="Calibri"/>
              </a:defRPr>
            </a:lvl3pPr>
            <a:lvl4pPr>
              <a:defRPr sz="1800" b="0">
                <a:solidFill>
                  <a:srgbClr val="9FB0C8"/>
                </a:solidFill>
                <a:latin typeface="Calibri"/>
                <a:ea typeface="Calibri"/>
                <a:cs typeface="Calibri"/>
              </a:defRPr>
            </a:lvl4pPr>
            <a:lvl5pPr>
              <a:defRPr sz="1800" b="0">
                <a:solidFill>
                  <a:srgbClr val="9FB0C8"/>
                </a:solidFill>
                <a:latin typeface="Calibri"/>
                <a:ea typeface="Calibri"/>
                <a:cs typeface="Calibri"/>
              </a:defRPr>
            </a:lvl5pPr>
            <a:lvl6pPr>
              <a:defRPr sz="1800" b="0">
                <a:solidFill>
                  <a:srgbClr val="9FB0C8"/>
                </a:solidFill>
                <a:latin typeface="Calibri"/>
                <a:ea typeface="Calibri"/>
                <a:cs typeface="Calibri"/>
              </a:defRPr>
            </a:lvl6pPr>
            <a:lvl7pPr>
              <a:defRPr sz="1800" b="0">
                <a:solidFill>
                  <a:srgbClr val="9FB0C8"/>
                </a:solidFill>
                <a:latin typeface="Calibri"/>
                <a:ea typeface="Calibri"/>
                <a:cs typeface="Calibri"/>
              </a:defRPr>
            </a:lvl7pPr>
            <a:lvl8pPr>
              <a:defRPr sz="1800" b="0">
                <a:solidFill>
                  <a:srgbClr val="9FB0C8"/>
                </a:solidFill>
                <a:latin typeface="Calibri"/>
                <a:ea typeface="Calibri"/>
                <a:cs typeface="Calibri"/>
              </a:defRPr>
            </a:lvl8pPr>
            <a:lvl9pPr>
              <a:defRPr sz="1800" b="0">
                <a:solidFill>
                  <a:srgbClr val="9FB0C8"/>
                </a:solidFill>
                <a:latin typeface="Calibri"/>
                <a:ea typeface="Calibri"/>
                <a:cs typeface="Calibri"/>
              </a:defRPr>
            </a:lvl9pPr>
          </a:lstStyle>
          <a:p xmlns:a="http://schemas.openxmlformats.org/drawingml/2006/main">
            <a:pPr>
              <a:defRPr sz="1800" b="0">
                <a:solidFill>
                  <a:srgbClr val="9FB0C8"/>
                </a:solidFill>
                <a:latin typeface="Calibri"/>
                <a:ea typeface="Calibri"/>
                <a:cs typeface="Calibri"/>
              </a:defRPr>
            </a:pPr>
            <a:r>
              <a:rPr sz="1800" b="0">
                <a:solidFill>
                  <a:srgbClr val="9FB0C8"/>
                </a:solidFill>
                <a:latin typeface="Calibri"/>
                <a:ea typeface="Calibri"/>
                <a:cs typeface="Calibri"/>
              </a:rPr>
              <a:t>The log-gamma expression computes the sequential exchangeable probability. The predictor supplies a stronger control than global frequency alone.</a:t>
            </a:r>
          </a:p>
        </p:txBody>
      </p:sp>
      <p:sp>
        <p:nvSpPr>
          <p:cNvPr id="5" name="page">
            <a:extLst xmlns:a="http://schemas.openxmlformats.org/drawingml/2006/main">
              <a:ext uri="{FF2B5EF4-FFF2-40B4-BE49-F238E27FC236}">
                <a16:creationId xmlns:a16="http://schemas.microsoft.com/office/drawing/2014/main" id="{72C8B631-1904-4182-A82A-8A93284B287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89</a:t>
            </a:r>
          </a:p>
        </p:txBody>
      </p:sp>
    </p:spTree>
    <p:extLst>
      <p:ext uri="{BB962C8B-B14F-4D97-AF65-F5344CB8AC3E}">
        <p14:creationId xmlns:p14="http://schemas.microsoft.com/office/powerpoint/2010/main" val="1267697439"/>
      </p:ext>
    </p:extLst>
  </p:cSld>
</p:sld>
</file>

<file path=ppt/slides/slide9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49E0E5F-23DF-48FD-8676-D0214584A1CB}"/>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5 readiness rejects the original checkpoints</a:t>
            </a:r>
          </a:p>
        </p:txBody>
      </p:sp>
      <p:graphicFrame>
        <p:nvGraphicFramePr>
          <p:cNvPr id="2" name="">
            <a:extLst xmlns:a="http://schemas.openxmlformats.org/drawingml/2006/main">
              <a:ext uri="{FF2B5EF4-FFF2-40B4-BE49-F238E27FC236}">
                <a16:creationId xmlns:a16="http://schemas.microsoft.com/office/drawing/2014/main" id="{FC70A9CE-BC8D-477C-BFC9-2C368B6E6770}"/>
              </a:ext>
            </a:extLst>
          </p:cNvPr>
          <p:cNvGraphicFramePr/>
          <p:nvPr/>
        </p:nvGraphicFramePr>
        <p:xfrm>
          <a:off xmlns:a="http://schemas.openxmlformats.org/drawingml/2006/main" x="590550" y="1466850"/>
          <a:ext xmlns:a="http://schemas.openxmlformats.org/drawingml/2006/main" cx="10953750" cy="3143250"/>
        </p:xfrm>
        <a:graphic xmlns:a="http://schemas.openxmlformats.org/drawingml/2006/main">
          <a:graphicData uri="http://schemas.openxmlformats.org/drawingml/2006/table">
            <a:tbl>
              <a:tblPr/>
              <a:tblGrid>
                <a:gridCol w="6191250"/>
                <a:gridCol w="2381250"/>
                <a:gridCol w="2381250"/>
              </a:tblGrid>
              <a:tr h="785813">
                <a:tc>
                  <a:txBody>
                    <a:bodyPr wrap="square" lIns="95250" tIns="95250" rIns="95250" bIns="95250"/>
                    <a:lstStyle/>
                    <a:p>
                      <a:r>
                        <a:rPr sz="1875" b="1">
                          <a:solidFill>
                            <a:srgbClr val="F1F5F9"/>
                          </a:solidFill>
                          <a:latin typeface="Calibri"/>
                          <a:ea typeface="Calibri"/>
                          <a:cs typeface="Calibri"/>
                        </a:rPr>
                        <a:t>Mean advantage, nats per patch</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Graph</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785813">
                <a:tc>
                  <a:txBody>
                    <a:bodyPr wrap="square" lIns="95250" tIns="95250" rIns="95250" bIns="95250"/>
                    <a:lstStyle/>
                    <a:p>
                      <a:r>
                        <a:rPr sz="1875" b="0">
                          <a:solidFill>
                            <a:srgbClr val="F1F5F9"/>
                          </a:solidFill>
                          <a:latin typeface="Calibri"/>
                          <a:ea typeface="Calibri"/>
                          <a:cs typeface="Calibri"/>
                        </a:rPr>
                        <a:t>Frequency baseline minus model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-0.587546</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-0.297951</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85813">
                <a:tc>
                  <a:txBody>
                    <a:bodyPr wrap="square" lIns="95250" tIns="95250" rIns="95250" bIns="95250"/>
                    <a:lstStyle/>
                    <a:p>
                      <a:r>
                        <a:rPr sz="1875" b="0">
                          <a:solidFill>
                            <a:srgbClr val="F1F5F9"/>
                          </a:solidFill>
                          <a:latin typeface="Calibri"/>
                          <a:ea typeface="Calibri"/>
                          <a:cs typeface="Calibri"/>
                        </a:rPr>
                        <a:t>Shuffled minus coherent model NLL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0.000849</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0.000987</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785813">
                <a:tc>
                  <a:txBody>
                    <a:bodyPr wrap="square" lIns="95250" tIns="95250" rIns="95250" bIns="95250"/>
                    <a:lstStyle/>
                    <a:p>
                      <a:r>
                        <a:rPr sz="1875" b="0">
                          <a:solidFill>
                            <a:srgbClr val="F1F5F9"/>
                          </a:solidFill>
                          <a:latin typeface="Calibri"/>
                          <a:ea typeface="Calibri"/>
                          <a:cs typeface="Calibri"/>
                        </a:rPr>
                        <a:t>Ordering gap beyond prefix-trained model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0.000092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0.000102</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6817F1FC-C8DF-42F6-A41A-3B24922EA575}"/>
              </a:ext>
            </a:extLst>
          </p:cNvPr>
          <p:cNvSpPr>
            <a:spLocks xmlns:a="http://schemas.openxmlformats.org/drawingml/2006/main" noGrp="1"/>
          </p:cNvSpPr>
          <p:nvPr/>
        </p:nvSpPr>
        <p:spPr>
          <a:xfrm xmlns:a="http://schemas.openxmlformats.org/drawingml/2006/main">
            <a:off x="609600" y="4981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Both first two advantages must reach 0.01 for every structured cohort. All 12 fail both. The actual language-start guard rejects these checkpoints.</a:t>
            </a:r>
          </a:p>
        </p:txBody>
      </p:sp>
      <p:sp>
        <p:nvSpPr>
          <p:cNvPr id="4" name="body">
            <a:extLst xmlns:a="http://schemas.openxmlformats.org/drawingml/2006/main">
              <a:ext uri="{FF2B5EF4-FFF2-40B4-BE49-F238E27FC236}">
                <a16:creationId xmlns:a16="http://schemas.microsoft.com/office/drawing/2014/main" id="{F88866E4-A310-4B33-8A38-9EBFC283959B}"/>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48 CPU scoring cells, 24 existing PPT checkpoints, no new neural training. Maximum native replay error: 1.6156e-7 NLL.</a:t>
            </a:r>
          </a:p>
        </p:txBody>
      </p:sp>
      <p:sp>
        <p:nvSpPr>
          <p:cNvPr id="5" name="page">
            <a:extLst xmlns:a="http://schemas.openxmlformats.org/drawingml/2006/main">
              <a:ext uri="{FF2B5EF4-FFF2-40B4-BE49-F238E27FC236}">
                <a16:creationId xmlns:a16="http://schemas.microsoft.com/office/drawing/2014/main" id="{E76C95AE-B51B-42AD-B457-C13027BAF1E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90</a:t>
            </a:r>
          </a:p>
        </p:txBody>
      </p:sp>
    </p:spTree>
    <p:extLst>
      <p:ext uri="{BB962C8B-B14F-4D97-AF65-F5344CB8AC3E}">
        <p14:creationId xmlns:p14="http://schemas.microsoft.com/office/powerpoint/2010/main" val="226498270"/>
      </p:ext>
    </p:extLst>
  </p:cSld>
</p:sld>
</file>

<file path=ppt/slides/slide9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043EB7-4487-42A9-A18B-87CDA7638372}"/>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5 frequency and ordering evidence</a:t>
            </a:r>
          </a:p>
        </p:txBody>
      </p:sp>
      <p:pic>
        <p:nvPicPr>
          <p:cNvPr id="2" name="">
            <a:extLst xmlns:a="http://schemas.openxmlformats.org/drawingml/2006/main">
              <a:ext uri="{FF2B5EF4-FFF2-40B4-BE49-F238E27FC236}">
                <a16:creationId xmlns:a16="http://schemas.microsoft.com/office/drawing/2014/main" id="{1F895C3C-3668-4F3F-97DC-8493D9B6339A}"/>
              </a:ext>
            </a:extLst>
          </p:cNvPr>
          <p:cNvPicPr>
            <a:picLocks xmlns:a="http://schemas.openxmlformats.org/drawingml/2006/main" noChangeAspect="1"/>
          </p:cNvPicPr>
          <p:nvPr/>
        </p:nvPicPr>
        <p:blipFill>
          <a:blip xmlns:r="http://schemas.openxmlformats.org/officeDocument/2006/relationships" xmlns:a="http://schemas.openxmlformats.org/drawingml/2006/main" r:embed="R5a2f607026014da3"/>
          <a:stretch xmlns:a="http://schemas.openxmlformats.org/drawingml/2006/main"/>
        </p:blipFill>
        <p:spPr>
          <a:xfrm xmlns:a="http://schemas.openxmlformats.org/drawingml/2006/main">
            <a:off x="590550" y="1546947"/>
            <a:ext cx="10953750" cy="3983182"/>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1CDADA2D-6346-40FF-B2E0-8AF4EA0F3F63}"/>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Original checkpoint-only CPU diagnostic. Small mixed ordering gaps do not establish zero order dependence.</a:t>
            </a:r>
          </a:p>
        </p:txBody>
      </p:sp>
      <p:sp>
        <p:nvSpPr>
          <p:cNvPr id="4" name="page">
            <a:extLst xmlns:a="http://schemas.openxmlformats.org/drawingml/2006/main">
              <a:ext uri="{FF2B5EF4-FFF2-40B4-BE49-F238E27FC236}">
                <a16:creationId xmlns:a16="http://schemas.microsoft.com/office/drawing/2014/main" id="{903D961C-716E-43B0-A56A-83DA9BC1152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91</a:t>
            </a:r>
          </a:p>
        </p:txBody>
      </p:sp>
    </p:spTree>
    <p:extLst>
      <p:ext uri="{BB962C8B-B14F-4D97-AF65-F5344CB8AC3E}">
        <p14:creationId xmlns:p14="http://schemas.microsoft.com/office/powerpoint/2010/main" val="1000282362"/>
      </p:ext>
    </p:extLst>
  </p:cSld>
</p:sld>
</file>

<file path=ppt/slides/slide9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6A0E645-682F-4DA4-B81D-60AAB3BB68EC}"/>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6 tests basic transformer trainability</a:t>
            </a:r>
          </a:p>
        </p:txBody>
      </p:sp>
      <p:sp>
        <p:nvSpPr>
          <p:cNvPr id="2" name="body">
            <a:extLst xmlns:a="http://schemas.openxmlformats.org/drawingml/2006/main">
              <a:ext uri="{FF2B5EF4-FFF2-40B4-BE49-F238E27FC236}">
                <a16:creationId xmlns:a16="http://schemas.microsoft.com/office/drawing/2014/main" id="{9B1C3C05-88EC-4BA5-9AE3-2A924F8BC648}"/>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Known binary complement rule: x next = 1 XOR x. A 4 x 4 grid, eight frames, 2 x 2 patch tokens, vocabulary 18 and context 47 simplify the task.</a:t>
            </a:r>
          </a:p>
        </p:txBody>
      </p:sp>
      <p:sp>
        <p:nvSpPr>
          <p:cNvPr id="3" name="body">
            <a:extLst xmlns:a="http://schemas.openxmlformats.org/drawingml/2006/main">
              <a:ext uri="{FF2B5EF4-FFF2-40B4-BE49-F238E27FC236}">
                <a16:creationId xmlns:a16="http://schemas.microsoft.com/office/drawing/2014/main" id="{DEEF1968-5C2A-46F4-97F9-8DCE9B4933DA}"/>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full six-layer, width-192, four-head backbone remains. Three coherent/prefix-shuffle seed pairs each receive exactly 1000 updates and 188,000 input tokens.</a:t>
            </a:r>
          </a:p>
        </p:txBody>
      </p:sp>
      <p:sp>
        <p:nvSpPr>
          <p:cNvPr id="4" name="body">
            <a:extLst xmlns:a="http://schemas.openxmlformats.org/drawingml/2006/main">
              <a:ext uri="{FF2B5EF4-FFF2-40B4-BE49-F238E27FC236}">
                <a16:creationId xmlns:a16="http://schemas.microsoft.com/office/drawing/2014/main" id="{7D417D39-58F7-4910-B118-8265827E0416}"/>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512 training, 64 development and 128 assessment initial conditions exclude complement-phase overlap. Final checkpoints are fixed before assessment.</a:t>
            </a:r>
          </a:p>
        </p:txBody>
      </p:sp>
      <p:sp>
        <p:nvSpPr>
          <p:cNvPr id="5" name="body">
            <a:extLst xmlns:a="http://schemas.openxmlformats.org/drawingml/2006/main">
              <a:ext uri="{FF2B5EF4-FFF2-40B4-BE49-F238E27FC236}">
                <a16:creationId xmlns:a16="http://schemas.microsoft.com/office/drawing/2014/main" id="{B589A5A8-AF86-45F8-9FA3-7F81E88556AD}"/>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This jointly simplifies alphabet, grid, context and rule. A success demonstrates basic capability, while the reason for original random-rule failure remains unresolved.</a:t>
            </a:r>
          </a:p>
        </p:txBody>
      </p:sp>
      <p:sp>
        <p:nvSpPr>
          <p:cNvPr id="6" name="page">
            <a:extLst xmlns:a="http://schemas.openxmlformats.org/drawingml/2006/main">
              <a:ext uri="{FF2B5EF4-FFF2-40B4-BE49-F238E27FC236}">
                <a16:creationId xmlns:a16="http://schemas.microsoft.com/office/drawing/2014/main" id="{572C8C2A-A669-4D75-B873-8D4832DD810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92</a:t>
            </a:r>
          </a:p>
        </p:txBody>
      </p:sp>
    </p:spTree>
    <p:extLst>
      <p:ext uri="{BB962C8B-B14F-4D97-AF65-F5344CB8AC3E}">
        <p14:creationId xmlns:p14="http://schemas.microsoft.com/office/powerpoint/2010/main" val="1776412863"/>
      </p:ext>
    </p:extLst>
  </p:cSld>
</p:sld>
</file>

<file path=ppt/slides/slide9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360FE12-E2E9-42BA-A445-80BEAD6A82E4}"/>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6 learns the complement rule</a:t>
            </a:r>
          </a:p>
        </p:txBody>
      </p:sp>
      <p:graphicFrame>
        <p:nvGraphicFramePr>
          <p:cNvPr id="2" name="">
            <a:extLst xmlns:a="http://schemas.openxmlformats.org/drawingml/2006/main">
              <a:ext uri="{FF2B5EF4-FFF2-40B4-BE49-F238E27FC236}">
                <a16:creationId xmlns:a16="http://schemas.microsoft.com/office/drawing/2014/main" id="{49596728-9D81-45E4-AB70-6C57BBBC4608}"/>
              </a:ext>
            </a:extLst>
          </p:cNvPr>
          <p:cNvGraphicFramePr/>
          <p:nvPr/>
        </p:nvGraphicFramePr>
        <p:xfrm>
          <a:off xmlns:a="http://schemas.openxmlformats.org/drawingml/2006/main" x="590550" y="1466850"/>
          <a:ext xmlns:a="http://schemas.openxmlformats.org/drawingml/2006/main" cx="10953750" cy="3095625"/>
        </p:xfrm>
        <a:graphic xmlns:a="http://schemas.openxmlformats.org/drawingml/2006/main">
          <a:graphicData uri="http://schemas.openxmlformats.org/drawingml/2006/table">
            <a:tbl>
              <a:tblPr/>
              <a:tblGrid>
                <a:gridCol w="1238250"/>
                <a:gridCol w="2190750"/>
                <a:gridCol w="2762250"/>
                <a:gridCol w="2381250"/>
                <a:gridCol w="2381250"/>
              </a:tblGrid>
              <a:tr h="773906">
                <a:tc>
                  <a:txBody>
                    <a:bodyPr wrap="square" lIns="95250" tIns="95250" rIns="95250" bIns="95250"/>
                    <a:lstStyle/>
                    <a:p>
                      <a:r>
                        <a:rPr sz="1800" b="1">
                          <a:solidFill>
                            <a:srgbClr val="F1F5F9"/>
                          </a:solidFill>
                          <a:latin typeface="Calibri"/>
                          <a:ea typeface="Calibri"/>
                          <a:cs typeface="Calibri"/>
                        </a:rPr>
                        <a:t>Seed</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Coherent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Same model on shuffle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Frequency advantage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Ordering advantage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773906">
                <a:tc>
                  <a:txBody>
                    <a:bodyPr wrap="square" lIns="95250" tIns="95250" rIns="95250" bIns="95250"/>
                    <a:lstStyle/>
                    <a:p>
                      <a:r>
                        <a:rPr sz="1800" b="0">
                          <a:solidFill>
                            <a:srgbClr val="F1F5F9"/>
                          </a:solidFill>
                          <a:latin typeface="Calibri"/>
                          <a:ea typeface="Calibri"/>
                          <a:cs typeface="Calibri"/>
                        </a:rPr>
                        <a:t>131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0.052766</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4.594601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2.252567</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4.541834</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73906">
                <a:tc>
                  <a:txBody>
                    <a:bodyPr wrap="square" lIns="95250" tIns="95250" rIns="95250" bIns="95250"/>
                    <a:lstStyle/>
                    <a:p>
                      <a:r>
                        <a:rPr sz="1800" b="0">
                          <a:solidFill>
                            <a:srgbClr val="F1F5F9"/>
                          </a:solidFill>
                          <a:latin typeface="Calibri"/>
                          <a:ea typeface="Calibri"/>
                          <a:cs typeface="Calibri"/>
                        </a:rPr>
                        <a:t>149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0.053680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4.590817</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2.251654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4.537137</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773906">
                <a:tc>
                  <a:txBody>
                    <a:bodyPr wrap="square" lIns="95250" tIns="95250" rIns="95250" bIns="95250"/>
                    <a:lstStyle/>
                    <a:p>
                      <a:r>
                        <a:rPr sz="1800" b="0">
                          <a:solidFill>
                            <a:srgbClr val="F1F5F9"/>
                          </a:solidFill>
                          <a:latin typeface="Calibri"/>
                          <a:ea typeface="Calibri"/>
                          <a:cs typeface="Calibri"/>
                        </a:rPr>
                        <a:t>167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0.062805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4.382613</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2.242528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4.319808</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AC6DEBEF-01DB-4A8F-9854-4DD52E3B9E0F}"/>
              </a:ext>
            </a:extLst>
          </p:cNvPr>
          <p:cNvSpPr>
            <a:spLocks xmlns:a="http://schemas.openxmlformats.org/drawingml/2006/main" noGrp="1"/>
          </p:cNvSpPr>
          <p:nvPr/>
        </p:nvSpPr>
        <p:spPr>
          <a:xfrm xmlns:a="http://schemas.openxmlformats.org/drawingml/2006/main">
            <a:off x="609600" y="49339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Mean patch NLL is 0.056417 and patch accuracy is 100%. All coherent seeds pass both 0.01-nat margins. The rule has no spatial interaction.</a:t>
            </a:r>
          </a:p>
        </p:txBody>
      </p:sp>
      <p:sp>
        <p:nvSpPr>
          <p:cNvPr id="4" name="body">
            <a:extLst xmlns:a="http://schemas.openxmlformats.org/drawingml/2006/main">
              <a:ext uri="{FF2B5EF4-FFF2-40B4-BE49-F238E27FC236}">
                <a16:creationId xmlns:a16="http://schemas.microsoft.com/office/drawing/2014/main" id="{AE44F9F4-481D-4CBB-A4D6-410D84AC7A6A}"/>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18 checkpoint scoring cells replay exactly. Six CPU models, 6000 updates. Language training remains disabled.</a:t>
            </a:r>
          </a:p>
        </p:txBody>
      </p:sp>
      <p:sp>
        <p:nvSpPr>
          <p:cNvPr id="5" name="page">
            <a:extLst xmlns:a="http://schemas.openxmlformats.org/drawingml/2006/main">
              <a:ext uri="{FF2B5EF4-FFF2-40B4-BE49-F238E27FC236}">
                <a16:creationId xmlns:a16="http://schemas.microsoft.com/office/drawing/2014/main" id="{51687E1B-5754-4DA0-B249-7F2D8C0AA46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93</a:t>
            </a:r>
          </a:p>
        </p:txBody>
      </p:sp>
    </p:spTree>
    <p:extLst>
      <p:ext uri="{BB962C8B-B14F-4D97-AF65-F5344CB8AC3E}">
        <p14:creationId xmlns:p14="http://schemas.microsoft.com/office/powerpoint/2010/main" val="492743582"/>
      </p:ext>
    </p:extLst>
  </p:cSld>
</p:sld>
</file>

<file path=ppt/slides/slide9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8E7F27-8792-4FDB-8ED4-C2B7ED363F16}"/>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6 fixed-budget learning curves</a:t>
            </a:r>
          </a:p>
        </p:txBody>
      </p:sp>
      <p:pic>
        <p:nvPicPr>
          <p:cNvPr id="2" name="">
            <a:extLst xmlns:a="http://schemas.openxmlformats.org/drawingml/2006/main">
              <a:ext uri="{FF2B5EF4-FFF2-40B4-BE49-F238E27FC236}">
                <a16:creationId xmlns:a16="http://schemas.microsoft.com/office/drawing/2014/main" id="{BADCC751-9790-4949-B1C2-E04844614DC3}"/>
              </a:ext>
            </a:extLst>
          </p:cNvPr>
          <p:cNvPicPr>
            <a:picLocks xmlns:a="http://schemas.openxmlformats.org/drawingml/2006/main" noChangeAspect="1"/>
          </p:cNvPicPr>
          <p:nvPr/>
        </p:nvPicPr>
        <p:blipFill>
          <a:blip xmlns:r="http://schemas.openxmlformats.org/officeDocument/2006/relationships" xmlns:a="http://schemas.openxmlformats.org/drawingml/2006/main" r:embed="Rd02db5a2b7e94d1a"/>
          <a:stretch xmlns:a="http://schemas.openxmlformats.org/drawingml/2006/main"/>
        </p:blipFill>
        <p:spPr>
          <a:xfrm xmlns:a="http://schemas.openxmlformats.org/drawingml/2006/main">
            <a:off x="1828800" y="1419225"/>
            <a:ext cx="8477250" cy="423862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B57EB087-FE14-450A-B6F6-C5129C5F356C}"/>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CPU development curves, not GPU or language speedups. Final-update assessment supplies the declared result.</a:t>
            </a:r>
          </a:p>
        </p:txBody>
      </p:sp>
      <p:sp>
        <p:nvSpPr>
          <p:cNvPr id="4" name="page">
            <a:extLst xmlns:a="http://schemas.openxmlformats.org/drawingml/2006/main">
              <a:ext uri="{FF2B5EF4-FFF2-40B4-BE49-F238E27FC236}">
                <a16:creationId xmlns:a16="http://schemas.microsoft.com/office/drawing/2014/main" id="{59F9E62B-73B4-4C87-93FD-E315BF698DF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94</a:t>
            </a:r>
          </a:p>
        </p:txBody>
      </p:sp>
    </p:spTree>
    <p:extLst>
      <p:ext uri="{BB962C8B-B14F-4D97-AF65-F5344CB8AC3E}">
        <p14:creationId xmlns:p14="http://schemas.microsoft.com/office/powerpoint/2010/main" val="1766055227"/>
      </p:ext>
    </p:extLst>
  </p:cSld>
</p:sld>
</file>

<file path=ppt/slides/slide9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28A2653-4298-4085-87A2-4D4C88FB9DFA}"/>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7 adds a matched spatial interaction</a:t>
            </a:r>
          </a:p>
        </p:txBody>
      </p:sp>
      <p:sp>
        <p:nvSpPr>
          <p:cNvPr id="2" name="body">
            <a:extLst xmlns:a="http://schemas.openxmlformats.org/drawingml/2006/main">
              <a:ext uri="{FF2B5EF4-FFF2-40B4-BE49-F238E27FC236}">
                <a16:creationId xmlns:a16="http://schemas.microsoft.com/office/drawing/2014/main" id="{C060A242-77B2-4905-9895-81925A063102}"/>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interaction_v7/data.py   lines 10-15</a:t>
            </a:r>
          </a:p>
        </p:txBody>
      </p:sp>
      <p:sp>
        <p:nvSpPr>
          <p:cNvPr id="3" name="verbatim source">
            <a:extLst xmlns:a="http://schemas.openxmlformats.org/drawingml/2006/main">
              <a:ext uri="{FF2B5EF4-FFF2-40B4-BE49-F238E27FC236}">
                <a16:creationId xmlns:a16="http://schemas.microsoft.com/office/drawing/2014/main" id="{FF248382-021C-4C6A-BE2C-0062684AF248}"/>
              </a:ext>
            </a:extLst>
          </p:cNvPr>
          <p:cNvSpPr>
            <a:spLocks xmlns:a="http://schemas.openxmlformats.org/drawingml/2006/main" noGrp="1"/>
          </p:cNvSpPr>
          <p:nvPr/>
        </p:nvSpPr>
        <p:spPr>
          <a:xfrm xmlns:a="http://schemas.openxmlformats.org/drawingml/2006/main">
            <a:off x="590550" y="1895475"/>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step(cells, rule):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rule == 'complement':</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1 ^ cells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rule == 'spatial':</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1 ^ cells ^ np.roll(cells, 1, axis=-1) ^ np.roll(cells, -1, axis=-1)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ValueError('Unknown frozen rule')</a:t>
            </a:r>
          </a:p>
        </p:txBody>
      </p:sp>
      <p:sp>
        <p:nvSpPr>
          <p:cNvPr id="4" name="body">
            <a:extLst xmlns:a="http://schemas.openxmlformats.org/drawingml/2006/main">
              <a:ext uri="{FF2B5EF4-FFF2-40B4-BE49-F238E27FC236}">
                <a16:creationId xmlns:a16="http://schemas.microsoft.com/office/drawing/2014/main" id="{CC0FADEE-FD9E-44AF-8AF8-A43FC3E5AB41}"/>
              </a:ext>
            </a:extLst>
          </p:cNvPr>
          <p:cNvSpPr>
            <a:spLocks xmlns:a="http://schemas.openxmlformats.org/drawingml/2006/main" noGrp="1"/>
          </p:cNvSpPr>
          <p:nvPr/>
        </p:nvSpPr>
        <p:spPr>
          <a:xfrm xmlns:a="http://schemas.openxmlformats.org/drawingml/2006/main">
            <a:off x="59055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FB0C8"/>
                </a:solidFill>
                <a:latin typeface="Calibri"/>
                <a:ea typeface="Calibri"/>
                <a:cs typeface="Calibri"/>
              </a:defRPr>
            </a:defPPr>
            <a:lvl1pPr>
              <a:defRPr sz="1800" b="0">
                <a:solidFill>
                  <a:srgbClr val="9FB0C8"/>
                </a:solidFill>
                <a:latin typeface="Calibri"/>
                <a:ea typeface="Calibri"/>
                <a:cs typeface="Calibri"/>
              </a:defRPr>
            </a:lvl1pPr>
            <a:lvl2pPr>
              <a:defRPr sz="1800" b="0">
                <a:solidFill>
                  <a:srgbClr val="9FB0C8"/>
                </a:solidFill>
                <a:latin typeface="Calibri"/>
                <a:ea typeface="Calibri"/>
                <a:cs typeface="Calibri"/>
              </a:defRPr>
            </a:lvl2pPr>
            <a:lvl3pPr>
              <a:defRPr sz="1800" b="0">
                <a:solidFill>
                  <a:srgbClr val="9FB0C8"/>
                </a:solidFill>
                <a:latin typeface="Calibri"/>
                <a:ea typeface="Calibri"/>
                <a:cs typeface="Calibri"/>
              </a:defRPr>
            </a:lvl3pPr>
            <a:lvl4pPr>
              <a:defRPr sz="1800" b="0">
                <a:solidFill>
                  <a:srgbClr val="9FB0C8"/>
                </a:solidFill>
                <a:latin typeface="Calibri"/>
                <a:ea typeface="Calibri"/>
                <a:cs typeface="Calibri"/>
              </a:defRPr>
            </a:lvl4pPr>
            <a:lvl5pPr>
              <a:defRPr sz="1800" b="0">
                <a:solidFill>
                  <a:srgbClr val="9FB0C8"/>
                </a:solidFill>
                <a:latin typeface="Calibri"/>
                <a:ea typeface="Calibri"/>
                <a:cs typeface="Calibri"/>
              </a:defRPr>
            </a:lvl5pPr>
            <a:lvl6pPr>
              <a:defRPr sz="1800" b="0">
                <a:solidFill>
                  <a:srgbClr val="9FB0C8"/>
                </a:solidFill>
                <a:latin typeface="Calibri"/>
                <a:ea typeface="Calibri"/>
                <a:cs typeface="Calibri"/>
              </a:defRPr>
            </a:lvl6pPr>
            <a:lvl7pPr>
              <a:defRPr sz="1800" b="0">
                <a:solidFill>
                  <a:srgbClr val="9FB0C8"/>
                </a:solidFill>
                <a:latin typeface="Calibri"/>
                <a:ea typeface="Calibri"/>
                <a:cs typeface="Calibri"/>
              </a:defRPr>
            </a:lvl7pPr>
            <a:lvl8pPr>
              <a:defRPr sz="1800" b="0">
                <a:solidFill>
                  <a:srgbClr val="9FB0C8"/>
                </a:solidFill>
                <a:latin typeface="Calibri"/>
                <a:ea typeface="Calibri"/>
                <a:cs typeface="Calibri"/>
              </a:defRPr>
            </a:lvl8pPr>
            <a:lvl9pPr>
              <a:defRPr sz="1800" b="0">
                <a:solidFill>
                  <a:srgbClr val="9FB0C8"/>
                </a:solidFill>
                <a:latin typeface="Calibri"/>
                <a:ea typeface="Calibri"/>
                <a:cs typeface="Calibri"/>
              </a:defRPr>
            </a:lvl9pPr>
          </a:lstStyle>
          <a:p xmlns:a="http://schemas.openxmlformats.org/drawingml/2006/main">
            <a:pPr>
              <a:defRPr sz="1800" b="0">
                <a:solidFill>
                  <a:srgbClr val="9FB0C8"/>
                </a:solidFill>
                <a:latin typeface="Calibri"/>
                <a:ea typeface="Calibri"/>
                <a:cs typeface="Calibri"/>
              </a:defRPr>
            </a:pPr>
            <a:r>
              <a:rPr sz="1800" b="0">
                <a:solidFill>
                  <a:srgbClr val="9FB0C8"/>
                </a:solidFill>
                <a:latin typeface="Calibri"/>
                <a:ea typeface="Calibri"/>
                <a:cs typeface="Calibri"/>
              </a:rPr>
              <a:t>The spatial rule adds left/right parity across patch boundaries. The new reference and treatment share initial states, weights, batches and budgets.</a:t>
            </a:r>
          </a:p>
        </p:txBody>
      </p:sp>
      <p:sp>
        <p:nvSpPr>
          <p:cNvPr id="5" name="page">
            <a:extLst xmlns:a="http://schemas.openxmlformats.org/drawingml/2006/main">
              <a:ext uri="{FF2B5EF4-FFF2-40B4-BE49-F238E27FC236}">
                <a16:creationId xmlns:a16="http://schemas.microsoft.com/office/drawing/2014/main" id="{6115A8E3-C4DF-4176-AFDE-2C6AC742367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95</a:t>
            </a:r>
          </a:p>
        </p:txBody>
      </p:sp>
    </p:spTree>
    <p:extLst>
      <p:ext uri="{BB962C8B-B14F-4D97-AF65-F5344CB8AC3E}">
        <p14:creationId xmlns:p14="http://schemas.microsoft.com/office/powerpoint/2010/main" val="142011896"/>
      </p:ext>
    </p:extLst>
  </p:cSld>
</p:sld>
</file>

<file path=ppt/slides/slide9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E69FFF7-8ED1-4883-9DC6-E09B319E327A}"/>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Exact period-two structure of the spatial rule</a:t>
            </a:r>
          </a:p>
        </p:txBody>
      </p:sp>
      <p:sp>
        <p:nvSpPr>
          <p:cNvPr id="2" name="body">
            <a:extLst xmlns:a="http://schemas.openxmlformats.org/drawingml/2006/main">
              <a:ext uri="{FF2B5EF4-FFF2-40B4-BE49-F238E27FC236}">
                <a16:creationId xmlns:a16="http://schemas.microsoft.com/office/drawing/2014/main" id="{76ABB31C-3139-46FF-BF6E-E017776751D6}"/>
              </a:ext>
            </a:extLst>
          </p:cNvPr>
          <p:cNvSpPr>
            <a:spLocks xmlns:a="http://schemas.openxmlformats.org/drawingml/2006/main" noGrp="1"/>
          </p:cNvSpPr>
          <p:nvPr/>
        </p:nvSpPr>
        <p:spPr>
          <a:xfrm xmlns:a="http://schemas.openxmlformats.org/drawingml/2006/main">
            <a:off x="609600" y="14382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38BDF8"/>
                </a:solidFill>
                <a:latin typeface="Calibri"/>
                <a:ea typeface="Calibri"/>
                <a:cs typeface="Calibri"/>
              </a:defRPr>
            </a:defPPr>
            <a:lvl1pPr>
              <a:defRPr sz="2325" b="0">
                <a:solidFill>
                  <a:srgbClr val="38BDF8"/>
                </a:solidFill>
                <a:latin typeface="Calibri"/>
                <a:ea typeface="Calibri"/>
                <a:cs typeface="Calibri"/>
              </a:defRPr>
            </a:lvl1pPr>
            <a:lvl2pPr>
              <a:defRPr sz="2325" b="0">
                <a:solidFill>
                  <a:srgbClr val="38BDF8"/>
                </a:solidFill>
                <a:latin typeface="Calibri"/>
                <a:ea typeface="Calibri"/>
                <a:cs typeface="Calibri"/>
              </a:defRPr>
            </a:lvl2pPr>
            <a:lvl3pPr>
              <a:defRPr sz="2325" b="0">
                <a:solidFill>
                  <a:srgbClr val="38BDF8"/>
                </a:solidFill>
                <a:latin typeface="Calibri"/>
                <a:ea typeface="Calibri"/>
                <a:cs typeface="Calibri"/>
              </a:defRPr>
            </a:lvl3pPr>
            <a:lvl4pPr>
              <a:defRPr sz="2325" b="0">
                <a:solidFill>
                  <a:srgbClr val="38BDF8"/>
                </a:solidFill>
                <a:latin typeface="Calibri"/>
                <a:ea typeface="Calibri"/>
                <a:cs typeface="Calibri"/>
              </a:defRPr>
            </a:lvl4pPr>
            <a:lvl5pPr>
              <a:defRPr sz="2325" b="0">
                <a:solidFill>
                  <a:srgbClr val="38BDF8"/>
                </a:solidFill>
                <a:latin typeface="Calibri"/>
                <a:ea typeface="Calibri"/>
                <a:cs typeface="Calibri"/>
              </a:defRPr>
            </a:lvl5pPr>
            <a:lvl6pPr>
              <a:defRPr sz="2325" b="0">
                <a:solidFill>
                  <a:srgbClr val="38BDF8"/>
                </a:solidFill>
                <a:latin typeface="Calibri"/>
                <a:ea typeface="Calibri"/>
                <a:cs typeface="Calibri"/>
              </a:defRPr>
            </a:lvl6pPr>
            <a:lvl7pPr>
              <a:defRPr sz="2325" b="0">
                <a:solidFill>
                  <a:srgbClr val="38BDF8"/>
                </a:solidFill>
                <a:latin typeface="Calibri"/>
                <a:ea typeface="Calibri"/>
                <a:cs typeface="Calibri"/>
              </a:defRPr>
            </a:lvl7pPr>
            <a:lvl8pPr>
              <a:defRPr sz="2325" b="0">
                <a:solidFill>
                  <a:srgbClr val="38BDF8"/>
                </a:solidFill>
                <a:latin typeface="Calibri"/>
                <a:ea typeface="Calibri"/>
                <a:cs typeface="Calibri"/>
              </a:defRPr>
            </a:lvl8pPr>
            <a:lvl9pPr>
              <a:defRPr sz="2325" b="0">
                <a:solidFill>
                  <a:srgbClr val="38BDF8"/>
                </a:solidFill>
                <a:latin typeface="Calibri"/>
                <a:ea typeface="Calibri"/>
                <a:cs typeface="Calibri"/>
              </a:defRPr>
            </a:lvl9pPr>
          </a:lstStyle>
          <a:p xmlns:a="http://schemas.openxmlformats.org/drawingml/2006/main">
            <a:pPr>
              <a:defRPr sz="2325" b="0">
                <a:solidFill>
                  <a:srgbClr val="38BDF8"/>
                </a:solidFill>
                <a:latin typeface="Calibri"/>
                <a:ea typeface="Calibri"/>
                <a:cs typeface="Calibri"/>
              </a:defRPr>
            </a:pPr>
            <a:r>
              <a:rPr sz="2325" b="0">
                <a:solidFill>
                  <a:srgbClr val="38BDF8"/>
                </a:solidFill>
                <a:latin typeface="Calibri"/>
                <a:ea typeface="Calibri"/>
                <a:cs typeface="Calibri"/>
              </a:rPr>
              <a:t>Over binary arithmetic, let A = I + L + R and F(x) = 1 + Ax</a:t>
            </a:r>
          </a:p>
        </p:txBody>
      </p:sp>
      <p:sp>
        <p:nvSpPr>
          <p:cNvPr id="3" name="body">
            <a:extLst xmlns:a="http://schemas.openxmlformats.org/drawingml/2006/main">
              <a:ext uri="{FF2B5EF4-FFF2-40B4-BE49-F238E27FC236}">
                <a16:creationId xmlns:a16="http://schemas.microsoft.com/office/drawing/2014/main" id="{DA856E29-8C23-4C62-A105-F7C22CF87C0E}"/>
              </a:ext>
            </a:extLst>
          </p:cNvPr>
          <p:cNvSpPr>
            <a:spLocks xmlns:a="http://schemas.openxmlformats.org/drawingml/2006/main" noGrp="1"/>
          </p:cNvSpPr>
          <p:nvPr/>
        </p:nvSpPr>
        <p:spPr>
          <a:xfrm xmlns:a="http://schemas.openxmlformats.org/drawingml/2006/main">
            <a:off x="609600" y="2362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1F5F9"/>
                </a:solidFill>
                <a:latin typeface="Calibri"/>
                <a:ea typeface="Calibri"/>
                <a:cs typeface="Calibri"/>
              </a:defRPr>
            </a:defPPr>
            <a:lvl1pPr>
              <a:defRPr sz="2250" b="0">
                <a:solidFill>
                  <a:srgbClr val="F1F5F9"/>
                </a:solidFill>
                <a:latin typeface="Calibri"/>
                <a:ea typeface="Calibri"/>
                <a:cs typeface="Calibri"/>
              </a:defRPr>
            </a:lvl1pPr>
            <a:lvl2pPr>
              <a:defRPr sz="2250" b="0">
                <a:solidFill>
                  <a:srgbClr val="F1F5F9"/>
                </a:solidFill>
                <a:latin typeface="Calibri"/>
                <a:ea typeface="Calibri"/>
                <a:cs typeface="Calibri"/>
              </a:defRPr>
            </a:lvl2pPr>
            <a:lvl3pPr>
              <a:defRPr sz="2250" b="0">
                <a:solidFill>
                  <a:srgbClr val="F1F5F9"/>
                </a:solidFill>
                <a:latin typeface="Calibri"/>
                <a:ea typeface="Calibri"/>
                <a:cs typeface="Calibri"/>
              </a:defRPr>
            </a:lvl3pPr>
            <a:lvl4pPr>
              <a:defRPr sz="2250" b="0">
                <a:solidFill>
                  <a:srgbClr val="F1F5F9"/>
                </a:solidFill>
                <a:latin typeface="Calibri"/>
                <a:ea typeface="Calibri"/>
                <a:cs typeface="Calibri"/>
              </a:defRPr>
            </a:lvl4pPr>
            <a:lvl5pPr>
              <a:defRPr sz="2250" b="0">
                <a:solidFill>
                  <a:srgbClr val="F1F5F9"/>
                </a:solidFill>
                <a:latin typeface="Calibri"/>
                <a:ea typeface="Calibri"/>
                <a:cs typeface="Calibri"/>
              </a:defRPr>
            </a:lvl5pPr>
            <a:lvl6pPr>
              <a:defRPr sz="2250" b="0">
                <a:solidFill>
                  <a:srgbClr val="F1F5F9"/>
                </a:solidFill>
                <a:latin typeface="Calibri"/>
                <a:ea typeface="Calibri"/>
                <a:cs typeface="Calibri"/>
              </a:defRPr>
            </a:lvl6pPr>
            <a:lvl7pPr>
              <a:defRPr sz="2250" b="0">
                <a:solidFill>
                  <a:srgbClr val="F1F5F9"/>
                </a:solidFill>
                <a:latin typeface="Calibri"/>
                <a:ea typeface="Calibri"/>
                <a:cs typeface="Calibri"/>
              </a:defRPr>
            </a:lvl7pPr>
            <a:lvl8pPr>
              <a:defRPr sz="2250" b="0">
                <a:solidFill>
                  <a:srgbClr val="F1F5F9"/>
                </a:solidFill>
                <a:latin typeface="Calibri"/>
                <a:ea typeface="Calibri"/>
                <a:cs typeface="Calibri"/>
              </a:defRPr>
            </a:lvl8pPr>
            <a:lvl9pPr>
              <a:defRPr sz="2250" b="0">
                <a:solidFill>
                  <a:srgbClr val="F1F5F9"/>
                </a:solidFill>
                <a:latin typeface="Calibri"/>
                <a:ea typeface="Calibri"/>
                <a:cs typeface="Calibri"/>
              </a:defRPr>
            </a:lvl9pPr>
          </a:lstStyle>
          <a:p xmlns:a="http://schemas.openxmlformats.org/drawingml/2006/main">
            <a:pPr>
              <a:defRPr sz="2250" b="0">
                <a:solidFill>
                  <a:srgbClr val="F1F5F9"/>
                </a:solidFill>
                <a:latin typeface="Calibri"/>
                <a:ea typeface="Calibri"/>
                <a:cs typeface="Calibri"/>
              </a:defRPr>
            </a:pPr>
            <a:r>
              <a:rPr sz="2250" b="0">
                <a:solidFill>
                  <a:srgbClr val="F1F5F9"/>
                </a:solidFill>
                <a:latin typeface="Calibri"/>
                <a:ea typeface="Calibri"/>
                <a:cs typeface="Calibri"/>
              </a:rPr>
              <a:t>On each periodic row of length 4:  L R = I   and   L^2 = R^2</a:t>
            </a:r>
          </a:p>
        </p:txBody>
      </p:sp>
      <p:sp>
        <p:nvSpPr>
          <p:cNvPr id="4" name="body">
            <a:extLst xmlns:a="http://schemas.openxmlformats.org/drawingml/2006/main">
              <a:ext uri="{FF2B5EF4-FFF2-40B4-BE49-F238E27FC236}">
                <a16:creationId xmlns:a16="http://schemas.microsoft.com/office/drawing/2014/main" id="{88A239F7-549F-41F3-95BE-C3B5FDA756D6}"/>
              </a:ext>
            </a:extLst>
          </p:cNvPr>
          <p:cNvSpPr>
            <a:spLocks xmlns:a="http://schemas.openxmlformats.org/drawingml/2006/main" noGrp="1"/>
          </p:cNvSpPr>
          <p:nvPr/>
        </p:nvSpPr>
        <p:spPr>
          <a:xfrm xmlns:a="http://schemas.openxmlformats.org/drawingml/2006/main">
            <a:off x="609600" y="3238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A^2 = I + L^2 + R^2 = I,       A1 = 1</a:t>
            </a:r>
          </a:p>
        </p:txBody>
      </p:sp>
      <p:sp>
        <p:nvSpPr>
          <p:cNvPr id="5" name="body">
            <a:extLst xmlns:a="http://schemas.openxmlformats.org/drawingml/2006/main">
              <a:ext uri="{FF2B5EF4-FFF2-40B4-BE49-F238E27FC236}">
                <a16:creationId xmlns:a16="http://schemas.microsoft.com/office/drawing/2014/main" id="{37743A01-8EC4-4690-8412-F02085915CFC}"/>
              </a:ext>
            </a:extLst>
          </p:cNvPr>
          <p:cNvSpPr>
            <a:spLocks xmlns:a="http://schemas.openxmlformats.org/drawingml/2006/main" noGrp="1"/>
          </p:cNvSpPr>
          <p:nvPr/>
        </p:nvSpPr>
        <p:spPr>
          <a:xfrm xmlns:a="http://schemas.openxmlformats.org/drawingml/2006/main">
            <a:off x="609600" y="41338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BBF24"/>
                </a:solidFill>
                <a:latin typeface="Calibri"/>
                <a:ea typeface="Calibri"/>
                <a:cs typeface="Calibri"/>
              </a:defRPr>
            </a:defPPr>
            <a:lvl1pPr>
              <a:defRPr sz="2550" b="0">
                <a:solidFill>
                  <a:srgbClr val="FBBF24"/>
                </a:solidFill>
                <a:latin typeface="Calibri"/>
                <a:ea typeface="Calibri"/>
                <a:cs typeface="Calibri"/>
              </a:defRPr>
            </a:lvl1pPr>
            <a:lvl2pPr>
              <a:defRPr sz="2550" b="0">
                <a:solidFill>
                  <a:srgbClr val="FBBF24"/>
                </a:solidFill>
                <a:latin typeface="Calibri"/>
                <a:ea typeface="Calibri"/>
                <a:cs typeface="Calibri"/>
              </a:defRPr>
            </a:lvl2pPr>
            <a:lvl3pPr>
              <a:defRPr sz="2550" b="0">
                <a:solidFill>
                  <a:srgbClr val="FBBF24"/>
                </a:solidFill>
                <a:latin typeface="Calibri"/>
                <a:ea typeface="Calibri"/>
                <a:cs typeface="Calibri"/>
              </a:defRPr>
            </a:lvl3pPr>
            <a:lvl4pPr>
              <a:defRPr sz="2550" b="0">
                <a:solidFill>
                  <a:srgbClr val="FBBF24"/>
                </a:solidFill>
                <a:latin typeface="Calibri"/>
                <a:ea typeface="Calibri"/>
                <a:cs typeface="Calibri"/>
              </a:defRPr>
            </a:lvl4pPr>
            <a:lvl5pPr>
              <a:defRPr sz="2550" b="0">
                <a:solidFill>
                  <a:srgbClr val="FBBF24"/>
                </a:solidFill>
                <a:latin typeface="Calibri"/>
                <a:ea typeface="Calibri"/>
                <a:cs typeface="Calibri"/>
              </a:defRPr>
            </a:lvl5pPr>
            <a:lvl6pPr>
              <a:defRPr sz="2550" b="0">
                <a:solidFill>
                  <a:srgbClr val="FBBF24"/>
                </a:solidFill>
                <a:latin typeface="Calibri"/>
                <a:ea typeface="Calibri"/>
                <a:cs typeface="Calibri"/>
              </a:defRPr>
            </a:lvl6pPr>
            <a:lvl7pPr>
              <a:defRPr sz="2550" b="0">
                <a:solidFill>
                  <a:srgbClr val="FBBF24"/>
                </a:solidFill>
                <a:latin typeface="Calibri"/>
                <a:ea typeface="Calibri"/>
                <a:cs typeface="Calibri"/>
              </a:defRPr>
            </a:lvl7pPr>
            <a:lvl8pPr>
              <a:defRPr sz="2550" b="0">
                <a:solidFill>
                  <a:srgbClr val="FBBF24"/>
                </a:solidFill>
                <a:latin typeface="Calibri"/>
                <a:ea typeface="Calibri"/>
                <a:cs typeface="Calibri"/>
              </a:defRPr>
            </a:lvl8pPr>
            <a:lvl9pPr>
              <a:defRPr sz="2550" b="0">
                <a:solidFill>
                  <a:srgbClr val="FBBF24"/>
                </a:solidFill>
                <a:latin typeface="Calibri"/>
                <a:ea typeface="Calibri"/>
                <a:cs typeface="Calibri"/>
              </a:defRPr>
            </a:lvl9pPr>
          </a:lstStyle>
          <a:p xmlns:a="http://schemas.openxmlformats.org/drawingml/2006/main">
            <a:pPr>
              <a:defRPr sz="2550" b="0">
                <a:solidFill>
                  <a:srgbClr val="FBBF24"/>
                </a:solidFill>
                <a:latin typeface="Calibri"/>
                <a:ea typeface="Calibri"/>
                <a:cs typeface="Calibri"/>
              </a:defRPr>
            </a:pPr>
            <a:r>
              <a:rPr sz="2550" b="0">
                <a:solidFill>
                  <a:srgbClr val="FBBF24"/>
                </a:solidFill>
                <a:latin typeface="Calibri"/>
                <a:ea typeface="Calibri"/>
                <a:cs typeface="Calibri"/>
              </a:rPr>
              <a:t>F(F(x)) = 1 + A1 + A^2 x = x</a:t>
            </a:r>
          </a:p>
        </p:txBody>
      </p:sp>
      <p:sp>
        <p:nvSpPr>
          <p:cNvPr id="6" name="body">
            <a:extLst xmlns:a="http://schemas.openxmlformats.org/drawingml/2006/main">
              <a:ext uri="{FF2B5EF4-FFF2-40B4-BE49-F238E27FC236}">
                <a16:creationId xmlns:a16="http://schemas.microsoft.com/office/drawing/2014/main" id="{5B3D5DA0-3F54-45E8-BE30-45B26A8843D6}"/>
              </a:ext>
            </a:extLst>
          </p:cNvPr>
          <p:cNvSpPr>
            <a:spLocks xmlns:a="http://schemas.openxmlformats.org/drawingml/2006/main" noGrp="1"/>
          </p:cNvSpPr>
          <p:nvPr/>
        </p:nvSpPr>
        <p:spPr>
          <a:xfrm xmlns:a="http://schemas.openxmlformats.org/drawingml/2006/main">
            <a:off x="609600" y="515302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complement and spatial maps are involutions. Period-two recall can help later frames without solving the first spatial prediction.</a:t>
            </a:r>
          </a:p>
        </p:txBody>
      </p:sp>
      <p:sp>
        <p:nvSpPr>
          <p:cNvPr id="7" name="body">
            <a:extLst xmlns:a="http://schemas.openxmlformats.org/drawingml/2006/main">
              <a:ext uri="{FF2B5EF4-FFF2-40B4-BE49-F238E27FC236}">
                <a16:creationId xmlns:a16="http://schemas.microsoft.com/office/drawing/2014/main" id="{1191E219-218B-4B22-8A35-4E8F5C8A1955}"/>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Source code and exhaustive tests cover all 65,536 states. This displayed derivation is separate from the retained 44-statement Lean core.</a:t>
            </a:r>
          </a:p>
        </p:txBody>
      </p:sp>
      <p:sp>
        <p:nvSpPr>
          <p:cNvPr id="8" name="page">
            <a:extLst xmlns:a="http://schemas.openxmlformats.org/drawingml/2006/main">
              <a:ext uri="{FF2B5EF4-FFF2-40B4-BE49-F238E27FC236}">
                <a16:creationId xmlns:a16="http://schemas.microsoft.com/office/drawing/2014/main" id="{E99D7EBB-A8B6-4B3D-8064-1F265668458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96</a:t>
            </a:r>
          </a:p>
        </p:txBody>
      </p:sp>
    </p:spTree>
    <p:extLst>
      <p:ext uri="{BB962C8B-B14F-4D97-AF65-F5344CB8AC3E}">
        <p14:creationId xmlns:p14="http://schemas.microsoft.com/office/powerpoint/2010/main" val="1619635714"/>
      </p:ext>
    </p:extLst>
  </p:cSld>
</p:sld>
</file>

<file path=ppt/slides/slide9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82CCFD7-CB46-44CF-AAA6-6D066DAEF00C}"/>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7 full-trajectory results</a:t>
            </a:r>
          </a:p>
        </p:txBody>
      </p:sp>
      <p:graphicFrame>
        <p:nvGraphicFramePr>
          <p:cNvPr id="2" name="">
            <a:extLst xmlns:a="http://schemas.openxmlformats.org/drawingml/2006/main">
              <a:ext uri="{FF2B5EF4-FFF2-40B4-BE49-F238E27FC236}">
                <a16:creationId xmlns:a16="http://schemas.microsoft.com/office/drawing/2014/main" id="{FDD76FCF-F757-4325-8855-7F93EEBB9AFD}"/>
              </a:ext>
            </a:extLst>
          </p:cNvPr>
          <p:cNvGraphicFramePr/>
          <p:nvPr/>
        </p:nvGraphicFramePr>
        <p:xfrm>
          <a:off xmlns:a="http://schemas.openxmlformats.org/drawingml/2006/main" x="590550" y="1466850"/>
          <a:ext xmlns:a="http://schemas.openxmlformats.org/drawingml/2006/main" cx="10953750" cy="2524125"/>
        </p:xfrm>
        <a:graphic xmlns:a="http://schemas.openxmlformats.org/drawingml/2006/main">
          <a:graphicData uri="http://schemas.openxmlformats.org/drawingml/2006/table">
            <a:tbl>
              <a:tblPr/>
              <a:tblGrid>
                <a:gridCol w="2381250"/>
                <a:gridCol w="2000250"/>
                <a:gridCol w="2095500"/>
                <a:gridCol w="2095500"/>
                <a:gridCol w="2381250"/>
              </a:tblGrid>
              <a:tr h="841375">
                <a:tc>
                  <a:txBody>
                    <a:bodyPr wrap="square" lIns="95250" tIns="95250" rIns="95250" bIns="95250"/>
                    <a:lstStyle/>
                    <a:p>
                      <a:r>
                        <a:rPr sz="1875" b="1">
                          <a:solidFill>
                            <a:srgbClr val="F1F5F9"/>
                          </a:solidFill>
                          <a:latin typeface="Calibri"/>
                          <a:ea typeface="Calibri"/>
                          <a:cs typeface="Calibri"/>
                        </a:rPr>
                        <a:t>Rule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Model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Patch accuracy</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Frequency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Own-patch table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841375">
                <a:tc>
                  <a:txBody>
                    <a:bodyPr wrap="square" lIns="95250" tIns="95250" rIns="95250" bIns="95250"/>
                    <a:lstStyle/>
                    <a:p>
                      <a:r>
                        <a:rPr sz="1875" b="0">
                          <a:solidFill>
                            <a:srgbClr val="F1F5F9"/>
                          </a:solidFill>
                          <a:latin typeface="Calibri"/>
                          <a:ea typeface="Calibri"/>
                          <a:cs typeface="Calibri"/>
                        </a:rPr>
                        <a:t>Complement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0.055023</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100.00%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2.352583</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0.016619</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841375">
                <a:tc>
                  <a:txBody>
                    <a:bodyPr wrap="square" lIns="95250" tIns="95250" rIns="95250" bIns="95250"/>
                    <a:lstStyle/>
                    <a:p>
                      <a:r>
                        <a:rPr sz="1875" b="0">
                          <a:solidFill>
                            <a:srgbClr val="F1F5F9"/>
                          </a:solidFill>
                          <a:latin typeface="Calibri"/>
                          <a:ea typeface="Calibri"/>
                          <a:cs typeface="Calibri"/>
                        </a:rPr>
                        <a:t>Spatial parity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0.303136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91.84%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2.106976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2.814026</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2EEADFA6-6258-4F90-B9ED-80ED036A84B4}"/>
              </a:ext>
            </a:extLst>
          </p:cNvPr>
          <p:cNvSpPr>
            <a:spLocks xmlns:a="http://schemas.openxmlformats.org/drawingml/2006/main" noGrp="1"/>
          </p:cNvSpPr>
          <p:nvPr/>
        </p:nvSpPr>
        <p:spPr>
          <a:xfrm xmlns:a="http://schemas.openxmlformats.org/drawingml/2006/main">
            <a:off x="609600" y="44481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All spatial coherent seeds pass both readiness margins and the own-patch-table qualification. Three seeds share one new joint-orbit-disjoint data split.</a:t>
            </a:r>
          </a:p>
        </p:txBody>
      </p:sp>
      <p:sp>
        <p:nvSpPr>
          <p:cNvPr id="4" name="body">
            <a:extLst xmlns:a="http://schemas.openxmlformats.org/drawingml/2006/main">
              <a:ext uri="{FF2B5EF4-FFF2-40B4-BE49-F238E27FC236}">
                <a16:creationId xmlns:a16="http://schemas.microsoft.com/office/drawing/2014/main" id="{D21FD40F-75CF-470A-9AB9-03BB3719665A}"/>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Twelve new CPU models, 12,000 updates. Historical stage 6 is separate evidence, not the matched reference for this contrast.</a:t>
            </a:r>
          </a:p>
        </p:txBody>
      </p:sp>
      <p:sp>
        <p:nvSpPr>
          <p:cNvPr id="5" name="page">
            <a:extLst xmlns:a="http://schemas.openxmlformats.org/drawingml/2006/main">
              <a:ext uri="{FF2B5EF4-FFF2-40B4-BE49-F238E27FC236}">
                <a16:creationId xmlns:a16="http://schemas.microsoft.com/office/drawing/2014/main" id="{5D60296C-F562-4CC0-8727-C50CCD0349B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97</a:t>
            </a:r>
          </a:p>
        </p:txBody>
      </p:sp>
    </p:spTree>
    <p:extLst>
      <p:ext uri="{BB962C8B-B14F-4D97-AF65-F5344CB8AC3E}">
        <p14:creationId xmlns:p14="http://schemas.microsoft.com/office/powerpoint/2010/main" val="1217202752"/>
      </p:ext>
    </p:extLst>
  </p:cSld>
</p:sld>
</file>

<file path=ppt/slides/slide9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ADC596-2D30-4EDF-8310-5DDCF0E1F37D}"/>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7 matched learning curves</a:t>
            </a:r>
          </a:p>
        </p:txBody>
      </p:sp>
      <p:pic>
        <p:nvPicPr>
          <p:cNvPr id="2" name="">
            <a:extLst xmlns:a="http://schemas.openxmlformats.org/drawingml/2006/main">
              <a:ext uri="{FF2B5EF4-FFF2-40B4-BE49-F238E27FC236}">
                <a16:creationId xmlns:a16="http://schemas.microsoft.com/office/drawing/2014/main" id="{CAE3D395-1AC7-4773-8441-4B815E95C5AE}"/>
              </a:ext>
            </a:extLst>
          </p:cNvPr>
          <p:cNvPicPr>
            <a:picLocks xmlns:a="http://schemas.openxmlformats.org/drawingml/2006/main" noChangeAspect="1"/>
          </p:cNvPicPr>
          <p:nvPr/>
        </p:nvPicPr>
        <p:blipFill>
          <a:blip xmlns:r="http://schemas.openxmlformats.org/officeDocument/2006/relationships" xmlns:a="http://schemas.openxmlformats.org/drawingml/2006/main" r:embed="Rc618b5fc6d07430b"/>
          <a:stretch xmlns:a="http://schemas.openxmlformats.org/drawingml/2006/main"/>
        </p:blipFill>
        <p:spPr>
          <a:xfrm xmlns:a="http://schemas.openxmlformats.org/drawingml/2006/main">
            <a:off x="590550" y="1484709"/>
            <a:ext cx="10953750" cy="4107656"/>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81EC22B2-2056-4327-AE93-FC7729774382}"/>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CPU development curves for the new matched complement and spatial rule treatments. Final checkpoints supply the assessment.</a:t>
            </a:r>
          </a:p>
        </p:txBody>
      </p:sp>
      <p:sp>
        <p:nvSpPr>
          <p:cNvPr id="4" name="page">
            <a:extLst xmlns:a="http://schemas.openxmlformats.org/drawingml/2006/main">
              <a:ext uri="{FF2B5EF4-FFF2-40B4-BE49-F238E27FC236}">
                <a16:creationId xmlns:a16="http://schemas.microsoft.com/office/drawing/2014/main" id="{ED9AD7AA-182E-456B-9372-D9C83A4DC68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98</a:t>
            </a:r>
          </a:p>
        </p:txBody>
      </p:sp>
    </p:spTree>
    <p:extLst>
      <p:ext uri="{BB962C8B-B14F-4D97-AF65-F5344CB8AC3E}">
        <p14:creationId xmlns:p14="http://schemas.microsoft.com/office/powerpoint/2010/main" val="455923302"/>
      </p:ext>
    </p:extLst>
  </p:cSld>
</p:sld>
</file>

<file path=ppt/slides/slide9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5A6DBB8-1831-47E3-A912-A2E52B23DF8D}"/>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First transition and neighbor intervention</a:t>
            </a:r>
          </a:p>
        </p:txBody>
      </p:sp>
      <p:sp>
        <p:nvSpPr>
          <p:cNvPr id="2" name="body">
            <a:extLst xmlns:a="http://schemas.openxmlformats.org/drawingml/2006/main">
              <a:ext uri="{FF2B5EF4-FFF2-40B4-BE49-F238E27FC236}">
                <a16:creationId xmlns:a16="http://schemas.microsoft.com/office/drawing/2014/main" id="{5ECC5E21-7C8F-4A0B-B7AA-5846D841F014}"/>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Score the first patch of the first transition using only the initial full frame and next start marker. No repeated frame or next-frame patch is available.</a:t>
            </a:r>
          </a:p>
        </p:txBody>
      </p:sp>
      <p:sp>
        <p:nvSpPr>
          <p:cNvPr id="3" name="body">
            <a:extLst xmlns:a="http://schemas.openxmlformats.org/drawingml/2006/main">
              <a:ext uri="{FF2B5EF4-FFF2-40B4-BE49-F238E27FC236}">
                <a16:creationId xmlns:a16="http://schemas.microsoft.com/office/drawing/2014/main" id="{F8211C47-5F4E-4567-9104-55F718B0EE96}"/>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Flip initial cell (0,3), outside the target patch but adjacent through the periodic boundary. The correct spatial output flips bit zero. Complement output stays unchanged.</a:t>
            </a:r>
          </a:p>
        </p:txBody>
      </p:sp>
      <p:sp>
        <p:nvSpPr>
          <p:cNvPr id="4" name="body">
            <a:extLst xmlns:a="http://schemas.openxmlformats.org/drawingml/2006/main">
              <a:ext uri="{FF2B5EF4-FFF2-40B4-BE49-F238E27FC236}">
                <a16:creationId xmlns:a16="http://schemas.microsoft.com/office/drawing/2014/main" id="{9109CB80-C7B7-4F5B-B365-2CD710D8B651}"/>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Retain all 128 original queries. A fixed joint-orbit exclusion leaves 122 eligible changed pairs, preventing overlap with training/development.</a:t>
            </a:r>
          </a:p>
        </p:txBody>
      </p:sp>
      <p:sp>
        <p:nvSpPr>
          <p:cNvPr id="5" name="body">
            <a:extLst xmlns:a="http://schemas.openxmlformats.org/drawingml/2006/main">
              <a:ext uri="{FF2B5EF4-FFF2-40B4-BE49-F238E27FC236}">
                <a16:creationId xmlns:a16="http://schemas.microsoft.com/office/drawing/2014/main" id="{7A8B2EC3-F2D8-43D7-828D-DD770F0998F4}"/>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This supplementary diagnostic froze during training before assessment. Its NLL test does not define an accuracy threshold or establish every spatial dependency.</a:t>
            </a:r>
          </a:p>
        </p:txBody>
      </p:sp>
      <p:sp>
        <p:nvSpPr>
          <p:cNvPr id="6" name="page">
            <a:extLst xmlns:a="http://schemas.openxmlformats.org/drawingml/2006/main">
              <a:ext uri="{FF2B5EF4-FFF2-40B4-BE49-F238E27FC236}">
                <a16:creationId xmlns:a16="http://schemas.microsoft.com/office/drawing/2014/main" id="{DF7D855A-C56A-4633-9AB7-3EF68A1E1EE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99</a:t>
            </a:r>
          </a:p>
        </p:txBody>
      </p:sp>
    </p:spTree>
    <p:extLst>
      <p:ext uri="{BB962C8B-B14F-4D97-AF65-F5344CB8AC3E}">
        <p14:creationId xmlns:p14="http://schemas.microsoft.com/office/powerpoint/2010/main" val="697034996"/>
      </p:ext>
    </p:extLst>
  </p:cSld>
</p:sld>
</file>

<file path=ppt/slides/slide10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405A748-6B5B-4D94-B632-75B77E3BEB35}"/>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7 first spatial predictions remain partial</a:t>
            </a:r>
          </a:p>
        </p:txBody>
      </p:sp>
      <p:graphicFrame>
        <p:nvGraphicFramePr>
          <p:cNvPr id="2" name="">
            <a:extLst xmlns:a="http://schemas.openxmlformats.org/drawingml/2006/main">
              <a:ext uri="{FF2B5EF4-FFF2-40B4-BE49-F238E27FC236}">
                <a16:creationId xmlns:a16="http://schemas.microsoft.com/office/drawing/2014/main" id="{07B8FF2B-183D-48E6-8193-19A5B14EC7CA}"/>
              </a:ext>
            </a:extLst>
          </p:cNvPr>
          <p:cNvGraphicFramePr/>
          <p:nvPr/>
        </p:nvGraphicFramePr>
        <p:xfrm>
          <a:off xmlns:a="http://schemas.openxmlformats.org/drawingml/2006/main" x="590550" y="1466850"/>
          <a:ext xmlns:a="http://schemas.openxmlformats.org/drawingml/2006/main" cx="10953750" cy="3476625"/>
        </p:xfrm>
        <a:graphic xmlns:a="http://schemas.openxmlformats.org/drawingml/2006/main">
          <a:graphicData uri="http://schemas.openxmlformats.org/drawingml/2006/table">
            <a:tbl>
              <a:tblPr/>
              <a:tblGrid>
                <a:gridCol w="1333500"/>
                <a:gridCol w="2381250"/>
                <a:gridCol w="2381250"/>
                <a:gridCol w="2476500"/>
                <a:gridCol w="2381250"/>
              </a:tblGrid>
              <a:tr h="695325">
                <a:tc>
                  <a:txBody>
                    <a:bodyPr wrap="square" lIns="95250" tIns="95250" rIns="95250" bIns="95250"/>
                    <a:lstStyle/>
                    <a:p>
                      <a:r>
                        <a:rPr sz="1800" b="1">
                          <a:solidFill>
                            <a:srgbClr val="F1F5F9"/>
                          </a:solidFill>
                          <a:latin typeface="Calibri"/>
                          <a:ea typeface="Calibri"/>
                          <a:cs typeface="Calibri"/>
                        </a:rPr>
                        <a:t>Seed</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First-patch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Original accuracy</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Intervened accuracy</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Both correct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95325">
                <a:tc>
                  <a:txBody>
                    <a:bodyPr wrap="square" lIns="95250" tIns="95250" rIns="95250" bIns="95250"/>
                    <a:lstStyle/>
                    <a:p>
                      <a:r>
                        <a:rPr sz="1800" b="0">
                          <a:solidFill>
                            <a:srgbClr val="F1F5F9"/>
                          </a:solidFill>
                          <a:latin typeface="Calibri"/>
                          <a:ea typeface="Calibri"/>
                          <a:cs typeface="Calibri"/>
                        </a:rPr>
                        <a:t>131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1.182625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59.38%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54.10%</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33.61%</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95325">
                <a:tc>
                  <a:txBody>
                    <a:bodyPr wrap="square" lIns="95250" tIns="95250" rIns="95250" bIns="95250"/>
                    <a:lstStyle/>
                    <a:p>
                      <a:r>
                        <a:rPr sz="1800" b="0">
                          <a:solidFill>
                            <a:srgbClr val="F1F5F9"/>
                          </a:solidFill>
                          <a:latin typeface="Calibri"/>
                          <a:ea typeface="Calibri"/>
                          <a:cs typeface="Calibri"/>
                        </a:rPr>
                        <a:t>149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1.642562</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41.41%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31.97%</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12.30%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95325">
                <a:tc>
                  <a:txBody>
                    <a:bodyPr wrap="square" lIns="95250" tIns="95250" rIns="95250" bIns="95250"/>
                    <a:lstStyle/>
                    <a:p>
                      <a:r>
                        <a:rPr sz="1800" b="0">
                          <a:solidFill>
                            <a:srgbClr val="F1F5F9"/>
                          </a:solidFill>
                          <a:latin typeface="Calibri"/>
                          <a:ea typeface="Calibri"/>
                          <a:cs typeface="Calibri"/>
                        </a:rPr>
                        <a:t>167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1.559881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41.41%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40.16%</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13.93%</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95325">
                <a:tc>
                  <a:txBody>
                    <a:bodyPr wrap="square" lIns="95250" tIns="95250" rIns="95250" bIns="95250"/>
                    <a:lstStyle/>
                    <a:p>
                      <a:r>
                        <a:rPr sz="1800" b="0">
                          <a:solidFill>
                            <a:srgbClr val="F1F5F9"/>
                          </a:solidFill>
                          <a:latin typeface="Calibri"/>
                          <a:ea typeface="Calibri"/>
                          <a:cs typeface="Calibri"/>
                        </a:rPr>
                        <a:t>Mean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1.461689</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47.40%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42.08%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19.95%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886284D8-F12B-487B-87BB-448C7B9F3679}"/>
              </a:ext>
            </a:extLst>
          </p:cNvPr>
          <p:cNvSpPr>
            <a:spLocks xmlns:a="http://schemas.openxmlformats.org/drawingml/2006/main" noGrp="1"/>
          </p:cNvSpPr>
          <p:nvPr/>
        </p:nvSpPr>
        <p:spPr>
          <a:xfrm xmlns:a="http://schemas.openxmlformats.org/drawingml/2006/main">
            <a:off x="609600" y="53054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Full-trajectory accuracy is 91.84%. First-prediction and paired-intervention scores reveal the remaining error, despite passing the supplementary NLL comparison.</a:t>
            </a:r>
          </a:p>
        </p:txBody>
      </p:sp>
      <p:sp>
        <p:nvSpPr>
          <p:cNvPr id="4" name="page">
            <a:extLst xmlns:a="http://schemas.openxmlformats.org/drawingml/2006/main">
              <a:ext uri="{FF2B5EF4-FFF2-40B4-BE49-F238E27FC236}">
                <a16:creationId xmlns:a16="http://schemas.microsoft.com/office/drawing/2014/main" id="{7327BE06-8F50-42B2-991A-5C7E01BBEA5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100</a:t>
            </a:r>
          </a:p>
        </p:txBody>
      </p:sp>
    </p:spTree>
    <p:extLst>
      <p:ext uri="{BB962C8B-B14F-4D97-AF65-F5344CB8AC3E}">
        <p14:creationId xmlns:p14="http://schemas.microsoft.com/office/powerpoint/2010/main" val="1041650456"/>
      </p:ext>
    </p:extLst>
  </p:cSld>
</p:sld>
</file>

<file path=ppt/slides/slide10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5A036BC-9F41-4CB6-9EE6-D3247F2AFEBE}"/>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8 objective and exact loss-mass accounting</a:t>
            </a:r>
          </a:p>
        </p:txBody>
      </p:sp>
      <p:sp>
        <p:nvSpPr>
          <p:cNvPr id="2" name="body">
            <a:extLst xmlns:a="http://schemas.openxmlformats.org/drawingml/2006/main">
              <a:ext uri="{FF2B5EF4-FFF2-40B4-BE49-F238E27FC236}">
                <a16:creationId xmlns:a16="http://schemas.microsoft.com/office/drawing/2014/main" id="{2C36F81E-6267-48B9-B7AE-540C386E9E5E}"/>
              </a:ext>
            </a:extLst>
          </p:cNvPr>
          <p:cNvSpPr>
            <a:spLocks xmlns:a="http://schemas.openxmlformats.org/drawingml/2006/main" noGrp="1"/>
          </p:cNvSpPr>
          <p:nvPr/>
        </p:nvSpPr>
        <p:spPr>
          <a:xfrm xmlns:a="http://schemas.openxmlformats.org/drawingml/2006/main">
            <a:off x="609600" y="14668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38BDF8"/>
                </a:solidFill>
                <a:latin typeface="Calibri"/>
                <a:ea typeface="Calibri"/>
                <a:cs typeface="Calibri"/>
              </a:defRPr>
            </a:defPPr>
            <a:lvl1pPr>
              <a:defRPr sz="2325" b="0">
                <a:solidFill>
                  <a:srgbClr val="38BDF8"/>
                </a:solidFill>
                <a:latin typeface="Calibri"/>
                <a:ea typeface="Calibri"/>
                <a:cs typeface="Calibri"/>
              </a:defRPr>
            </a:lvl1pPr>
            <a:lvl2pPr>
              <a:defRPr sz="2325" b="0">
                <a:solidFill>
                  <a:srgbClr val="38BDF8"/>
                </a:solidFill>
                <a:latin typeface="Calibri"/>
                <a:ea typeface="Calibri"/>
                <a:cs typeface="Calibri"/>
              </a:defRPr>
            </a:lvl2pPr>
            <a:lvl3pPr>
              <a:defRPr sz="2325" b="0">
                <a:solidFill>
                  <a:srgbClr val="38BDF8"/>
                </a:solidFill>
                <a:latin typeface="Calibri"/>
                <a:ea typeface="Calibri"/>
                <a:cs typeface="Calibri"/>
              </a:defRPr>
            </a:lvl3pPr>
            <a:lvl4pPr>
              <a:defRPr sz="2325" b="0">
                <a:solidFill>
                  <a:srgbClr val="38BDF8"/>
                </a:solidFill>
                <a:latin typeface="Calibri"/>
                <a:ea typeface="Calibri"/>
                <a:cs typeface="Calibri"/>
              </a:defRPr>
            </a:lvl4pPr>
            <a:lvl5pPr>
              <a:defRPr sz="2325" b="0">
                <a:solidFill>
                  <a:srgbClr val="38BDF8"/>
                </a:solidFill>
                <a:latin typeface="Calibri"/>
                <a:ea typeface="Calibri"/>
                <a:cs typeface="Calibri"/>
              </a:defRPr>
            </a:lvl5pPr>
            <a:lvl6pPr>
              <a:defRPr sz="2325" b="0">
                <a:solidFill>
                  <a:srgbClr val="38BDF8"/>
                </a:solidFill>
                <a:latin typeface="Calibri"/>
                <a:ea typeface="Calibri"/>
                <a:cs typeface="Calibri"/>
              </a:defRPr>
            </a:lvl6pPr>
            <a:lvl7pPr>
              <a:defRPr sz="2325" b="0">
                <a:solidFill>
                  <a:srgbClr val="38BDF8"/>
                </a:solidFill>
                <a:latin typeface="Calibri"/>
                <a:ea typeface="Calibri"/>
                <a:cs typeface="Calibri"/>
              </a:defRPr>
            </a:lvl7pPr>
            <a:lvl8pPr>
              <a:defRPr sz="2325" b="0">
                <a:solidFill>
                  <a:srgbClr val="38BDF8"/>
                </a:solidFill>
                <a:latin typeface="Calibri"/>
                <a:ea typeface="Calibri"/>
                <a:cs typeface="Calibri"/>
              </a:defRPr>
            </a:lvl8pPr>
            <a:lvl9pPr>
              <a:defRPr sz="2325" b="0">
                <a:solidFill>
                  <a:srgbClr val="38BDF8"/>
                </a:solidFill>
                <a:latin typeface="Calibri"/>
                <a:ea typeface="Calibri"/>
                <a:cs typeface="Calibri"/>
              </a:defRPr>
            </a:lvl9pPr>
          </a:lstStyle>
          <a:p xmlns:a="http://schemas.openxmlformats.org/drawingml/2006/main">
            <a:pPr>
              <a:defRPr sz="2325" b="0">
                <a:solidFill>
                  <a:srgbClr val="38BDF8"/>
                </a:solidFill>
                <a:latin typeface="Calibri"/>
                <a:ea typeface="Calibri"/>
                <a:cs typeface="Calibri"/>
              </a:defRPr>
            </a:pPr>
            <a:r>
              <a:rPr sz="2325" b="0">
                <a:solidFill>
                  <a:srgbClr val="38BDF8"/>
                </a:solidFill>
                <a:latin typeface="Calibri"/>
                <a:ea typeface="Calibri"/>
                <a:cs typeface="Calibri"/>
              </a:rPr>
              <a:t>L weighted = (6 * sum(first 6 target losses) + sum(later 36 losses)) / 72</a:t>
            </a:r>
          </a:p>
        </p:txBody>
      </p:sp>
      <p:sp>
        <p:nvSpPr>
          <p:cNvPr id="3" name="body">
            <a:extLst xmlns:a="http://schemas.openxmlformats.org/drawingml/2006/main">
              <a:ext uri="{FF2B5EF4-FFF2-40B4-BE49-F238E27FC236}">
                <a16:creationId xmlns:a16="http://schemas.microsoft.com/office/drawing/2014/main" id="{EBC52DFF-E5FE-434D-828E-245DE88EB02F}"/>
              </a:ext>
            </a:extLst>
          </p:cNvPr>
          <p:cNvSpPr>
            <a:spLocks xmlns:a="http://schemas.openxmlformats.org/drawingml/2006/main" noGrp="1"/>
          </p:cNvSpPr>
          <p:nvPr/>
        </p:nvSpPr>
        <p:spPr>
          <a:xfrm xmlns:a="http://schemas.openxmlformats.org/drawingml/2006/main">
            <a:off x="609600" y="27527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First-transition mass:  6 / 42 = 1/7    becomes    36 / 72 = 1/2</a:t>
            </a:r>
          </a:p>
        </p:txBody>
      </p:sp>
      <p:sp>
        <p:nvSpPr>
          <p:cNvPr id="4" name="body">
            <a:extLst xmlns:a="http://schemas.openxmlformats.org/drawingml/2006/main">
              <a:ext uri="{FF2B5EF4-FFF2-40B4-BE49-F238E27FC236}">
                <a16:creationId xmlns:a16="http://schemas.microsoft.com/office/drawing/2014/main" id="{33A2E57A-A20A-43D4-A987-D982EF7AFD84}"/>
              </a:ext>
            </a:extLst>
          </p:cNvPr>
          <p:cNvSpPr>
            <a:spLocks xmlns:a="http://schemas.openxmlformats.org/drawingml/2006/main" noGrp="1"/>
          </p:cNvSpPr>
          <p:nvPr/>
        </p:nvSpPr>
        <p:spPr>
          <a:xfrm xmlns:a="http://schemas.openxmlformats.org/drawingml/2006/main">
            <a:off x="609600" y="3905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1F5F9"/>
                </a:solidFill>
                <a:latin typeface="Calibri"/>
                <a:ea typeface="Calibri"/>
                <a:cs typeface="Calibri"/>
              </a:defRPr>
            </a:defPPr>
            <a:lvl1pPr>
              <a:defRPr sz="2175" b="0">
                <a:solidFill>
                  <a:srgbClr val="F1F5F9"/>
                </a:solidFill>
                <a:latin typeface="Calibri"/>
                <a:ea typeface="Calibri"/>
                <a:cs typeface="Calibri"/>
              </a:defRPr>
            </a:lvl1pPr>
            <a:lvl2pPr>
              <a:defRPr sz="2175" b="0">
                <a:solidFill>
                  <a:srgbClr val="F1F5F9"/>
                </a:solidFill>
                <a:latin typeface="Calibri"/>
                <a:ea typeface="Calibri"/>
                <a:cs typeface="Calibri"/>
              </a:defRPr>
            </a:lvl2pPr>
            <a:lvl3pPr>
              <a:defRPr sz="2175" b="0">
                <a:solidFill>
                  <a:srgbClr val="F1F5F9"/>
                </a:solidFill>
                <a:latin typeface="Calibri"/>
                <a:ea typeface="Calibri"/>
                <a:cs typeface="Calibri"/>
              </a:defRPr>
            </a:lvl3pPr>
            <a:lvl4pPr>
              <a:defRPr sz="2175" b="0">
                <a:solidFill>
                  <a:srgbClr val="F1F5F9"/>
                </a:solidFill>
                <a:latin typeface="Calibri"/>
                <a:ea typeface="Calibri"/>
                <a:cs typeface="Calibri"/>
              </a:defRPr>
            </a:lvl4pPr>
            <a:lvl5pPr>
              <a:defRPr sz="2175" b="0">
                <a:solidFill>
                  <a:srgbClr val="F1F5F9"/>
                </a:solidFill>
                <a:latin typeface="Calibri"/>
                <a:ea typeface="Calibri"/>
                <a:cs typeface="Calibri"/>
              </a:defRPr>
            </a:lvl5pPr>
            <a:lvl6pPr>
              <a:defRPr sz="2175" b="0">
                <a:solidFill>
                  <a:srgbClr val="F1F5F9"/>
                </a:solidFill>
                <a:latin typeface="Calibri"/>
                <a:ea typeface="Calibri"/>
                <a:cs typeface="Calibri"/>
              </a:defRPr>
            </a:lvl6pPr>
            <a:lvl7pPr>
              <a:defRPr sz="2175" b="0">
                <a:solidFill>
                  <a:srgbClr val="F1F5F9"/>
                </a:solidFill>
                <a:latin typeface="Calibri"/>
                <a:ea typeface="Calibri"/>
                <a:cs typeface="Calibri"/>
              </a:defRPr>
            </a:lvl7pPr>
            <a:lvl8pPr>
              <a:defRPr sz="2175" b="0">
                <a:solidFill>
                  <a:srgbClr val="F1F5F9"/>
                </a:solidFill>
                <a:latin typeface="Calibri"/>
                <a:ea typeface="Calibri"/>
                <a:cs typeface="Calibri"/>
              </a:defRPr>
            </a:lvl8pPr>
            <a:lvl9pPr>
              <a:defRPr sz="2175" b="0">
                <a:solidFill>
                  <a:srgbClr val="F1F5F9"/>
                </a:solidFill>
                <a:latin typeface="Calibri"/>
                <a:ea typeface="Calibri"/>
                <a:cs typeface="Calibri"/>
              </a:defRPr>
            </a:lvl9pPr>
          </a:lstStyle>
          <a:p xmlns:a="http://schemas.openxmlformats.org/drawingml/2006/main">
            <a:pPr>
              <a:defRPr sz="2175" b="0">
                <a:solidFill>
                  <a:srgbClr val="F1F5F9"/>
                </a:solidFill>
                <a:latin typeface="Calibri"/>
                <a:ea typeface="Calibri"/>
                <a:cs typeface="Calibri"/>
              </a:defRPr>
            </a:pPr>
            <a:r>
              <a:rPr sz="2175" b="0">
                <a:solidFill>
                  <a:srgbClr val="F1F5F9"/>
                </a:solidFill>
                <a:latin typeface="Calibri"/>
                <a:ea typeface="Calibri"/>
                <a:cs typeface="Calibri"/>
              </a:rPr>
              <a:t>Each transition contains 4 patches and 2 markers. Their total objective weight remains 2/3 patches and 1/3 markers.</a:t>
            </a:r>
          </a:p>
        </p:txBody>
      </p:sp>
      <p:sp>
        <p:nvSpPr>
          <p:cNvPr id="5" name="body">
            <a:extLst xmlns:a="http://schemas.openxmlformats.org/drawingml/2006/main">
              <a:ext uri="{FF2B5EF4-FFF2-40B4-BE49-F238E27FC236}">
                <a16:creationId xmlns:a16="http://schemas.microsoft.com/office/drawing/2014/main" id="{E2B3D1B1-F772-4E60-ACC2-DABECF0FFBC8}"/>
              </a:ext>
            </a:extLst>
          </p:cNvPr>
          <p:cNvSpPr>
            <a:spLocks xmlns:a="http://schemas.openxmlformats.org/drawingml/2006/main" noGrp="1"/>
          </p:cNvSpPr>
          <p:nvPr/>
        </p:nvSpPr>
        <p:spPr>
          <a:xfrm xmlns:a="http://schemas.openxmlformats.org/drawingml/2006/main">
            <a:off x="609600" y="52101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treatment changes objective weights alone. Unweighted likelihood remains the evaluation endpoint, with the same data, actual starting states, batches and 1000 updates.</a:t>
            </a:r>
          </a:p>
        </p:txBody>
      </p:sp>
      <p:sp>
        <p:nvSpPr>
          <p:cNvPr id="6" name="page">
            <a:extLst xmlns:a="http://schemas.openxmlformats.org/drawingml/2006/main">
              <a:ext uri="{FF2B5EF4-FFF2-40B4-BE49-F238E27FC236}">
                <a16:creationId xmlns:a16="http://schemas.microsoft.com/office/drawing/2014/main" id="{CB69D0B1-2945-4C4E-8BAF-56EC07CE4C6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101</a:t>
            </a:r>
          </a:p>
        </p:txBody>
      </p:sp>
    </p:spTree>
    <p:extLst>
      <p:ext uri="{BB962C8B-B14F-4D97-AF65-F5344CB8AC3E}">
        <p14:creationId xmlns:p14="http://schemas.microsoft.com/office/powerpoint/2010/main" val="1450670211"/>
      </p:ext>
    </p:extLst>
  </p:cSld>
</p:sld>
</file>

<file path=ppt/slides/slide10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83FF5BC-0CEC-411B-8EF7-FD0DE476E397}"/>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weighted-loss implementation</a:t>
            </a:r>
          </a:p>
        </p:txBody>
      </p:sp>
      <p:sp>
        <p:nvSpPr>
          <p:cNvPr id="2" name="body">
            <a:extLst xmlns:a="http://schemas.openxmlformats.org/drawingml/2006/main">
              <a:ext uri="{FF2B5EF4-FFF2-40B4-BE49-F238E27FC236}">
                <a16:creationId xmlns:a16="http://schemas.microsoft.com/office/drawing/2014/main" id="{C9A2A04F-E62E-44B4-8DE5-476B22D58974}"/>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loss_weight_v8/objective.py   lines 18-25</a:t>
            </a:r>
          </a:p>
        </p:txBody>
      </p:sp>
      <p:sp>
        <p:nvSpPr>
          <p:cNvPr id="3" name="verbatim source">
            <a:extLst xmlns:a="http://schemas.openxmlformats.org/drawingml/2006/main">
              <a:ext uri="{FF2B5EF4-FFF2-40B4-BE49-F238E27FC236}">
                <a16:creationId xmlns:a16="http://schemas.microsoft.com/office/drawing/2014/main" id="{5BEE4803-BCD2-4C0F-B6E3-A099E4FD446D}"/>
              </a:ext>
            </a:extLst>
          </p:cNvPr>
          <p:cNvSpPr>
            <a:spLocks xmlns:a="http://schemas.openxmlformats.org/drawingml/2006/main" noGrp="1"/>
          </p:cNvSpPr>
          <p:nvPr/>
        </p:nvSpPr>
        <p:spPr>
          <a:xfrm xmlns:a="http://schemas.openxmlformats.org/drawingml/2006/main">
            <a:off x="590550" y="1895475"/>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loss(logits, labels, c, factor):</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w = weights(labels, c, factor)</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not torch.any(w &gt; 0):</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ValueError('No supervised targets')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factor == 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F.cross_entropy(logits.reshape(-1, logits.shape[-1]), labels.reshape(-1), ignore_index=-100)</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values = F.cross_entropy(logits.reshape(-1, logits.shape[-1]), labels.reshape(-1), reduction='none', ignore_index=-100).reshape_as(labels)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(values*w).sum()/w.sum()</a:t>
            </a:r>
          </a:p>
        </p:txBody>
      </p:sp>
      <p:sp>
        <p:nvSpPr>
          <p:cNvPr id="4" name="body">
            <a:extLst xmlns:a="http://schemas.openxmlformats.org/drawingml/2006/main">
              <a:ext uri="{FF2B5EF4-FFF2-40B4-BE49-F238E27FC236}">
                <a16:creationId xmlns:a16="http://schemas.microsoft.com/office/drawing/2014/main" id="{AC95B9A5-2247-499E-976F-D091C7DEB599}"/>
              </a:ext>
            </a:extLst>
          </p:cNvPr>
          <p:cNvSpPr>
            <a:spLocks xmlns:a="http://schemas.openxmlformats.org/drawingml/2006/main" noGrp="1"/>
          </p:cNvSpPr>
          <p:nvPr/>
        </p:nvSpPr>
        <p:spPr>
          <a:xfrm xmlns:a="http://schemas.openxmlformats.org/drawingml/2006/main">
            <a:off x="59055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FB0C8"/>
                </a:solidFill>
                <a:latin typeface="Calibri"/>
                <a:ea typeface="Calibri"/>
                <a:cs typeface="Calibri"/>
              </a:defRPr>
            </a:defPPr>
            <a:lvl1pPr>
              <a:defRPr sz="1800" b="0">
                <a:solidFill>
                  <a:srgbClr val="9FB0C8"/>
                </a:solidFill>
                <a:latin typeface="Calibri"/>
                <a:ea typeface="Calibri"/>
                <a:cs typeface="Calibri"/>
              </a:defRPr>
            </a:lvl1pPr>
            <a:lvl2pPr>
              <a:defRPr sz="1800" b="0">
                <a:solidFill>
                  <a:srgbClr val="9FB0C8"/>
                </a:solidFill>
                <a:latin typeface="Calibri"/>
                <a:ea typeface="Calibri"/>
                <a:cs typeface="Calibri"/>
              </a:defRPr>
            </a:lvl2pPr>
            <a:lvl3pPr>
              <a:defRPr sz="1800" b="0">
                <a:solidFill>
                  <a:srgbClr val="9FB0C8"/>
                </a:solidFill>
                <a:latin typeface="Calibri"/>
                <a:ea typeface="Calibri"/>
                <a:cs typeface="Calibri"/>
              </a:defRPr>
            </a:lvl3pPr>
            <a:lvl4pPr>
              <a:defRPr sz="1800" b="0">
                <a:solidFill>
                  <a:srgbClr val="9FB0C8"/>
                </a:solidFill>
                <a:latin typeface="Calibri"/>
                <a:ea typeface="Calibri"/>
                <a:cs typeface="Calibri"/>
              </a:defRPr>
            </a:lvl4pPr>
            <a:lvl5pPr>
              <a:defRPr sz="1800" b="0">
                <a:solidFill>
                  <a:srgbClr val="9FB0C8"/>
                </a:solidFill>
                <a:latin typeface="Calibri"/>
                <a:ea typeface="Calibri"/>
                <a:cs typeface="Calibri"/>
              </a:defRPr>
            </a:lvl5pPr>
            <a:lvl6pPr>
              <a:defRPr sz="1800" b="0">
                <a:solidFill>
                  <a:srgbClr val="9FB0C8"/>
                </a:solidFill>
                <a:latin typeface="Calibri"/>
                <a:ea typeface="Calibri"/>
                <a:cs typeface="Calibri"/>
              </a:defRPr>
            </a:lvl6pPr>
            <a:lvl7pPr>
              <a:defRPr sz="1800" b="0">
                <a:solidFill>
                  <a:srgbClr val="9FB0C8"/>
                </a:solidFill>
                <a:latin typeface="Calibri"/>
                <a:ea typeface="Calibri"/>
                <a:cs typeface="Calibri"/>
              </a:defRPr>
            </a:lvl7pPr>
            <a:lvl8pPr>
              <a:defRPr sz="1800" b="0">
                <a:solidFill>
                  <a:srgbClr val="9FB0C8"/>
                </a:solidFill>
                <a:latin typeface="Calibri"/>
                <a:ea typeface="Calibri"/>
                <a:cs typeface="Calibri"/>
              </a:defRPr>
            </a:lvl8pPr>
            <a:lvl9pPr>
              <a:defRPr sz="1800" b="0">
                <a:solidFill>
                  <a:srgbClr val="9FB0C8"/>
                </a:solidFill>
                <a:latin typeface="Calibri"/>
                <a:ea typeface="Calibri"/>
                <a:cs typeface="Calibri"/>
              </a:defRPr>
            </a:lvl9pPr>
          </a:lstStyle>
          <a:p xmlns:a="http://schemas.openxmlformats.org/drawingml/2006/main">
            <a:pPr>
              <a:defRPr sz="1800" b="0">
                <a:solidFill>
                  <a:srgbClr val="9FB0C8"/>
                </a:solidFill>
                <a:latin typeface="Calibri"/>
                <a:ea typeface="Calibri"/>
                <a:cs typeface="Calibri"/>
              </a:defRPr>
            </a:pPr>
            <a:r>
              <a:rPr sz="1800" b="0">
                <a:solidFill>
                  <a:srgbClr val="9FB0C8"/>
                </a:solidFill>
                <a:latin typeface="Calibri"/>
                <a:ea typeface="Calibri"/>
                <a:cs typeface="Calibri"/>
              </a:rPr>
              <a:t>Masked labels have zero weight. Factor one reproduces the original update. Normalization changes relative loss mass rather than multiplying the full objective by six.</a:t>
            </a:r>
          </a:p>
        </p:txBody>
      </p:sp>
      <p:sp>
        <p:nvSpPr>
          <p:cNvPr id="5" name="page">
            <a:extLst xmlns:a="http://schemas.openxmlformats.org/drawingml/2006/main">
              <a:ext uri="{FF2B5EF4-FFF2-40B4-BE49-F238E27FC236}">
                <a16:creationId xmlns:a16="http://schemas.microsoft.com/office/drawing/2014/main" id="{0C6C1A44-D27C-4CCA-A95A-86FBDD21F89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102</a:t>
            </a:r>
          </a:p>
        </p:txBody>
      </p:sp>
    </p:spTree>
    <p:extLst>
      <p:ext uri="{BB962C8B-B14F-4D97-AF65-F5344CB8AC3E}">
        <p14:creationId xmlns:p14="http://schemas.microsoft.com/office/powerpoint/2010/main" val="1974805306"/>
      </p:ext>
    </p:extLst>
  </p:cSld>
</p:sld>
</file>

<file path=ppt/slides/slide10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3F852FB-0EC4-45BB-B0E0-8D4F49B4C883}"/>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8 fails every coherent seed</a:t>
            </a:r>
          </a:p>
        </p:txBody>
      </p:sp>
      <p:graphicFrame>
        <p:nvGraphicFramePr>
          <p:cNvPr id="2" name="">
            <a:extLst xmlns:a="http://schemas.openxmlformats.org/drawingml/2006/main">
              <a:ext uri="{FF2B5EF4-FFF2-40B4-BE49-F238E27FC236}">
                <a16:creationId xmlns:a16="http://schemas.microsoft.com/office/drawing/2014/main" id="{F326ED21-7E69-498B-A800-BD2D87BDC3D7}"/>
              </a:ext>
            </a:extLst>
          </p:cNvPr>
          <p:cNvGraphicFramePr/>
          <p:nvPr/>
        </p:nvGraphicFramePr>
        <p:xfrm>
          <a:off xmlns:a="http://schemas.openxmlformats.org/drawingml/2006/main" x="590550" y="1466850"/>
          <a:ext xmlns:a="http://schemas.openxmlformats.org/drawingml/2006/main" cx="10953750" cy="3143250"/>
        </p:xfrm>
        <a:graphic xmlns:a="http://schemas.openxmlformats.org/drawingml/2006/main">
          <a:graphicData uri="http://schemas.openxmlformats.org/drawingml/2006/table">
            <a:tbl>
              <a:tblPr/>
              <a:tblGrid>
                <a:gridCol w="1524000"/>
                <a:gridCol w="3333750"/>
                <a:gridCol w="3429000"/>
                <a:gridCol w="2667000"/>
              </a:tblGrid>
              <a:tr h="785813">
                <a:tc>
                  <a:txBody>
                    <a:bodyPr wrap="square" lIns="95250" tIns="95250" rIns="95250" bIns="95250"/>
                    <a:lstStyle/>
                    <a:p>
                      <a:r>
                        <a:rPr sz="1875" b="1">
                          <a:solidFill>
                            <a:srgbClr val="F1F5F9"/>
                          </a:solidFill>
                          <a:latin typeface="Calibri"/>
                          <a:ea typeface="Calibri"/>
                          <a:cs typeface="Calibri"/>
                        </a:rPr>
                        <a:t>Seed</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Original NLL improvement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Intervened NLL improvement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Both &gt;= 0.01</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785813">
                <a:tc>
                  <a:txBody>
                    <a:bodyPr wrap="square" lIns="95250" tIns="95250" rIns="95250" bIns="95250"/>
                    <a:lstStyle/>
                    <a:p>
                      <a:r>
                        <a:rPr sz="1875" b="0">
                          <a:solidFill>
                            <a:srgbClr val="F1F5F9"/>
                          </a:solidFill>
                          <a:latin typeface="Calibri"/>
                          <a:ea typeface="Calibri"/>
                          <a:cs typeface="Calibri"/>
                        </a:rPr>
                        <a:t>131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-0.716168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-0.682965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Fail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85813">
                <a:tc>
                  <a:txBody>
                    <a:bodyPr wrap="square" lIns="95250" tIns="95250" rIns="95250" bIns="95250"/>
                    <a:lstStyle/>
                    <a:p>
                      <a:r>
                        <a:rPr sz="1875" b="0">
                          <a:solidFill>
                            <a:srgbClr val="F1F5F9"/>
                          </a:solidFill>
                          <a:latin typeface="Calibri"/>
                          <a:ea typeface="Calibri"/>
                          <a:cs typeface="Calibri"/>
                        </a:rPr>
                        <a:t>149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-0.503166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-0.288322</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Fail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785813">
                <a:tc>
                  <a:txBody>
                    <a:bodyPr wrap="square" lIns="95250" tIns="95250" rIns="95250" bIns="95250"/>
                    <a:lstStyle/>
                    <a:p>
                      <a:r>
                        <a:rPr sz="1875" b="0">
                          <a:solidFill>
                            <a:srgbClr val="F1F5F9"/>
                          </a:solidFill>
                          <a:latin typeface="Calibri"/>
                          <a:ea typeface="Calibri"/>
                          <a:cs typeface="Calibri"/>
                        </a:rPr>
                        <a:t>167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-0.269025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-0.222588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Fail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31F3DEA0-8813-4465-A46F-CF0E121E8E85}"/>
              </a:ext>
            </a:extLst>
          </p:cNvPr>
          <p:cNvSpPr>
            <a:spLocks xmlns:a="http://schemas.openxmlformats.org/drawingml/2006/main" noGrp="1"/>
          </p:cNvSpPr>
          <p:nvPr/>
        </p:nvSpPr>
        <p:spPr>
          <a:xfrm xmlns:a="http://schemas.openxmlformats.org/drawingml/2006/main">
            <a:off x="609600" y="49911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Improvement = standard NLL minus weighted NLL. Every seed worsens both first-transition likelihoods. All weighted coherent models still pass trajectory readiness.</a:t>
            </a:r>
          </a:p>
        </p:txBody>
      </p:sp>
      <p:sp>
        <p:nvSpPr>
          <p:cNvPr id="4" name="body">
            <a:extLst xmlns:a="http://schemas.openxmlformats.org/drawingml/2006/main">
              <a:ext uri="{FF2B5EF4-FFF2-40B4-BE49-F238E27FC236}">
                <a16:creationId xmlns:a16="http://schemas.microsoft.com/office/drawing/2014/main" id="{F0912A66-2446-47A1-9E26-FF23218EE174}"/>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Fixed final-update endpoint, frozen sixfold factor and all three seeds retained. No criterion changes after assessment.</a:t>
            </a:r>
          </a:p>
        </p:txBody>
      </p:sp>
      <p:sp>
        <p:nvSpPr>
          <p:cNvPr id="5" name="page">
            <a:extLst xmlns:a="http://schemas.openxmlformats.org/drawingml/2006/main">
              <a:ext uri="{FF2B5EF4-FFF2-40B4-BE49-F238E27FC236}">
                <a16:creationId xmlns:a16="http://schemas.microsoft.com/office/drawing/2014/main" id="{24BA7090-3F1E-4A14-940A-C7181839CB3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103</a:t>
            </a:r>
          </a:p>
        </p:txBody>
      </p:sp>
    </p:spTree>
    <p:extLst>
      <p:ext uri="{BB962C8B-B14F-4D97-AF65-F5344CB8AC3E}">
        <p14:creationId xmlns:p14="http://schemas.microsoft.com/office/powerpoint/2010/main" val="554412805"/>
      </p:ext>
    </p:extLst>
  </p:cSld>
</p:sld>
</file>

<file path=ppt/slides/slide10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E9E034-2580-4F38-8273-A9D2290E0FDE}"/>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8 coherent-model outcomes</a:t>
            </a:r>
          </a:p>
        </p:txBody>
      </p:sp>
      <p:graphicFrame>
        <p:nvGraphicFramePr>
          <p:cNvPr id="2" name="">
            <a:extLst xmlns:a="http://schemas.openxmlformats.org/drawingml/2006/main">
              <a:ext uri="{FF2B5EF4-FFF2-40B4-BE49-F238E27FC236}">
                <a16:creationId xmlns:a16="http://schemas.microsoft.com/office/drawing/2014/main" id="{DE537C16-C4B0-4BCB-A1B2-555A51E82BE9}"/>
              </a:ext>
            </a:extLst>
          </p:cNvPr>
          <p:cNvGraphicFramePr/>
          <p:nvPr/>
        </p:nvGraphicFramePr>
        <p:xfrm>
          <a:off xmlns:a="http://schemas.openxmlformats.org/drawingml/2006/main" x="590550" y="1466850"/>
          <a:ext xmlns:a="http://schemas.openxmlformats.org/drawingml/2006/main" cx="10953750" cy="4143375"/>
        </p:xfrm>
        <a:graphic xmlns:a="http://schemas.openxmlformats.org/drawingml/2006/main">
          <a:graphicData uri="http://schemas.openxmlformats.org/drawingml/2006/table">
            <a:tbl>
              <a:tblPr/>
              <a:tblGrid>
                <a:gridCol w="6191250"/>
                <a:gridCol w="2381250"/>
                <a:gridCol w="2381250"/>
              </a:tblGrid>
              <a:tr h="517922">
                <a:tc>
                  <a:txBody>
                    <a:bodyPr wrap="square" lIns="95250" tIns="95250" rIns="95250" bIns="95250"/>
                    <a:lstStyle/>
                    <a:p>
                      <a:r>
                        <a:rPr sz="1800" b="1">
                          <a:solidFill>
                            <a:srgbClr val="F1F5F9"/>
                          </a:solidFill>
                          <a:latin typeface="Calibri"/>
                          <a:ea typeface="Calibri"/>
                          <a:cs typeface="Calibri"/>
                        </a:rPr>
                        <a:t>Metric</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Standard loss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Sixfold weight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17922">
                <a:tc>
                  <a:txBody>
                    <a:bodyPr wrap="square" lIns="95250" tIns="95250" rIns="95250" bIns="95250"/>
                    <a:lstStyle/>
                    <a:p>
                      <a:r>
                        <a:rPr sz="1800" b="0">
                          <a:solidFill>
                            <a:srgbClr val="F1F5F9"/>
                          </a:solidFill>
                          <a:latin typeface="Calibri"/>
                          <a:ea typeface="Calibri"/>
                          <a:cs typeface="Calibri"/>
                        </a:rPr>
                        <a:t>Original first-patch NLL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1.461689</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1.957809</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7922">
                <a:tc>
                  <a:txBody>
                    <a:bodyPr wrap="square" lIns="95250" tIns="95250" rIns="95250" bIns="95250"/>
                    <a:lstStyle/>
                    <a:p>
                      <a:r>
                        <a:rPr sz="1800" b="0">
                          <a:solidFill>
                            <a:srgbClr val="F1F5F9"/>
                          </a:solidFill>
                          <a:latin typeface="Calibri"/>
                          <a:ea typeface="Calibri"/>
                          <a:cs typeface="Calibri"/>
                        </a:rPr>
                        <a:t>Original first-patch accuracy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47.40%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32.03%</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7922">
                <a:tc>
                  <a:txBody>
                    <a:bodyPr wrap="square" lIns="95250" tIns="95250" rIns="95250" bIns="95250"/>
                    <a:lstStyle/>
                    <a:p>
                      <a:r>
                        <a:rPr sz="1800" b="0">
                          <a:solidFill>
                            <a:srgbClr val="F1F5F9"/>
                          </a:solidFill>
                          <a:latin typeface="Calibri"/>
                          <a:ea typeface="Calibri"/>
                          <a:cs typeface="Calibri"/>
                        </a:rPr>
                        <a:t>Intervened first-patch NLL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1.608771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2.006729</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7922">
                <a:tc>
                  <a:txBody>
                    <a:bodyPr wrap="square" lIns="95250" tIns="95250" rIns="95250" bIns="95250"/>
                    <a:lstStyle/>
                    <a:p>
                      <a:r>
                        <a:rPr sz="1800" b="0">
                          <a:solidFill>
                            <a:srgbClr val="F1F5F9"/>
                          </a:solidFill>
                          <a:latin typeface="Calibri"/>
                          <a:ea typeface="Calibri"/>
                          <a:cs typeface="Calibri"/>
                        </a:rPr>
                        <a:t>Intervened first-patch accuracy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42.08%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30.05%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7922">
                <a:tc>
                  <a:txBody>
                    <a:bodyPr wrap="square" lIns="95250" tIns="95250" rIns="95250" bIns="95250"/>
                    <a:lstStyle/>
                    <a:p>
                      <a:r>
                        <a:rPr sz="1800" b="0">
                          <a:solidFill>
                            <a:srgbClr val="F1F5F9"/>
                          </a:solidFill>
                          <a:latin typeface="Calibri"/>
                          <a:ea typeface="Calibri"/>
                          <a:cs typeface="Calibri"/>
                        </a:rPr>
                        <a:t>Both predictions correct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19.95%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11.20%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17922">
                <a:tc>
                  <a:txBody>
                    <a:bodyPr wrap="square" lIns="95250" tIns="95250" rIns="95250" bIns="95250"/>
                    <a:lstStyle/>
                    <a:p>
                      <a:r>
                        <a:rPr sz="1800" b="0">
                          <a:solidFill>
                            <a:srgbClr val="F1F5F9"/>
                          </a:solidFill>
                          <a:latin typeface="Calibri"/>
                          <a:ea typeface="Calibri"/>
                          <a:cs typeface="Calibri"/>
                        </a:rPr>
                        <a:t>Full-trajectory NLL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0.303136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1.347235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17922">
                <a:tc>
                  <a:txBody>
                    <a:bodyPr wrap="square" lIns="95250" tIns="95250" rIns="95250" bIns="95250"/>
                    <a:lstStyle/>
                    <a:p>
                      <a:r>
                        <a:rPr sz="1800" b="0">
                          <a:solidFill>
                            <a:srgbClr val="F1F5F9"/>
                          </a:solidFill>
                          <a:latin typeface="Calibri"/>
                          <a:ea typeface="Calibri"/>
                          <a:cs typeface="Calibri"/>
                        </a:rPr>
                        <a:t>Full-trajectory accuracy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91.84%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50.86%</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93E3F2C9-EA65-468A-8BEC-1D7D5F49A2D0}"/>
              </a:ext>
            </a:extLst>
          </p:cNvPr>
          <p:cNvSpPr>
            <a:spLocks xmlns:a="http://schemas.openxmlformats.org/drawingml/2006/main" noGrp="1"/>
          </p:cNvSpPr>
          <p:nvPr/>
        </p:nvSpPr>
        <p:spPr>
          <a:xfrm xmlns:a="http://schemas.openxmlformats.org/drawingml/2006/main">
            <a:off x="590550" y="61055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FB0C8"/>
                </a:solidFill>
                <a:latin typeface="Calibri"/>
                <a:ea typeface="Calibri"/>
                <a:cs typeface="Calibri"/>
              </a:defRPr>
            </a:defPPr>
            <a:lvl1pPr>
              <a:defRPr sz="1350" b="0">
                <a:solidFill>
                  <a:srgbClr val="9FB0C8"/>
                </a:solidFill>
                <a:latin typeface="Calibri"/>
                <a:ea typeface="Calibri"/>
                <a:cs typeface="Calibri"/>
              </a:defRPr>
            </a:lvl1pPr>
            <a:lvl2pPr>
              <a:defRPr sz="1350" b="0">
                <a:solidFill>
                  <a:srgbClr val="9FB0C8"/>
                </a:solidFill>
                <a:latin typeface="Calibri"/>
                <a:ea typeface="Calibri"/>
                <a:cs typeface="Calibri"/>
              </a:defRPr>
            </a:lvl2pPr>
            <a:lvl3pPr>
              <a:defRPr sz="1350" b="0">
                <a:solidFill>
                  <a:srgbClr val="9FB0C8"/>
                </a:solidFill>
                <a:latin typeface="Calibri"/>
                <a:ea typeface="Calibri"/>
                <a:cs typeface="Calibri"/>
              </a:defRPr>
            </a:lvl3pPr>
            <a:lvl4pPr>
              <a:defRPr sz="1350" b="0">
                <a:solidFill>
                  <a:srgbClr val="9FB0C8"/>
                </a:solidFill>
                <a:latin typeface="Calibri"/>
                <a:ea typeface="Calibri"/>
                <a:cs typeface="Calibri"/>
              </a:defRPr>
            </a:lvl4pPr>
            <a:lvl5pPr>
              <a:defRPr sz="1350" b="0">
                <a:solidFill>
                  <a:srgbClr val="9FB0C8"/>
                </a:solidFill>
                <a:latin typeface="Calibri"/>
                <a:ea typeface="Calibri"/>
                <a:cs typeface="Calibri"/>
              </a:defRPr>
            </a:lvl5pPr>
            <a:lvl6pPr>
              <a:defRPr sz="1350" b="0">
                <a:solidFill>
                  <a:srgbClr val="9FB0C8"/>
                </a:solidFill>
                <a:latin typeface="Calibri"/>
                <a:ea typeface="Calibri"/>
                <a:cs typeface="Calibri"/>
              </a:defRPr>
            </a:lvl6pPr>
            <a:lvl7pPr>
              <a:defRPr sz="1350" b="0">
                <a:solidFill>
                  <a:srgbClr val="9FB0C8"/>
                </a:solidFill>
                <a:latin typeface="Calibri"/>
                <a:ea typeface="Calibri"/>
                <a:cs typeface="Calibri"/>
              </a:defRPr>
            </a:lvl7pPr>
            <a:lvl8pPr>
              <a:defRPr sz="1350" b="0">
                <a:solidFill>
                  <a:srgbClr val="9FB0C8"/>
                </a:solidFill>
                <a:latin typeface="Calibri"/>
                <a:ea typeface="Calibri"/>
                <a:cs typeface="Calibri"/>
              </a:defRPr>
            </a:lvl8pPr>
            <a:lvl9pPr>
              <a:defRPr sz="1350" b="0">
                <a:solidFill>
                  <a:srgbClr val="9FB0C8"/>
                </a:solidFill>
                <a:latin typeface="Calibri"/>
                <a:ea typeface="Calibri"/>
                <a:cs typeface="Calibri"/>
              </a:defRPr>
            </a:lvl9pPr>
          </a:lstStyle>
          <a:p xmlns:a="http://schemas.openxmlformats.org/drawingml/2006/main">
            <a:pPr>
              <a:defRPr sz="1350" b="0">
                <a:solidFill>
                  <a:srgbClr val="9FB0C8"/>
                </a:solidFill>
                <a:latin typeface="Calibri"/>
                <a:ea typeface="Calibri"/>
                <a:cs typeface="Calibri"/>
              </a:defRPr>
            </a:pPr>
            <a:r>
              <a:rPr sz="1350" b="0">
                <a:solidFill>
                  <a:srgbClr val="9FB0C8"/>
                </a:solidFill>
                <a:latin typeface="Calibri"/>
                <a:ea typeface="Calibri"/>
                <a:cs typeface="Calibri"/>
              </a:rPr>
              <a:t>Means across seeds 131, 149 and 167. NLL is lower-is-better. Accuracy changes are descriptive, without a new admission cutoff.</a:t>
            </a:r>
          </a:p>
        </p:txBody>
      </p:sp>
      <p:sp>
        <p:nvSpPr>
          <p:cNvPr id="4" name="page">
            <a:extLst xmlns:a="http://schemas.openxmlformats.org/drawingml/2006/main">
              <a:ext uri="{FF2B5EF4-FFF2-40B4-BE49-F238E27FC236}">
                <a16:creationId xmlns:a16="http://schemas.microsoft.com/office/drawing/2014/main" id="{7F2256EA-6036-48E3-8A21-9DC42E1AAAF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104</a:t>
            </a:r>
          </a:p>
        </p:txBody>
      </p:sp>
    </p:spTree>
    <p:extLst>
      <p:ext uri="{BB962C8B-B14F-4D97-AF65-F5344CB8AC3E}">
        <p14:creationId xmlns:p14="http://schemas.microsoft.com/office/powerpoint/2010/main" val="397062277"/>
      </p:ext>
    </p:extLst>
  </p:cSld>
</p:sld>
</file>

<file path=ppt/slides/slide10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B1CFB0-AD6F-4952-9C08-32EEDAB4AF28}"/>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8 original and intervened correctness</a:t>
            </a:r>
          </a:p>
        </p:txBody>
      </p:sp>
      <p:pic>
        <p:nvPicPr>
          <p:cNvPr id="2" name="">
            <a:extLst xmlns:a="http://schemas.openxmlformats.org/drawingml/2006/main">
              <a:ext uri="{FF2B5EF4-FFF2-40B4-BE49-F238E27FC236}">
                <a16:creationId xmlns:a16="http://schemas.microsoft.com/office/drawing/2014/main" id="{813D6D77-1C89-4CDB-9AEF-6DCF8FC8D845}"/>
              </a:ext>
            </a:extLst>
          </p:cNvPr>
          <p:cNvPicPr>
            <a:picLocks xmlns:a="http://schemas.openxmlformats.org/drawingml/2006/main" noChangeAspect="1"/>
          </p:cNvPicPr>
          <p:nvPr/>
        </p:nvPicPr>
        <p:blipFill>
          <a:blip xmlns:r="http://schemas.openxmlformats.org/officeDocument/2006/relationships" xmlns:a="http://schemas.openxmlformats.org/drawingml/2006/main" r:embed="Refe6085fb9954674"/>
          <a:stretch xmlns:a="http://schemas.openxmlformats.org/drawingml/2006/main"/>
        </p:blipFill>
        <p:spPr>
          <a:xfrm xmlns:a="http://schemas.openxmlformats.org/drawingml/2006/main">
            <a:off x="590550" y="1853345"/>
            <a:ext cx="10953750" cy="337038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5CB3D1BD-822A-42BF-AA90-1677F5E342D7}"/>
              </a:ext>
            </a:extLst>
          </p:cNvPr>
          <p:cNvSpPr>
            <a:spLocks xmlns:a="http://schemas.openxmlformats.org/drawingml/2006/main" noGrp="1"/>
          </p:cNvSpPr>
          <p:nvPr/>
        </p:nvSpPr>
        <p:spPr>
          <a:xfrm xmlns:a="http://schemas.openxmlformats.org/drawingml/2006/main">
            <a:off x="609600" y="5800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CPU development comparison. Bars show means and dots show the three initialization seeds. Imported standard controls retain stage 7 identities.</a:t>
            </a:r>
          </a:p>
        </p:txBody>
      </p:sp>
      <p:sp>
        <p:nvSpPr>
          <p:cNvPr id="4" name="page">
            <a:extLst xmlns:a="http://schemas.openxmlformats.org/drawingml/2006/main">
              <a:ext uri="{FF2B5EF4-FFF2-40B4-BE49-F238E27FC236}">
                <a16:creationId xmlns:a16="http://schemas.microsoft.com/office/drawing/2014/main" id="{BFAD024F-C8E5-4D87-BDEB-3BD0B79191A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105</a:t>
            </a:r>
          </a:p>
        </p:txBody>
      </p:sp>
    </p:spTree>
    <p:extLst>
      <p:ext uri="{BB962C8B-B14F-4D97-AF65-F5344CB8AC3E}">
        <p14:creationId xmlns:p14="http://schemas.microsoft.com/office/powerpoint/2010/main" val="1490817244"/>
      </p:ext>
    </p:extLst>
  </p:cSld>
</p:sld>
</file>

<file path=ppt/slides/slide10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CD5F8C4-5E36-4B03-BF57-AA0DFDAA33D2}"/>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Stage 8 controls, replay and cost scope</a:t>
            </a:r>
          </a:p>
        </p:txBody>
      </p:sp>
      <p:sp>
        <p:nvSpPr>
          <p:cNvPr id="2" name="body">
            <a:extLst xmlns:a="http://schemas.openxmlformats.org/drawingml/2006/main">
              <a:ext uri="{FF2B5EF4-FFF2-40B4-BE49-F238E27FC236}">
                <a16:creationId xmlns:a16="http://schemas.microsoft.com/office/drawing/2014/main" id="{4BA12513-AF1A-4730-A017-D36BA294E873}"/>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Six newly trained weighted models pair with six imported standard-loss stage 7 controls. Starting weights, cached arrays, batch orders and token/update counts match.</a:t>
            </a:r>
          </a:p>
        </p:txBody>
      </p:sp>
      <p:sp>
        <p:nvSpPr>
          <p:cNvPr id="3" name="body">
            <a:extLst xmlns:a="http://schemas.openxmlformats.org/drawingml/2006/main">
              <a:ext uri="{FF2B5EF4-FFF2-40B4-BE49-F238E27FC236}">
                <a16:creationId xmlns:a16="http://schemas.microsoft.com/office/drawing/2014/main" id="{3FA967DB-29CE-4E94-9039-869F7D946516}"/>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Coherent-minus-shuffled weighting gains are negative for every seed. Those control comparisons remain descriptive and do not revise the frozen primary.</a:t>
            </a:r>
          </a:p>
        </p:txBody>
      </p:sp>
      <p:sp>
        <p:nvSpPr>
          <p:cNvPr id="4" name="body">
            <a:extLst xmlns:a="http://schemas.openxmlformats.org/drawingml/2006/main">
              <a:ext uri="{FF2B5EF4-FFF2-40B4-BE49-F238E27FC236}">
                <a16:creationId xmlns:a16="http://schemas.microsoft.com/office/drawing/2014/main" id="{7E51D5FD-70B8-468B-902B-7A7CCF992DF8}"/>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Checkpoint reload reproduces all 30 full cases and 15 first-transition cases exactly. This replay uses the same frozen scorer, separate from a training rerun or independent loss implementation.</a:t>
            </a:r>
          </a:p>
        </p:txBody>
      </p:sp>
      <p:sp>
        <p:nvSpPr>
          <p:cNvPr id="5" name="body">
            <a:extLst xmlns:a="http://schemas.openxmlformats.org/drawingml/2006/main">
              <a:ext uri="{FF2B5EF4-FFF2-40B4-BE49-F238E27FC236}">
                <a16:creationId xmlns:a16="http://schemas.microsoft.com/office/drawing/2014/main" id="{60A14A5A-1798-45DC-A4D2-4AACA7E43830}"/>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New stage timers total 7.481 CPU minutes versus 6.729 historical control minutes. Timer differences do not supply a controlled throughput measurement.</a:t>
            </a:r>
          </a:p>
        </p:txBody>
      </p:sp>
      <p:sp>
        <p:nvSpPr>
          <p:cNvPr id="6" name="page">
            <a:extLst xmlns:a="http://schemas.openxmlformats.org/drawingml/2006/main">
              <a:ext uri="{FF2B5EF4-FFF2-40B4-BE49-F238E27FC236}">
                <a16:creationId xmlns:a16="http://schemas.microsoft.com/office/drawing/2014/main" id="{EDB00D99-44E5-4DE1-A38F-29B9E440FE7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106</a:t>
            </a:r>
          </a:p>
        </p:txBody>
      </p:sp>
    </p:spTree>
    <p:extLst>
      <p:ext uri="{BB962C8B-B14F-4D97-AF65-F5344CB8AC3E}">
        <p14:creationId xmlns:p14="http://schemas.microsoft.com/office/powerpoint/2010/main" val="1059109600"/>
      </p:ext>
    </p:extLst>
  </p:cSld>
</p:sld>
</file>

<file path=ppt/slides/slide10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6D1BD8-C99A-42DF-AED9-AF784CBB3824}"/>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Analytical survey of what the evidence supports</a:t>
            </a:r>
          </a:p>
        </p:txBody>
      </p:sp>
      <p:graphicFrame>
        <p:nvGraphicFramePr>
          <p:cNvPr id="2" name="">
            <a:extLst xmlns:a="http://schemas.openxmlformats.org/drawingml/2006/main">
              <a:ext uri="{FF2B5EF4-FFF2-40B4-BE49-F238E27FC236}">
                <a16:creationId xmlns:a16="http://schemas.microsoft.com/office/drawing/2014/main" id="{E3EF3A39-3C3A-465C-B300-E38CB0C784D1}"/>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4000500"/>
                <a:gridCol w="6953250"/>
              </a:tblGrid>
              <a:tr h="571500">
                <a:tc>
                  <a:txBody>
                    <a:bodyPr wrap="square" lIns="95250" tIns="95250" rIns="95250" bIns="95250"/>
                    <a:lstStyle/>
                    <a:p>
                      <a:r>
                        <a:rPr sz="1725" b="1">
                          <a:solidFill>
                            <a:srgbClr val="F1F5F9"/>
                          </a:solidFill>
                          <a:latin typeface="Calibri"/>
                          <a:ea typeface="Calibri"/>
                          <a:cs typeface="Calibri"/>
                        </a:rPr>
                        <a:t>Claim</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Evidence and limit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Language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V2-v4 gains versus scratch, with similar shuffled gains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Graph-specific acceleration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V3 partly censored, both v4 primary tests fail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Original random-rule learning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Stronger readiness rejects all 12 structured cohorts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Known interacting-rule learning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Partial first spatial prediction and limited intervention competence</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Loss weighting solves first prediction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All three coherent seeds worsen under fixed sixfold weighting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Mathematical validation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Conditional arguments and selected formal proofs, not an efficacy theorem</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page">
            <a:extLst xmlns:a="http://schemas.openxmlformats.org/drawingml/2006/main">
              <a:ext uri="{FF2B5EF4-FFF2-40B4-BE49-F238E27FC236}">
                <a16:creationId xmlns:a16="http://schemas.microsoft.com/office/drawing/2014/main" id="{81E596AD-FF9E-4150-A44F-5AC87A08AC1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107</a:t>
            </a:r>
          </a:p>
        </p:txBody>
      </p:sp>
    </p:spTree>
    <p:extLst>
      <p:ext uri="{BB962C8B-B14F-4D97-AF65-F5344CB8AC3E}">
        <p14:creationId xmlns:p14="http://schemas.microsoft.com/office/powerpoint/2010/main" val="467505400"/>
      </p:ext>
    </p:extLst>
  </p:cSld>
</p:sld>
</file>

<file path=ppt/slides/slide10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184E44D-D4E9-4885-9052-1F83E564192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Next declared diagnostic and research limits</a:t>
            </a:r>
          </a:p>
        </p:txBody>
      </p:sp>
      <p:sp>
        <p:nvSpPr>
          <p:cNvPr id="2" name="body">
            <a:extLst xmlns:a="http://schemas.openxmlformats.org/drawingml/2006/main">
              <a:ext uri="{FF2B5EF4-FFF2-40B4-BE49-F238E27FC236}">
                <a16:creationId xmlns:a16="http://schemas.microsoft.com/office/drawing/2014/main" id="{D6721C51-6EC0-4342-8CA5-2E47FB810C31}"/>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Proposed next step: compare existing checkpoints' first-transition fit and generalization across training, development and assessment under a new declaration before scoring.</a:t>
            </a:r>
          </a:p>
        </p:txBody>
      </p:sp>
      <p:sp>
        <p:nvSpPr>
          <p:cNvPr id="3" name="body">
            <a:extLst xmlns:a="http://schemas.openxmlformats.org/drawingml/2006/main">
              <a:ext uri="{FF2B5EF4-FFF2-40B4-BE49-F238E27FC236}">
                <a16:creationId xmlns:a16="http://schemas.microsoft.com/office/drawing/2014/main" id="{BE2CC844-22FF-47BF-AB37-1C6C867FAC51}"/>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Preserve the sixfold weighting failure. Do not extend this run, remove seeds or relax the two first-transition NLL requirements.</a:t>
            </a:r>
          </a:p>
        </p:txBody>
      </p:sp>
      <p:sp>
        <p:nvSpPr>
          <p:cNvPr id="4" name="body">
            <a:extLst xmlns:a="http://schemas.openxmlformats.org/drawingml/2006/main">
              <a:ext uri="{FF2B5EF4-FFF2-40B4-BE49-F238E27FC236}">
                <a16:creationId xmlns:a16="http://schemas.microsoft.com/office/drawing/2014/main" id="{AD2D74B2-F169-4444-BFAC-0B665E8D4DAA}"/>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Use the next diagnostic to choose one development treatment. Fresh phase-disjoint data remains necessary for later confirmation.</a:t>
            </a:r>
          </a:p>
        </p:txBody>
      </p:sp>
      <p:sp>
        <p:nvSpPr>
          <p:cNvPr id="5" name="body">
            <a:extLst xmlns:a="http://schemas.openxmlformats.org/drawingml/2006/main">
              <a:ext uri="{FF2B5EF4-FFF2-40B4-BE49-F238E27FC236}">
                <a16:creationId xmlns:a16="http://schemas.microsoft.com/office/drawing/2014/main" id="{3C139798-3B8B-4A66-AF9D-2EDCD2A86DD6}"/>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Language training stays disabled. Original random-rule failures remain primary evidence for those checkpoints. No reasoning, larger-scale transfer or cumulative-cost recovery is inferred.</a:t>
            </a:r>
          </a:p>
        </p:txBody>
      </p:sp>
      <p:sp>
        <p:nvSpPr>
          <p:cNvPr id="6" name="page">
            <a:extLst xmlns:a="http://schemas.openxmlformats.org/drawingml/2006/main">
              <a:ext uri="{FF2B5EF4-FFF2-40B4-BE49-F238E27FC236}">
                <a16:creationId xmlns:a16="http://schemas.microsoft.com/office/drawing/2014/main" id="{959B7B29-ED7F-4EF1-AD4D-4F703FBA720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108</a:t>
            </a:r>
          </a:p>
        </p:txBody>
      </p:sp>
    </p:spTree>
    <p:extLst>
      <p:ext uri="{BB962C8B-B14F-4D97-AF65-F5344CB8AC3E}">
        <p14:creationId xmlns:p14="http://schemas.microsoft.com/office/powerpoint/2010/main" val="449906300"/>
      </p:ext>
    </p:extLst>
  </p:cSld>
</p:sld>
</file>

<file path=ppt/slides/slide10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62DBABE-FFE1-4466-A90A-681707B5C5A9}"/>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Comparison with the motivating study</a:t>
            </a:r>
          </a:p>
        </p:txBody>
      </p:sp>
      <p:sp>
        <p:nvSpPr>
          <p:cNvPr id="2" name="body">
            <a:extLst xmlns:a="http://schemas.openxmlformats.org/drawingml/2006/main">
              <a:ext uri="{FF2B5EF4-FFF2-40B4-BE49-F238E27FC236}">
                <a16:creationId xmlns:a16="http://schemas.microsoft.com/office/drawing/2014/main" id="{7CACF7FA-A7A9-43C8-A4CE-EEBC2A17B0B1}"/>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pinned reference study reports 1.4-1.6x convergence acceleration in a different model, corpus and budget setting. Its reported result supplies context rather than a directly comparable benchmark.</a:t>
            </a:r>
          </a:p>
        </p:txBody>
      </p:sp>
      <p:sp>
        <p:nvSpPr>
          <p:cNvPr id="3" name="body">
            <a:extLst xmlns:a="http://schemas.openxmlformats.org/drawingml/2006/main">
              <a:ext uri="{FF2B5EF4-FFF2-40B4-BE49-F238E27FC236}">
                <a16:creationId xmlns:a16="http://schemas.microsoft.com/office/drawing/2014/main" id="{96104F4C-15CE-4E97-8DEC-873CDCB83879}"/>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Our small-model v2-v4 runs show language-stage gains versus scratch. Frequency-preserving shuffled treatments transfer similarly.</a:t>
            </a:r>
          </a:p>
        </p:txBody>
      </p:sp>
      <p:sp>
        <p:nvSpPr>
          <p:cNvPr id="4" name="body">
            <a:extLst xmlns:a="http://schemas.openxmlformats.org/drawingml/2006/main">
              <a:ext uri="{FF2B5EF4-FFF2-40B4-BE49-F238E27FC236}">
                <a16:creationId xmlns:a16="http://schemas.microsoft.com/office/drawing/2014/main" id="{3CA67818-95B1-4A6B-8C53-64A0BDD2D2E5}"/>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The six-cohort v4 primary comparison fails to demonstrate graph-specific acceleration, and cumulative synthetic cost remains unrecovered.</a:t>
            </a:r>
          </a:p>
        </p:txBody>
      </p:sp>
      <p:sp>
        <p:nvSpPr>
          <p:cNvPr id="5" name="body">
            <a:extLst xmlns:a="http://schemas.openxmlformats.org/drawingml/2006/main">
              <a:ext uri="{FF2B5EF4-FFF2-40B4-BE49-F238E27FC236}">
                <a16:creationId xmlns:a16="http://schemas.microsoft.com/office/drawing/2014/main" id="{E3207E4D-843B-4614-BDEC-CB8C00068D8D}"/>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Controlled CPU rule learning and selected mathematical proofs address different questions from language-transfer efficacy or larger-scale reasoning performance.</a:t>
            </a:r>
          </a:p>
        </p:txBody>
      </p:sp>
      <p:sp>
        <p:nvSpPr>
          <p:cNvPr id="6" name="page">
            <a:extLst xmlns:a="http://schemas.openxmlformats.org/drawingml/2006/main">
              <a:ext uri="{FF2B5EF4-FFF2-40B4-BE49-F238E27FC236}">
                <a16:creationId xmlns:a16="http://schemas.microsoft.com/office/drawing/2014/main" id="{6A34498D-1F6F-4F65-9767-F22D31DA731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109</a:t>
            </a:r>
          </a:p>
        </p:txBody>
      </p:sp>
    </p:spTree>
    <p:extLst>
      <p:ext uri="{BB962C8B-B14F-4D97-AF65-F5344CB8AC3E}">
        <p14:creationId xmlns:p14="http://schemas.microsoft.com/office/powerpoint/2010/main" val="246936293"/>
      </p:ext>
    </p:extLst>
  </p:cSld>
</p:sld>
</file>

<file path=ppt/slides/slide1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1649BFF-AD0B-45C6-8B74-F302018D736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Applications at larger scale</a:t>
            </a:r>
          </a:p>
        </p:txBody>
      </p:sp>
      <p:sp>
        <p:nvSpPr>
          <p:cNvPr id="2" name="body">
            <a:extLst xmlns:a="http://schemas.openxmlformats.org/drawingml/2006/main">
              <a:ext uri="{FF2B5EF4-FFF2-40B4-BE49-F238E27FC236}">
                <a16:creationId xmlns:a16="http://schemas.microsoft.com/office/drawing/2014/main" id="{EB6BDA11-640B-495D-82C4-D0E83D6CC4B8}"/>
              </a:ext>
            </a:extLst>
          </p:cNvPr>
          <p:cNvSpPr>
            <a:spLocks xmlns:a="http://schemas.openxmlformats.org/drawingml/2006/main" noGrp="1"/>
          </p:cNvSpPr>
          <p:nvPr/>
        </p:nvSpPr>
        <p:spPr>
          <a:xfrm xmlns:a="http://schemas.openxmlformats.org/drawingml/2006/main">
            <a:off x="590550" y="14001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Potential use: a reusable synthetic initialization for language, code or mathematical sequence learning. Transfer must be tested separately in every target domain.</a:t>
            </a:r>
          </a:p>
        </p:txBody>
      </p:sp>
      <p:sp>
        <p:nvSpPr>
          <p:cNvPr id="3" name="body">
            <a:extLst xmlns:a="http://schemas.openxmlformats.org/drawingml/2006/main">
              <a:ext uri="{FF2B5EF4-FFF2-40B4-BE49-F238E27FC236}">
                <a16:creationId xmlns:a16="http://schemas.microsoft.com/office/drawing/2014/main" id="{4B7F2DB7-45F2-4457-8C52-145109625366}"/>
              </a:ext>
            </a:extLst>
          </p:cNvPr>
          <p:cNvSpPr>
            <a:spLocks xmlns:a="http://schemas.openxmlformats.org/drawingml/2006/main" noGrp="1"/>
          </p:cNvSpPr>
          <p:nvPr/>
        </p:nvSpPr>
        <p:spPr>
          <a:xfrm xmlns:a="http://schemas.openxmlformats.org/drawingml/2006/main">
            <a:off x="590550" y="2524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Scale the model and token budgets only after graph/grid/shuffle controls separate useful structure from generic initialization effects.</a:t>
            </a:r>
          </a:p>
        </p:txBody>
      </p:sp>
      <p:sp>
        <p:nvSpPr>
          <p:cNvPr id="4" name="body">
            <a:extLst xmlns:a="http://schemas.openxmlformats.org/drawingml/2006/main">
              <a:ext uri="{FF2B5EF4-FFF2-40B4-BE49-F238E27FC236}">
                <a16:creationId xmlns:a16="http://schemas.microsoft.com/office/drawing/2014/main" id="{04F19593-9C6D-4763-97E1-3DFB66C16AB1}"/>
              </a:ext>
            </a:extLst>
          </p:cNvPr>
          <p:cNvSpPr>
            <a:spLocks xmlns:a="http://schemas.openxmlformats.org/drawingml/2006/main" noGrp="1"/>
          </p:cNvSpPr>
          <p:nvPr/>
        </p:nvSpPr>
        <p:spPr>
          <a:xfrm xmlns:a="http://schemas.openxmlformats.org/drawingml/2006/main">
            <a:off x="590550" y="36480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Measure generation, synthetic training, validation and storage cost. An amortized shared initialization needs a declared number of downstream uses.</a:t>
            </a:r>
          </a:p>
        </p:txBody>
      </p:sp>
      <p:sp>
        <p:nvSpPr>
          <p:cNvPr id="5" name="body">
            <a:extLst xmlns:a="http://schemas.openxmlformats.org/drawingml/2006/main">
              <a:ext uri="{FF2B5EF4-FFF2-40B4-BE49-F238E27FC236}">
                <a16:creationId xmlns:a16="http://schemas.microsoft.com/office/drawing/2014/main" id="{DB223914-9967-4A45-BB1A-10F5BBE20A95}"/>
              </a:ext>
            </a:extLst>
          </p:cNvPr>
          <p:cNvSpPr>
            <a:spLocks xmlns:a="http://schemas.openxmlformats.org/drawingml/2006/main" noGrp="1"/>
          </p:cNvSpPr>
          <p:nvPr/>
        </p:nvSpPr>
        <p:spPr>
          <a:xfrm xmlns:a="http://schemas.openxmlformats.org/drawingml/2006/main">
            <a:off x="590550" y="47720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buNone/>
              <a:defRPr sz="2025" b="0">
                <a:solidFill>
                  <a:srgbClr val="F1F5F9"/>
                </a:solidFill>
                <a:latin typeface="Calibri"/>
                <a:ea typeface="Calibri"/>
                <a:cs typeface="Calibri"/>
              </a:defRPr>
            </a:lvl1pPr>
            <a:lvl2pPr>
              <a:buNone/>
              <a:defRPr sz="2025" b="0">
                <a:solidFill>
                  <a:srgbClr val="F1F5F9"/>
                </a:solidFill>
                <a:latin typeface="Calibri"/>
                <a:ea typeface="Calibri"/>
                <a:cs typeface="Calibri"/>
              </a:defRPr>
            </a:lvl2pPr>
            <a:lvl3pPr>
              <a:buNone/>
              <a:defRPr sz="2025" b="0">
                <a:solidFill>
                  <a:srgbClr val="F1F5F9"/>
                </a:solidFill>
                <a:latin typeface="Calibri"/>
                <a:ea typeface="Calibri"/>
                <a:cs typeface="Calibri"/>
              </a:defRPr>
            </a:lvl3pPr>
            <a:lvl4pPr>
              <a:buNone/>
              <a:defRPr sz="2025" b="0">
                <a:solidFill>
                  <a:srgbClr val="F1F5F9"/>
                </a:solidFill>
                <a:latin typeface="Calibri"/>
                <a:ea typeface="Calibri"/>
                <a:cs typeface="Calibri"/>
              </a:defRPr>
            </a:lvl4pPr>
            <a:lvl5pPr>
              <a:buNone/>
              <a:defRPr sz="2025" b="0">
                <a:solidFill>
                  <a:srgbClr val="F1F5F9"/>
                </a:solidFill>
                <a:latin typeface="Calibri"/>
                <a:ea typeface="Calibri"/>
                <a:cs typeface="Calibri"/>
              </a:defRPr>
            </a:lvl5pPr>
            <a:lvl6pPr>
              <a:buNone/>
              <a:defRPr sz="2025" b="0">
                <a:solidFill>
                  <a:srgbClr val="F1F5F9"/>
                </a:solidFill>
                <a:latin typeface="Calibri"/>
                <a:ea typeface="Calibri"/>
                <a:cs typeface="Calibri"/>
              </a:defRPr>
            </a:lvl6pPr>
            <a:lvl7pPr>
              <a:buNone/>
              <a:defRPr sz="2025" b="0">
                <a:solidFill>
                  <a:srgbClr val="F1F5F9"/>
                </a:solidFill>
                <a:latin typeface="Calibri"/>
                <a:ea typeface="Calibri"/>
                <a:cs typeface="Calibri"/>
              </a:defRPr>
            </a:lvl7pPr>
            <a:lvl8pPr>
              <a:buNone/>
              <a:defRPr sz="2025" b="0">
                <a:solidFill>
                  <a:srgbClr val="F1F5F9"/>
                </a:solidFill>
                <a:latin typeface="Calibri"/>
                <a:ea typeface="Calibri"/>
                <a:cs typeface="Calibri"/>
              </a:defRPr>
            </a:lvl8pPr>
            <a:lvl9pPr>
              <a:buNone/>
              <a:defRPr sz="2025" b="0">
                <a:solidFill>
                  <a:srgbClr val="F1F5F9"/>
                </a:solidFill>
                <a:latin typeface="Calibri"/>
                <a:ea typeface="Calibri"/>
                <a:cs typeface="Calibri"/>
              </a:defRPr>
            </a:lvl9pPr>
          </a:lstStyle>
          <a:p xmlns:a="http://schemas.openxmlformats.org/drawingml/2006/main">
            <a:pPr>
              <a:buNone/>
              <a:defRPr sz="2025" b="0">
                <a:solidFill>
                  <a:srgbClr val="F1F5F9"/>
                </a:solidFill>
                <a:latin typeface="Calibri"/>
                <a:ea typeface="Calibri"/>
                <a:cs typeface="Calibri"/>
              </a:defRPr>
            </a:pPr>
            <a:r>
              <a:rPr sz="2025" b="0">
                <a:solidFill>
                  <a:srgbClr val="F1F5F9"/>
                </a:solidFill>
                <a:latin typeface="Calibri"/>
                <a:ea typeface="Calibri"/>
                <a:cs typeface="Calibri"/>
              </a:rPr>
              <a:t>Keep reserved confirmation data and downstream task benchmarks. Lower language NLL alone does not establish reasoning gains, robustness or an economic advantage.</a:t>
            </a:r>
          </a:p>
        </p:txBody>
      </p:sp>
      <p:sp>
        <p:nvSpPr>
          <p:cNvPr id="6" name="body">
            <a:extLst xmlns:a="http://schemas.openxmlformats.org/drawingml/2006/main">
              <a:ext uri="{FF2B5EF4-FFF2-40B4-BE49-F238E27FC236}">
                <a16:creationId xmlns:a16="http://schemas.microsoft.com/office/drawing/2014/main" id="{0121661F-B710-4A47-89B8-FB089BF3C30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110</a:t>
            </a:r>
          </a:p>
        </p:txBody>
      </p:sp>
    </p:spTree>
    <p:extLst>
      <p:ext uri="{BB962C8B-B14F-4D97-AF65-F5344CB8AC3E}">
        <p14:creationId xmlns:p14="http://schemas.microsoft.com/office/powerpoint/2010/main" val="26378482"/>
      </p:ext>
    </p:extLst>
  </p:cSld>
</p:sld>
</file>

<file path=ppt/slides/slide1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9E5C85-FE85-4037-822A-09E123DCF45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Research decisions supported by the mathematics</a:t>
            </a:r>
          </a:p>
        </p:txBody>
      </p:sp>
      <p:graphicFrame>
        <p:nvGraphicFramePr>
          <p:cNvPr id="2" name="">
            <a:extLst xmlns:a="http://schemas.openxmlformats.org/drawingml/2006/main">
              <a:ext uri="{FF2B5EF4-FFF2-40B4-BE49-F238E27FC236}">
                <a16:creationId xmlns:a16="http://schemas.microsoft.com/office/drawing/2014/main" id="{C7E62A03-89CA-4113-A554-CE75D1D682B8}"/>
              </a:ext>
            </a:extLst>
          </p:cNvPr>
          <p:cNvGraphicFramePr/>
          <p:nvPr/>
        </p:nvGraphicFramePr>
        <p:xfrm>
          <a:off xmlns:a="http://schemas.openxmlformats.org/drawingml/2006/main" x="590550" y="1457325"/>
          <a:ext xmlns:a="http://schemas.openxmlformats.org/drawingml/2006/main" cx="10953750" cy="3952875"/>
        </p:xfrm>
        <a:graphic xmlns:a="http://schemas.openxmlformats.org/drawingml/2006/main">
          <a:graphicData uri="http://schemas.openxmlformats.org/drawingml/2006/table">
            <a:tbl>
              <a:tblPr/>
              <a:tblGrid>
                <a:gridCol w="5334000"/>
                <a:gridCol w="5619750"/>
              </a:tblGrid>
              <a:tr h="658813">
                <a:tc>
                  <a:txBody>
                    <a:bodyPr wrap="square" lIns="95250" tIns="95250" rIns="95250" bIns="95250"/>
                    <a:lstStyle/>
                    <a:p>
                      <a:r>
                        <a:rPr sz="1800" b="1">
                          <a:solidFill>
                            <a:srgbClr val="F1F5F9"/>
                          </a:solidFill>
                          <a:latin typeface="Calibri"/>
                          <a:ea typeface="Calibri"/>
                          <a:cs typeface="Calibri"/>
                        </a:rPr>
                        <a:t>Derived insight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Experimental consequence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8813">
                <a:tc>
                  <a:txBody>
                    <a:bodyPr wrap="square" lIns="95250" tIns="95250" rIns="95250" bIns="95250"/>
                    <a:lstStyle/>
                    <a:p>
                      <a:r>
                        <a:rPr sz="1800" b="0">
                          <a:solidFill>
                            <a:srgbClr val="F1F5F9"/>
                          </a:solidFill>
                          <a:latin typeface="Calibri"/>
                          <a:ea typeface="Calibri"/>
                          <a:cs typeface="Calibri"/>
                        </a:rPr>
                        <a:t>Typed permutations preserve degree and mean lag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Measure dispersion, connectivity and actual changed slots separately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800" b="0">
                          <a:solidFill>
                            <a:srgbClr val="F1F5F9"/>
                          </a:solidFill>
                          <a:latin typeface="Calibri"/>
                          <a:ea typeface="Calibri"/>
                          <a:cs typeface="Calibri"/>
                        </a:rPr>
                        <a:t>Deterministic entropy and stochastic entropy differ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State the transition kernel and use context-aware controls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800" b="0">
                          <a:solidFill>
                            <a:srgbClr val="F1F5F9"/>
                          </a:solidFill>
                          <a:latin typeface="Calibri"/>
                          <a:ea typeface="Calibri"/>
                          <a:cs typeface="Calibri"/>
                        </a:rPr>
                        <a:t>Head reset retains backbone displacement only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Save and compare actual backbone and new head tensors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800" b="0">
                          <a:solidFill>
                            <a:srgbClr val="F1F5F9"/>
                          </a:solidFill>
                          <a:latin typeface="Calibri"/>
                          <a:ea typeface="Calibri"/>
                          <a:cs typeface="Calibri"/>
                        </a:rPr>
                        <a:t>Slow-mode error governs long-horizon toy convergence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Track the full language curve, not just initial loss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800" b="0">
                          <a:solidFill>
                            <a:srgbClr val="F1F5F9"/>
                          </a:solidFill>
                          <a:latin typeface="Calibri"/>
                          <a:ea typeface="Calibri"/>
                          <a:cs typeface="Calibri"/>
                        </a:rPr>
                        <a:t>Language gain and cumulative cost can disagree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Publish both clocks and retain censored comparisons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FCFAF18E-F8F1-45F6-A50B-6924D1CD479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111</a:t>
            </a:r>
          </a:p>
        </p:txBody>
      </p:sp>
    </p:spTree>
    <p:extLst>
      <p:ext uri="{BB962C8B-B14F-4D97-AF65-F5344CB8AC3E}">
        <p14:creationId xmlns:p14="http://schemas.microsoft.com/office/powerpoint/2010/main" val="60539929"/>
      </p:ext>
    </p:extLst>
  </p:cSld>
</p:sld>
</file>

<file path=ppt/slides/slide1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42BC7A5-79C4-410D-B5BC-0DC2046F99AA}"/>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Conclusion through stage 8</a:t>
            </a:r>
          </a:p>
        </p:txBody>
      </p:sp>
      <p:sp>
        <p:nvSpPr>
          <p:cNvPr id="2" name="body">
            <a:extLst xmlns:a="http://schemas.openxmlformats.org/drawingml/2006/main">
              <a:ext uri="{FF2B5EF4-FFF2-40B4-BE49-F238E27FC236}">
                <a16:creationId xmlns:a16="http://schemas.microsoft.com/office/drawing/2014/main" id="{357E269C-DCA8-4983-9CF7-ACBD37ABC2ED}"/>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Synthetic initialization improves language learning versus scratch in the small v2-v4 development runs. Similar shuffled gains and failed v4 primary tests leave a graph/dynamics mechanism unestablished.</a:t>
            </a:r>
          </a:p>
        </p:txBody>
      </p:sp>
      <p:sp>
        <p:nvSpPr>
          <p:cNvPr id="3" name="body">
            <a:extLst xmlns:a="http://schemas.openxmlformats.org/drawingml/2006/main">
              <a:ext uri="{FF2B5EF4-FFF2-40B4-BE49-F238E27FC236}">
                <a16:creationId xmlns:a16="http://schemas.microsoft.com/office/drawing/2014/main" id="{60E768C8-22BD-4FE2-9A09-83B455A7F257}"/>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Original random-rule checkpoints fail stronger readiness checks. A simplified complement task is learnable, while first spatial predictions remain incomplete.</a:t>
            </a:r>
          </a:p>
        </p:txBody>
      </p:sp>
      <p:sp>
        <p:nvSpPr>
          <p:cNvPr id="4" name="body">
            <a:extLst xmlns:a="http://schemas.openxmlformats.org/drawingml/2006/main">
              <a:ext uri="{FF2B5EF4-FFF2-40B4-BE49-F238E27FC236}">
                <a16:creationId xmlns:a16="http://schemas.microsoft.com/office/drawing/2014/main" id="{BBFE5C0D-33E3-461B-B934-68E458700BCA}"/>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Sixfold first-transition weighting worsens original and intervened NLL in every coherent seed. The failed fixed-budget result is retained.</a:t>
            </a:r>
          </a:p>
        </p:txBody>
      </p:sp>
      <p:sp>
        <p:nvSpPr>
          <p:cNvPr id="5" name="body">
            <a:extLst xmlns:a="http://schemas.openxmlformats.org/drawingml/2006/main">
              <a:ext uri="{FF2B5EF4-FFF2-40B4-BE49-F238E27FC236}">
                <a16:creationId xmlns:a16="http://schemas.microsoft.com/office/drawing/2014/main" id="{383B901D-AF19-4F51-BD95-BFD9A27FD618}"/>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mathematics supplies conditional principles and exact toy examples. Next work concerns existing-checkpoint fit/generalization under a new declaration. Language training remains disabled.</a:t>
            </a:r>
          </a:p>
        </p:txBody>
      </p:sp>
      <p:sp>
        <p:nvSpPr>
          <p:cNvPr id="6" name="page">
            <a:extLst xmlns:a="http://schemas.openxmlformats.org/drawingml/2006/main">
              <a:ext uri="{FF2B5EF4-FFF2-40B4-BE49-F238E27FC236}">
                <a16:creationId xmlns:a16="http://schemas.microsoft.com/office/drawing/2014/main" id="{27F04E67-6BE0-4283-8C77-071ADC174A8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112</a:t>
            </a:r>
          </a:p>
        </p:txBody>
      </p:sp>
    </p:spTree>
    <p:extLst>
      <p:ext uri="{BB962C8B-B14F-4D97-AF65-F5344CB8AC3E}">
        <p14:creationId xmlns:p14="http://schemas.microsoft.com/office/powerpoint/2010/main" val="813478984"/>
      </p:ext>
    </p:extLst>
  </p:cSld>
</p:sld>
</file>

<file path=ppt/slides/slide1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3F85BD-6A47-47ED-BECC-967F8F121703}"/>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Documentation, proofs and publication</a:t>
            </a:r>
          </a:p>
        </p:txBody>
      </p:sp>
      <p:graphicFrame>
        <p:nvGraphicFramePr>
          <p:cNvPr id="2" name="">
            <a:extLst xmlns:a="http://schemas.openxmlformats.org/drawingml/2006/main">
              <a:ext uri="{FF2B5EF4-FFF2-40B4-BE49-F238E27FC236}">
                <a16:creationId xmlns:a16="http://schemas.microsoft.com/office/drawing/2014/main" id="{ECE103A5-F429-44D5-BD39-61B0D13D9EEA}"/>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3762375"/>
                <a:gridCol w="7191375"/>
              </a:tblGrid>
              <a:tr h="571500">
                <a:tc>
                  <a:txBody>
                    <a:bodyPr wrap="square" lIns="95250" tIns="95250" rIns="95250" bIns="95250"/>
                    <a:lstStyle/>
                    <a:p>
                      <a:r>
                        <a:rPr sz="1725" b="1">
                          <a:solidFill>
                            <a:srgbClr val="F1F5F9"/>
                          </a:solidFill>
                          <a:latin typeface="Calibri"/>
                          <a:ea typeface="Calibri"/>
                          <a:cs typeface="Calibri"/>
                        </a:rPr>
                        <a:t>Artifact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Current scope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README / RESULTS / VALIDATION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Reviewed status through stage 8 and evidence limits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LaTeX theory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Seven mathematical sections and worked numerical derivations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Lean package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44 checked statements with source hashes, axioms and retained failures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Four complete notebooks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Historical pilot and v2/v3/v4 GPU runners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Diagnostic modules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readiness_v5, trainability_v6, interaction_v7, loss_weight_v8</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LOGBOOK / checks / Prod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Retained changes and checks, selected sources and SHA-256 parity</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page">
            <a:extLst xmlns:a="http://schemas.openxmlformats.org/drawingml/2006/main">
              <a:ext uri="{FF2B5EF4-FFF2-40B4-BE49-F238E27FC236}">
                <a16:creationId xmlns:a16="http://schemas.microsoft.com/office/drawing/2014/main" id="{92D58D0B-037F-438E-8667-0063E3AC4F86}"/>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113</a:t>
            </a:r>
          </a:p>
        </p:txBody>
      </p:sp>
    </p:spTree>
    <p:extLst>
      <p:ext uri="{BB962C8B-B14F-4D97-AF65-F5344CB8AC3E}">
        <p14:creationId xmlns:p14="http://schemas.microsoft.com/office/powerpoint/2010/main" val="1518503088"/>
      </p:ext>
    </p:extLst>
  </p:cSld>
</p:sld>
</file>

<file path=ppt/slides/slide11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DECCFF-7E09-4774-AABF-4935F4168614}"/>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Source and code navigation</a:t>
            </a:r>
          </a:p>
        </p:txBody>
      </p:sp>
      <p:graphicFrame>
        <p:nvGraphicFramePr>
          <p:cNvPr id="2" name="">
            <a:extLst xmlns:a="http://schemas.openxmlformats.org/drawingml/2006/main">
              <a:ext uri="{FF2B5EF4-FFF2-40B4-BE49-F238E27FC236}">
                <a16:creationId xmlns:a16="http://schemas.microsoft.com/office/drawing/2014/main" id="{78BFC1D7-18B1-44B8-87E5-C80D9B3CCA47}"/>
              </a:ext>
            </a:extLst>
          </p:cNvPr>
          <p:cNvGraphicFramePr/>
          <p:nvPr/>
        </p:nvGraphicFramePr>
        <p:xfrm>
          <a:off xmlns:a="http://schemas.openxmlformats.org/drawingml/2006/main" x="590550" y="1466850"/>
          <a:ext xmlns:a="http://schemas.openxmlformats.org/drawingml/2006/main" cx="10953750" cy="4000500"/>
        </p:xfrm>
        <a:graphic xmlns:a="http://schemas.openxmlformats.org/drawingml/2006/main">
          <a:graphicData uri="http://schemas.openxmlformats.org/drawingml/2006/table">
            <a:tbl>
              <a:tblPr/>
              <a:tblGrid>
                <a:gridCol w="3429000"/>
                <a:gridCol w="7524750"/>
              </a:tblGrid>
              <a:tr h="571500">
                <a:tc>
                  <a:txBody>
                    <a:bodyPr wrap="square" lIns="95250" tIns="95250" rIns="95250" bIns="95250"/>
                    <a:lstStyle/>
                    <a:p>
                      <a:r>
                        <a:rPr sz="1650" b="1">
                          <a:solidFill>
                            <a:srgbClr val="F1F5F9"/>
                          </a:solidFill>
                          <a:latin typeface="Calibri"/>
                          <a:ea typeface="Calibri"/>
                          <a:cs typeface="Calibri"/>
                        </a:rPr>
                        <a:t>Area</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Canonical files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650" b="0">
                          <a:solidFill>
                            <a:srgbClr val="F1F5F9"/>
                          </a:solidFill>
                          <a:latin typeface="Calibri"/>
                          <a:ea typeface="Calibri"/>
                          <a:cs typeface="Calibri"/>
                        </a:rPr>
                        <a:t>Historical and language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experiment.py; transfer_v2/; transfer_v3/; transfer_v4/</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Readiness and frequency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readiness_v5/frequency.py; gate.py; evaluate.py</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Controlled trainability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trainability_v6/data.py; run.py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Spatial rule and intervention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interaction_v7/data.py; run.py; first-transition helpers in scripts/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Weighted objective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loss_weight_v8/objective.py; run.py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GPU notebook generation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build_notebook.py; build_transfer_notebook.py; build_graph_notebook.py; build_mechanism_notebook.py</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page">
            <a:extLst xmlns:a="http://schemas.openxmlformats.org/drawingml/2006/main">
              <a:ext uri="{FF2B5EF4-FFF2-40B4-BE49-F238E27FC236}">
                <a16:creationId xmlns:a16="http://schemas.microsoft.com/office/drawing/2014/main" id="{66C3C9DB-7ECE-419B-8D07-53FBD3C0840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114</a:t>
            </a:r>
          </a:p>
        </p:txBody>
      </p:sp>
    </p:spTree>
    <p:extLst>
      <p:ext uri="{BB962C8B-B14F-4D97-AF65-F5344CB8AC3E}">
        <p14:creationId xmlns:p14="http://schemas.microsoft.com/office/powerpoint/2010/main" val="631898361"/>
      </p:ext>
    </p:extLst>
  </p:cSld>
</p:sld>
</file>

<file path=ppt/slides/slide11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ECE26E-DEED-464B-8BC5-C75DFABD77D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Mathematical documentation coverage</a:t>
            </a:r>
          </a:p>
        </p:txBody>
      </p:sp>
      <p:graphicFrame>
        <p:nvGraphicFramePr>
          <p:cNvPr id="2" name="">
            <a:extLst xmlns:a="http://schemas.openxmlformats.org/drawingml/2006/main">
              <a:ext uri="{FF2B5EF4-FFF2-40B4-BE49-F238E27FC236}">
                <a16:creationId xmlns:a16="http://schemas.microsoft.com/office/drawing/2014/main" id="{07C43B9C-4FA7-45D9-8CEF-E5AAF3D33622}"/>
              </a:ext>
            </a:extLst>
          </p:cNvPr>
          <p:cNvGraphicFramePr/>
          <p:nvPr/>
        </p:nvGraphicFramePr>
        <p:xfrm>
          <a:off xmlns:a="http://schemas.openxmlformats.org/drawingml/2006/main" x="590550" y="1457325"/>
          <a:ext xmlns:a="http://schemas.openxmlformats.org/drawingml/2006/main" cx="10953750" cy="4048125"/>
        </p:xfrm>
        <a:graphic xmlns:a="http://schemas.openxmlformats.org/drawingml/2006/main">
          <a:graphicData uri="http://schemas.openxmlformats.org/drawingml/2006/table">
            <a:tbl>
              <a:tblPr/>
              <a:tblGrid>
                <a:gridCol w="2238375"/>
                <a:gridCol w="5191125"/>
                <a:gridCol w="3524250"/>
              </a:tblGrid>
              <a:tr h="578304">
                <a:tc>
                  <a:txBody>
                    <a:bodyPr wrap="square" lIns="95250" tIns="95250" rIns="95250" bIns="95250"/>
                    <a:lstStyle/>
                    <a:p>
                      <a:r>
                        <a:rPr sz="1575" b="1">
                          <a:solidFill>
                            <a:srgbClr val="F1F5F9"/>
                          </a:solidFill>
                          <a:latin typeface="Calibri"/>
                          <a:ea typeface="Calibri"/>
                          <a:cs typeface="Calibri"/>
                        </a:rPr>
                        <a:t>LaTeX section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575" b="1">
                          <a:solidFill>
                            <a:srgbClr val="F1F5F9"/>
                          </a:solidFill>
                          <a:latin typeface="Calibri"/>
                          <a:ea typeface="Calibri"/>
                          <a:cs typeface="Calibri"/>
                        </a:rPr>
                        <a:t>Content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575" b="1">
                          <a:solidFill>
                            <a:srgbClr val="F1F5F9"/>
                          </a:solidFill>
                          <a:latin typeface="Calibri"/>
                          <a:ea typeface="Calibri"/>
                          <a:cs typeface="Calibri"/>
                        </a:rPr>
                        <a:t>Lean status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8304">
                <a:tc>
                  <a:txBody>
                    <a:bodyPr wrap="square" lIns="95250" tIns="95250" rIns="95250" bIns="95250"/>
                    <a:lstStyle/>
                    <a:p>
                      <a:r>
                        <a:rPr sz="1575" b="0">
                          <a:solidFill>
                            <a:srgbClr val="F1F5F9"/>
                          </a:solidFill>
                          <a:latin typeface="Calibri"/>
                          <a:ea typeface="Calibri"/>
                          <a:cs typeface="Calibri"/>
                        </a:rPr>
                        <a:t>1. Problem</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Matched-stage estimand, reset map, two cost clocks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Reset identities and selected cost algebra</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2. Dynamics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Typed graphs, equivariance, spectra, perturbations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Equivariance and typed swap preservation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8304">
                <a:tc>
                  <a:txBody>
                    <a:bodyPr wrap="square" lIns="95250" tIns="95250" rIns="95250" bIns="95250"/>
                    <a:lstStyle/>
                    <a:p>
                      <a:r>
                        <a:rPr sz="1575" b="0">
                          <a:solidFill>
                            <a:srgbClr val="F1F5F9"/>
                          </a:solidFill>
                          <a:latin typeface="Calibri"/>
                          <a:ea typeface="Calibri"/>
                          <a:cs typeface="Calibri"/>
                        </a:rPr>
                        <a:t>3. Information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Entropy, posterior rule inference, shuffle covariance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Informal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4. Serialization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Patch bijection, visibility, mean lag and variance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Binary encoding, visibility and mean/total lag</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8304">
                <a:tc>
                  <a:txBody>
                    <a:bodyPr wrap="square" lIns="95250" tIns="95250" rIns="95250" bIns="95250"/>
                    <a:lstStyle/>
                    <a:p>
                      <a:r>
                        <a:rPr sz="1575" b="0">
                          <a:solidFill>
                            <a:srgbClr val="F1F5F9"/>
                          </a:solidFill>
                          <a:latin typeface="Calibri"/>
                          <a:ea typeface="Calibri"/>
                          <a:cs typeface="Calibri"/>
                        </a:rPr>
                        <a:t>5.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Taylor alignment, linear surrogate, quadratic modes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Conditional algebra, scalar/diagonal identities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6–7. Numerics and conclusions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First hits, cost, counts, interpretations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Exact toy first hits and selected arithmetic</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65AEFC22-16AC-412A-A713-F3F080AD95E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115</a:t>
            </a:r>
          </a:p>
        </p:txBody>
      </p:sp>
    </p:spTree>
    <p:extLst>
      <p:ext uri="{BB962C8B-B14F-4D97-AF65-F5344CB8AC3E}">
        <p14:creationId xmlns:p14="http://schemas.microsoft.com/office/powerpoint/2010/main" val="2016305933"/>
      </p:ext>
    </p:extLst>
  </p:cSld>
</p:sld>
</file>

<file path=ppt/slides/slide11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4F03DC-DF65-4C08-B238-32F9C8D55FD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Proof module and axiom inventory</a:t>
            </a:r>
          </a:p>
        </p:txBody>
      </p:sp>
      <p:graphicFrame>
        <p:nvGraphicFramePr>
          <p:cNvPr id="2" name="">
            <a:extLst xmlns:a="http://schemas.openxmlformats.org/drawingml/2006/main">
              <a:ext uri="{FF2B5EF4-FFF2-40B4-BE49-F238E27FC236}">
                <a16:creationId xmlns:a16="http://schemas.microsoft.com/office/drawing/2014/main" id="{B6EAD76C-093A-4431-ABC5-058103E86158}"/>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3429000"/>
                <a:gridCol w="1619250"/>
                <a:gridCol w="5905500"/>
              </a:tblGrid>
              <a:tr h="571500">
                <a:tc>
                  <a:txBody>
                    <a:bodyPr wrap="square" lIns="95250" tIns="95250" rIns="95250" bIns="95250"/>
                    <a:lstStyle/>
                    <a:p>
                      <a:r>
                        <a:rPr sz="1725" b="1">
                          <a:solidFill>
                            <a:srgbClr val="F1F5F9"/>
                          </a:solidFill>
                          <a:latin typeface="Calibri"/>
                          <a:ea typeface="Calibri"/>
                          <a:cs typeface="Calibri"/>
                        </a:rPr>
                        <a:t>Module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Statements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Main subject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Graph.lean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Equivariance, swaps and lag sums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LinearSurrogate.lean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Squared-loss and recurrence identities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Numerics.lean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First hits and exact numerical facts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Quadratic.lean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5</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Diagonal modes and ranking reversal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Serialization.lean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Binary coding and parent visibility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Transfer.lean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Reset and conditional transfer/cost algebra</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83D06BCB-4A49-4EED-9965-7D04056BD7F6}"/>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116</a:t>
            </a:r>
          </a:p>
        </p:txBody>
      </p:sp>
    </p:spTree>
    <p:extLst>
      <p:ext uri="{BB962C8B-B14F-4D97-AF65-F5344CB8AC3E}">
        <p14:creationId xmlns:p14="http://schemas.microsoft.com/office/powerpoint/2010/main" val="877881900"/>
      </p:ext>
    </p:extLst>
  </p:cSld>
</p:sld>
</file>

<file path=ppt/slides/slide11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9ED405A-BB4A-42CE-AB21-920B9E2E3CAE}"/>
              </a:ext>
            </a:extLst>
          </p:cNvPr>
          <p:cNvSpPr>
            <a:spLocks xmlns:a="http://schemas.openxmlformats.org/drawingml/2006/main" noGrp="1"/>
          </p:cNvSpPr>
          <p:nvPr/>
        </p:nvSpPr>
        <p:spPr>
          <a:xfrm xmlns:a="http://schemas.openxmlformats.org/drawingml/2006/main">
            <a:off x="552450" y="457200"/>
            <a:ext cx="11087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Evidence hierarchy and retained failures</a:t>
            </a:r>
          </a:p>
        </p:txBody>
      </p:sp>
      <p:sp>
        <p:nvSpPr>
          <p:cNvPr id="2" name="body">
            <a:extLst xmlns:a="http://schemas.openxmlformats.org/drawingml/2006/main">
              <a:ext uri="{FF2B5EF4-FFF2-40B4-BE49-F238E27FC236}">
                <a16:creationId xmlns:a16="http://schemas.microsoft.com/office/drawing/2014/main" id="{2E94B926-F253-46D9-B5D0-208975BD344E}"/>
              </a:ext>
            </a:extLst>
          </p:cNvPr>
          <p:cNvSpPr>
            <a:spLocks xmlns:a="http://schemas.openxmlformats.org/drawingml/2006/main" noGrp="1"/>
          </p:cNvSpPr>
          <p:nvPr/>
        </p:nvSpPr>
        <p:spPr>
          <a:xfrm xmlns:a="http://schemas.openxmlformats.org/drawingml/2006/main">
            <a:off x="609600" y="143827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Imported GPU measurements: historical pilot and v2-v4 retain original archives, curves, stage clocks and checkpoint identities. Later CPU replay checks consistency.</a:t>
            </a:r>
          </a:p>
        </p:txBody>
      </p:sp>
      <p:sp>
        <p:nvSpPr>
          <p:cNvPr id="3" name="body">
            <a:extLst xmlns:a="http://schemas.openxmlformats.org/drawingml/2006/main">
              <a:ext uri="{FF2B5EF4-FFF2-40B4-BE49-F238E27FC236}">
                <a16:creationId xmlns:a16="http://schemas.microsoft.com/office/drawing/2014/main" id="{33B06000-C5E9-4B97-84AB-16F4D15D1B76}"/>
              </a:ext>
            </a:extLst>
          </p:cNvPr>
          <p:cNvSpPr>
            <a:spLocks xmlns:a="http://schemas.openxmlformats.org/drawingml/2006/main" noGrp="1"/>
          </p:cNvSpPr>
          <p:nvPr/>
        </p:nvSpPr>
        <p:spPr>
          <a:xfrm xmlns:a="http://schemas.openxmlformats.org/drawingml/2006/main">
            <a:off x="609600" y="253365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Local CPU diagnostics: stage 5 scores existing checkpoints. Stages 6-8 train declared controlled models. CPU timers do not supply GPU throughput comparisons.</a:t>
            </a:r>
          </a:p>
        </p:txBody>
      </p:sp>
      <p:sp>
        <p:nvSpPr>
          <p:cNvPr id="4" name="body">
            <a:extLst xmlns:a="http://schemas.openxmlformats.org/drawingml/2006/main">
              <a:ext uri="{FF2B5EF4-FFF2-40B4-BE49-F238E27FC236}">
                <a16:creationId xmlns:a16="http://schemas.microsoft.com/office/drawing/2014/main" id="{80AC71B0-F330-4B14-BE75-19E7E8D36106}"/>
              </a:ext>
            </a:extLst>
          </p:cNvPr>
          <p:cNvSpPr>
            <a:spLocks xmlns:a="http://schemas.openxmlformats.org/drawingml/2006/main" noGrp="1"/>
          </p:cNvSpPr>
          <p:nvPr/>
        </p:nvSpPr>
        <p:spPr>
          <a:xfrm xmlns:a="http://schemas.openxmlformats.org/drawingml/2006/main">
            <a:off x="609600" y="3629025"/>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Formal mathematics: 44 Lean statements have retained checker evidence under explicit definitions and hypotheses. Entropy, spectral arguments and Taylor calculus remain informal.</a:t>
            </a:r>
          </a:p>
        </p:txBody>
      </p:sp>
      <p:sp>
        <p:nvSpPr>
          <p:cNvPr id="5" name="body">
            <a:extLst xmlns:a="http://schemas.openxmlformats.org/drawingml/2006/main">
              <a:ext uri="{FF2B5EF4-FFF2-40B4-BE49-F238E27FC236}">
                <a16:creationId xmlns:a16="http://schemas.microsoft.com/office/drawing/2014/main" id="{58BA9335-0F8A-4F5F-ACEE-80358B4288EA}"/>
              </a:ext>
            </a:extLst>
          </p:cNvPr>
          <p:cNvSpPr>
            <a:spLocks xmlns:a="http://schemas.openxmlformats.org/drawingml/2006/main" noGrp="1"/>
          </p:cNvSpPr>
          <p:nvPr/>
        </p:nvSpPr>
        <p:spPr>
          <a:xfrm xmlns:a="http://schemas.openxmlformats.org/drawingml/2006/main">
            <a:off x="609600" y="47244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Readiness failures, the negative weighting result and prior execution failures remain documented. Configured CI is separate from an executed remote check.</a:t>
            </a:r>
          </a:p>
        </p:txBody>
      </p:sp>
      <p:sp>
        <p:nvSpPr>
          <p:cNvPr id="6" name="page">
            <a:extLst xmlns:a="http://schemas.openxmlformats.org/drawingml/2006/main">
              <a:ext uri="{FF2B5EF4-FFF2-40B4-BE49-F238E27FC236}">
                <a16:creationId xmlns:a16="http://schemas.microsoft.com/office/drawing/2014/main" id="{05CEB439-26E2-4AAC-8B08-A2955DDF5CB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117</a:t>
            </a:r>
          </a:p>
        </p:txBody>
      </p:sp>
    </p:spTree>
    <p:extLst>
      <p:ext uri="{BB962C8B-B14F-4D97-AF65-F5344CB8AC3E}">
        <p14:creationId xmlns:p14="http://schemas.microsoft.com/office/powerpoint/2010/main" val="1229193545"/>
      </p:ext>
    </p:extLst>
  </p:cSld>
</p:sld>
</file>

<file path=ppt/slides/slide11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CC0D9AE-983B-4CB6-9096-3A06DA0B72D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Primary literature and local evidence</a:t>
            </a:r>
          </a:p>
        </p:txBody>
      </p:sp>
      <p:sp>
        <p:nvSpPr>
          <p:cNvPr id="2" name="body">
            <a:extLst xmlns:a="http://schemas.openxmlformats.org/drawingml/2006/main">
              <a:ext uri="{FF2B5EF4-FFF2-40B4-BE49-F238E27FC236}">
                <a16:creationId xmlns:a16="http://schemas.microsoft.com/office/drawing/2014/main" id="{C96C6371-072E-44A7-AB4F-E2B5A6DFC525}"/>
              </a:ext>
            </a:extLst>
          </p:cNvPr>
          <p:cNvSpPr>
            <a:spLocks xmlns:a="http://schemas.openxmlformats.org/drawingml/2006/main" noGrp="1"/>
          </p:cNvSpPr>
          <p:nvPr/>
        </p:nvSpPr>
        <p:spPr>
          <a:xfrm xmlns:a="http://schemas.openxmlformats.org/drawingml/2006/main">
            <a:off x="590550" y="14097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buNone/>
              <a:defRPr sz="1875" b="0">
                <a:solidFill>
                  <a:srgbClr val="F1F5F9"/>
                </a:solidFill>
                <a:latin typeface="Calibri"/>
                <a:ea typeface="Calibri"/>
                <a:cs typeface="Calibri"/>
              </a:defRPr>
            </a:lvl1pPr>
            <a:lvl2pPr>
              <a:buNone/>
              <a:defRPr sz="1875" b="0">
                <a:solidFill>
                  <a:srgbClr val="F1F5F9"/>
                </a:solidFill>
                <a:latin typeface="Calibri"/>
                <a:ea typeface="Calibri"/>
                <a:cs typeface="Calibri"/>
              </a:defRPr>
            </a:lvl2pPr>
            <a:lvl3pPr>
              <a:buNone/>
              <a:defRPr sz="1875" b="0">
                <a:solidFill>
                  <a:srgbClr val="F1F5F9"/>
                </a:solidFill>
                <a:latin typeface="Calibri"/>
                <a:ea typeface="Calibri"/>
                <a:cs typeface="Calibri"/>
              </a:defRPr>
            </a:lvl3pPr>
            <a:lvl4pPr>
              <a:buNone/>
              <a:defRPr sz="1875" b="0">
                <a:solidFill>
                  <a:srgbClr val="F1F5F9"/>
                </a:solidFill>
                <a:latin typeface="Calibri"/>
                <a:ea typeface="Calibri"/>
                <a:cs typeface="Calibri"/>
              </a:defRPr>
            </a:lvl4pPr>
            <a:lvl5pPr>
              <a:buNone/>
              <a:defRPr sz="1875" b="0">
                <a:solidFill>
                  <a:srgbClr val="F1F5F9"/>
                </a:solidFill>
                <a:latin typeface="Calibri"/>
                <a:ea typeface="Calibri"/>
                <a:cs typeface="Calibri"/>
              </a:defRPr>
            </a:lvl5pPr>
            <a:lvl6pPr>
              <a:buNone/>
              <a:defRPr sz="1875" b="0">
                <a:solidFill>
                  <a:srgbClr val="F1F5F9"/>
                </a:solidFill>
                <a:latin typeface="Calibri"/>
                <a:ea typeface="Calibri"/>
                <a:cs typeface="Calibri"/>
              </a:defRPr>
            </a:lvl6pPr>
            <a:lvl7pPr>
              <a:buNone/>
              <a:defRPr sz="1875" b="0">
                <a:solidFill>
                  <a:srgbClr val="F1F5F9"/>
                </a:solidFill>
                <a:latin typeface="Calibri"/>
                <a:ea typeface="Calibri"/>
                <a:cs typeface="Calibri"/>
              </a:defRPr>
            </a:lvl7pPr>
            <a:lvl8pPr>
              <a:buNone/>
              <a:defRPr sz="1875" b="0">
                <a:solidFill>
                  <a:srgbClr val="F1F5F9"/>
                </a:solidFill>
                <a:latin typeface="Calibri"/>
                <a:ea typeface="Calibri"/>
                <a:cs typeface="Calibri"/>
              </a:defRPr>
            </a:lvl8pPr>
            <a:lvl9pPr>
              <a:buNone/>
              <a:defRPr sz="1875" b="0">
                <a:solidFill>
                  <a:srgbClr val="F1F5F9"/>
                </a:solidFill>
                <a:latin typeface="Calibri"/>
                <a:ea typeface="Calibri"/>
                <a:cs typeface="Calibri"/>
              </a:defRPr>
            </a:lvl9pPr>
          </a:lstStyle>
          <a:p xmlns:a="http://schemas.openxmlformats.org/drawingml/2006/main">
            <a:pPr>
              <a:buNone/>
              <a:defRPr sz="1875" b="0">
                <a:solidFill>
                  <a:srgbClr val="F1F5F9"/>
                </a:solidFill>
                <a:latin typeface="Calibri"/>
                <a:ea typeface="Calibri"/>
                <a:cs typeface="Calibri"/>
              </a:defRPr>
            </a:pPr>
            <a:r>
              <a:rPr sz="1875" b="0">
                <a:solidFill>
                  <a:srgbClr val="F1F5F9"/>
                </a:solidFill>
                <a:latin typeface="Calibri"/>
                <a:ea typeface="Calibri"/>
                <a:cs typeface="Calibri"/>
              </a:rPr>
              <a:t>Lee et al. (2026), Training Language Models via Neural Cellular Automata. arXiv:2603.10055v1. Pinned author code: bdd1c71e04eb2e5a2c91481faf278e95846b4431.</a:t>
            </a:r>
          </a:p>
        </p:txBody>
      </p:sp>
      <p:sp>
        <p:nvSpPr>
          <p:cNvPr id="3" name="body">
            <a:extLst xmlns:a="http://schemas.openxmlformats.org/drawingml/2006/main">
              <a:ext uri="{FF2B5EF4-FFF2-40B4-BE49-F238E27FC236}">
                <a16:creationId xmlns:a16="http://schemas.microsoft.com/office/drawing/2014/main" id="{BE3333C0-4914-47C0-BF02-34E2C1BEB132}"/>
              </a:ext>
            </a:extLst>
          </p:cNvPr>
          <p:cNvSpPr>
            <a:spLocks xmlns:a="http://schemas.openxmlformats.org/drawingml/2006/main" noGrp="1"/>
          </p:cNvSpPr>
          <p:nvPr/>
        </p:nvSpPr>
        <p:spPr>
          <a:xfrm xmlns:a="http://schemas.openxmlformats.org/drawingml/2006/main">
            <a:off x="590550" y="25336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buNone/>
              <a:defRPr sz="1875" b="0">
                <a:solidFill>
                  <a:srgbClr val="F1F5F9"/>
                </a:solidFill>
                <a:latin typeface="Calibri"/>
                <a:ea typeface="Calibri"/>
                <a:cs typeface="Calibri"/>
              </a:defRPr>
            </a:lvl1pPr>
            <a:lvl2pPr>
              <a:buNone/>
              <a:defRPr sz="1875" b="0">
                <a:solidFill>
                  <a:srgbClr val="F1F5F9"/>
                </a:solidFill>
                <a:latin typeface="Calibri"/>
                <a:ea typeface="Calibri"/>
                <a:cs typeface="Calibri"/>
              </a:defRPr>
            </a:lvl2pPr>
            <a:lvl3pPr>
              <a:buNone/>
              <a:defRPr sz="1875" b="0">
                <a:solidFill>
                  <a:srgbClr val="F1F5F9"/>
                </a:solidFill>
                <a:latin typeface="Calibri"/>
                <a:ea typeface="Calibri"/>
                <a:cs typeface="Calibri"/>
              </a:defRPr>
            </a:lvl3pPr>
            <a:lvl4pPr>
              <a:buNone/>
              <a:defRPr sz="1875" b="0">
                <a:solidFill>
                  <a:srgbClr val="F1F5F9"/>
                </a:solidFill>
                <a:latin typeface="Calibri"/>
                <a:ea typeface="Calibri"/>
                <a:cs typeface="Calibri"/>
              </a:defRPr>
            </a:lvl4pPr>
            <a:lvl5pPr>
              <a:buNone/>
              <a:defRPr sz="1875" b="0">
                <a:solidFill>
                  <a:srgbClr val="F1F5F9"/>
                </a:solidFill>
                <a:latin typeface="Calibri"/>
                <a:ea typeface="Calibri"/>
                <a:cs typeface="Calibri"/>
              </a:defRPr>
            </a:lvl5pPr>
            <a:lvl6pPr>
              <a:buNone/>
              <a:defRPr sz="1875" b="0">
                <a:solidFill>
                  <a:srgbClr val="F1F5F9"/>
                </a:solidFill>
                <a:latin typeface="Calibri"/>
                <a:ea typeface="Calibri"/>
                <a:cs typeface="Calibri"/>
              </a:defRPr>
            </a:lvl6pPr>
            <a:lvl7pPr>
              <a:buNone/>
              <a:defRPr sz="1875" b="0">
                <a:solidFill>
                  <a:srgbClr val="F1F5F9"/>
                </a:solidFill>
                <a:latin typeface="Calibri"/>
                <a:ea typeface="Calibri"/>
                <a:cs typeface="Calibri"/>
              </a:defRPr>
            </a:lvl7pPr>
            <a:lvl8pPr>
              <a:buNone/>
              <a:defRPr sz="1875" b="0">
                <a:solidFill>
                  <a:srgbClr val="F1F5F9"/>
                </a:solidFill>
                <a:latin typeface="Calibri"/>
                <a:ea typeface="Calibri"/>
                <a:cs typeface="Calibri"/>
              </a:defRPr>
            </a:lvl8pPr>
            <a:lvl9pPr>
              <a:buNone/>
              <a:defRPr sz="1875" b="0">
                <a:solidFill>
                  <a:srgbClr val="F1F5F9"/>
                </a:solidFill>
                <a:latin typeface="Calibri"/>
                <a:ea typeface="Calibri"/>
                <a:cs typeface="Calibri"/>
              </a:defRPr>
            </a:lvl9pPr>
          </a:lstStyle>
          <a:p xmlns:a="http://schemas.openxmlformats.org/drawingml/2006/main">
            <a:pPr>
              <a:buNone/>
              <a:defRPr sz="1875" b="0">
                <a:solidFill>
                  <a:srgbClr val="F1F5F9"/>
                </a:solidFill>
                <a:latin typeface="Calibri"/>
                <a:ea typeface="Calibri"/>
                <a:cs typeface="Calibri"/>
              </a:defRPr>
            </a:pPr>
            <a:r>
              <a:rPr sz="1875" b="0">
                <a:solidFill>
                  <a:srgbClr val="F1F5F9"/>
                </a:solidFill>
                <a:latin typeface="Calibri"/>
                <a:ea typeface="Calibri"/>
                <a:cs typeface="Calibri"/>
              </a:rPr>
              <a:t>Mordvintsev et al. (2020), Growing Neural Cellular Automata. Distill. Gilmer et al. (2017), Neural Message Passing for Quantum Chemistry. arXiv:1704.01212.</a:t>
            </a:r>
          </a:p>
        </p:txBody>
      </p:sp>
      <p:sp>
        <p:nvSpPr>
          <p:cNvPr id="4" name="body">
            <a:extLst xmlns:a="http://schemas.openxmlformats.org/drawingml/2006/main">
              <a:ext uri="{FF2B5EF4-FFF2-40B4-BE49-F238E27FC236}">
                <a16:creationId xmlns:a16="http://schemas.microsoft.com/office/drawing/2014/main" id="{F277DD54-085D-4750-BE80-99E4F27ABA5D}"/>
              </a:ext>
            </a:extLst>
          </p:cNvPr>
          <p:cNvSpPr>
            <a:spLocks xmlns:a="http://schemas.openxmlformats.org/drawingml/2006/main" noGrp="1"/>
          </p:cNvSpPr>
          <p:nvPr/>
        </p:nvSpPr>
        <p:spPr>
          <a:xfrm xmlns:a="http://schemas.openxmlformats.org/drawingml/2006/main">
            <a:off x="590550" y="3657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buNone/>
              <a:defRPr sz="1875" b="0">
                <a:solidFill>
                  <a:srgbClr val="F1F5F9"/>
                </a:solidFill>
                <a:latin typeface="Calibri"/>
                <a:ea typeface="Calibri"/>
                <a:cs typeface="Calibri"/>
              </a:defRPr>
            </a:lvl1pPr>
            <a:lvl2pPr>
              <a:buNone/>
              <a:defRPr sz="1875" b="0">
                <a:solidFill>
                  <a:srgbClr val="F1F5F9"/>
                </a:solidFill>
                <a:latin typeface="Calibri"/>
                <a:ea typeface="Calibri"/>
                <a:cs typeface="Calibri"/>
              </a:defRPr>
            </a:lvl2pPr>
            <a:lvl3pPr>
              <a:buNone/>
              <a:defRPr sz="1875" b="0">
                <a:solidFill>
                  <a:srgbClr val="F1F5F9"/>
                </a:solidFill>
                <a:latin typeface="Calibri"/>
                <a:ea typeface="Calibri"/>
                <a:cs typeface="Calibri"/>
              </a:defRPr>
            </a:lvl3pPr>
            <a:lvl4pPr>
              <a:buNone/>
              <a:defRPr sz="1875" b="0">
                <a:solidFill>
                  <a:srgbClr val="F1F5F9"/>
                </a:solidFill>
                <a:latin typeface="Calibri"/>
                <a:ea typeface="Calibri"/>
                <a:cs typeface="Calibri"/>
              </a:defRPr>
            </a:lvl4pPr>
            <a:lvl5pPr>
              <a:buNone/>
              <a:defRPr sz="1875" b="0">
                <a:solidFill>
                  <a:srgbClr val="F1F5F9"/>
                </a:solidFill>
                <a:latin typeface="Calibri"/>
                <a:ea typeface="Calibri"/>
                <a:cs typeface="Calibri"/>
              </a:defRPr>
            </a:lvl5pPr>
            <a:lvl6pPr>
              <a:buNone/>
              <a:defRPr sz="1875" b="0">
                <a:solidFill>
                  <a:srgbClr val="F1F5F9"/>
                </a:solidFill>
                <a:latin typeface="Calibri"/>
                <a:ea typeface="Calibri"/>
                <a:cs typeface="Calibri"/>
              </a:defRPr>
            </a:lvl6pPr>
            <a:lvl7pPr>
              <a:buNone/>
              <a:defRPr sz="1875" b="0">
                <a:solidFill>
                  <a:srgbClr val="F1F5F9"/>
                </a:solidFill>
                <a:latin typeface="Calibri"/>
                <a:ea typeface="Calibri"/>
                <a:cs typeface="Calibri"/>
              </a:defRPr>
            </a:lvl7pPr>
            <a:lvl8pPr>
              <a:buNone/>
              <a:defRPr sz="1875" b="0">
                <a:solidFill>
                  <a:srgbClr val="F1F5F9"/>
                </a:solidFill>
                <a:latin typeface="Calibri"/>
                <a:ea typeface="Calibri"/>
                <a:cs typeface="Calibri"/>
              </a:defRPr>
            </a:lvl8pPr>
            <a:lvl9pPr>
              <a:buNone/>
              <a:defRPr sz="1875" b="0">
                <a:solidFill>
                  <a:srgbClr val="F1F5F9"/>
                </a:solidFill>
                <a:latin typeface="Calibri"/>
                <a:ea typeface="Calibri"/>
                <a:cs typeface="Calibri"/>
              </a:defRPr>
            </a:lvl9pPr>
          </a:lstStyle>
          <a:p xmlns:a="http://schemas.openxmlformats.org/drawingml/2006/main">
            <a:pPr>
              <a:buNone/>
              <a:defRPr sz="1875" b="0">
                <a:solidFill>
                  <a:srgbClr val="F1F5F9"/>
                </a:solidFill>
                <a:latin typeface="Calibri"/>
                <a:ea typeface="Calibri"/>
                <a:cs typeface="Calibri"/>
              </a:defRPr>
            </a:pPr>
            <a:r>
              <a:rPr sz="1875" b="0">
                <a:solidFill>
                  <a:srgbClr val="F1F5F9"/>
                </a:solidFill>
                <a:latin typeface="Calibri"/>
                <a:ea typeface="Calibri"/>
                <a:cs typeface="Calibri"/>
              </a:rPr>
              <a:t>Vaswani et al. (2017), Attention Is All You Need. arXiv:1706.03762. Touvron et al. (2023), LLaMA: Open and Efficient Foundation Language Models. arXiv:2302.13971.</a:t>
            </a:r>
          </a:p>
        </p:txBody>
      </p:sp>
      <p:sp>
        <p:nvSpPr>
          <p:cNvPr id="5" name="body">
            <a:extLst xmlns:a="http://schemas.openxmlformats.org/drawingml/2006/main">
              <a:ext uri="{FF2B5EF4-FFF2-40B4-BE49-F238E27FC236}">
                <a16:creationId xmlns:a16="http://schemas.microsoft.com/office/drawing/2014/main" id="{EE34ECC7-573E-4A03-817D-6E7FE8930C63}"/>
              </a:ext>
            </a:extLst>
          </p:cNvPr>
          <p:cNvSpPr>
            <a:spLocks xmlns:a="http://schemas.openxmlformats.org/drawingml/2006/main" noGrp="1"/>
          </p:cNvSpPr>
          <p:nvPr/>
        </p:nvSpPr>
        <p:spPr>
          <a:xfrm xmlns:a="http://schemas.openxmlformats.org/drawingml/2006/main">
            <a:off x="590550" y="4781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buNone/>
              <a:defRPr sz="1875" b="0">
                <a:solidFill>
                  <a:srgbClr val="F1F5F9"/>
                </a:solidFill>
                <a:latin typeface="Calibri"/>
                <a:ea typeface="Calibri"/>
                <a:cs typeface="Calibri"/>
              </a:defRPr>
            </a:lvl1pPr>
            <a:lvl2pPr>
              <a:buNone/>
              <a:defRPr sz="1875" b="0">
                <a:solidFill>
                  <a:srgbClr val="F1F5F9"/>
                </a:solidFill>
                <a:latin typeface="Calibri"/>
                <a:ea typeface="Calibri"/>
                <a:cs typeface="Calibri"/>
              </a:defRPr>
            </a:lvl2pPr>
            <a:lvl3pPr>
              <a:buNone/>
              <a:defRPr sz="1875" b="0">
                <a:solidFill>
                  <a:srgbClr val="F1F5F9"/>
                </a:solidFill>
                <a:latin typeface="Calibri"/>
                <a:ea typeface="Calibri"/>
                <a:cs typeface="Calibri"/>
              </a:defRPr>
            </a:lvl3pPr>
            <a:lvl4pPr>
              <a:buNone/>
              <a:defRPr sz="1875" b="0">
                <a:solidFill>
                  <a:srgbClr val="F1F5F9"/>
                </a:solidFill>
                <a:latin typeface="Calibri"/>
                <a:ea typeface="Calibri"/>
                <a:cs typeface="Calibri"/>
              </a:defRPr>
            </a:lvl4pPr>
            <a:lvl5pPr>
              <a:buNone/>
              <a:defRPr sz="1875" b="0">
                <a:solidFill>
                  <a:srgbClr val="F1F5F9"/>
                </a:solidFill>
                <a:latin typeface="Calibri"/>
                <a:ea typeface="Calibri"/>
                <a:cs typeface="Calibri"/>
              </a:defRPr>
            </a:lvl5pPr>
            <a:lvl6pPr>
              <a:buNone/>
              <a:defRPr sz="1875" b="0">
                <a:solidFill>
                  <a:srgbClr val="F1F5F9"/>
                </a:solidFill>
                <a:latin typeface="Calibri"/>
                <a:ea typeface="Calibri"/>
                <a:cs typeface="Calibri"/>
              </a:defRPr>
            </a:lvl6pPr>
            <a:lvl7pPr>
              <a:buNone/>
              <a:defRPr sz="1875" b="0">
                <a:solidFill>
                  <a:srgbClr val="F1F5F9"/>
                </a:solidFill>
                <a:latin typeface="Calibri"/>
                <a:ea typeface="Calibri"/>
                <a:cs typeface="Calibri"/>
              </a:defRPr>
            </a:lvl7pPr>
            <a:lvl8pPr>
              <a:buNone/>
              <a:defRPr sz="1875" b="0">
                <a:solidFill>
                  <a:srgbClr val="F1F5F9"/>
                </a:solidFill>
                <a:latin typeface="Calibri"/>
                <a:ea typeface="Calibri"/>
                <a:cs typeface="Calibri"/>
              </a:defRPr>
            </a:lvl8pPr>
            <a:lvl9pPr>
              <a:buNone/>
              <a:defRPr sz="1875" b="0">
                <a:solidFill>
                  <a:srgbClr val="F1F5F9"/>
                </a:solidFill>
                <a:latin typeface="Calibri"/>
                <a:ea typeface="Calibri"/>
                <a:cs typeface="Calibri"/>
              </a:defRPr>
            </a:lvl9pPr>
          </a:lstStyle>
          <a:p xmlns:a="http://schemas.openxmlformats.org/drawingml/2006/main">
            <a:pPr>
              <a:buNone/>
              <a:defRPr sz="1875" b="0">
                <a:solidFill>
                  <a:srgbClr val="F1F5F9"/>
                </a:solidFill>
                <a:latin typeface="Calibri"/>
                <a:ea typeface="Calibri"/>
                <a:cs typeface="Calibri"/>
              </a:defRPr>
            </a:pPr>
            <a:r>
              <a:rPr sz="1875" b="0">
                <a:solidFill>
                  <a:srgbClr val="F1F5F9"/>
                </a:solidFill>
                <a:latin typeface="Calibri"/>
                <a:ea typeface="Calibri"/>
                <a:cs typeface="Calibri"/>
              </a:rPr>
              <a:t>Local evidence: reviewed pilot and v2-v4 GPU records, CPU diagnostics through stage 8, docs/theory and proofs/lean. The companion index maps each slide to its sources.</a:t>
            </a:r>
          </a:p>
        </p:txBody>
      </p:sp>
      <p:sp>
        <p:nvSpPr>
          <p:cNvPr id="6" name="body">
            <a:extLst xmlns:a="http://schemas.openxmlformats.org/drawingml/2006/main">
              <a:ext uri="{FF2B5EF4-FFF2-40B4-BE49-F238E27FC236}">
                <a16:creationId xmlns:a16="http://schemas.microsoft.com/office/drawing/2014/main" id="{6AAD322B-95F6-4335-ADB2-23D2DC80E39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118</a:t>
            </a:r>
          </a:p>
        </p:txBody>
      </p:sp>
    </p:spTree>
    <p:extLst>
      <p:ext uri="{BB962C8B-B14F-4D97-AF65-F5344CB8AC3E}">
        <p14:creationId xmlns:p14="http://schemas.microsoft.com/office/powerpoint/2010/main" val="1618046778"/>
      </p:ext>
    </p:extLst>
  </p:cSld>
</p:sld>
</file>

<file path=ppt/slides/slide11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CA194B6-4D37-42A8-AE2A-E456A16F184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posterior prediction and rule inference</a:t>
            </a:r>
          </a:p>
        </p:txBody>
      </p:sp>
      <p:sp>
        <p:nvSpPr>
          <p:cNvPr id="2" name="equation">
            <a:extLst xmlns:a="http://schemas.openxmlformats.org/drawingml/2006/main">
              <a:ext uri="{FF2B5EF4-FFF2-40B4-BE49-F238E27FC236}">
                <a16:creationId xmlns:a16="http://schemas.microsoft.com/office/drawing/2014/main" id="{7C174185-A0D6-44D4-A769-A3BC57DB5202}"/>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p(Y | C,G) = Σf p(Y | C,f,G) p(f | C,G)</a:t>
            </a:r>
          </a:p>
        </p:txBody>
      </p:sp>
      <p:sp>
        <p:nvSpPr>
          <p:cNvPr id="3" name="equation">
            <a:extLst xmlns:a="http://schemas.openxmlformats.org/drawingml/2006/main">
              <a:ext uri="{FF2B5EF4-FFF2-40B4-BE49-F238E27FC236}">
                <a16:creationId xmlns:a16="http://schemas.microsoft.com/office/drawing/2014/main" id="{01EB792F-7A43-4C67-B50E-1A3C11E7F7AC}"/>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H(F | C = c,X⁰,G) = 512 − D(c)</a:t>
            </a:r>
          </a:p>
        </p:txBody>
      </p:sp>
      <p:sp>
        <p:nvSpPr>
          <p:cNvPr id="4" name="equation">
            <a:extLst xmlns:a="http://schemas.openxmlformats.org/drawingml/2006/main">
              <a:ext uri="{FF2B5EF4-FFF2-40B4-BE49-F238E27FC236}">
                <a16:creationId xmlns:a16="http://schemas.microsoft.com/office/drawing/2014/main" id="{07387F49-AD26-4CE5-AD0D-20FB5FB32DD3}"/>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I(F; C | X⁰,G) = E[D(C)]</a:t>
            </a:r>
          </a:p>
        </p:txBody>
      </p:sp>
      <p:sp>
        <p:nvSpPr>
          <p:cNvPr id="5" name="body">
            <a:extLst xmlns:a="http://schemas.openxmlformats.org/drawingml/2006/main">
              <a:ext uri="{FF2B5EF4-FFF2-40B4-BE49-F238E27FC236}">
                <a16:creationId xmlns:a16="http://schemas.microsoft.com/office/drawing/2014/main" id="{538332FF-6D36-4687-8159-61B685537B2A}"/>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latter two equalities assume a uniform independent 512-bit binary truth table and contexts containing queried patterns and answers. A neural predictor may approximate posterior prediction, but this equation does not establish that the actual transformer does.</a:t>
            </a:r>
          </a:p>
        </p:txBody>
      </p:sp>
      <p:sp>
        <p:nvSpPr>
          <p:cNvPr id="6" name="source">
            <a:extLst xmlns:a="http://schemas.openxmlformats.org/drawingml/2006/main">
              <a:ext uri="{FF2B5EF4-FFF2-40B4-BE49-F238E27FC236}">
                <a16:creationId xmlns:a16="http://schemas.microsoft.com/office/drawing/2014/main" id="{483D4E1B-74FE-4ABA-AAEF-50B47DABA7A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An unknown rule, an unseen initial state and transition randomness create different prediction uncertainties.</a:t>
            </a:r>
          </a:p>
        </p:txBody>
      </p:sp>
      <p:sp>
        <p:nvSpPr>
          <p:cNvPr id="7" name="body">
            <a:extLst xmlns:a="http://schemas.openxmlformats.org/drawingml/2006/main">
              <a:ext uri="{FF2B5EF4-FFF2-40B4-BE49-F238E27FC236}">
                <a16:creationId xmlns:a16="http://schemas.microsoft.com/office/drawing/2014/main" id="{292D7576-E551-4AA9-BB88-30BCEE4A703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119</a:t>
            </a:r>
          </a:p>
        </p:txBody>
      </p:sp>
    </p:spTree>
    <p:extLst>
      <p:ext uri="{BB962C8B-B14F-4D97-AF65-F5344CB8AC3E}">
        <p14:creationId xmlns:p14="http://schemas.microsoft.com/office/powerpoint/2010/main" val="1395741683"/>
      </p:ext>
    </p:extLst>
  </p:cSld>
</p:sld>
</file>

<file path=ppt/slides/slide12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F78067A-3844-4CC8-8E7B-71F9FC8D99A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comparing graph and grid remainders</a:t>
            </a:r>
          </a:p>
        </p:txBody>
      </p:sp>
      <p:sp>
        <p:nvSpPr>
          <p:cNvPr id="2" name="equation">
            <a:extLst xmlns:a="http://schemas.openxmlformats.org/drawingml/2006/main">
              <a:ext uri="{FF2B5EF4-FFF2-40B4-BE49-F238E27FC236}">
                <a16:creationId xmlns:a16="http://schemas.microsoft.com/office/drawing/2014/main" id="{1A179260-0EE4-43CD-AB29-45FA412580EE}"/>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buNone/>
              <a:defRPr sz="2400" b="0">
                <a:solidFill>
                  <a:srgbClr val="38BDF8"/>
                </a:solidFill>
                <a:latin typeface="Calibri"/>
                <a:ea typeface="Calibri"/>
                <a:cs typeface="Calibri"/>
              </a:defRPr>
            </a:lvl1pPr>
            <a:lvl2pPr>
              <a:buNone/>
              <a:defRPr sz="2400" b="0">
                <a:solidFill>
                  <a:srgbClr val="38BDF8"/>
                </a:solidFill>
                <a:latin typeface="Calibri"/>
                <a:ea typeface="Calibri"/>
                <a:cs typeface="Calibri"/>
              </a:defRPr>
            </a:lvl2pPr>
            <a:lvl3pPr>
              <a:buNone/>
              <a:defRPr sz="2400" b="0">
                <a:solidFill>
                  <a:srgbClr val="38BDF8"/>
                </a:solidFill>
                <a:latin typeface="Calibri"/>
                <a:ea typeface="Calibri"/>
                <a:cs typeface="Calibri"/>
              </a:defRPr>
            </a:lvl3pPr>
            <a:lvl4pPr>
              <a:buNone/>
              <a:defRPr sz="2400" b="0">
                <a:solidFill>
                  <a:srgbClr val="38BDF8"/>
                </a:solidFill>
                <a:latin typeface="Calibri"/>
                <a:ea typeface="Calibri"/>
                <a:cs typeface="Calibri"/>
              </a:defRPr>
            </a:lvl4pPr>
            <a:lvl5pPr>
              <a:buNone/>
              <a:defRPr sz="2400" b="0">
                <a:solidFill>
                  <a:srgbClr val="38BDF8"/>
                </a:solidFill>
                <a:latin typeface="Calibri"/>
                <a:ea typeface="Calibri"/>
                <a:cs typeface="Calibri"/>
              </a:defRPr>
            </a:lvl5pPr>
            <a:lvl6pPr>
              <a:buNone/>
              <a:defRPr sz="2400" b="0">
                <a:solidFill>
                  <a:srgbClr val="38BDF8"/>
                </a:solidFill>
                <a:latin typeface="Calibri"/>
                <a:ea typeface="Calibri"/>
                <a:cs typeface="Calibri"/>
              </a:defRPr>
            </a:lvl6pPr>
            <a:lvl7pPr>
              <a:buNone/>
              <a:defRPr sz="2400" b="0">
                <a:solidFill>
                  <a:srgbClr val="38BDF8"/>
                </a:solidFill>
                <a:latin typeface="Calibri"/>
                <a:ea typeface="Calibri"/>
                <a:cs typeface="Calibri"/>
              </a:defRPr>
            </a:lvl7pPr>
            <a:lvl8pPr>
              <a:buNone/>
              <a:defRPr sz="2400" b="0">
                <a:solidFill>
                  <a:srgbClr val="38BDF8"/>
                </a:solidFill>
                <a:latin typeface="Calibri"/>
                <a:ea typeface="Calibri"/>
                <a:cs typeface="Calibri"/>
              </a:defRPr>
            </a:lvl8pPr>
            <a:lvl9pPr>
              <a:buNone/>
              <a:defRPr sz="2400" b="0">
                <a:solidFill>
                  <a:srgbClr val="38BDF8"/>
                </a:solidFill>
                <a:latin typeface="Calibri"/>
                <a:ea typeface="Calibri"/>
                <a:cs typeface="Calibri"/>
              </a:defRPr>
            </a:lvl9pPr>
          </a:lstStyle>
          <a:p xmlns:a="http://schemas.openxmlformats.org/drawingml/2006/main">
            <a:pPr>
              <a:buNone/>
              <a:defRPr sz="2400" b="0">
                <a:solidFill>
                  <a:srgbClr val="38BDF8"/>
                </a:solidFill>
                <a:latin typeface="Calibri"/>
                <a:ea typeface="Calibri"/>
                <a:cs typeface="Calibri"/>
              </a:defRPr>
            </a:pPr>
            <a:r>
              <a:rPr sz="2400" b="0">
                <a:solidFill>
                  <a:srgbClr val="38BDF8"/>
                </a:solidFill>
                <a:latin typeface="Calibri"/>
                <a:ea typeface="Calibri"/>
                <a:cs typeface="Calibri"/>
              </a:rPr>
              <a:t>f(BG) − f(Bgrid)</a:t>
            </a:r>
          </a:p>
        </p:txBody>
      </p:sp>
      <p:sp>
        <p:nvSpPr>
          <p:cNvPr id="3" name="equation">
            <a:extLst xmlns:a="http://schemas.openxmlformats.org/drawingml/2006/main">
              <a:ext uri="{FF2B5EF4-FFF2-40B4-BE49-F238E27FC236}">
                <a16:creationId xmlns:a16="http://schemas.microsoft.com/office/drawing/2014/main" id="{2D741043-3B7D-4AE5-B93B-65FAAC65C463}"/>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 −η gᵀ(gsyn,G − gsyn,grid)</a:t>
            </a:r>
          </a:p>
        </p:txBody>
      </p:sp>
      <p:sp>
        <p:nvSpPr>
          <p:cNvPr id="4" name="equation">
            <a:extLst xmlns:a="http://schemas.openxmlformats.org/drawingml/2006/main">
              <a:ext uri="{FF2B5EF4-FFF2-40B4-BE49-F238E27FC236}">
                <a16:creationId xmlns:a16="http://schemas.microsoft.com/office/drawing/2014/main" id="{100DA489-C557-4DA9-BB72-43F77F657F04}"/>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buNone/>
              <a:defRPr sz="2400" b="0">
                <a:solidFill>
                  <a:srgbClr val="F1F5F9"/>
                </a:solidFill>
                <a:latin typeface="Calibri"/>
                <a:ea typeface="Calibri"/>
                <a:cs typeface="Calibri"/>
              </a:defRPr>
            </a:lvl1pPr>
            <a:lvl2pPr>
              <a:buNone/>
              <a:defRPr sz="2400" b="0">
                <a:solidFill>
                  <a:srgbClr val="F1F5F9"/>
                </a:solidFill>
                <a:latin typeface="Calibri"/>
                <a:ea typeface="Calibri"/>
                <a:cs typeface="Calibri"/>
              </a:defRPr>
            </a:lvl2pPr>
            <a:lvl3pPr>
              <a:buNone/>
              <a:defRPr sz="2400" b="0">
                <a:solidFill>
                  <a:srgbClr val="F1F5F9"/>
                </a:solidFill>
                <a:latin typeface="Calibri"/>
                <a:ea typeface="Calibri"/>
                <a:cs typeface="Calibri"/>
              </a:defRPr>
            </a:lvl3pPr>
            <a:lvl4pPr>
              <a:buNone/>
              <a:defRPr sz="2400" b="0">
                <a:solidFill>
                  <a:srgbClr val="F1F5F9"/>
                </a:solidFill>
                <a:latin typeface="Calibri"/>
                <a:ea typeface="Calibri"/>
                <a:cs typeface="Calibri"/>
              </a:defRPr>
            </a:lvl4pPr>
            <a:lvl5pPr>
              <a:buNone/>
              <a:defRPr sz="2400" b="0">
                <a:solidFill>
                  <a:srgbClr val="F1F5F9"/>
                </a:solidFill>
                <a:latin typeface="Calibri"/>
                <a:ea typeface="Calibri"/>
                <a:cs typeface="Calibri"/>
              </a:defRPr>
            </a:lvl5pPr>
            <a:lvl6pPr>
              <a:buNone/>
              <a:defRPr sz="2400" b="0">
                <a:solidFill>
                  <a:srgbClr val="F1F5F9"/>
                </a:solidFill>
                <a:latin typeface="Calibri"/>
                <a:ea typeface="Calibri"/>
                <a:cs typeface="Calibri"/>
              </a:defRPr>
            </a:lvl6pPr>
            <a:lvl7pPr>
              <a:buNone/>
              <a:defRPr sz="2400" b="0">
                <a:solidFill>
                  <a:srgbClr val="F1F5F9"/>
                </a:solidFill>
                <a:latin typeface="Calibri"/>
                <a:ea typeface="Calibri"/>
                <a:cs typeface="Calibri"/>
              </a:defRPr>
            </a:lvl7pPr>
            <a:lvl8pPr>
              <a:buNone/>
              <a:defRPr sz="2400" b="0">
                <a:solidFill>
                  <a:srgbClr val="F1F5F9"/>
                </a:solidFill>
                <a:latin typeface="Calibri"/>
                <a:ea typeface="Calibri"/>
                <a:cs typeface="Calibri"/>
              </a:defRPr>
            </a:lvl8pPr>
            <a:lvl9pPr>
              <a:buNone/>
              <a:defRPr sz="2400" b="0">
                <a:solidFill>
                  <a:srgbClr val="F1F5F9"/>
                </a:solidFill>
                <a:latin typeface="Calibri"/>
                <a:ea typeface="Calibri"/>
                <a:cs typeface="Calibri"/>
              </a:defRPr>
            </a:lvl9pPr>
          </a:lstStyle>
          <a:p xmlns:a="http://schemas.openxmlformats.org/drawingml/2006/main">
            <a:pPr>
              <a:buNone/>
              <a:defRPr sz="2400" b="0">
                <a:solidFill>
                  <a:srgbClr val="F1F5F9"/>
                </a:solidFill>
                <a:latin typeface="Calibri"/>
                <a:ea typeface="Calibri"/>
                <a:cs typeface="Calibri"/>
              </a:defRPr>
            </a:pPr>
            <a:r>
              <a:rPr sz="2400" b="0">
                <a:solidFill>
                  <a:srgbClr val="F1F5F9"/>
                </a:solidFill>
                <a:latin typeface="Calibri"/>
                <a:ea typeface="Calibri"/>
                <a:cs typeface="Calibri"/>
              </a:rPr>
              <a:t>   + (Lη²/2)(‖gsyn,G‖² + ‖gsyn,grid‖²)</a:t>
            </a:r>
          </a:p>
        </p:txBody>
      </p:sp>
      <p:sp>
        <p:nvSpPr>
          <p:cNvPr id="5" name="body">
            <a:extLst xmlns:a="http://schemas.openxmlformats.org/drawingml/2006/main">
              <a:ext uri="{FF2B5EF4-FFF2-40B4-BE49-F238E27FC236}">
                <a16:creationId xmlns:a16="http://schemas.microsoft.com/office/drawing/2014/main" id="{F3585E8D-D803-4556-A6A1-5140426E5E36}"/>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buNone/>
              <a:defRPr sz="1875" b="0">
                <a:solidFill>
                  <a:srgbClr val="9FB0C8"/>
                </a:solidFill>
                <a:latin typeface="Calibri"/>
                <a:ea typeface="Calibri"/>
                <a:cs typeface="Calibri"/>
              </a:defRPr>
            </a:lvl1pPr>
            <a:lvl2pPr>
              <a:buNone/>
              <a:defRPr sz="1875" b="0">
                <a:solidFill>
                  <a:srgbClr val="9FB0C8"/>
                </a:solidFill>
                <a:latin typeface="Calibri"/>
                <a:ea typeface="Calibri"/>
                <a:cs typeface="Calibri"/>
              </a:defRPr>
            </a:lvl2pPr>
            <a:lvl3pPr>
              <a:buNone/>
              <a:defRPr sz="1875" b="0">
                <a:solidFill>
                  <a:srgbClr val="9FB0C8"/>
                </a:solidFill>
                <a:latin typeface="Calibri"/>
                <a:ea typeface="Calibri"/>
                <a:cs typeface="Calibri"/>
              </a:defRPr>
            </a:lvl3pPr>
            <a:lvl4pPr>
              <a:buNone/>
              <a:defRPr sz="1875" b="0">
                <a:solidFill>
                  <a:srgbClr val="9FB0C8"/>
                </a:solidFill>
                <a:latin typeface="Calibri"/>
                <a:ea typeface="Calibri"/>
                <a:cs typeface="Calibri"/>
              </a:defRPr>
            </a:lvl4pPr>
            <a:lvl5pPr>
              <a:buNone/>
              <a:defRPr sz="1875" b="0">
                <a:solidFill>
                  <a:srgbClr val="9FB0C8"/>
                </a:solidFill>
                <a:latin typeface="Calibri"/>
                <a:ea typeface="Calibri"/>
                <a:cs typeface="Calibri"/>
              </a:defRPr>
            </a:lvl5pPr>
            <a:lvl6pPr>
              <a:buNone/>
              <a:defRPr sz="1875" b="0">
                <a:solidFill>
                  <a:srgbClr val="9FB0C8"/>
                </a:solidFill>
                <a:latin typeface="Calibri"/>
                <a:ea typeface="Calibri"/>
                <a:cs typeface="Calibri"/>
              </a:defRPr>
            </a:lvl6pPr>
            <a:lvl7pPr>
              <a:buNone/>
              <a:defRPr sz="1875" b="0">
                <a:solidFill>
                  <a:srgbClr val="9FB0C8"/>
                </a:solidFill>
                <a:latin typeface="Calibri"/>
                <a:ea typeface="Calibri"/>
                <a:cs typeface="Calibri"/>
              </a:defRPr>
            </a:lvl7pPr>
            <a:lvl8pPr>
              <a:buNone/>
              <a:defRPr sz="1875" b="0">
                <a:solidFill>
                  <a:srgbClr val="9FB0C8"/>
                </a:solidFill>
                <a:latin typeface="Calibri"/>
                <a:ea typeface="Calibri"/>
                <a:cs typeface="Calibri"/>
              </a:defRPr>
            </a:lvl8pPr>
            <a:lvl9pPr>
              <a:buNone/>
              <a:defRPr sz="1875" b="0">
                <a:solidFill>
                  <a:srgbClr val="9FB0C8"/>
                </a:solidFill>
                <a:latin typeface="Calibri"/>
                <a:ea typeface="Calibri"/>
                <a:cs typeface="Calibri"/>
              </a:defRPr>
            </a:lvl9pPr>
          </a:lstStyle>
          <a:p xmlns:a="http://schemas.openxmlformats.org/drawingml/2006/main">
            <a:pPr>
              <a:buNone/>
              <a:defRPr sz="1875" b="0">
                <a:solidFill>
                  <a:srgbClr val="9FB0C8"/>
                </a:solidFill>
                <a:latin typeface="Calibri"/>
                <a:ea typeface="Calibri"/>
                <a:cs typeface="Calibri"/>
              </a:defRPr>
            </a:pPr>
            <a:r>
              <a:rPr sz="1875" b="0">
                <a:solidFill>
                  <a:srgbClr val="9FB0C8"/>
                </a:solidFill>
                <a:latin typeface="Calibri"/>
                <a:ea typeface="Calibri"/>
                <a:cs typeface="Calibri"/>
              </a:rPr>
              <a:t>The derivation uses an upper graph remainder and a lower grid remainder. Subtracting two upper bounds would be invalid. A greater graph alignment must exceed the displayed remainder for this sufficient certificate.</a:t>
            </a:r>
          </a:p>
        </p:txBody>
      </p:sp>
      <p:sp>
        <p:nvSpPr>
          <p:cNvPr id="6" name="source">
            <a:extLst xmlns:a="http://schemas.openxmlformats.org/drawingml/2006/main">
              <a:ext uri="{FF2B5EF4-FFF2-40B4-BE49-F238E27FC236}">
                <a16:creationId xmlns:a16="http://schemas.microsoft.com/office/drawing/2014/main" id="{E0D0C5DD-5F0A-4EFB-9600-6457D813355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This local, one-step comparison supplies no measured sign for the transformer.</a:t>
            </a:r>
          </a:p>
        </p:txBody>
      </p:sp>
      <p:sp>
        <p:nvSpPr>
          <p:cNvPr id="7" name="body">
            <a:extLst xmlns:a="http://schemas.openxmlformats.org/drawingml/2006/main">
              <a:ext uri="{FF2B5EF4-FFF2-40B4-BE49-F238E27FC236}">
                <a16:creationId xmlns:a16="http://schemas.microsoft.com/office/drawing/2014/main" id="{91912D55-5931-412C-A291-BD13EC22696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120</a:t>
            </a:r>
          </a:p>
        </p:txBody>
      </p:sp>
    </p:spTree>
    <p:extLst>
      <p:ext uri="{BB962C8B-B14F-4D97-AF65-F5344CB8AC3E}">
        <p14:creationId xmlns:p14="http://schemas.microsoft.com/office/powerpoint/2010/main" val="327492161"/>
      </p:ext>
    </p:extLst>
  </p:cSld>
</p:sld>
</file>

<file path=ppt/slides/slide12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14FD6B-D820-471F-BF49-80D39B3C90A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historical verified CPU learning curves</a:t>
            </a:r>
          </a:p>
        </p:txBody>
      </p:sp>
      <p:pic>
        <p:nvPicPr>
          <p:cNvPr id="2" name="">
            <a:extLst xmlns:a="http://schemas.openxmlformats.org/drawingml/2006/main">
              <a:ext uri="{FF2B5EF4-FFF2-40B4-BE49-F238E27FC236}">
                <a16:creationId xmlns:a16="http://schemas.microsoft.com/office/drawing/2014/main" id="{A19B8E2C-0627-468C-9D70-B8521362FB44}"/>
              </a:ext>
            </a:extLst>
          </p:cNvPr>
          <p:cNvPicPr>
            <a:picLocks xmlns:a="http://schemas.openxmlformats.org/drawingml/2006/main" noChangeAspect="1"/>
          </p:cNvPicPr>
          <p:nvPr/>
        </p:nvPicPr>
        <p:blipFill>
          <a:blip xmlns:r="http://schemas.openxmlformats.org/officeDocument/2006/relationships" xmlns:a="http://schemas.openxmlformats.org/drawingml/2006/main" r:embed="Re3b1dc39ce9d4775"/>
          <a:stretch xmlns:a="http://schemas.openxmlformats.org/drawingml/2006/main"/>
        </p:blipFill>
        <p:spPr>
          <a:xfrm xmlns:a="http://schemas.openxmlformats.org/drawingml/2006/main">
            <a:off x="590550" y="1546947"/>
            <a:ext cx="10953750" cy="3983182"/>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CD7DEBC7-E06C-4499-A4F8-C5720015EFF7}"/>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Historical 60-update diagnostic with five arms. Its fixture-scale losses and total-step clock remain separate from the returned GPU transfer result.</a:t>
            </a:r>
          </a:p>
        </p:txBody>
      </p:sp>
      <p:sp>
        <p:nvSpPr>
          <p:cNvPr id="4" name="body">
            <a:extLst xmlns:a="http://schemas.openxmlformats.org/drawingml/2006/main">
              <a:ext uri="{FF2B5EF4-FFF2-40B4-BE49-F238E27FC236}">
                <a16:creationId xmlns:a16="http://schemas.microsoft.com/office/drawing/2014/main" id="{1DBB718D-E0C6-43CF-A81C-6FD41BB0216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121</a:t>
            </a:r>
          </a:p>
        </p:txBody>
      </p:sp>
    </p:spTree>
    <p:extLst>
      <p:ext uri="{BB962C8B-B14F-4D97-AF65-F5344CB8AC3E}">
        <p14:creationId xmlns:p14="http://schemas.microsoft.com/office/powerpoint/2010/main" val="1735770446"/>
      </p:ext>
    </p:extLst>
  </p:cSld>
</p:sld>
</file>

<file path=ppt/slides/slide12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0F72EE-4C07-4771-9CC7-D6EF778D476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original pilot GPU learning curves</a:t>
            </a:r>
          </a:p>
        </p:txBody>
      </p:sp>
      <p:pic>
        <p:nvPicPr>
          <p:cNvPr id="2" name="">
            <a:extLst xmlns:a="http://schemas.openxmlformats.org/drawingml/2006/main">
              <a:ext uri="{FF2B5EF4-FFF2-40B4-BE49-F238E27FC236}">
                <a16:creationId xmlns:a16="http://schemas.microsoft.com/office/drawing/2014/main" id="{6E9791E8-C5DB-4DB8-839B-39CAED3D95BC}"/>
              </a:ext>
            </a:extLst>
          </p:cNvPr>
          <p:cNvPicPr>
            <a:picLocks xmlns:a="http://schemas.openxmlformats.org/drawingml/2006/main" noChangeAspect="1"/>
          </p:cNvPicPr>
          <p:nvPr/>
        </p:nvPicPr>
        <p:blipFill>
          <a:blip xmlns:r="http://schemas.openxmlformats.org/officeDocument/2006/relationships" xmlns:a="http://schemas.openxmlformats.org/drawingml/2006/main" r:embed="Ra01e3bc806024feb"/>
          <a:stretch xmlns:a="http://schemas.openxmlformats.org/drawingml/2006/main"/>
        </p:blipFill>
        <p:spPr>
          <a:xfrm xmlns:a="http://schemas.openxmlformats.org/drawingml/2006/main">
            <a:off x="590550" y="1546947"/>
            <a:ext cx="10953750" cy="3983182"/>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1D8C06B7-5275-4913-BAB0-CDC66B6FD245}"/>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Original matched-total-budget GPU plot. Unequal text exposure and the scratch scheduler boundary limit transfer interpretation.</a:t>
            </a:r>
          </a:p>
        </p:txBody>
      </p:sp>
      <p:sp>
        <p:nvSpPr>
          <p:cNvPr id="4" name="body">
            <a:extLst xmlns:a="http://schemas.openxmlformats.org/drawingml/2006/main">
              <a:ext uri="{FF2B5EF4-FFF2-40B4-BE49-F238E27FC236}">
                <a16:creationId xmlns:a16="http://schemas.microsoft.com/office/drawing/2014/main" id="{740EC68C-9FB5-4DEA-94EC-65DCBFA8126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122</a:t>
            </a:r>
          </a:p>
        </p:txBody>
      </p:sp>
    </p:spTree>
    <p:extLst>
      <p:ext uri="{BB962C8B-B14F-4D97-AF65-F5344CB8AC3E}">
        <p14:creationId xmlns:p14="http://schemas.microsoft.com/office/powerpoint/2010/main" val="1868926262"/>
      </p:ext>
    </p:extLst>
  </p:cSld>
</p:sld>
</file>

<file path=ppt/slides/slide12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32925D-44D3-479B-8DF8-471962A898E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earlier local CPU diagnostic</a:t>
            </a:r>
          </a:p>
        </p:txBody>
      </p:sp>
      <p:pic>
        <p:nvPicPr>
          <p:cNvPr id="2" name="">
            <a:extLst xmlns:a="http://schemas.openxmlformats.org/drawingml/2006/main">
              <a:ext uri="{FF2B5EF4-FFF2-40B4-BE49-F238E27FC236}">
                <a16:creationId xmlns:a16="http://schemas.microsoft.com/office/drawing/2014/main" id="{EDF57A0F-63CB-4350-9994-468CF4D1124F}"/>
              </a:ext>
            </a:extLst>
          </p:cNvPr>
          <p:cNvPicPr>
            <a:picLocks xmlns:a="http://schemas.openxmlformats.org/drawingml/2006/main" noChangeAspect="1"/>
          </p:cNvPicPr>
          <p:nvPr/>
        </p:nvPicPr>
        <p:blipFill>
          <a:blip xmlns:r="http://schemas.openxmlformats.org/officeDocument/2006/relationships" xmlns:a="http://schemas.openxmlformats.org/drawingml/2006/main" r:embed="R7265feebbd554e3b"/>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DB8FE4A3-17F7-41DE-B0F6-8339D782E889}"/>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Earlier retained local diagnostic. The complete provenance and later independently replayed CPU result remain in the research workspace.</a:t>
            </a:r>
          </a:p>
        </p:txBody>
      </p:sp>
      <p:sp>
        <p:nvSpPr>
          <p:cNvPr id="4" name="body">
            <a:extLst xmlns:a="http://schemas.openxmlformats.org/drawingml/2006/main">
              <a:ext uri="{FF2B5EF4-FFF2-40B4-BE49-F238E27FC236}">
                <a16:creationId xmlns:a16="http://schemas.microsoft.com/office/drawing/2014/main" id="{1A3E82F7-C657-47C1-A5D0-0CFEFB52489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123</a:t>
            </a:r>
          </a:p>
        </p:txBody>
      </p:sp>
    </p:spTree>
    <p:extLst>
      <p:ext uri="{BB962C8B-B14F-4D97-AF65-F5344CB8AC3E}">
        <p14:creationId xmlns:p14="http://schemas.microsoft.com/office/powerpoint/2010/main" val="2055088099"/>
      </p:ext>
    </p:extLst>
  </p:cSld>
</p:sld>
</file>

<file path=ppt/slides/slide12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19E623-7145-4B7B-B21E-26A8AC13F47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local smoke execution diagnostic</a:t>
            </a:r>
          </a:p>
        </p:txBody>
      </p:sp>
      <p:pic>
        <p:nvPicPr>
          <p:cNvPr id="2" name="">
            <a:extLst xmlns:a="http://schemas.openxmlformats.org/drawingml/2006/main">
              <a:ext uri="{FF2B5EF4-FFF2-40B4-BE49-F238E27FC236}">
                <a16:creationId xmlns:a16="http://schemas.microsoft.com/office/drawing/2014/main" id="{3524CF8F-3F0D-4A0A-8EA2-EE366989068A}"/>
              </a:ext>
            </a:extLst>
          </p:cNvPr>
          <p:cNvPicPr>
            <a:picLocks xmlns:a="http://schemas.openxmlformats.org/drawingml/2006/main" noChangeAspect="1"/>
          </p:cNvPicPr>
          <p:nvPr/>
        </p:nvPicPr>
        <p:blipFill>
          <a:blip xmlns:r="http://schemas.openxmlformats.org/officeDocument/2006/relationships" xmlns:a="http://schemas.openxmlformats.org/drawingml/2006/main" r:embed="R6467a069680a465b"/>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B308A2AE-AF28-41AC-8CAA-59A354F301CD}"/>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Execution fixture only. A short pipeline check does not estimate language-transfer performance.</a:t>
            </a:r>
          </a:p>
        </p:txBody>
      </p:sp>
      <p:sp>
        <p:nvSpPr>
          <p:cNvPr id="4" name="body">
            <a:extLst xmlns:a="http://schemas.openxmlformats.org/drawingml/2006/main">
              <a:ext uri="{FF2B5EF4-FFF2-40B4-BE49-F238E27FC236}">
                <a16:creationId xmlns:a16="http://schemas.microsoft.com/office/drawing/2014/main" id="{BB82F997-99E2-4A0B-BEF8-2F8C28454B6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124</a:t>
            </a:r>
          </a:p>
        </p:txBody>
      </p:sp>
    </p:spTree>
    <p:extLst>
      <p:ext uri="{BB962C8B-B14F-4D97-AF65-F5344CB8AC3E}">
        <p14:creationId xmlns:p14="http://schemas.microsoft.com/office/powerpoint/2010/main" val="935096132"/>
      </p:ext>
    </p:extLst>
  </p:cSld>
</p:sld>
</file>

<file path=ppt/slides/slide12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7C85CE-BBD8-4F9A-B038-22F6F77BB3F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pilot smoke diagnostic</a:t>
            </a:r>
          </a:p>
        </p:txBody>
      </p:sp>
      <p:pic>
        <p:nvPicPr>
          <p:cNvPr id="2" name="">
            <a:extLst xmlns:a="http://schemas.openxmlformats.org/drawingml/2006/main">
              <a:ext uri="{FF2B5EF4-FFF2-40B4-BE49-F238E27FC236}">
                <a16:creationId xmlns:a16="http://schemas.microsoft.com/office/drawing/2014/main" id="{C9FFCCA9-3276-4E99-8162-47F5E801CEE2}"/>
              </a:ext>
            </a:extLst>
          </p:cNvPr>
          <p:cNvPicPr>
            <a:picLocks xmlns:a="http://schemas.openxmlformats.org/drawingml/2006/main" noChangeAspect="1"/>
          </p:cNvPicPr>
          <p:nvPr/>
        </p:nvPicPr>
        <p:blipFill>
          <a:blip xmlns:r="http://schemas.openxmlformats.org/officeDocument/2006/relationships" xmlns:a="http://schemas.openxmlformats.org/drawingml/2006/main" r:embed="R17f24b7cb5684da1"/>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AA2E6B20-086D-4329-A075-F689ECA26D28}"/>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Returned GPU execution fixture, excluded from the scientific pilot comparison.</a:t>
            </a:r>
          </a:p>
        </p:txBody>
      </p:sp>
      <p:sp>
        <p:nvSpPr>
          <p:cNvPr id="4" name="body">
            <a:extLst xmlns:a="http://schemas.openxmlformats.org/drawingml/2006/main">
              <a:ext uri="{FF2B5EF4-FFF2-40B4-BE49-F238E27FC236}">
                <a16:creationId xmlns:a16="http://schemas.microsoft.com/office/drawing/2014/main" id="{DA56FE03-A42C-40CD-8E4B-E320CE44C85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125</a:t>
            </a:r>
          </a:p>
        </p:txBody>
      </p:sp>
    </p:spTree>
    <p:extLst>
      <p:ext uri="{BB962C8B-B14F-4D97-AF65-F5344CB8AC3E}">
        <p14:creationId xmlns:p14="http://schemas.microsoft.com/office/powerpoint/2010/main" val="1935904892"/>
      </p:ext>
    </p:extLst>
  </p:cSld>
</p:sld>
</file>

<file path=ppt/slides/slide12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8A5FB6-255E-41D5-90FA-C76BA1A1B1A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v2 language execution fixture</a:t>
            </a:r>
          </a:p>
        </p:txBody>
      </p:sp>
      <p:pic>
        <p:nvPicPr>
          <p:cNvPr id="2" name="">
            <a:extLst xmlns:a="http://schemas.openxmlformats.org/drawingml/2006/main">
              <a:ext uri="{FF2B5EF4-FFF2-40B4-BE49-F238E27FC236}">
                <a16:creationId xmlns:a16="http://schemas.microsoft.com/office/drawing/2014/main" id="{CB3E44F9-4398-4B69-8071-FC9D2DD80D91}"/>
              </a:ext>
            </a:extLst>
          </p:cNvPr>
          <p:cNvPicPr>
            <a:picLocks xmlns:a="http://schemas.openxmlformats.org/drawingml/2006/main" noChangeAspect="1"/>
          </p:cNvPicPr>
          <p:nvPr/>
        </p:nvPicPr>
        <p:blipFill>
          <a:blip xmlns:r="http://schemas.openxmlformats.org/officeDocument/2006/relationships" xmlns:a="http://schemas.openxmlformats.org/drawingml/2006/main" r:embed="R6ef34f334ca84503"/>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972F65BB-E881-4C1A-8155-FB917B907522}"/>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Fixture plot from the returned archive. Its short language curves are excluded from all development-result aggregates.</a:t>
            </a:r>
          </a:p>
        </p:txBody>
      </p:sp>
      <p:sp>
        <p:nvSpPr>
          <p:cNvPr id="4" name="body">
            <a:extLst xmlns:a="http://schemas.openxmlformats.org/drawingml/2006/main">
              <a:ext uri="{FF2B5EF4-FFF2-40B4-BE49-F238E27FC236}">
                <a16:creationId xmlns:a16="http://schemas.microsoft.com/office/drawing/2014/main" id="{7AE6F7A7-C735-46F8-8482-A96853C7AC7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126</a:t>
            </a:r>
          </a:p>
        </p:txBody>
      </p:sp>
    </p:spTree>
    <p:extLst>
      <p:ext uri="{BB962C8B-B14F-4D97-AF65-F5344CB8AC3E}">
        <p14:creationId xmlns:p14="http://schemas.microsoft.com/office/powerpoint/2010/main" val="455994559"/>
      </p:ext>
    </p:extLst>
  </p:cSld>
</p:sld>
</file>

<file path=ppt/slides/slide12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547F48-F48E-42CC-B1EB-3F2F54E0AC8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v2 synthetic execution fixture</a:t>
            </a:r>
          </a:p>
        </p:txBody>
      </p:sp>
      <p:pic>
        <p:nvPicPr>
          <p:cNvPr id="2" name="">
            <a:extLst xmlns:a="http://schemas.openxmlformats.org/drawingml/2006/main">
              <a:ext uri="{FF2B5EF4-FFF2-40B4-BE49-F238E27FC236}">
                <a16:creationId xmlns:a16="http://schemas.microsoft.com/office/drawing/2014/main" id="{C266B02C-B550-47B9-BEF8-E64F28A495D9}"/>
              </a:ext>
            </a:extLst>
          </p:cNvPr>
          <p:cNvPicPr>
            <a:picLocks xmlns:a="http://schemas.openxmlformats.org/drawingml/2006/main" noChangeAspect="1"/>
          </p:cNvPicPr>
          <p:nvPr/>
        </p:nvPicPr>
        <p:blipFill>
          <a:blip xmlns:r="http://schemas.openxmlformats.org/officeDocument/2006/relationships" xmlns:a="http://schemas.openxmlformats.org/drawingml/2006/main" r:embed="Rc6403ee81a024ea3"/>
          <a:stretch xmlns:a="http://schemas.openxmlformats.org/drawingml/2006/main"/>
        </p:blipFill>
        <p:spPr>
          <a:xfrm xmlns:a="http://schemas.openxmlformats.org/drawingml/2006/main">
            <a:off x="590550" y="1853345"/>
            <a:ext cx="10953750" cy="337038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A36DE1C9-7EDD-44AE-9903-091D2E46D5E8}"/>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Synthetic execution fixture. This plot checks the workflow and does not supply the real held-out-rule gate result.</a:t>
            </a:r>
          </a:p>
        </p:txBody>
      </p:sp>
      <p:sp>
        <p:nvSpPr>
          <p:cNvPr id="4" name="body">
            <a:extLst xmlns:a="http://schemas.openxmlformats.org/drawingml/2006/main">
              <a:ext uri="{FF2B5EF4-FFF2-40B4-BE49-F238E27FC236}">
                <a16:creationId xmlns:a16="http://schemas.microsoft.com/office/drawing/2014/main" id="{F196C7D6-D159-4ED0-B9EC-17FEF9D649C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127</a:t>
            </a:r>
          </a:p>
        </p:txBody>
      </p:sp>
    </p:spTree>
    <p:extLst>
      <p:ext uri="{BB962C8B-B14F-4D97-AF65-F5344CB8AC3E}">
        <p14:creationId xmlns:p14="http://schemas.microsoft.com/office/powerpoint/2010/main" val="1500349025"/>
      </p:ext>
    </p:extLst>
  </p:cSld>
</p:sld>
</file>

<file path=ppt/slides/slide12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C42835-4561-4EEB-B67F-56EBA76C10B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buNone/>
              <a:defRPr sz="2850" b="1">
                <a:solidFill>
                  <a:srgbClr val="F1F5F9"/>
                </a:solidFill>
                <a:latin typeface="Calibri"/>
                <a:ea typeface="Calibri"/>
                <a:cs typeface="Calibri"/>
              </a:defRPr>
            </a:lvl1pPr>
            <a:lvl2pPr>
              <a:buNone/>
              <a:defRPr sz="2850" b="1">
                <a:solidFill>
                  <a:srgbClr val="F1F5F9"/>
                </a:solidFill>
                <a:latin typeface="Calibri"/>
                <a:ea typeface="Calibri"/>
                <a:cs typeface="Calibri"/>
              </a:defRPr>
            </a:lvl2pPr>
            <a:lvl3pPr>
              <a:buNone/>
              <a:defRPr sz="2850" b="1">
                <a:solidFill>
                  <a:srgbClr val="F1F5F9"/>
                </a:solidFill>
                <a:latin typeface="Calibri"/>
                <a:ea typeface="Calibri"/>
                <a:cs typeface="Calibri"/>
              </a:defRPr>
            </a:lvl3pPr>
            <a:lvl4pPr>
              <a:buNone/>
              <a:defRPr sz="2850" b="1">
                <a:solidFill>
                  <a:srgbClr val="F1F5F9"/>
                </a:solidFill>
                <a:latin typeface="Calibri"/>
                <a:ea typeface="Calibri"/>
                <a:cs typeface="Calibri"/>
              </a:defRPr>
            </a:lvl4pPr>
            <a:lvl5pPr>
              <a:buNone/>
              <a:defRPr sz="2850" b="1">
                <a:solidFill>
                  <a:srgbClr val="F1F5F9"/>
                </a:solidFill>
                <a:latin typeface="Calibri"/>
                <a:ea typeface="Calibri"/>
                <a:cs typeface="Calibri"/>
              </a:defRPr>
            </a:lvl5pPr>
            <a:lvl6pPr>
              <a:buNone/>
              <a:defRPr sz="2850" b="1">
                <a:solidFill>
                  <a:srgbClr val="F1F5F9"/>
                </a:solidFill>
                <a:latin typeface="Calibri"/>
                <a:ea typeface="Calibri"/>
                <a:cs typeface="Calibri"/>
              </a:defRPr>
            </a:lvl6pPr>
            <a:lvl7pPr>
              <a:buNone/>
              <a:defRPr sz="2850" b="1">
                <a:solidFill>
                  <a:srgbClr val="F1F5F9"/>
                </a:solidFill>
                <a:latin typeface="Calibri"/>
                <a:ea typeface="Calibri"/>
                <a:cs typeface="Calibri"/>
              </a:defRPr>
            </a:lvl7pPr>
            <a:lvl8pPr>
              <a:buNone/>
              <a:defRPr sz="2850" b="1">
                <a:solidFill>
                  <a:srgbClr val="F1F5F9"/>
                </a:solidFill>
                <a:latin typeface="Calibri"/>
                <a:ea typeface="Calibri"/>
                <a:cs typeface="Calibri"/>
              </a:defRPr>
            </a:lvl8pPr>
            <a:lvl9pPr>
              <a:buNone/>
              <a:defRPr sz="2850" b="1">
                <a:solidFill>
                  <a:srgbClr val="F1F5F9"/>
                </a:solidFill>
                <a:latin typeface="Calibri"/>
                <a:ea typeface="Calibri"/>
                <a:cs typeface="Calibri"/>
              </a:defRPr>
            </a:lvl9pPr>
          </a:lstStyle>
          <a:p xmlns:a="http://schemas.openxmlformats.org/drawingml/2006/main">
            <a:pPr>
              <a:buNone/>
              <a:defRPr sz="2850" b="1">
                <a:solidFill>
                  <a:srgbClr val="F1F5F9"/>
                </a:solidFill>
                <a:latin typeface="Calibri"/>
                <a:ea typeface="Calibri"/>
                <a:cs typeface="Calibri"/>
              </a:defRPr>
            </a:pPr>
            <a:r>
              <a:rPr sz="2850" b="1">
                <a:solidFill>
                  <a:srgbClr val="F1F5F9"/>
                </a:solidFill>
                <a:latin typeface="Calibri"/>
                <a:ea typeface="Calibri"/>
                <a:cs typeface="Calibri"/>
              </a:rPr>
              <a:t>Appendix: v3 local five-arm execution fixture</a:t>
            </a:r>
          </a:p>
        </p:txBody>
      </p:sp>
      <p:pic>
        <p:nvPicPr>
          <p:cNvPr id="2" name="">
            <a:extLst xmlns:a="http://schemas.openxmlformats.org/drawingml/2006/main">
              <a:ext uri="{FF2B5EF4-FFF2-40B4-BE49-F238E27FC236}">
                <a16:creationId xmlns:a16="http://schemas.microsoft.com/office/drawing/2014/main" id="{A4E453F1-7CB4-43B9-9771-2792785D8633}"/>
              </a:ext>
            </a:extLst>
          </p:cNvPr>
          <p:cNvPicPr>
            <a:picLocks xmlns:a="http://schemas.openxmlformats.org/drawingml/2006/main" noChangeAspect="1"/>
          </p:cNvPicPr>
          <p:nvPr/>
        </p:nvPicPr>
        <p:blipFill>
          <a:blip xmlns:r="http://schemas.openxmlformats.org/officeDocument/2006/relationships" xmlns:a="http://schemas.openxmlformats.org/drawingml/2006/main" r:embed="R06b948c0ade74ef5"/>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87EBF3E6-B274-4067-BA4F-660993D1408C}"/>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buNone/>
              <a:defRPr sz="1650" b="0">
                <a:solidFill>
                  <a:srgbClr val="9FB0C8"/>
                </a:solidFill>
                <a:latin typeface="Calibri"/>
                <a:ea typeface="Calibri"/>
                <a:cs typeface="Calibri"/>
              </a:defRPr>
            </a:lvl1pPr>
            <a:lvl2pPr>
              <a:buNone/>
              <a:defRPr sz="1650" b="0">
                <a:solidFill>
                  <a:srgbClr val="9FB0C8"/>
                </a:solidFill>
                <a:latin typeface="Calibri"/>
                <a:ea typeface="Calibri"/>
                <a:cs typeface="Calibri"/>
              </a:defRPr>
            </a:lvl2pPr>
            <a:lvl3pPr>
              <a:buNone/>
              <a:defRPr sz="1650" b="0">
                <a:solidFill>
                  <a:srgbClr val="9FB0C8"/>
                </a:solidFill>
                <a:latin typeface="Calibri"/>
                <a:ea typeface="Calibri"/>
                <a:cs typeface="Calibri"/>
              </a:defRPr>
            </a:lvl3pPr>
            <a:lvl4pPr>
              <a:buNone/>
              <a:defRPr sz="1650" b="0">
                <a:solidFill>
                  <a:srgbClr val="9FB0C8"/>
                </a:solidFill>
                <a:latin typeface="Calibri"/>
                <a:ea typeface="Calibri"/>
                <a:cs typeface="Calibri"/>
              </a:defRPr>
            </a:lvl4pPr>
            <a:lvl5pPr>
              <a:buNone/>
              <a:defRPr sz="1650" b="0">
                <a:solidFill>
                  <a:srgbClr val="9FB0C8"/>
                </a:solidFill>
                <a:latin typeface="Calibri"/>
                <a:ea typeface="Calibri"/>
                <a:cs typeface="Calibri"/>
              </a:defRPr>
            </a:lvl5pPr>
            <a:lvl6pPr>
              <a:buNone/>
              <a:defRPr sz="1650" b="0">
                <a:solidFill>
                  <a:srgbClr val="9FB0C8"/>
                </a:solidFill>
                <a:latin typeface="Calibri"/>
                <a:ea typeface="Calibri"/>
                <a:cs typeface="Calibri"/>
              </a:defRPr>
            </a:lvl6pPr>
            <a:lvl7pPr>
              <a:buNone/>
              <a:defRPr sz="1650" b="0">
                <a:solidFill>
                  <a:srgbClr val="9FB0C8"/>
                </a:solidFill>
                <a:latin typeface="Calibri"/>
                <a:ea typeface="Calibri"/>
                <a:cs typeface="Calibri"/>
              </a:defRPr>
            </a:lvl7pPr>
            <a:lvl8pPr>
              <a:buNone/>
              <a:defRPr sz="1650" b="0">
                <a:solidFill>
                  <a:srgbClr val="9FB0C8"/>
                </a:solidFill>
                <a:latin typeface="Calibri"/>
                <a:ea typeface="Calibri"/>
                <a:cs typeface="Calibri"/>
              </a:defRPr>
            </a:lvl8pPr>
            <a:lvl9pPr>
              <a:buNone/>
              <a:defRPr sz="1650" b="0">
                <a:solidFill>
                  <a:srgbClr val="9FB0C8"/>
                </a:solidFill>
                <a:latin typeface="Calibri"/>
                <a:ea typeface="Calibri"/>
                <a:cs typeface="Calibri"/>
              </a:defRPr>
            </a:lvl9pPr>
          </a:lstStyle>
          <a:p xmlns:a="http://schemas.openxmlformats.org/drawingml/2006/main">
            <a:pPr>
              <a:buNone/>
              <a:defRPr sz="1650" b="0">
                <a:solidFill>
                  <a:srgbClr val="9FB0C8"/>
                </a:solidFill>
                <a:latin typeface="Calibri"/>
                <a:ea typeface="Calibri"/>
                <a:cs typeface="Calibri"/>
              </a:defRPr>
            </a:pPr>
            <a:r>
              <a:rPr sz="1650" b="0">
                <a:solidFill>
                  <a:srgbClr val="9FB0C8"/>
                </a:solidFill>
                <a:latin typeface="Calibri"/>
                <a:ea typeface="Calibri"/>
                <a:cs typeface="Calibri"/>
              </a:rPr>
              <a:t>Local CPU fixture with paired grid/graph controls. It exercises the five-arm workflow. No v3 GPU measurement or scientific transfer conclusion follows.</a:t>
            </a:r>
          </a:p>
        </p:txBody>
      </p:sp>
      <p:sp>
        <p:nvSpPr>
          <p:cNvPr id="4" name="body">
            <a:extLst xmlns:a="http://schemas.openxmlformats.org/drawingml/2006/main">
              <a:ext uri="{FF2B5EF4-FFF2-40B4-BE49-F238E27FC236}">
                <a16:creationId xmlns:a16="http://schemas.microsoft.com/office/drawing/2014/main" id="{4B04BC7A-513F-4A38-9C37-283AB6A1F2C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buNone/>
              <a:defRPr sz="1125" b="0">
                <a:solidFill>
                  <a:srgbClr val="9FB0C8"/>
                </a:solidFill>
                <a:latin typeface="Calibri"/>
                <a:ea typeface="Calibri"/>
                <a:cs typeface="Calibri"/>
              </a:defRPr>
            </a:lvl1pPr>
            <a:lvl2pPr>
              <a:buNone/>
              <a:defRPr sz="1125" b="0">
                <a:solidFill>
                  <a:srgbClr val="9FB0C8"/>
                </a:solidFill>
                <a:latin typeface="Calibri"/>
                <a:ea typeface="Calibri"/>
                <a:cs typeface="Calibri"/>
              </a:defRPr>
            </a:lvl2pPr>
            <a:lvl3pPr>
              <a:buNone/>
              <a:defRPr sz="1125" b="0">
                <a:solidFill>
                  <a:srgbClr val="9FB0C8"/>
                </a:solidFill>
                <a:latin typeface="Calibri"/>
                <a:ea typeface="Calibri"/>
                <a:cs typeface="Calibri"/>
              </a:defRPr>
            </a:lvl3pPr>
            <a:lvl4pPr>
              <a:buNone/>
              <a:defRPr sz="1125" b="0">
                <a:solidFill>
                  <a:srgbClr val="9FB0C8"/>
                </a:solidFill>
                <a:latin typeface="Calibri"/>
                <a:ea typeface="Calibri"/>
                <a:cs typeface="Calibri"/>
              </a:defRPr>
            </a:lvl4pPr>
            <a:lvl5pPr>
              <a:buNone/>
              <a:defRPr sz="1125" b="0">
                <a:solidFill>
                  <a:srgbClr val="9FB0C8"/>
                </a:solidFill>
                <a:latin typeface="Calibri"/>
                <a:ea typeface="Calibri"/>
                <a:cs typeface="Calibri"/>
              </a:defRPr>
            </a:lvl5pPr>
            <a:lvl6pPr>
              <a:buNone/>
              <a:defRPr sz="1125" b="0">
                <a:solidFill>
                  <a:srgbClr val="9FB0C8"/>
                </a:solidFill>
                <a:latin typeface="Calibri"/>
                <a:ea typeface="Calibri"/>
                <a:cs typeface="Calibri"/>
              </a:defRPr>
            </a:lvl6pPr>
            <a:lvl7pPr>
              <a:buNone/>
              <a:defRPr sz="1125" b="0">
                <a:solidFill>
                  <a:srgbClr val="9FB0C8"/>
                </a:solidFill>
                <a:latin typeface="Calibri"/>
                <a:ea typeface="Calibri"/>
                <a:cs typeface="Calibri"/>
              </a:defRPr>
            </a:lvl7pPr>
            <a:lvl8pPr>
              <a:buNone/>
              <a:defRPr sz="1125" b="0">
                <a:solidFill>
                  <a:srgbClr val="9FB0C8"/>
                </a:solidFill>
                <a:latin typeface="Calibri"/>
                <a:ea typeface="Calibri"/>
                <a:cs typeface="Calibri"/>
              </a:defRPr>
            </a:lvl8pPr>
            <a:lvl9pPr>
              <a:buNone/>
              <a:defRPr sz="1125" b="0">
                <a:solidFill>
                  <a:srgbClr val="9FB0C8"/>
                </a:solidFill>
                <a:latin typeface="Calibri"/>
                <a:ea typeface="Calibri"/>
                <a:cs typeface="Calibri"/>
              </a:defRPr>
            </a:lvl9pPr>
          </a:lstStyle>
          <a:p xmlns:a="http://schemas.openxmlformats.org/drawingml/2006/main">
            <a:pPr>
              <a:buNone/>
              <a:defRPr sz="1125" b="0">
                <a:solidFill>
                  <a:srgbClr val="9FB0C8"/>
                </a:solidFill>
                <a:latin typeface="Calibri"/>
                <a:ea typeface="Calibri"/>
                <a:cs typeface="Calibri"/>
              </a:defRPr>
            </a:pPr>
            <a:r>
              <a:rPr sz="1125" b="0">
                <a:solidFill>
                  <a:srgbClr val="9FB0C8"/>
                </a:solidFill>
                <a:latin typeface="Calibri"/>
                <a:ea typeface="Calibri"/>
                <a:cs typeface="Calibri"/>
              </a:rPr>
              <a:t>128</a:t>
            </a:r>
          </a:p>
        </p:txBody>
      </p:sp>
    </p:spTree>
    <p:extLst>
      <p:ext uri="{BB962C8B-B14F-4D97-AF65-F5344CB8AC3E}">
        <p14:creationId xmlns:p14="http://schemas.microsoft.com/office/powerpoint/2010/main" val="1351573028"/>
      </p:ext>
    </p:extLst>
  </p:cSld>
</p:sld>
</file>

<file path=ppt/theme/theme1.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2026-10-20T00:13:30.1590000Z</dcterms:created>
  <dcterms:modified xsi:type="dcterms:W3CDTF">2026-10-20T00:13:30.1590000Z</dcterms:modified>
</coreProperties>
</file>